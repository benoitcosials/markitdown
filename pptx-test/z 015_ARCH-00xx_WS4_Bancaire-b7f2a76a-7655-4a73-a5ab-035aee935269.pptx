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comments/modernComment_123_8DF937F4.xml" ContentType="application/vnd.ms-powerpoint.comments+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modernComment_7FFFCAD7_385C72E7.xml" ContentType="application/vnd.ms-powerpoint.comments+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9.xml" ContentType="application/vnd.openxmlformats-officedocument.presentationml.notesSlide+xml"/>
  <Override PartName="/ppt/comments/modernComment_7FFFF31D_EA819035.xml" ContentType="application/vnd.ms-powerpoint.comments+xml"/>
  <Override PartName="/ppt/notesSlides/notesSlide10.xml" ContentType="application/vnd.openxmlformats-officedocument.presentationml.notesSlide+xml"/>
  <Override PartName="/ppt/comments/modernComment_7FFFCAEB_C1061E66.xml" ContentType="application/vnd.ms-powerpoint.comments+xml"/>
  <Override PartName="/ppt/notesSlides/notesSlide11.xml" ContentType="application/vnd.openxmlformats-officedocument.presentationml.notesSlide+xml"/>
  <Override PartName="/ppt/comments/modernComment_7FFFF31E_1A1F7C8D.xml" ContentType="application/vnd.ms-powerpoint.comments+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2.xml" ContentType="application/vnd.openxmlformats-officedocument.presentationml.notesSlide+xml"/>
  <Override PartName="/ppt/comments/modernComment_7FFFCAE6_EACB2E18.xml" ContentType="application/vnd.ms-powerpoint.comments+xml"/>
  <Override PartName="/ppt/notesSlides/notesSlide13.xml" ContentType="application/vnd.openxmlformats-officedocument.presentationml.notesSlide+xml"/>
  <Override PartName="/ppt/comments/modernComment_7FFFF31F_AC77EA5F.xml" ContentType="application/vnd.ms-powerpoint.comments+xml"/>
  <Override PartName="/ppt/comments/modernComment_7FFFF324_A4367F37.xml" ContentType="application/vnd.ms-powerpoint.comments+xml"/>
  <Override PartName="/ppt/comments/modernComment_7FFFCAD9_20C71D92.xml" ContentType="application/vnd.ms-powerpoint.comments+xml"/>
  <Override PartName="/ppt/comments/modernComment_7FFFF325_BA793242.xml" ContentType="application/vnd.ms-powerpoint.comments+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comments/modernComment_7FFFF326_A40C615C.xml" ContentType="application/vnd.ms-powerpoint.comments+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omments/modernComment_7FFFF32C_88CC2790.xml" ContentType="application/vnd.ms-powerpoint.comment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omments/modernComment_7FFFCAE8_E10D1098.xml" ContentType="application/vnd.ms-powerpoint.comments+xml"/>
  <Override PartName="/ppt/notesSlides/notesSlide21.xml" ContentType="application/vnd.openxmlformats-officedocument.presentationml.notesSlide+xml"/>
  <Override PartName="/ppt/comments/modernComment_7FFFF32D_29899808.xml" ContentType="application/vnd.ms-powerpoint.comments+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22.xml" ContentType="application/vnd.openxmlformats-officedocument.presentationml.notesSlide+xml"/>
  <Override PartName="/ppt/comments/modernComment_7FFFF33E_3A442DCD.xml" ContentType="application/vnd.ms-powerpoint.comment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omments/modernComment_7FFFF32F_595809B5.xml" ContentType="application/vnd.ms-powerpoint.comments+xml"/>
  <Override PartName="/ppt/notesSlides/notesSlide25.xml" ContentType="application/vnd.openxmlformats-officedocument.presentationml.notesSlide+xml"/>
  <Override PartName="/ppt/comments/modernComment_7FFFF330_7F6E51DA.xml" ContentType="application/vnd.ms-powerpoint.comment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omments/modernComment_7FFFF335_C9BE1988.xml" ContentType="application/vnd.ms-powerpoint.comment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omments/modernComment_12C_9CE8506C.xml" ContentType="application/vnd.ms-powerpoint.comments+xml"/>
  <Override PartName="/ppt/notesSlides/notesSlide42.xml" ContentType="application/vnd.openxmlformats-officedocument.presentationml.notesSlide+xml"/>
  <Override PartName="/ppt/comments/modernComment_7FFFF340_D5273233.xml" ContentType="application/vnd.ms-powerpoint.comments+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omments/modernComment_7FFFF336_F8621731.xml" ContentType="application/vnd.ms-powerpoint.comments+xml"/>
  <Override PartName="/ppt/notesSlides/notesSlide46.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comments/modernComment_7FFFCAE2_B1434D54.xml" ContentType="application/vnd.ms-powerpoint.comments+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4"/>
  </p:sldMasterIdLst>
  <p:notesMasterIdLst>
    <p:notesMasterId r:id="rId84"/>
  </p:notesMasterIdLst>
  <p:handoutMasterIdLst>
    <p:handoutMasterId r:id="rId85"/>
  </p:handoutMasterIdLst>
  <p:sldIdLst>
    <p:sldId id="256" r:id="rId5"/>
    <p:sldId id="306" r:id="rId6"/>
    <p:sldId id="2147470027" r:id="rId7"/>
    <p:sldId id="2147480347" r:id="rId8"/>
    <p:sldId id="291" r:id="rId9"/>
    <p:sldId id="2147480397" r:id="rId10"/>
    <p:sldId id="2147480348" r:id="rId11"/>
    <p:sldId id="2147470039" r:id="rId12"/>
    <p:sldId id="2147480349" r:id="rId13"/>
    <p:sldId id="2147470059" r:id="rId14"/>
    <p:sldId id="2147480350" r:id="rId15"/>
    <p:sldId id="2147470054" r:id="rId16"/>
    <p:sldId id="2147480351" r:id="rId17"/>
    <p:sldId id="2147480371" r:id="rId18"/>
    <p:sldId id="2147480356" r:id="rId19"/>
    <p:sldId id="2147470041" r:id="rId20"/>
    <p:sldId id="2147480353" r:id="rId21"/>
    <p:sldId id="2147480354" r:id="rId22"/>
    <p:sldId id="2147480355" r:id="rId23"/>
    <p:sldId id="2147480357" r:id="rId24"/>
    <p:sldId id="2147480358" r:id="rId25"/>
    <p:sldId id="2147480392" r:id="rId26"/>
    <p:sldId id="2147480360" r:id="rId27"/>
    <p:sldId id="2147480361" r:id="rId28"/>
    <p:sldId id="2147480362" r:id="rId29"/>
    <p:sldId id="2147480364" r:id="rId30"/>
    <p:sldId id="2147480385" r:id="rId31"/>
    <p:sldId id="2147480393" r:id="rId32"/>
    <p:sldId id="2147470056" r:id="rId33"/>
    <p:sldId id="2147480365" r:id="rId34"/>
    <p:sldId id="2147480382" r:id="rId35"/>
    <p:sldId id="2147480366" r:id="rId36"/>
    <p:sldId id="2147480367" r:id="rId37"/>
    <p:sldId id="2147480368" r:id="rId38"/>
    <p:sldId id="2147480370" r:id="rId39"/>
    <p:sldId id="2147480372" r:id="rId40"/>
    <p:sldId id="2147480369" r:id="rId41"/>
    <p:sldId id="2147480373" r:id="rId42"/>
    <p:sldId id="2147480375" r:id="rId43"/>
    <p:sldId id="2147470047" r:id="rId44"/>
    <p:sldId id="2147480378" r:id="rId45"/>
    <p:sldId id="2147480376" r:id="rId46"/>
    <p:sldId id="2147480379" r:id="rId47"/>
    <p:sldId id="2147480377" r:id="rId48"/>
    <p:sldId id="2147480394" r:id="rId49"/>
    <p:sldId id="2147480395" r:id="rId50"/>
    <p:sldId id="2147480380" r:id="rId51"/>
    <p:sldId id="2147480381" r:id="rId52"/>
    <p:sldId id="2147480396" r:id="rId53"/>
    <p:sldId id="300" r:id="rId54"/>
    <p:sldId id="2147480384" r:id="rId55"/>
    <p:sldId id="307" r:id="rId56"/>
    <p:sldId id="2147480383" r:id="rId57"/>
    <p:sldId id="2147480374" r:id="rId58"/>
    <p:sldId id="2147470052" r:id="rId59"/>
    <p:sldId id="2147480344" r:id="rId60"/>
    <p:sldId id="2147470060" r:id="rId61"/>
    <p:sldId id="2147480386" r:id="rId62"/>
    <p:sldId id="2147480387" r:id="rId63"/>
    <p:sldId id="2147480388" r:id="rId64"/>
    <p:sldId id="2147480389" r:id="rId65"/>
    <p:sldId id="2147480391" r:id="rId66"/>
    <p:sldId id="2147480390" r:id="rId67"/>
    <p:sldId id="2147480398" r:id="rId68"/>
    <p:sldId id="2147470033" r:id="rId69"/>
    <p:sldId id="2147480339" r:id="rId70"/>
    <p:sldId id="2147480340" r:id="rId71"/>
    <p:sldId id="2147480346" r:id="rId72"/>
    <p:sldId id="2147480337" r:id="rId73"/>
    <p:sldId id="2147480338" r:id="rId74"/>
    <p:sldId id="275" r:id="rId75"/>
    <p:sldId id="2147470050" r:id="rId76"/>
    <p:sldId id="506" r:id="rId77"/>
    <p:sldId id="2147470029" r:id="rId78"/>
    <p:sldId id="494" r:id="rId79"/>
    <p:sldId id="477" r:id="rId80"/>
    <p:sldId id="290" r:id="rId81"/>
    <p:sldId id="2147470026" r:id="rId82"/>
    <p:sldId id="309" r:id="rId83"/>
  </p:sldIdLst>
  <p:sldSz cx="9144000" cy="5143500" type="screen16x9"/>
  <p:notesSz cx="9372600" cy="7010400"/>
  <p:defaultTextStyle>
    <a:defPPr>
      <a:defRPr lang="en-US"/>
    </a:defPPr>
    <a:lvl1pPr marL="0" algn="l" defTabSz="914286" rtl="0" eaLnBrk="1" latinLnBrk="0" hangingPunct="1">
      <a:defRPr sz="1800" kern="1200">
        <a:solidFill>
          <a:schemeClr val="tx1"/>
        </a:solidFill>
        <a:latin typeface="+mn-lt"/>
        <a:ea typeface="+mn-ea"/>
        <a:cs typeface="+mn-cs"/>
      </a:defRPr>
    </a:lvl1pPr>
    <a:lvl2pPr marL="457143" algn="l" defTabSz="914286" rtl="0" eaLnBrk="1" latinLnBrk="0" hangingPunct="1">
      <a:defRPr sz="1800" kern="1200">
        <a:solidFill>
          <a:schemeClr val="tx1"/>
        </a:solidFill>
        <a:latin typeface="+mn-lt"/>
        <a:ea typeface="+mn-ea"/>
        <a:cs typeface="+mn-cs"/>
      </a:defRPr>
    </a:lvl2pPr>
    <a:lvl3pPr marL="914286" algn="l" defTabSz="914286" rtl="0" eaLnBrk="1" latinLnBrk="0" hangingPunct="1">
      <a:defRPr sz="1800" kern="1200">
        <a:solidFill>
          <a:schemeClr val="tx1"/>
        </a:solidFill>
        <a:latin typeface="+mn-lt"/>
        <a:ea typeface="+mn-ea"/>
        <a:cs typeface="+mn-cs"/>
      </a:defRPr>
    </a:lvl3pPr>
    <a:lvl4pPr marL="1371428" algn="l" defTabSz="914286" rtl="0" eaLnBrk="1" latinLnBrk="0" hangingPunct="1">
      <a:defRPr sz="1800" kern="1200">
        <a:solidFill>
          <a:schemeClr val="tx1"/>
        </a:solidFill>
        <a:latin typeface="+mn-lt"/>
        <a:ea typeface="+mn-ea"/>
        <a:cs typeface="+mn-cs"/>
      </a:defRPr>
    </a:lvl4pPr>
    <a:lvl5pPr marL="1828572" algn="l" defTabSz="914286" rtl="0" eaLnBrk="1" latinLnBrk="0" hangingPunct="1">
      <a:defRPr sz="1800" kern="1200">
        <a:solidFill>
          <a:schemeClr val="tx1"/>
        </a:solidFill>
        <a:latin typeface="+mn-lt"/>
        <a:ea typeface="+mn-ea"/>
        <a:cs typeface="+mn-cs"/>
      </a:defRPr>
    </a:lvl5pPr>
    <a:lvl6pPr marL="2285714" algn="l" defTabSz="914286" rtl="0" eaLnBrk="1" latinLnBrk="0" hangingPunct="1">
      <a:defRPr sz="1800" kern="1200">
        <a:solidFill>
          <a:schemeClr val="tx1"/>
        </a:solidFill>
        <a:latin typeface="+mn-lt"/>
        <a:ea typeface="+mn-ea"/>
        <a:cs typeface="+mn-cs"/>
      </a:defRPr>
    </a:lvl6pPr>
    <a:lvl7pPr marL="2742858" algn="l" defTabSz="914286" rtl="0" eaLnBrk="1" latinLnBrk="0" hangingPunct="1">
      <a:defRPr sz="1800" kern="1200">
        <a:solidFill>
          <a:schemeClr val="tx1"/>
        </a:solidFill>
        <a:latin typeface="+mn-lt"/>
        <a:ea typeface="+mn-ea"/>
        <a:cs typeface="+mn-cs"/>
      </a:defRPr>
    </a:lvl7pPr>
    <a:lvl8pPr marL="3200000" algn="l" defTabSz="914286" rtl="0" eaLnBrk="1" latinLnBrk="0" hangingPunct="1">
      <a:defRPr sz="1800" kern="1200">
        <a:solidFill>
          <a:schemeClr val="tx1"/>
        </a:solidFill>
        <a:latin typeface="+mn-lt"/>
        <a:ea typeface="+mn-ea"/>
        <a:cs typeface="+mn-cs"/>
      </a:defRPr>
    </a:lvl8pPr>
    <a:lvl9pPr marL="3657143" algn="l" defTabSz="914286"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92" userDrawn="1">
          <p15:clr>
            <a:srgbClr val="A4A3A4"/>
          </p15:clr>
        </p15:guide>
        <p15:guide id="2" userDrawn="1">
          <p15:clr>
            <a:srgbClr val="A4A3A4"/>
          </p15:clr>
        </p15:guide>
      </p15:sldGuideLst>
    </p:ext>
    <p:ext uri="{2D200454-40CA-4A62-9FC3-DE9A4176ACB9}">
      <p15:notesGuideLst xmlns:p15="http://schemas.microsoft.com/office/powerpoint/2012/main">
        <p15:guide id="1" orient="horz" pos="2208" userDrawn="1">
          <p15:clr>
            <a:srgbClr val="A4A3A4"/>
          </p15:clr>
        </p15:guide>
        <p15:guide id="2" pos="2952"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29AA509-44E4-50DB-9F32-86616C5D8514}" name="Auclair, Bianca" initials="" userId="S::bianca.auclair@ia.ca::58712ce2-bb62-43de-b7d5-baeb6131f9ce" providerId="AD"/>
  <p188:author id="{BC568A3A-F3A9-EB30-6C8C-C68855561EC9}" name="Bélanger, Camilia" initials="CB" userId="S::Camilia.Belanger@ia.ca::d6985adc-0fb8-4b5d-a870-b379fa42017f" providerId="AD"/>
  <p188:author id="{45298459-C9E7-0B0C-3588-90A42979C48D}" name="Merdassi, Hakim" initials="HM" userId="S::hakim.merdassi2@ia.ca::4ca6b58f-59e0-40b9-8351-93620481a179" providerId="AD"/>
  <p188:author id="{CD0735B6-0293-E85D-990F-23C65E27354C}" name="Blais-Boilard, Andréanne" initials="AB" userId="S::Andreanne.Blais-Boilard@ia.ca::211ae88a-998a-492e-bec2-ed805b9c21d8" providerId="AD"/>
  <p188:author id="{AC9385C5-E5F7-4663-BC13-F5482E9DC9C1}" name="Cloutier, Josianne" initials="JC" userId="S::josianne.cloutier@ia.ca::03042ea1-7422-4483-93ab-4462833d7647" providerId="AD"/>
  <p188:author id="{A0983FDB-C865-0A92-860A-EE94860A2B27}" name="Berriri, Amin" initials="AB" userId="S::amin.berriri@ia.ca::f0ac5b9f-00b2-4a20-9218-08f50abb4d1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Leblond-Besner, Sophie" initials="LS" lastIdx="6" clrIdx="0">
    <p:extLst>
      <p:ext uri="{19B8F6BF-5375-455C-9EA6-DF929625EA0E}">
        <p15:presenceInfo xmlns:p15="http://schemas.microsoft.com/office/powerpoint/2012/main" userId="S::Sophie.Leblond-Besner@ia.ca::33909b31-41a8-4c6d-987a-c6ee3ae23bc8" providerId="AD"/>
      </p:ext>
    </p:extLst>
  </p:cmAuthor>
  <p:cmAuthor id="2" name="Braga, Émiliana" initials="BÉ" lastIdx="1" clrIdx="1">
    <p:extLst>
      <p:ext uri="{19B8F6BF-5375-455C-9EA6-DF929625EA0E}">
        <p15:presenceInfo xmlns:p15="http://schemas.microsoft.com/office/powerpoint/2012/main" userId="S::emiliana.braga@ia.ca::5e9d1318-b356-4dea-a217-df03a06fd69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2626"/>
    <a:srgbClr val="7D878C"/>
    <a:srgbClr val="00198D"/>
    <a:srgbClr val="99D6EA"/>
    <a:srgbClr val="003DA5"/>
    <a:srgbClr val="434343"/>
    <a:srgbClr val="002E6B"/>
    <a:srgbClr val="DCE9F2"/>
    <a:srgbClr val="F2F2F2"/>
    <a:srgbClr val="7C878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97AFD9-64DB-46E8-90A9-1F8A4F7568C8}" v="1205" dt="2026-01-16T16:04:03.788"/>
  </p1510:revLst>
</p1510:revInfo>
</file>

<file path=ppt/tableStyles.xml><?xml version="1.0" encoding="utf-8"?>
<a:tblStyleLst xmlns:a="http://schemas.openxmlformats.org/drawingml/2006/main" def="{5C22544A-7EE6-4342-B048-85BDC9FD1C3A}">
  <a:tblStyle styleId="{B301B821-A1FF-4177-AEE7-76D212191A09}" styleName="Style moyen 1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792"/>
        <p:guide/>
      </p:guideLst>
    </p:cSldViewPr>
  </p:slideViewPr>
  <p:notesViewPr>
    <p:cSldViewPr snapToGrid="0">
      <p:cViewPr>
        <p:scale>
          <a:sx n="1" d="2"/>
          <a:sy n="1" d="2"/>
        </p:scale>
        <p:origin x="0" y="0"/>
      </p:cViewPr>
      <p:guideLst>
        <p:guide orient="horz" pos="2208"/>
        <p:guide pos="2952"/>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notesMaster" Target="notesMasters/notesMaster1.xml"/><Relationship Id="rId89" Type="http://schemas.openxmlformats.org/officeDocument/2006/relationships/theme" Target="theme/theme1.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tableStyles" Target="tableStyle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handoutMaster" Target="handoutMasters/handoutMaster1.xml"/><Relationship Id="rId93"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viewProps" Target="viewProps.xml"/><Relationship Id="rId9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92" Type="http://schemas.microsoft.com/office/2015/10/relationships/revisionInfo" Target="revisionInfo.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presProps" Target="presProps.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uvestre, Marion" userId="S::marion.sauvestre@ia.ca::50458ef3-71da-4d91-9eb9-916e95c2dcdd" providerId="AD" clId="Web-{83EB8A58-AB7F-4D36-BE2E-1A51EADF4898}"/>
    <pc:docChg chg="modSld">
      <pc:chgData name="Sauvestre, Marion" userId="S::marion.sauvestre@ia.ca::50458ef3-71da-4d91-9eb9-916e95c2dcdd" providerId="AD" clId="Web-{83EB8A58-AB7F-4D36-BE2E-1A51EADF4898}" dt="2026-01-16T20:14:53.245" v="0" actId="1076"/>
      <pc:docMkLst>
        <pc:docMk/>
      </pc:docMkLst>
      <pc:sldChg chg="modSp">
        <pc:chgData name="Sauvestre, Marion" userId="S::marion.sauvestre@ia.ca::50458ef3-71da-4d91-9eb9-916e95c2dcdd" providerId="AD" clId="Web-{83EB8A58-AB7F-4D36-BE2E-1A51EADF4898}" dt="2026-01-16T20:14:53.245" v="0" actId="1076"/>
        <pc:sldMkLst>
          <pc:docMk/>
          <pc:sldMk cId="438271117" sldId="2147480350"/>
        </pc:sldMkLst>
        <pc:graphicFrameChg chg="mod">
          <ac:chgData name="Sauvestre, Marion" userId="S::marion.sauvestre@ia.ca::50458ef3-71da-4d91-9eb9-916e95c2dcdd" providerId="AD" clId="Web-{83EB8A58-AB7F-4D36-BE2E-1A51EADF4898}" dt="2026-01-16T20:14:53.245" v="0" actId="1076"/>
          <ac:graphicFrameMkLst>
            <pc:docMk/>
            <pc:sldMk cId="438271117" sldId="2147480350"/>
            <ac:graphicFrameMk id="5" creationId="{7C52C486-5228-77C9-EFC3-1024D77E1164}"/>
          </ac:graphicFrameMkLst>
        </pc:graphicFrameChg>
      </pc:sldChg>
    </pc:docChg>
  </pc:docChgLst>
  <pc:docChgLst>
    <pc:chgData name="Merdassi, Hakim" userId="4ca6b58f-59e0-40b9-8351-93620481a179" providerId="ADAL" clId="{42DA8C79-7E25-4D6E-97FB-489CCC87DA52}"/>
    <pc:docChg chg="undo custSel modSld">
      <pc:chgData name="Merdassi, Hakim" userId="4ca6b58f-59e0-40b9-8351-93620481a179" providerId="ADAL" clId="{42DA8C79-7E25-4D6E-97FB-489CCC87DA52}" dt="2025-12-11T14:50:29.127" v="1" actId="1076"/>
      <pc:docMkLst>
        <pc:docMk/>
      </pc:docMkLst>
      <pc:sldChg chg="modSp mod">
        <pc:chgData name="Merdassi, Hakim" userId="4ca6b58f-59e0-40b9-8351-93620481a179" providerId="ADAL" clId="{42DA8C79-7E25-4D6E-97FB-489CCC87DA52}" dt="2025-12-11T14:50:29.127" v="1" actId="1076"/>
        <pc:sldMkLst>
          <pc:docMk/>
          <pc:sldMk cId="977546701" sldId="2147480382"/>
        </pc:sldMkLst>
        <pc:spChg chg="mod">
          <ac:chgData name="Merdassi, Hakim" userId="4ca6b58f-59e0-40b9-8351-93620481a179" providerId="ADAL" clId="{42DA8C79-7E25-4D6E-97FB-489CCC87DA52}" dt="2025-12-11T14:50:29.127" v="1" actId="1076"/>
          <ac:spMkLst>
            <pc:docMk/>
            <pc:sldMk cId="977546701" sldId="2147480382"/>
            <ac:spMk id="11" creationId="{9FCB9D73-ED09-C6FE-1CAD-8DCD5EEC28C3}"/>
          </ac:spMkLst>
        </pc:spChg>
      </pc:sldChg>
    </pc:docChg>
  </pc:docChgLst>
  <pc:docChgLst>
    <pc:chgData name="Berriri, Amin" userId="f0ac5b9f-00b2-4a20-9218-08f50abb4d12" providerId="ADAL" clId="{4E5DF939-ACD2-4D9D-8655-E9B807FFBE67}"/>
    <pc:docChg chg="undo redo custSel addSld delSld modSld sldOrd">
      <pc:chgData name="Berriri, Amin" userId="f0ac5b9f-00b2-4a20-9218-08f50abb4d12" providerId="ADAL" clId="{4E5DF939-ACD2-4D9D-8655-E9B807FFBE67}" dt="2026-01-16T16:04:03.788" v="41516" actId="20577"/>
      <pc:docMkLst>
        <pc:docMk/>
      </pc:docMkLst>
      <pc:sldChg chg="modSp mod">
        <pc:chgData name="Berriri, Amin" userId="f0ac5b9f-00b2-4a20-9218-08f50abb4d12" providerId="ADAL" clId="{4E5DF939-ACD2-4D9D-8655-E9B807FFBE67}" dt="2026-01-12T21:00:36.172" v="40575" actId="20577"/>
        <pc:sldMkLst>
          <pc:docMk/>
          <pc:sldMk cId="2538571112" sldId="256"/>
        </pc:sldMkLst>
        <pc:spChg chg="mod">
          <ac:chgData name="Berriri, Amin" userId="f0ac5b9f-00b2-4a20-9218-08f50abb4d12" providerId="ADAL" clId="{4E5DF939-ACD2-4D9D-8655-E9B807FFBE67}" dt="2026-01-12T20:42:02.085" v="40571" actId="20577"/>
          <ac:spMkLst>
            <pc:docMk/>
            <pc:sldMk cId="2538571112" sldId="256"/>
            <ac:spMk id="3" creationId="{E06389CB-4C07-9F41-BEA6-CB63CC38BA12}"/>
          </ac:spMkLst>
        </pc:spChg>
        <pc:spChg chg="mod">
          <ac:chgData name="Berriri, Amin" userId="f0ac5b9f-00b2-4a20-9218-08f50abb4d12" providerId="ADAL" clId="{4E5DF939-ACD2-4D9D-8655-E9B807FFBE67}" dt="2026-01-12T21:00:36.172" v="40575" actId="20577"/>
          <ac:spMkLst>
            <pc:docMk/>
            <pc:sldMk cId="2538571112" sldId="256"/>
            <ac:spMk id="4" creationId="{DBD0DA1A-958E-6BB3-9344-73717702732E}"/>
          </ac:spMkLst>
        </pc:spChg>
      </pc:sldChg>
      <pc:sldChg chg="addSp delSp modSp mod ord modCm">
        <pc:chgData name="Berriri, Amin" userId="f0ac5b9f-00b2-4a20-9218-08f50abb4d12" providerId="ADAL" clId="{4E5DF939-ACD2-4D9D-8655-E9B807FFBE67}" dt="2026-01-12T15:04:01.496" v="40463" actId="20577"/>
        <pc:sldMkLst>
          <pc:docMk/>
          <pc:sldMk cId="2632470636" sldId="300"/>
        </pc:sldMkLst>
        <pc:graphicFrameChg chg="mod modGraphic">
          <ac:chgData name="Berriri, Amin" userId="f0ac5b9f-00b2-4a20-9218-08f50abb4d12" providerId="ADAL" clId="{4E5DF939-ACD2-4D9D-8655-E9B807FFBE67}" dt="2026-01-12T15:04:01.496" v="40463" actId="20577"/>
          <ac:graphicFrameMkLst>
            <pc:docMk/>
            <pc:sldMk cId="2632470636" sldId="300"/>
            <ac:graphicFrameMk id="6" creationId="{152B70A0-E250-0C99-5670-689F3A2F0B67}"/>
          </ac:graphicFrameMkLst>
        </pc:graphicFrameChg>
        <pc:extLst>
          <p:ext xmlns:p="http://schemas.openxmlformats.org/presentationml/2006/main" uri="{D6D511B9-2390-475A-947B-AFAB55BFBCF1}">
            <pc226:cmChg xmlns:pc226="http://schemas.microsoft.com/office/powerpoint/2022/06/main/command" chg="mod">
              <pc226:chgData name="Berriri, Amin" userId="f0ac5b9f-00b2-4a20-9218-08f50abb4d12" providerId="ADAL" clId="{4E5DF939-ACD2-4D9D-8655-E9B807FFBE67}" dt="2025-12-18T15:48:14.249" v="30453" actId="20577"/>
              <pc2:cmMkLst xmlns:pc2="http://schemas.microsoft.com/office/powerpoint/2019/9/main/command">
                <pc:docMk/>
                <pc:sldMk cId="2632470636" sldId="300"/>
                <pc2:cmMk id="{8ED8442C-DEB6-4840-8C7C-E71C23925CDC}"/>
              </pc2:cmMkLst>
            </pc226:cmChg>
            <pc226:cmChg xmlns:pc226="http://schemas.microsoft.com/office/powerpoint/2022/06/main/command" chg="mod">
              <pc226:chgData name="Berriri, Amin" userId="f0ac5b9f-00b2-4a20-9218-08f50abb4d12" providerId="ADAL" clId="{4E5DF939-ACD2-4D9D-8655-E9B807FFBE67}" dt="2025-12-18T19:43:37.107" v="30618" actId="20577"/>
              <pc2:cmMkLst xmlns:pc2="http://schemas.microsoft.com/office/powerpoint/2019/9/main/command">
                <pc:docMk/>
                <pc:sldMk cId="2632470636" sldId="300"/>
                <pc2:cmMk id="{794FF8A1-2EF5-4424-A421-422D90A31926}"/>
              </pc2:cmMkLst>
            </pc226:cmChg>
          </p:ext>
        </pc:extLst>
      </pc:sldChg>
      <pc:sldChg chg="addSp delSp modSp mod ord">
        <pc:chgData name="Berriri, Amin" userId="f0ac5b9f-00b2-4a20-9218-08f50abb4d12" providerId="ADAL" clId="{4E5DF939-ACD2-4D9D-8655-E9B807FFBE67}" dt="2026-01-12T17:40:02.417" v="40470" actId="20577"/>
        <pc:sldMkLst>
          <pc:docMk/>
          <pc:sldMk cId="3789530434" sldId="306"/>
        </pc:sldMkLst>
        <pc:spChg chg="add mod">
          <ac:chgData name="Berriri, Amin" userId="f0ac5b9f-00b2-4a20-9218-08f50abb4d12" providerId="ADAL" clId="{4E5DF939-ACD2-4D9D-8655-E9B807FFBE67}" dt="2026-01-05T21:24:17.622" v="30856"/>
          <ac:spMkLst>
            <pc:docMk/>
            <pc:sldMk cId="3789530434" sldId="306"/>
            <ac:spMk id="7" creationId="{0A4AC49E-61DA-F31E-A206-C593132DE485}"/>
          </ac:spMkLst>
        </pc:spChg>
        <pc:graphicFrameChg chg="add mod modGraphic">
          <ac:chgData name="Berriri, Amin" userId="f0ac5b9f-00b2-4a20-9218-08f50abb4d12" providerId="ADAL" clId="{4E5DF939-ACD2-4D9D-8655-E9B807FFBE67}" dt="2026-01-12T17:40:02.417" v="40470" actId="20577"/>
          <ac:graphicFrameMkLst>
            <pc:docMk/>
            <pc:sldMk cId="3789530434" sldId="306"/>
            <ac:graphicFrameMk id="3" creationId="{7AD91094-B57F-51F2-62FA-B79E7BFA7AF1}"/>
          </ac:graphicFrameMkLst>
        </pc:graphicFrameChg>
      </pc:sldChg>
      <pc:sldChg chg="modSp mod">
        <pc:chgData name="Berriri, Amin" userId="f0ac5b9f-00b2-4a20-9218-08f50abb4d12" providerId="ADAL" clId="{4E5DF939-ACD2-4D9D-8655-E9B807FFBE67}" dt="2026-01-12T17:55:04.596" v="40526" actId="13926"/>
        <pc:sldMkLst>
          <pc:docMk/>
          <pc:sldMk cId="1775085871" sldId="307"/>
        </pc:sldMkLst>
        <pc:graphicFrameChg chg="modGraphic">
          <ac:chgData name="Berriri, Amin" userId="f0ac5b9f-00b2-4a20-9218-08f50abb4d12" providerId="ADAL" clId="{4E5DF939-ACD2-4D9D-8655-E9B807FFBE67}" dt="2026-01-12T17:55:04.596" v="40526" actId="13926"/>
          <ac:graphicFrameMkLst>
            <pc:docMk/>
            <pc:sldMk cId="1775085871" sldId="307"/>
            <ac:graphicFrameMk id="4" creationId="{FCF760B8-B3F2-74B2-4D0E-D4B809E15088}"/>
          </ac:graphicFrameMkLst>
        </pc:graphicFrameChg>
      </pc:sldChg>
      <pc:sldChg chg="modSp mod">
        <pc:chgData name="Berriri, Amin" userId="f0ac5b9f-00b2-4a20-9218-08f50abb4d12" providerId="ADAL" clId="{4E5DF939-ACD2-4D9D-8655-E9B807FFBE67}" dt="2026-01-09T19:36:12.254" v="37991" actId="20577"/>
        <pc:sldMkLst>
          <pc:docMk/>
          <pc:sldMk cId="462616230" sldId="2147470027"/>
        </pc:sldMkLst>
        <pc:spChg chg="mod">
          <ac:chgData name="Berriri, Amin" userId="f0ac5b9f-00b2-4a20-9218-08f50abb4d12" providerId="ADAL" clId="{4E5DF939-ACD2-4D9D-8655-E9B807FFBE67}" dt="2026-01-09T19:36:12.254" v="37991" actId="20577"/>
          <ac:spMkLst>
            <pc:docMk/>
            <pc:sldMk cId="462616230" sldId="2147470027"/>
            <ac:spMk id="3" creationId="{0D5853DE-D059-F241-8476-2EF8BDE8D7D3}"/>
          </ac:spMkLst>
        </pc:spChg>
      </pc:sldChg>
      <pc:sldChg chg="modSp">
        <pc:chgData name="Berriri, Amin" userId="f0ac5b9f-00b2-4a20-9218-08f50abb4d12" providerId="ADAL" clId="{4E5DF939-ACD2-4D9D-8655-E9B807FFBE67}" dt="2026-01-12T17:41:01.493" v="40471"/>
        <pc:sldMkLst>
          <pc:docMk/>
          <pc:sldMk cId="945582823" sldId="2147470039"/>
        </pc:sldMkLst>
        <pc:graphicFrameChg chg="mod">
          <ac:chgData name="Berriri, Amin" userId="f0ac5b9f-00b2-4a20-9218-08f50abb4d12" providerId="ADAL" clId="{4E5DF939-ACD2-4D9D-8655-E9B807FFBE67}" dt="2026-01-12T17:41:01.493" v="40471"/>
          <ac:graphicFrameMkLst>
            <pc:docMk/>
            <pc:sldMk cId="945582823" sldId="2147470039"/>
            <ac:graphicFrameMk id="7" creationId="{547710A2-82F2-59F9-E82E-C828A9D67C58}"/>
          </ac:graphicFrameMkLst>
        </pc:graphicFrameChg>
      </pc:sldChg>
      <pc:sldChg chg="addSp delSp modSp add mod">
        <pc:chgData name="Berriri, Amin" userId="f0ac5b9f-00b2-4a20-9218-08f50abb4d12" providerId="ADAL" clId="{4E5DF939-ACD2-4D9D-8655-E9B807FFBE67}" dt="2026-01-08T20:52:29.881" v="37477" actId="1076"/>
        <pc:sldMkLst>
          <pc:docMk/>
          <pc:sldMk cId="4165822504" sldId="2147470052"/>
        </pc:sldMkLst>
        <pc:picChg chg="add mod">
          <ac:chgData name="Berriri, Amin" userId="f0ac5b9f-00b2-4a20-9218-08f50abb4d12" providerId="ADAL" clId="{4E5DF939-ACD2-4D9D-8655-E9B807FFBE67}" dt="2026-01-08T20:52:29.881" v="37477" actId="1076"/>
          <ac:picMkLst>
            <pc:docMk/>
            <pc:sldMk cId="4165822504" sldId="2147470052"/>
            <ac:picMk id="11" creationId="{C17846F7-3BAE-9D27-85A9-80E65FE5DCAA}"/>
          </ac:picMkLst>
        </pc:picChg>
      </pc:sldChg>
      <pc:sldChg chg="modSp mod">
        <pc:chgData name="Berriri, Amin" userId="f0ac5b9f-00b2-4a20-9218-08f50abb4d12" providerId="ADAL" clId="{4E5DF939-ACD2-4D9D-8655-E9B807FFBE67}" dt="2026-01-12T17:46:02.382" v="40483" actId="20577"/>
        <pc:sldMkLst>
          <pc:docMk/>
          <pc:sldMk cId="3939184152" sldId="2147470054"/>
        </pc:sldMkLst>
        <pc:spChg chg="mod">
          <ac:chgData name="Berriri, Amin" userId="f0ac5b9f-00b2-4a20-9218-08f50abb4d12" providerId="ADAL" clId="{4E5DF939-ACD2-4D9D-8655-E9B807FFBE67}" dt="2026-01-12T17:46:02.382" v="40483" actId="20577"/>
          <ac:spMkLst>
            <pc:docMk/>
            <pc:sldMk cId="3939184152" sldId="2147470054"/>
            <ac:spMk id="5" creationId="{EE154D39-A99A-0DC8-56BB-CD56AC05F945}"/>
          </ac:spMkLst>
        </pc:spChg>
      </pc:sldChg>
      <pc:sldChg chg="addSp delSp modSp mod">
        <pc:chgData name="Berriri, Amin" userId="f0ac5b9f-00b2-4a20-9218-08f50abb4d12" providerId="ADAL" clId="{4E5DF939-ACD2-4D9D-8655-E9B807FFBE67}" dt="2026-01-08T20:15:48.167" v="37467" actId="13926"/>
        <pc:sldMkLst>
          <pc:docMk/>
          <pc:sldMk cId="3238403686" sldId="2147470059"/>
        </pc:sldMkLst>
        <pc:graphicFrameChg chg="mod modGraphic">
          <ac:chgData name="Berriri, Amin" userId="f0ac5b9f-00b2-4a20-9218-08f50abb4d12" providerId="ADAL" clId="{4E5DF939-ACD2-4D9D-8655-E9B807FFBE67}" dt="2026-01-08T20:15:48.167" v="37467" actId="13926"/>
          <ac:graphicFrameMkLst>
            <pc:docMk/>
            <pc:sldMk cId="3238403686" sldId="2147470059"/>
            <ac:graphicFrameMk id="6" creationId="{03163732-64C5-7020-2939-8B8F0D8E8FB9}"/>
          </ac:graphicFrameMkLst>
        </pc:graphicFrameChg>
      </pc:sldChg>
      <pc:sldChg chg="addSp delSp modSp add mod">
        <pc:chgData name="Berriri, Amin" userId="f0ac5b9f-00b2-4a20-9218-08f50abb4d12" providerId="ADAL" clId="{4E5DF939-ACD2-4D9D-8655-E9B807FFBE67}" dt="2026-01-09T13:31:06.930" v="37652" actId="1035"/>
        <pc:sldMkLst>
          <pc:docMk/>
          <pc:sldMk cId="1898145530" sldId="2147470060"/>
        </pc:sldMkLst>
        <pc:spChg chg="mod">
          <ac:chgData name="Berriri, Amin" userId="f0ac5b9f-00b2-4a20-9218-08f50abb4d12" providerId="ADAL" clId="{4E5DF939-ACD2-4D9D-8655-E9B807FFBE67}" dt="2026-01-05T21:23:52.879" v="30851" actId="1076"/>
          <ac:spMkLst>
            <pc:docMk/>
            <pc:sldMk cId="1898145530" sldId="2147470060"/>
            <ac:spMk id="2" creationId="{D7C36295-1288-1FE7-5306-302A8C723425}"/>
          </ac:spMkLst>
        </pc:spChg>
        <pc:spChg chg="add mod">
          <ac:chgData name="Berriri, Amin" userId="f0ac5b9f-00b2-4a20-9218-08f50abb4d12" providerId="ADAL" clId="{4E5DF939-ACD2-4D9D-8655-E9B807FFBE67}" dt="2026-01-08T18:53:18.610" v="36939" actId="1038"/>
          <ac:spMkLst>
            <pc:docMk/>
            <pc:sldMk cId="1898145530" sldId="2147470060"/>
            <ac:spMk id="4" creationId="{908043CC-BA6D-1BA0-1296-87A3297003DC}"/>
          </ac:spMkLst>
        </pc:spChg>
        <pc:spChg chg="add mod ord">
          <ac:chgData name="Berriri, Amin" userId="f0ac5b9f-00b2-4a20-9218-08f50abb4d12" providerId="ADAL" clId="{4E5DF939-ACD2-4D9D-8655-E9B807FFBE67}" dt="2026-01-08T18:52:20.404" v="36887" actId="14100"/>
          <ac:spMkLst>
            <pc:docMk/>
            <pc:sldMk cId="1898145530" sldId="2147470060"/>
            <ac:spMk id="5" creationId="{DD980DBD-F5F1-E9AC-27D3-E688AD1D4B41}"/>
          </ac:spMkLst>
        </pc:spChg>
        <pc:spChg chg="add mod">
          <ac:chgData name="Berriri, Amin" userId="f0ac5b9f-00b2-4a20-9218-08f50abb4d12" providerId="ADAL" clId="{4E5DF939-ACD2-4D9D-8655-E9B807FFBE67}" dt="2026-01-08T18:52:32.627" v="36898" actId="1035"/>
          <ac:spMkLst>
            <pc:docMk/>
            <pc:sldMk cId="1898145530" sldId="2147470060"/>
            <ac:spMk id="7" creationId="{ED96C63E-469F-6798-0F33-FC233DF53458}"/>
          </ac:spMkLst>
        </pc:spChg>
        <pc:spChg chg="add mod">
          <ac:chgData name="Berriri, Amin" userId="f0ac5b9f-00b2-4a20-9218-08f50abb4d12" providerId="ADAL" clId="{4E5DF939-ACD2-4D9D-8655-E9B807FFBE67}" dt="2026-01-09T13:31:06.930" v="37652" actId="1035"/>
          <ac:spMkLst>
            <pc:docMk/>
            <pc:sldMk cId="1898145530" sldId="2147470060"/>
            <ac:spMk id="8" creationId="{6880D45C-4EB1-2B74-6EC1-82B48A7DA503}"/>
          </ac:spMkLst>
        </pc:spChg>
        <pc:graphicFrameChg chg="add mod modGraphic">
          <ac:chgData name="Berriri, Amin" userId="f0ac5b9f-00b2-4a20-9218-08f50abb4d12" providerId="ADAL" clId="{4E5DF939-ACD2-4D9D-8655-E9B807FFBE67}" dt="2026-01-07T19:49:30.355" v="35761"/>
          <ac:graphicFrameMkLst>
            <pc:docMk/>
            <pc:sldMk cId="1898145530" sldId="2147470060"/>
            <ac:graphicFrameMk id="3" creationId="{31EC3A40-A6C2-22C5-A648-6358A27B5876}"/>
          </ac:graphicFrameMkLst>
        </pc:graphicFrameChg>
        <pc:cxnChg chg="add mod">
          <ac:chgData name="Berriri, Amin" userId="f0ac5b9f-00b2-4a20-9218-08f50abb4d12" providerId="ADAL" clId="{4E5DF939-ACD2-4D9D-8655-E9B807FFBE67}" dt="2026-01-08T18:52:50.989" v="36902" actId="14100"/>
          <ac:cxnSpMkLst>
            <pc:docMk/>
            <pc:sldMk cId="1898145530" sldId="2147470060"/>
            <ac:cxnSpMk id="9" creationId="{9C165A80-03CC-66A3-76E0-2F21ADACA77E}"/>
          </ac:cxnSpMkLst>
        </pc:cxnChg>
        <pc:cxnChg chg="add mod">
          <ac:chgData name="Berriri, Amin" userId="f0ac5b9f-00b2-4a20-9218-08f50abb4d12" providerId="ADAL" clId="{4E5DF939-ACD2-4D9D-8655-E9B807FFBE67}" dt="2026-01-08T18:53:25.530" v="36940" actId="14100"/>
          <ac:cxnSpMkLst>
            <pc:docMk/>
            <pc:sldMk cId="1898145530" sldId="2147470060"/>
            <ac:cxnSpMk id="12" creationId="{630905A2-413C-9EAF-0F0E-B9C060383F7D}"/>
          </ac:cxnSpMkLst>
        </pc:cxnChg>
        <pc:cxnChg chg="add mod">
          <ac:chgData name="Berriri, Amin" userId="f0ac5b9f-00b2-4a20-9218-08f50abb4d12" providerId="ADAL" clId="{4E5DF939-ACD2-4D9D-8655-E9B807FFBE67}" dt="2026-01-08T18:53:53.372" v="36945" actId="14100"/>
          <ac:cxnSpMkLst>
            <pc:docMk/>
            <pc:sldMk cId="1898145530" sldId="2147470060"/>
            <ac:cxnSpMk id="17" creationId="{9D2550F9-65D8-DD41-F3BD-128C83126698}"/>
          </ac:cxnSpMkLst>
        </pc:cxnChg>
        <pc:cxnChg chg="add mod">
          <ac:chgData name="Berriri, Amin" userId="f0ac5b9f-00b2-4a20-9218-08f50abb4d12" providerId="ADAL" clId="{4E5DF939-ACD2-4D9D-8655-E9B807FFBE67}" dt="2026-01-09T13:31:06.930" v="37652" actId="1035"/>
          <ac:cxnSpMkLst>
            <pc:docMk/>
            <pc:sldMk cId="1898145530" sldId="2147470060"/>
            <ac:cxnSpMk id="21" creationId="{4C704D53-0AD8-2D72-FE37-870DF1E9F4EC}"/>
          </ac:cxnSpMkLst>
        </pc:cxnChg>
      </pc:sldChg>
      <pc:sldChg chg="addSp delSp modSp add mod">
        <pc:chgData name="Berriri, Amin" userId="f0ac5b9f-00b2-4a20-9218-08f50abb4d12" providerId="ADAL" clId="{4E5DF939-ACD2-4D9D-8655-E9B807FFBE67}" dt="2026-01-16T16:04:03.788" v="41516" actId="20577"/>
        <pc:sldMkLst>
          <pc:docMk/>
          <pc:sldMk cId="2582075986" sldId="2147480344"/>
        </pc:sldMkLst>
        <pc:spChg chg="del mod">
          <ac:chgData name="Berriri, Amin" userId="f0ac5b9f-00b2-4a20-9218-08f50abb4d12" providerId="ADAL" clId="{4E5DF939-ACD2-4D9D-8655-E9B807FFBE67}" dt="2026-01-15T20:52:46.775" v="41048" actId="478"/>
          <ac:spMkLst>
            <pc:docMk/>
            <pc:sldMk cId="2582075986" sldId="2147480344"/>
            <ac:spMk id="2" creationId="{AA3AE109-80E2-55D3-3336-C6453F82C09E}"/>
          </ac:spMkLst>
        </pc:spChg>
        <pc:spChg chg="add mod">
          <ac:chgData name="Berriri, Amin" userId="f0ac5b9f-00b2-4a20-9218-08f50abb4d12" providerId="ADAL" clId="{4E5DF939-ACD2-4D9D-8655-E9B807FFBE67}" dt="2026-01-16T16:04:03.788" v="41516" actId="20577"/>
          <ac:spMkLst>
            <pc:docMk/>
            <pc:sldMk cId="2582075986" sldId="2147480344"/>
            <ac:spMk id="3" creationId="{371CE872-E4B4-C572-CBAE-24681E7149CE}"/>
          </ac:spMkLst>
        </pc:spChg>
        <pc:spChg chg="add mod">
          <ac:chgData name="Berriri, Amin" userId="f0ac5b9f-00b2-4a20-9218-08f50abb4d12" providerId="ADAL" clId="{4E5DF939-ACD2-4D9D-8655-E9B807FFBE67}" dt="2026-01-16T16:02:01.879" v="41511" actId="404"/>
          <ac:spMkLst>
            <pc:docMk/>
            <pc:sldMk cId="2582075986" sldId="2147480344"/>
            <ac:spMk id="5" creationId="{1D8679AC-1FC6-D291-73CA-D00D091DC27F}"/>
          </ac:spMkLst>
        </pc:spChg>
        <pc:graphicFrameChg chg="mod modGraphic">
          <ac:chgData name="Berriri, Amin" userId="f0ac5b9f-00b2-4a20-9218-08f50abb4d12" providerId="ADAL" clId="{4E5DF939-ACD2-4D9D-8655-E9B807FFBE67}" dt="2026-01-16T16:02:13.778" v="41515" actId="404"/>
          <ac:graphicFrameMkLst>
            <pc:docMk/>
            <pc:sldMk cId="2582075986" sldId="2147480344"/>
            <ac:graphicFrameMk id="4" creationId="{0600D51C-A3CA-3036-1A38-0B7753C7EDF3}"/>
          </ac:graphicFrameMkLst>
        </pc:graphicFrameChg>
      </pc:sldChg>
      <pc:sldChg chg="modSp mod">
        <pc:chgData name="Berriri, Amin" userId="f0ac5b9f-00b2-4a20-9218-08f50abb4d12" providerId="ADAL" clId="{4E5DF939-ACD2-4D9D-8655-E9B807FFBE67}" dt="2026-01-14T18:34:53.559" v="40700" actId="21"/>
        <pc:sldMkLst>
          <pc:docMk/>
          <pc:sldMk cId="3196931782" sldId="2147480347"/>
        </pc:sldMkLst>
        <pc:spChg chg="mod">
          <ac:chgData name="Berriri, Amin" userId="f0ac5b9f-00b2-4a20-9218-08f50abb4d12" providerId="ADAL" clId="{4E5DF939-ACD2-4D9D-8655-E9B807FFBE67}" dt="2026-01-14T18:34:53.559" v="40700" actId="21"/>
          <ac:spMkLst>
            <pc:docMk/>
            <pc:sldMk cId="3196931782" sldId="2147480347"/>
            <ac:spMk id="2" creationId="{88E291D1-7205-1D42-ABE9-3D8208A1E26D}"/>
          </ac:spMkLst>
        </pc:spChg>
      </pc:sldChg>
      <pc:sldChg chg="modSp mod">
        <pc:chgData name="Berriri, Amin" userId="f0ac5b9f-00b2-4a20-9218-08f50abb4d12" providerId="ADAL" clId="{4E5DF939-ACD2-4D9D-8655-E9B807FFBE67}" dt="2026-01-12T17:28:09.036" v="40469" actId="20577"/>
        <pc:sldMkLst>
          <pc:docMk/>
          <pc:sldMk cId="1116061319" sldId="2147480348"/>
        </pc:sldMkLst>
        <pc:spChg chg="mod">
          <ac:chgData name="Berriri, Amin" userId="f0ac5b9f-00b2-4a20-9218-08f50abb4d12" providerId="ADAL" clId="{4E5DF939-ACD2-4D9D-8655-E9B807FFBE67}" dt="2026-01-12T17:28:09.036" v="40469" actId="20577"/>
          <ac:spMkLst>
            <pc:docMk/>
            <pc:sldMk cId="1116061319" sldId="2147480348"/>
            <ac:spMk id="11" creationId="{5B2DD122-5FAA-3B13-A3E9-018F00E29518}"/>
          </ac:spMkLst>
        </pc:spChg>
      </pc:sldChg>
      <pc:sldChg chg="addSp delSp modSp mod modCm">
        <pc:chgData name="Berriri, Amin" userId="f0ac5b9f-00b2-4a20-9218-08f50abb4d12" providerId="ADAL" clId="{4E5DF939-ACD2-4D9D-8655-E9B807FFBE67}" dt="2026-01-08T20:15:32.741" v="37466" actId="20577"/>
        <pc:sldMkLst>
          <pc:docMk/>
          <pc:sldMk cId="3934359605" sldId="2147480349"/>
        </pc:sldMkLst>
        <pc:graphicFrameChg chg="mod modGraphic">
          <ac:chgData name="Berriri, Amin" userId="f0ac5b9f-00b2-4a20-9218-08f50abb4d12" providerId="ADAL" clId="{4E5DF939-ACD2-4D9D-8655-E9B807FFBE67}" dt="2026-01-08T20:15:32.741" v="37466" actId="20577"/>
          <ac:graphicFrameMkLst>
            <pc:docMk/>
            <pc:sldMk cId="3934359605" sldId="2147480349"/>
            <ac:graphicFrameMk id="6" creationId="{207721DD-2F71-13CF-95A4-4EA327F147D3}"/>
          </ac:graphicFrameMkLst>
        </pc:graphicFrameChg>
        <pc:extLst>
          <p:ext xmlns:p="http://schemas.openxmlformats.org/presentationml/2006/main" uri="{D6D511B9-2390-475A-947B-AFAB55BFBCF1}">
            <pc226:cmChg xmlns:pc226="http://schemas.microsoft.com/office/powerpoint/2022/06/main/command" chg="mod">
              <pc226:chgData name="Berriri, Amin" userId="f0ac5b9f-00b2-4a20-9218-08f50abb4d12" providerId="ADAL" clId="{4E5DF939-ACD2-4D9D-8655-E9B807FFBE67}" dt="2025-12-12T13:54:39.029" v="28543" actId="20577"/>
              <pc2:cmMkLst xmlns:pc2="http://schemas.microsoft.com/office/powerpoint/2019/9/main/command">
                <pc:docMk/>
                <pc:sldMk cId="3934359605" sldId="2147480349"/>
                <pc2:cmMk id="{29D65A65-2B70-4209-B3C5-5FBCBC3285C9}"/>
              </pc2:cmMkLst>
            </pc226:cmChg>
          </p:ext>
        </pc:extLst>
      </pc:sldChg>
      <pc:sldChg chg="modSp mod modCm modNotesTx">
        <pc:chgData name="Berriri, Amin" userId="f0ac5b9f-00b2-4a20-9218-08f50abb4d12" providerId="ADAL" clId="{4E5DF939-ACD2-4D9D-8655-E9B807FFBE67}" dt="2026-01-13T16:28:37.953" v="40699" actId="20577"/>
        <pc:sldMkLst>
          <pc:docMk/>
          <pc:sldMk cId="2893539935" sldId="2147480351"/>
        </pc:sldMkLst>
        <pc:spChg chg="mod">
          <ac:chgData name="Berriri, Amin" userId="f0ac5b9f-00b2-4a20-9218-08f50abb4d12" providerId="ADAL" clId="{4E5DF939-ACD2-4D9D-8655-E9B807FFBE67}" dt="2026-01-13T16:28:37.953" v="40699" actId="20577"/>
          <ac:spMkLst>
            <pc:docMk/>
            <pc:sldMk cId="2893539935" sldId="2147480351"/>
            <ac:spMk id="3" creationId="{D30DAA09-BF2B-AD78-40C6-D01D6A9C4AF0}"/>
          </ac:spMkLst>
        </pc:spChg>
        <pc:extLst>
          <p:ext xmlns:p="http://schemas.openxmlformats.org/presentationml/2006/main" uri="{D6D511B9-2390-475A-947B-AFAB55BFBCF1}">
            <pc226:cmChg xmlns:pc226="http://schemas.microsoft.com/office/powerpoint/2022/06/main/command" chg="mod">
              <pc226:chgData name="Berriri, Amin" userId="f0ac5b9f-00b2-4a20-9218-08f50abb4d12" providerId="ADAL" clId="{4E5DF939-ACD2-4D9D-8655-E9B807FFBE67}" dt="2026-01-13T16:28:37.953" v="40699" actId="20577"/>
              <pc2:cmMkLst xmlns:pc2="http://schemas.microsoft.com/office/powerpoint/2019/9/main/command">
                <pc:docMk/>
                <pc:sldMk cId="2893539935" sldId="2147480351"/>
                <pc2:cmMk id="{9E5A742C-CB08-420E-A91E-C351B880DA48}"/>
              </pc2:cmMkLst>
            </pc226:cmChg>
            <pc226:cmChg xmlns:pc226="http://schemas.microsoft.com/office/powerpoint/2022/06/main/command" chg="mod">
              <pc226:chgData name="Berriri, Amin" userId="f0ac5b9f-00b2-4a20-9218-08f50abb4d12" providerId="ADAL" clId="{4E5DF939-ACD2-4D9D-8655-E9B807FFBE67}" dt="2026-01-13T16:28:37.953" v="40699" actId="20577"/>
              <pc2:cmMkLst xmlns:pc2="http://schemas.microsoft.com/office/powerpoint/2019/9/main/command">
                <pc:docMk/>
                <pc:sldMk cId="2893539935" sldId="2147480351"/>
                <pc2:cmMk id="{DAB5A37C-AB9F-4CDE-A345-357961BCCD0F}"/>
              </pc2:cmMkLst>
            </pc226:cmChg>
          </p:ext>
        </pc:extLst>
      </pc:sldChg>
      <pc:sldChg chg="modSp mod">
        <pc:chgData name="Berriri, Amin" userId="f0ac5b9f-00b2-4a20-9218-08f50abb4d12" providerId="ADAL" clId="{4E5DF939-ACD2-4D9D-8655-E9B807FFBE67}" dt="2026-01-12T17:49:59.657" v="40484" actId="13926"/>
        <pc:sldMkLst>
          <pc:docMk/>
          <pc:sldMk cId="293529484" sldId="2147480354"/>
        </pc:sldMkLst>
        <pc:graphicFrameChg chg="modGraphic">
          <ac:chgData name="Berriri, Amin" userId="f0ac5b9f-00b2-4a20-9218-08f50abb4d12" providerId="ADAL" clId="{4E5DF939-ACD2-4D9D-8655-E9B807FFBE67}" dt="2026-01-12T17:49:59.657" v="40484" actId="13926"/>
          <ac:graphicFrameMkLst>
            <pc:docMk/>
            <pc:sldMk cId="293529484" sldId="2147480354"/>
            <ac:graphicFrameMk id="3" creationId="{C885B643-F57C-7F9D-8928-E93F03F611C1}"/>
          </ac:graphicFrameMkLst>
        </pc:graphicFrameChg>
      </pc:sldChg>
      <pc:sldChg chg="addSp delSp modSp mod modCm">
        <pc:chgData name="Berriri, Amin" userId="f0ac5b9f-00b2-4a20-9218-08f50abb4d12" providerId="ADAL" clId="{4E5DF939-ACD2-4D9D-8655-E9B807FFBE67}" dt="2026-01-12T17:50:19.317" v="40504" actId="20577"/>
        <pc:sldMkLst>
          <pc:docMk/>
          <pc:sldMk cId="3128504898" sldId="2147480357"/>
        </pc:sldMkLst>
        <pc:spChg chg="mod">
          <ac:chgData name="Berriri, Amin" userId="f0ac5b9f-00b2-4a20-9218-08f50abb4d12" providerId="ADAL" clId="{4E5DF939-ACD2-4D9D-8655-E9B807FFBE67}" dt="2026-01-12T17:50:19.317" v="40504" actId="20577"/>
          <ac:spMkLst>
            <pc:docMk/>
            <pc:sldMk cId="3128504898" sldId="2147480357"/>
            <ac:spMk id="3" creationId="{AC35ABCD-7E07-B25E-D6E3-ED724D88B1C3}"/>
          </ac:spMkLst>
        </pc:spChg>
        <pc:spChg chg="add mod">
          <ac:chgData name="Berriri, Amin" userId="f0ac5b9f-00b2-4a20-9218-08f50abb4d12" providerId="ADAL" clId="{4E5DF939-ACD2-4D9D-8655-E9B807FFBE67}" dt="2025-12-18T14:28:13.435" v="30219" actId="1035"/>
          <ac:spMkLst>
            <pc:docMk/>
            <pc:sldMk cId="3128504898" sldId="2147480357"/>
            <ac:spMk id="7" creationId="{FB9FF7F7-376B-A21A-27EE-55F8D568641D}"/>
          </ac:spMkLst>
        </pc:spChg>
        <pc:spChg chg="add mod">
          <ac:chgData name="Berriri, Amin" userId="f0ac5b9f-00b2-4a20-9218-08f50abb4d12" providerId="ADAL" clId="{4E5DF939-ACD2-4D9D-8655-E9B807FFBE67}" dt="2026-01-06T16:45:39.820" v="31272" actId="1076"/>
          <ac:spMkLst>
            <pc:docMk/>
            <pc:sldMk cId="3128504898" sldId="2147480357"/>
            <ac:spMk id="8" creationId="{3D988A4C-4CB8-DD3B-9F18-549F3EC448A3}"/>
          </ac:spMkLst>
        </pc:spChg>
        <pc:graphicFrameChg chg="add mod modGraphic">
          <ac:chgData name="Berriri, Amin" userId="f0ac5b9f-00b2-4a20-9218-08f50abb4d12" providerId="ADAL" clId="{4E5DF939-ACD2-4D9D-8655-E9B807FFBE67}" dt="2026-01-06T16:45:56.625" v="31274" actId="14100"/>
          <ac:graphicFrameMkLst>
            <pc:docMk/>
            <pc:sldMk cId="3128504898" sldId="2147480357"/>
            <ac:graphicFrameMk id="5" creationId="{D186202C-F649-F93F-0B38-224C92080C81}"/>
          </ac:graphicFrameMkLst>
        </pc:graphicFrameChg>
        <pc:extLst>
          <p:ext xmlns:p="http://schemas.openxmlformats.org/presentationml/2006/main" uri="{D6D511B9-2390-475A-947B-AFAB55BFBCF1}">
            <pc226:cmChg xmlns:pc226="http://schemas.microsoft.com/office/powerpoint/2022/06/main/command" chg="mod">
              <pc226:chgData name="Berriri, Amin" userId="f0ac5b9f-00b2-4a20-9218-08f50abb4d12" providerId="ADAL" clId="{4E5DF939-ACD2-4D9D-8655-E9B807FFBE67}" dt="2026-01-12T17:50:19.317" v="40504" actId="20577"/>
              <pc2:cmMkLst xmlns:pc2="http://schemas.microsoft.com/office/powerpoint/2019/9/main/command">
                <pc:docMk/>
                <pc:sldMk cId="3128504898" sldId="2147480357"/>
                <pc2:cmMk id="{E84A7F01-41AD-49B8-A0E2-3BF2BD6AE06E}"/>
              </pc2:cmMkLst>
            </pc226:cmChg>
            <pc226:cmChg xmlns:pc226="http://schemas.microsoft.com/office/powerpoint/2022/06/main/command" chg="mod">
              <pc226:chgData name="Berriri, Amin" userId="f0ac5b9f-00b2-4a20-9218-08f50abb4d12" providerId="ADAL" clId="{4E5DF939-ACD2-4D9D-8655-E9B807FFBE67}" dt="2026-01-12T17:50:19.317" v="40504" actId="20577"/>
              <pc2:cmMkLst xmlns:pc2="http://schemas.microsoft.com/office/powerpoint/2019/9/main/command">
                <pc:docMk/>
                <pc:sldMk cId="3128504898" sldId="2147480357"/>
                <pc2:cmMk id="{3133778D-0C11-450B-80E9-AB1B6BAF664E}"/>
              </pc2:cmMkLst>
            </pc226:cmChg>
          </p:ext>
        </pc:extLst>
      </pc:sldChg>
      <pc:sldChg chg="addSp delSp modSp add mod ord modCm">
        <pc:chgData name="Berriri, Amin" userId="f0ac5b9f-00b2-4a20-9218-08f50abb4d12" providerId="ADAL" clId="{4E5DF939-ACD2-4D9D-8655-E9B807FFBE67}" dt="2026-01-12T17:51:45.094" v="40521" actId="20577"/>
        <pc:sldMkLst>
          <pc:docMk/>
          <pc:sldMk cId="2752274780" sldId="2147480358"/>
        </pc:sldMkLst>
        <pc:graphicFrameChg chg="add mod modGraphic">
          <ac:chgData name="Berriri, Amin" userId="f0ac5b9f-00b2-4a20-9218-08f50abb4d12" providerId="ADAL" clId="{4E5DF939-ACD2-4D9D-8655-E9B807FFBE67}" dt="2026-01-12T17:51:45.094" v="40521" actId="20577"/>
          <ac:graphicFrameMkLst>
            <pc:docMk/>
            <pc:sldMk cId="2752274780" sldId="2147480358"/>
            <ac:graphicFrameMk id="7" creationId="{5F4E6685-B31C-7B29-2B37-36607DC40EDE}"/>
          </ac:graphicFrameMkLst>
        </pc:graphicFrameChg>
        <pc:extLst>
          <p:ext xmlns:p="http://schemas.openxmlformats.org/presentationml/2006/main" uri="{D6D511B9-2390-475A-947B-AFAB55BFBCF1}">
            <pc226:cmChg xmlns:pc226="http://schemas.microsoft.com/office/powerpoint/2022/06/main/command" chg="mod">
              <pc226:chgData name="Berriri, Amin" userId="f0ac5b9f-00b2-4a20-9218-08f50abb4d12" providerId="ADAL" clId="{4E5DF939-ACD2-4D9D-8655-E9B807FFBE67}" dt="2025-12-05T13:43:14.431" v="20907" actId="20577"/>
              <pc2:cmMkLst xmlns:pc2="http://schemas.microsoft.com/office/powerpoint/2019/9/main/command">
                <pc:docMk/>
                <pc:sldMk cId="2752274780" sldId="2147480358"/>
                <pc2:cmMk id="{921F9A14-33EA-4EA1-B979-3CAD86DF1C95}"/>
              </pc2:cmMkLst>
            </pc226:cmChg>
            <pc226:cmChg xmlns:pc226="http://schemas.microsoft.com/office/powerpoint/2022/06/main/command" chg="mod">
              <pc226:chgData name="Berriri, Amin" userId="f0ac5b9f-00b2-4a20-9218-08f50abb4d12" providerId="ADAL" clId="{4E5DF939-ACD2-4D9D-8655-E9B807FFBE67}" dt="2025-12-03T15:15:13.716" v="6406" actId="20577"/>
              <pc2:cmMkLst xmlns:pc2="http://schemas.microsoft.com/office/powerpoint/2019/9/main/command">
                <pc:docMk/>
                <pc:sldMk cId="2752274780" sldId="2147480358"/>
                <pc2:cmMk id="{C3F13C4A-7BC1-4C2B-9C4D-2B001B887D8C}"/>
              </pc2:cmMkLst>
            </pc226:cmChg>
          </p:ext>
        </pc:extLst>
      </pc:sldChg>
      <pc:sldChg chg="addSp delSp modSp add mod modCm modNotesTx">
        <pc:chgData name="Berriri, Amin" userId="f0ac5b9f-00b2-4a20-9218-08f50abb4d12" providerId="ADAL" clId="{4E5DF939-ACD2-4D9D-8655-E9B807FFBE67}" dt="2025-12-18T15:15:22" v="30440" actId="20577"/>
        <pc:sldMkLst>
          <pc:docMk/>
          <pc:sldMk cId="2295080848" sldId="2147480364"/>
        </pc:sldMkLst>
        <pc:graphicFrameChg chg="mod modGraphic">
          <ac:chgData name="Berriri, Amin" userId="f0ac5b9f-00b2-4a20-9218-08f50abb4d12" providerId="ADAL" clId="{4E5DF939-ACD2-4D9D-8655-E9B807FFBE67}" dt="2025-12-18T15:15:22" v="30440" actId="20577"/>
          <ac:graphicFrameMkLst>
            <pc:docMk/>
            <pc:sldMk cId="2295080848" sldId="2147480364"/>
            <ac:graphicFrameMk id="4" creationId="{70ED0420-6EBE-2754-EA6F-71B1EBF6C592}"/>
          </ac:graphicFrameMkLst>
        </pc:graphicFrameChg>
        <pc:extLst>
          <p:ext xmlns:p="http://schemas.openxmlformats.org/presentationml/2006/main" uri="{D6D511B9-2390-475A-947B-AFAB55BFBCF1}">
            <pc226:cmChg xmlns:pc226="http://schemas.microsoft.com/office/powerpoint/2022/06/main/command" chg="mod">
              <pc226:chgData name="Berriri, Amin" userId="f0ac5b9f-00b2-4a20-9218-08f50abb4d12" providerId="ADAL" clId="{4E5DF939-ACD2-4D9D-8655-E9B807FFBE67}" dt="2025-12-18T15:15:22" v="30440" actId="20577"/>
              <pc2:cmMkLst xmlns:pc2="http://schemas.microsoft.com/office/powerpoint/2019/9/main/command">
                <pc:docMk/>
                <pc:sldMk cId="2295080848" sldId="2147480364"/>
                <pc2:cmMk id="{1ECCEFDA-7851-44AE-BEA2-8E9D449737BD}"/>
              </pc2:cmMkLst>
            </pc226:cmChg>
            <pc226:cmChg xmlns:pc226="http://schemas.microsoft.com/office/powerpoint/2022/06/main/command" chg="mod">
              <pc226:chgData name="Berriri, Amin" userId="f0ac5b9f-00b2-4a20-9218-08f50abb4d12" providerId="ADAL" clId="{4E5DF939-ACD2-4D9D-8655-E9B807FFBE67}" dt="2025-12-04T02:55:11.957" v="18036" actId="20577"/>
              <pc2:cmMkLst xmlns:pc2="http://schemas.microsoft.com/office/powerpoint/2019/9/main/command">
                <pc:docMk/>
                <pc:sldMk cId="2295080848" sldId="2147480364"/>
                <pc2:cmMk id="{9D3509DF-A728-4356-8E82-797561F4B23C}"/>
              </pc2:cmMkLst>
            </pc226:cmChg>
          </p:ext>
        </pc:extLst>
      </pc:sldChg>
      <pc:sldChg chg="addSp delSp modSp add mod">
        <pc:chgData name="Berriri, Amin" userId="f0ac5b9f-00b2-4a20-9218-08f50abb4d12" providerId="ADAL" clId="{4E5DF939-ACD2-4D9D-8655-E9B807FFBE67}" dt="2026-01-06T14:53:31.184" v="30926" actId="20577"/>
        <pc:sldMkLst>
          <pc:docMk/>
          <pc:sldMk cId="696883208" sldId="2147480365"/>
        </pc:sldMkLst>
        <pc:graphicFrameChg chg="add mod modGraphic">
          <ac:chgData name="Berriri, Amin" userId="f0ac5b9f-00b2-4a20-9218-08f50abb4d12" providerId="ADAL" clId="{4E5DF939-ACD2-4D9D-8655-E9B807FFBE67}" dt="2026-01-06T14:53:31.184" v="30926" actId="20577"/>
          <ac:graphicFrameMkLst>
            <pc:docMk/>
            <pc:sldMk cId="696883208" sldId="2147480365"/>
            <ac:graphicFrameMk id="6" creationId="{587B9292-2B3D-BC9E-41AD-85480297AB9D}"/>
          </ac:graphicFrameMkLst>
        </pc:graphicFrameChg>
      </pc:sldChg>
      <pc:sldChg chg="modSp add mod modCm">
        <pc:chgData name="Berriri, Amin" userId="f0ac5b9f-00b2-4a20-9218-08f50abb4d12" providerId="ADAL" clId="{4E5DF939-ACD2-4D9D-8655-E9B807FFBE67}" dt="2025-12-18T15:18:43.348" v="30447" actId="108"/>
        <pc:sldMkLst>
          <pc:docMk/>
          <pc:sldMk cId="1498941877" sldId="2147480367"/>
        </pc:sldMkLst>
        <pc:graphicFrameChg chg="mod modGraphic">
          <ac:chgData name="Berriri, Amin" userId="f0ac5b9f-00b2-4a20-9218-08f50abb4d12" providerId="ADAL" clId="{4E5DF939-ACD2-4D9D-8655-E9B807FFBE67}" dt="2025-12-18T15:18:43.348" v="30447" actId="108"/>
          <ac:graphicFrameMkLst>
            <pc:docMk/>
            <pc:sldMk cId="1498941877" sldId="2147480367"/>
            <ac:graphicFrameMk id="5" creationId="{23A32E30-AEA6-0EEB-CF86-118AF7D2830E}"/>
          </ac:graphicFrameMkLst>
        </pc:graphicFrameChg>
        <pc:extLst>
          <p:ext xmlns:p="http://schemas.openxmlformats.org/presentationml/2006/main" uri="{D6D511B9-2390-475A-947B-AFAB55BFBCF1}">
            <pc226:cmChg xmlns:pc226="http://schemas.microsoft.com/office/powerpoint/2022/06/main/command" chg="mod">
              <pc226:chgData name="Berriri, Amin" userId="f0ac5b9f-00b2-4a20-9218-08f50abb4d12" providerId="ADAL" clId="{4E5DF939-ACD2-4D9D-8655-E9B807FFBE67}" dt="2025-12-18T15:18:32.664" v="30445" actId="20577"/>
              <pc2:cmMkLst xmlns:pc2="http://schemas.microsoft.com/office/powerpoint/2019/9/main/command">
                <pc:docMk/>
                <pc:sldMk cId="1498941877" sldId="2147480367"/>
                <pc2:cmMk id="{BBCDA872-DE28-4631-9C63-0FCC0C7CCADC}"/>
              </pc2:cmMkLst>
            </pc226:cmChg>
            <pc226:cmChg xmlns:pc226="http://schemas.microsoft.com/office/powerpoint/2022/06/main/command" chg="mod">
              <pc226:chgData name="Berriri, Amin" userId="f0ac5b9f-00b2-4a20-9218-08f50abb4d12" providerId="ADAL" clId="{4E5DF939-ACD2-4D9D-8655-E9B807FFBE67}" dt="2025-12-18T15:18:32.664" v="30445" actId="20577"/>
              <pc2:cmMkLst xmlns:pc2="http://schemas.microsoft.com/office/powerpoint/2019/9/main/command">
                <pc:docMk/>
                <pc:sldMk cId="1498941877" sldId="2147480367"/>
                <pc2:cmMk id="{C308FEA4-3568-4AAD-B0FA-D1667EED1F2B}"/>
              </pc2:cmMkLst>
            </pc226:cmChg>
            <pc226:cmChg xmlns:pc226="http://schemas.microsoft.com/office/powerpoint/2022/06/main/command" chg="mod">
              <pc226:chgData name="Berriri, Amin" userId="f0ac5b9f-00b2-4a20-9218-08f50abb4d12" providerId="ADAL" clId="{4E5DF939-ACD2-4D9D-8655-E9B807FFBE67}" dt="2025-12-18T15:18:32.664" v="30445" actId="20577"/>
              <pc2:cmMkLst xmlns:pc2="http://schemas.microsoft.com/office/powerpoint/2019/9/main/command">
                <pc:docMk/>
                <pc:sldMk cId="1498941877" sldId="2147480367"/>
                <pc2:cmMk id="{19E2B9FC-DA0C-4B33-93CD-E3B5C31F62C5}"/>
              </pc2:cmMkLst>
            </pc226:cmChg>
          </p:ext>
        </pc:extLst>
      </pc:sldChg>
      <pc:sldChg chg="modSp mod">
        <pc:chgData name="Berriri, Amin" userId="f0ac5b9f-00b2-4a20-9218-08f50abb4d12" providerId="ADAL" clId="{4E5DF939-ACD2-4D9D-8655-E9B807FFBE67}" dt="2026-01-12T20:41:05.751" v="40567" actId="20577"/>
        <pc:sldMkLst>
          <pc:docMk/>
          <pc:sldMk cId="2215182169" sldId="2147480371"/>
        </pc:sldMkLst>
        <pc:spChg chg="mod">
          <ac:chgData name="Berriri, Amin" userId="f0ac5b9f-00b2-4a20-9218-08f50abb4d12" providerId="ADAL" clId="{4E5DF939-ACD2-4D9D-8655-E9B807FFBE67}" dt="2026-01-12T20:41:05.751" v="40567" actId="20577"/>
          <ac:spMkLst>
            <pc:docMk/>
            <pc:sldMk cId="2215182169" sldId="2147480371"/>
            <ac:spMk id="3" creationId="{2625D249-C05A-ED68-91FC-6337541945E7}"/>
          </ac:spMkLst>
        </pc:spChg>
      </pc:sldChg>
      <pc:sldChg chg="modSp mod">
        <pc:chgData name="Berriri, Amin" userId="f0ac5b9f-00b2-4a20-9218-08f50abb4d12" providerId="ADAL" clId="{4E5DF939-ACD2-4D9D-8655-E9B807FFBE67}" dt="2026-01-06T19:56:11.002" v="32351" actId="14734"/>
        <pc:sldMkLst>
          <pc:docMk/>
          <pc:sldMk cId="3223573274" sldId="2147480377"/>
        </pc:sldMkLst>
        <pc:graphicFrameChg chg="modGraphic">
          <ac:chgData name="Berriri, Amin" userId="f0ac5b9f-00b2-4a20-9218-08f50abb4d12" providerId="ADAL" clId="{4E5DF939-ACD2-4D9D-8655-E9B807FFBE67}" dt="2026-01-06T19:56:11.002" v="32351" actId="14734"/>
          <ac:graphicFrameMkLst>
            <pc:docMk/>
            <pc:sldMk cId="3223573274" sldId="2147480377"/>
            <ac:graphicFrameMk id="4" creationId="{17D96521-91D4-5B38-3EDD-37E2032F197C}"/>
          </ac:graphicFrameMkLst>
        </pc:graphicFrameChg>
      </pc:sldChg>
      <pc:sldChg chg="modSp add mod ord">
        <pc:chgData name="Berriri, Amin" userId="f0ac5b9f-00b2-4a20-9218-08f50abb4d12" providerId="ADAL" clId="{4E5DF939-ACD2-4D9D-8655-E9B807FFBE67}" dt="2026-01-07T15:23:58.071" v="33445" actId="20577"/>
        <pc:sldMkLst>
          <pc:docMk/>
          <pc:sldMk cId="1801840743" sldId="2147480380"/>
        </pc:sldMkLst>
        <pc:spChg chg="mod">
          <ac:chgData name="Berriri, Amin" userId="f0ac5b9f-00b2-4a20-9218-08f50abb4d12" providerId="ADAL" clId="{4E5DF939-ACD2-4D9D-8655-E9B807FFBE67}" dt="2026-01-07T15:22:54.133" v="33279" actId="790"/>
          <ac:spMkLst>
            <pc:docMk/>
            <pc:sldMk cId="1801840743" sldId="2147480380"/>
            <ac:spMk id="2" creationId="{4E1AE7E8-0661-5113-EF8E-4771319883BA}"/>
          </ac:spMkLst>
        </pc:spChg>
        <pc:spChg chg="mod">
          <ac:chgData name="Berriri, Amin" userId="f0ac5b9f-00b2-4a20-9218-08f50abb4d12" providerId="ADAL" clId="{4E5DF939-ACD2-4D9D-8655-E9B807FFBE67}" dt="2026-01-07T15:22:54.133" v="33279" actId="790"/>
          <ac:spMkLst>
            <pc:docMk/>
            <pc:sldMk cId="1801840743" sldId="2147480380"/>
            <ac:spMk id="3" creationId="{5E574D3C-9099-E567-0DFC-9F19EAC41FF4}"/>
          </ac:spMkLst>
        </pc:spChg>
        <pc:graphicFrameChg chg="mod modGraphic">
          <ac:chgData name="Berriri, Amin" userId="f0ac5b9f-00b2-4a20-9218-08f50abb4d12" providerId="ADAL" clId="{4E5DF939-ACD2-4D9D-8655-E9B807FFBE67}" dt="2026-01-07T15:23:58.071" v="33445" actId="20577"/>
          <ac:graphicFrameMkLst>
            <pc:docMk/>
            <pc:sldMk cId="1801840743" sldId="2147480380"/>
            <ac:graphicFrameMk id="4" creationId="{96623C0A-2811-ACC5-9DF8-981742A94D50}"/>
          </ac:graphicFrameMkLst>
        </pc:graphicFrameChg>
      </pc:sldChg>
      <pc:sldChg chg="modSp add mod">
        <pc:chgData name="Berriri, Amin" userId="f0ac5b9f-00b2-4a20-9218-08f50abb4d12" providerId="ADAL" clId="{4E5DF939-ACD2-4D9D-8655-E9B807FFBE67}" dt="2026-01-07T16:13:55.449" v="34461" actId="798"/>
        <pc:sldMkLst>
          <pc:docMk/>
          <pc:sldMk cId="2725788702" sldId="2147480381"/>
        </pc:sldMkLst>
        <pc:spChg chg="mod">
          <ac:chgData name="Berriri, Amin" userId="f0ac5b9f-00b2-4a20-9218-08f50abb4d12" providerId="ADAL" clId="{4E5DF939-ACD2-4D9D-8655-E9B807FFBE67}" dt="2026-01-07T15:25:36.271" v="33452" actId="13926"/>
          <ac:spMkLst>
            <pc:docMk/>
            <pc:sldMk cId="2725788702" sldId="2147480381"/>
            <ac:spMk id="2" creationId="{A74848A1-53A8-F569-C2E2-F7F68BB119C4}"/>
          </ac:spMkLst>
        </pc:spChg>
        <pc:graphicFrameChg chg="mod modGraphic">
          <ac:chgData name="Berriri, Amin" userId="f0ac5b9f-00b2-4a20-9218-08f50abb4d12" providerId="ADAL" clId="{4E5DF939-ACD2-4D9D-8655-E9B807FFBE67}" dt="2026-01-07T16:13:55.449" v="34461" actId="798"/>
          <ac:graphicFrameMkLst>
            <pc:docMk/>
            <pc:sldMk cId="2725788702" sldId="2147480381"/>
            <ac:graphicFrameMk id="4" creationId="{180EE9B8-0D05-9586-C68C-EBC3A22AFC76}"/>
          </ac:graphicFrameMkLst>
        </pc:graphicFrameChg>
      </pc:sldChg>
      <pc:sldChg chg="modSp add mod modNotes modNotesTx">
        <pc:chgData name="Berriri, Amin" userId="f0ac5b9f-00b2-4a20-9218-08f50abb4d12" providerId="ADAL" clId="{4E5DF939-ACD2-4D9D-8655-E9B807FFBE67}" dt="2026-01-07T18:47:07.781" v="34726" actId="403"/>
        <pc:sldMkLst>
          <pc:docMk/>
          <pc:sldMk cId="2705189872" sldId="2147480383"/>
        </pc:sldMkLst>
        <pc:graphicFrameChg chg="mod modGraphic">
          <ac:chgData name="Berriri, Amin" userId="f0ac5b9f-00b2-4a20-9218-08f50abb4d12" providerId="ADAL" clId="{4E5DF939-ACD2-4D9D-8655-E9B807FFBE67}" dt="2026-01-07T18:47:07.781" v="34726" actId="403"/>
          <ac:graphicFrameMkLst>
            <pc:docMk/>
            <pc:sldMk cId="2705189872" sldId="2147480383"/>
            <ac:graphicFrameMk id="6" creationId="{152B70A0-E250-0C99-5670-689F3A2F0B67}"/>
          </ac:graphicFrameMkLst>
        </pc:graphicFrameChg>
      </pc:sldChg>
      <pc:sldChg chg="modSp add mod ord modCm">
        <pc:chgData name="Berriri, Amin" userId="f0ac5b9f-00b2-4a20-9218-08f50abb4d12" providerId="ADAL" clId="{4E5DF939-ACD2-4D9D-8655-E9B807FFBE67}" dt="2026-01-12T15:01:04.094" v="40320"/>
        <pc:sldMkLst>
          <pc:docMk/>
          <pc:sldMk cId="3576115763" sldId="2147480384"/>
        </pc:sldMkLst>
        <pc:graphicFrameChg chg="mod modGraphic">
          <ac:chgData name="Berriri, Amin" userId="f0ac5b9f-00b2-4a20-9218-08f50abb4d12" providerId="ADAL" clId="{4E5DF939-ACD2-4D9D-8655-E9B807FFBE67}" dt="2026-01-12T15:01:04.094" v="40320"/>
          <ac:graphicFrameMkLst>
            <pc:docMk/>
            <pc:sldMk cId="3576115763" sldId="2147480384"/>
            <ac:graphicFrameMk id="6" creationId="{CB2B7561-3644-F66F-4CB1-8EFBAAD3ABEE}"/>
          </ac:graphicFrameMkLst>
        </pc:graphicFrameChg>
        <pc:extLst>
          <p:ext xmlns:p="http://schemas.openxmlformats.org/presentationml/2006/main" uri="{D6D511B9-2390-475A-947B-AFAB55BFBCF1}">
            <pc226:cmChg xmlns:pc226="http://schemas.microsoft.com/office/powerpoint/2022/06/main/command" chg="mod">
              <pc226:chgData name="Berriri, Amin" userId="f0ac5b9f-00b2-4a20-9218-08f50abb4d12" providerId="ADAL" clId="{4E5DF939-ACD2-4D9D-8655-E9B807FFBE67}" dt="2026-01-08T20:47:09.769" v="37471" actId="20577"/>
              <pc2:cmMkLst xmlns:pc2="http://schemas.microsoft.com/office/powerpoint/2019/9/main/command">
                <pc:docMk/>
                <pc:sldMk cId="3576115763" sldId="2147480384"/>
                <pc2:cmMk id="{B57941BF-0CB5-4940-8501-AC4998235D16}"/>
              </pc2:cmMkLst>
            </pc226:cmChg>
          </p:ext>
        </pc:extLst>
      </pc:sldChg>
      <pc:sldChg chg="addSp modSp add mod">
        <pc:chgData name="Berriri, Amin" userId="f0ac5b9f-00b2-4a20-9218-08f50abb4d12" providerId="ADAL" clId="{4E5DF939-ACD2-4D9D-8655-E9B807FFBE67}" dt="2026-01-09T22:17:14.816" v="40316" actId="14100"/>
        <pc:sldMkLst>
          <pc:docMk/>
          <pc:sldMk cId="1764420730" sldId="2147480386"/>
        </pc:sldMkLst>
        <pc:spChg chg="add mod">
          <ac:chgData name="Berriri, Amin" userId="f0ac5b9f-00b2-4a20-9218-08f50abb4d12" providerId="ADAL" clId="{4E5DF939-ACD2-4D9D-8655-E9B807FFBE67}" dt="2026-01-08T18:34:57.615" v="36767"/>
          <ac:spMkLst>
            <pc:docMk/>
            <pc:sldMk cId="1764420730" sldId="2147480386"/>
            <ac:spMk id="7" creationId="{9C4DB5DB-2559-A9E3-8BC5-0B67F40E4FAB}"/>
          </ac:spMkLst>
        </pc:spChg>
        <pc:spChg chg="add mod">
          <ac:chgData name="Berriri, Amin" userId="f0ac5b9f-00b2-4a20-9218-08f50abb4d12" providerId="ADAL" clId="{4E5DF939-ACD2-4D9D-8655-E9B807FFBE67}" dt="2026-01-08T18:51:27.843" v="36871" actId="14100"/>
          <ac:spMkLst>
            <pc:docMk/>
            <pc:sldMk cId="1764420730" sldId="2147480386"/>
            <ac:spMk id="8" creationId="{5CA184C8-E547-1EE5-EF36-52E4B9AF92E2}"/>
          </ac:spMkLst>
        </pc:spChg>
        <pc:spChg chg="add mod">
          <ac:chgData name="Berriri, Amin" userId="f0ac5b9f-00b2-4a20-9218-08f50abb4d12" providerId="ADAL" clId="{4E5DF939-ACD2-4D9D-8655-E9B807FFBE67}" dt="2026-01-09T22:16:56.905" v="40312" actId="14100"/>
          <ac:spMkLst>
            <pc:docMk/>
            <pc:sldMk cId="1764420730" sldId="2147480386"/>
            <ac:spMk id="9" creationId="{21EE74F8-1F96-C76E-B5CC-CAA43B0D1A34}"/>
          </ac:spMkLst>
        </pc:spChg>
        <pc:graphicFrameChg chg="add mod modGraphic">
          <ac:chgData name="Berriri, Amin" userId="f0ac5b9f-00b2-4a20-9218-08f50abb4d12" providerId="ADAL" clId="{4E5DF939-ACD2-4D9D-8655-E9B807FFBE67}" dt="2026-01-08T21:05:24.287" v="37482" actId="20577"/>
          <ac:graphicFrameMkLst>
            <pc:docMk/>
            <pc:sldMk cId="1764420730" sldId="2147480386"/>
            <ac:graphicFrameMk id="6" creationId="{4B30F723-09F9-590F-EDF7-B460EC6C5D40}"/>
          </ac:graphicFrameMkLst>
        </pc:graphicFrameChg>
        <pc:cxnChg chg="add mod">
          <ac:chgData name="Berriri, Amin" userId="f0ac5b9f-00b2-4a20-9218-08f50abb4d12" providerId="ADAL" clId="{4E5DF939-ACD2-4D9D-8655-E9B807FFBE67}" dt="2026-01-09T22:17:14.816" v="40316" actId="14100"/>
          <ac:cxnSpMkLst>
            <pc:docMk/>
            <pc:sldMk cId="1764420730" sldId="2147480386"/>
            <ac:cxnSpMk id="11" creationId="{FE8454FF-F797-1E8C-3DB5-DEC902280C2A}"/>
          </ac:cxnSpMkLst>
        </pc:cxnChg>
        <pc:cxnChg chg="add mod">
          <ac:chgData name="Berriri, Amin" userId="f0ac5b9f-00b2-4a20-9218-08f50abb4d12" providerId="ADAL" clId="{4E5DF939-ACD2-4D9D-8655-E9B807FFBE67}" dt="2026-01-08T18:51:02.832" v="36866" actId="14100"/>
          <ac:cxnSpMkLst>
            <pc:docMk/>
            <pc:sldMk cId="1764420730" sldId="2147480386"/>
            <ac:cxnSpMk id="13" creationId="{DFEB2FC9-B0E1-2A7C-EEDE-190A204406F4}"/>
          </ac:cxnSpMkLst>
        </pc:cxnChg>
        <pc:cxnChg chg="add mod">
          <ac:chgData name="Berriri, Amin" userId="f0ac5b9f-00b2-4a20-9218-08f50abb4d12" providerId="ADAL" clId="{4E5DF939-ACD2-4D9D-8655-E9B807FFBE67}" dt="2026-01-09T22:16:44.597" v="40310" actId="14100"/>
          <ac:cxnSpMkLst>
            <pc:docMk/>
            <pc:sldMk cId="1764420730" sldId="2147480386"/>
            <ac:cxnSpMk id="16" creationId="{AD134957-E4C0-6A48-AE7E-6CDA270BC409}"/>
          </ac:cxnSpMkLst>
        </pc:cxnChg>
      </pc:sldChg>
      <pc:sldChg chg="addSp modSp add mod">
        <pc:chgData name="Berriri, Amin" userId="f0ac5b9f-00b2-4a20-9218-08f50abb4d12" providerId="ADAL" clId="{4E5DF939-ACD2-4D9D-8655-E9B807FFBE67}" dt="2026-01-09T20:25:52.908" v="38868" actId="14100"/>
        <pc:sldMkLst>
          <pc:docMk/>
          <pc:sldMk cId="3448748483" sldId="2147480387"/>
        </pc:sldMkLst>
        <pc:spChg chg="mod">
          <ac:chgData name="Berriri, Amin" userId="f0ac5b9f-00b2-4a20-9218-08f50abb4d12" providerId="ADAL" clId="{4E5DF939-ACD2-4D9D-8655-E9B807FFBE67}" dt="2026-01-08T19:09:15.962" v="37250" actId="404"/>
          <ac:spMkLst>
            <pc:docMk/>
            <pc:sldMk cId="3448748483" sldId="2147480387"/>
            <ac:spMk id="2" creationId="{A2760CA8-8BC3-9E3E-30A3-5B38C0749DD7}"/>
          </ac:spMkLst>
        </pc:spChg>
        <pc:spChg chg="add mod">
          <ac:chgData name="Berriri, Amin" userId="f0ac5b9f-00b2-4a20-9218-08f50abb4d12" providerId="ADAL" clId="{4E5DF939-ACD2-4D9D-8655-E9B807FFBE67}" dt="2026-01-08T19:09:03.533" v="37245" actId="14100"/>
          <ac:spMkLst>
            <pc:docMk/>
            <pc:sldMk cId="3448748483" sldId="2147480387"/>
            <ac:spMk id="6" creationId="{43B2084B-3562-61EA-28DF-9B38B3800A50}"/>
          </ac:spMkLst>
        </pc:spChg>
        <pc:spChg chg="add mod">
          <ac:chgData name="Berriri, Amin" userId="f0ac5b9f-00b2-4a20-9218-08f50abb4d12" providerId="ADAL" clId="{4E5DF939-ACD2-4D9D-8655-E9B807FFBE67}" dt="2026-01-09T19:45:32.260" v="38098" actId="20577"/>
          <ac:spMkLst>
            <pc:docMk/>
            <pc:sldMk cId="3448748483" sldId="2147480387"/>
            <ac:spMk id="7" creationId="{228F0907-4853-DD51-4CD8-729EA9DE63C6}"/>
          </ac:spMkLst>
        </pc:spChg>
        <pc:spChg chg="add mod">
          <ac:chgData name="Berriri, Amin" userId="f0ac5b9f-00b2-4a20-9218-08f50abb4d12" providerId="ADAL" clId="{4E5DF939-ACD2-4D9D-8655-E9B807FFBE67}" dt="2026-01-09T19:49:26.842" v="38330" actId="20577"/>
          <ac:spMkLst>
            <pc:docMk/>
            <pc:sldMk cId="3448748483" sldId="2147480387"/>
            <ac:spMk id="14" creationId="{A77C0C70-EDD3-2C5A-0C89-CC9063FD2E70}"/>
          </ac:spMkLst>
        </pc:spChg>
        <pc:spChg chg="add mod">
          <ac:chgData name="Berriri, Amin" userId="f0ac5b9f-00b2-4a20-9218-08f50abb4d12" providerId="ADAL" clId="{4E5DF939-ACD2-4D9D-8655-E9B807FFBE67}" dt="2026-01-09T20:19:41.807" v="38485" actId="6549"/>
          <ac:spMkLst>
            <pc:docMk/>
            <pc:sldMk cId="3448748483" sldId="2147480387"/>
            <ac:spMk id="24" creationId="{7CA707AE-8C59-2AB3-4D87-78875C2EF1A5}"/>
          </ac:spMkLst>
        </pc:spChg>
        <pc:spChg chg="add mod">
          <ac:chgData name="Berriri, Amin" userId="f0ac5b9f-00b2-4a20-9218-08f50abb4d12" providerId="ADAL" clId="{4E5DF939-ACD2-4D9D-8655-E9B807FFBE67}" dt="2026-01-09T20:22:27.732" v="38613" actId="14100"/>
          <ac:spMkLst>
            <pc:docMk/>
            <pc:sldMk cId="3448748483" sldId="2147480387"/>
            <ac:spMk id="29" creationId="{09DD1933-3201-852C-0881-BC2C732A2906}"/>
          </ac:spMkLst>
        </pc:spChg>
        <pc:spChg chg="add mod">
          <ac:chgData name="Berriri, Amin" userId="f0ac5b9f-00b2-4a20-9218-08f50abb4d12" providerId="ADAL" clId="{4E5DF939-ACD2-4D9D-8655-E9B807FFBE67}" dt="2026-01-09T20:25:46.617" v="38867" actId="14100"/>
          <ac:spMkLst>
            <pc:docMk/>
            <pc:sldMk cId="3448748483" sldId="2147480387"/>
            <ac:spMk id="31" creationId="{63B97636-BA19-BB67-2F46-4D791CF8E616}"/>
          </ac:spMkLst>
        </pc:spChg>
        <pc:graphicFrameChg chg="add mod modGraphic">
          <ac:chgData name="Berriri, Amin" userId="f0ac5b9f-00b2-4a20-9218-08f50abb4d12" providerId="ADAL" clId="{4E5DF939-ACD2-4D9D-8655-E9B807FFBE67}" dt="2026-01-08T19:06:59.466" v="37124" actId="404"/>
          <ac:graphicFrameMkLst>
            <pc:docMk/>
            <pc:sldMk cId="3448748483" sldId="2147480387"/>
            <ac:graphicFrameMk id="4" creationId="{02F9C801-62B0-2866-C620-53187992D8D9}"/>
          </ac:graphicFrameMkLst>
        </pc:graphicFrameChg>
        <pc:cxnChg chg="add mod">
          <ac:chgData name="Berriri, Amin" userId="f0ac5b9f-00b2-4a20-9218-08f50abb4d12" providerId="ADAL" clId="{4E5DF939-ACD2-4D9D-8655-E9B807FFBE67}" dt="2026-01-09T19:48:35.467" v="38321" actId="14100"/>
          <ac:cxnSpMkLst>
            <pc:docMk/>
            <pc:sldMk cId="3448748483" sldId="2147480387"/>
            <ac:cxnSpMk id="8" creationId="{BFCFE3FF-9DC1-7705-03F2-20351AAC44D1}"/>
          </ac:cxnSpMkLst>
        </pc:cxnChg>
        <pc:cxnChg chg="add mod">
          <ac:chgData name="Berriri, Amin" userId="f0ac5b9f-00b2-4a20-9218-08f50abb4d12" providerId="ADAL" clId="{4E5DF939-ACD2-4D9D-8655-E9B807FFBE67}" dt="2026-01-09T19:49:11.936" v="38329" actId="14100"/>
          <ac:cxnSpMkLst>
            <pc:docMk/>
            <pc:sldMk cId="3448748483" sldId="2147480387"/>
            <ac:cxnSpMk id="17" creationId="{9EA00465-BAC0-77B8-8B68-B96F93B68020}"/>
          </ac:cxnSpMkLst>
        </pc:cxnChg>
        <pc:cxnChg chg="add mod">
          <ac:chgData name="Berriri, Amin" userId="f0ac5b9f-00b2-4a20-9218-08f50abb4d12" providerId="ADAL" clId="{4E5DF939-ACD2-4D9D-8655-E9B807FFBE67}" dt="2026-01-09T20:19:41.807" v="38485" actId="6549"/>
          <ac:cxnSpMkLst>
            <pc:docMk/>
            <pc:sldMk cId="3448748483" sldId="2147480387"/>
            <ac:cxnSpMk id="25" creationId="{1C22BC6D-7167-1E5E-BBD8-285CB217DC3F}"/>
          </ac:cxnSpMkLst>
        </pc:cxnChg>
        <pc:cxnChg chg="add mod">
          <ac:chgData name="Berriri, Amin" userId="f0ac5b9f-00b2-4a20-9218-08f50abb4d12" providerId="ADAL" clId="{4E5DF939-ACD2-4D9D-8655-E9B807FFBE67}" dt="2026-01-09T20:22:48.038" v="38617" actId="14100"/>
          <ac:cxnSpMkLst>
            <pc:docMk/>
            <pc:sldMk cId="3448748483" sldId="2147480387"/>
            <ac:cxnSpMk id="28" creationId="{6ACDA5CC-EDD2-DD4B-105C-6ED946FE3653}"/>
          </ac:cxnSpMkLst>
        </pc:cxnChg>
        <pc:cxnChg chg="add mod">
          <ac:chgData name="Berriri, Amin" userId="f0ac5b9f-00b2-4a20-9218-08f50abb4d12" providerId="ADAL" clId="{4E5DF939-ACD2-4D9D-8655-E9B807FFBE67}" dt="2026-01-09T20:25:52.908" v="38868" actId="14100"/>
          <ac:cxnSpMkLst>
            <pc:docMk/>
            <pc:sldMk cId="3448748483" sldId="2147480387"/>
            <ac:cxnSpMk id="30" creationId="{249B4A5B-AD92-B84B-4997-270AD043B30C}"/>
          </ac:cxnSpMkLst>
        </pc:cxnChg>
      </pc:sldChg>
      <pc:sldChg chg="addSp modSp mod">
        <pc:chgData name="Berriri, Amin" userId="f0ac5b9f-00b2-4a20-9218-08f50abb4d12" providerId="ADAL" clId="{4E5DF939-ACD2-4D9D-8655-E9B807FFBE67}" dt="2026-01-09T21:59:06.003" v="39568" actId="14100"/>
        <pc:sldMkLst>
          <pc:docMk/>
          <pc:sldMk cId="3314341724" sldId="2147480388"/>
        </pc:sldMkLst>
        <pc:spChg chg="add mod">
          <ac:chgData name="Berriri, Amin" userId="f0ac5b9f-00b2-4a20-9218-08f50abb4d12" providerId="ADAL" clId="{4E5DF939-ACD2-4D9D-8655-E9B807FFBE67}" dt="2026-01-09T21:54:06.557" v="39324" actId="1037"/>
          <ac:spMkLst>
            <pc:docMk/>
            <pc:sldMk cId="3314341724" sldId="2147480388"/>
            <ac:spMk id="4" creationId="{E4025567-90B6-DE3B-9B4C-C2A1F53C95B2}"/>
          </ac:spMkLst>
        </pc:spChg>
        <pc:spChg chg="add mod">
          <ac:chgData name="Berriri, Amin" userId="f0ac5b9f-00b2-4a20-9218-08f50abb4d12" providerId="ADAL" clId="{4E5DF939-ACD2-4D9D-8655-E9B807FFBE67}" dt="2026-01-09T21:56:44.245" v="39462" actId="1035"/>
          <ac:spMkLst>
            <pc:docMk/>
            <pc:sldMk cId="3314341724" sldId="2147480388"/>
            <ac:spMk id="8" creationId="{EE1D5749-5E52-C9C7-6886-1CD01BFC3EA6}"/>
          </ac:spMkLst>
        </pc:spChg>
        <pc:spChg chg="add mod">
          <ac:chgData name="Berriri, Amin" userId="f0ac5b9f-00b2-4a20-9218-08f50abb4d12" providerId="ADAL" clId="{4E5DF939-ACD2-4D9D-8655-E9B807FFBE67}" dt="2026-01-09T21:55:20.107" v="39388" actId="20577"/>
          <ac:spMkLst>
            <pc:docMk/>
            <pc:sldMk cId="3314341724" sldId="2147480388"/>
            <ac:spMk id="16" creationId="{A88BFA5F-316E-4621-A1CD-204363DFDB30}"/>
          </ac:spMkLst>
        </pc:spChg>
        <pc:spChg chg="add mod">
          <ac:chgData name="Berriri, Amin" userId="f0ac5b9f-00b2-4a20-9218-08f50abb4d12" providerId="ADAL" clId="{4E5DF939-ACD2-4D9D-8655-E9B807FFBE67}" dt="2026-01-09T21:58:42.061" v="39565" actId="1036"/>
          <ac:spMkLst>
            <pc:docMk/>
            <pc:sldMk cId="3314341724" sldId="2147480388"/>
            <ac:spMk id="23" creationId="{648E0A1D-4A79-B875-1EBB-9F1443993A05}"/>
          </ac:spMkLst>
        </pc:spChg>
        <pc:graphicFrameChg chg="add mod modGraphic">
          <ac:chgData name="Berriri, Amin" userId="f0ac5b9f-00b2-4a20-9218-08f50abb4d12" providerId="ADAL" clId="{4E5DF939-ACD2-4D9D-8655-E9B807FFBE67}" dt="2026-01-09T21:49:59.173" v="39035"/>
          <ac:graphicFrameMkLst>
            <pc:docMk/>
            <pc:sldMk cId="3314341724" sldId="2147480388"/>
            <ac:graphicFrameMk id="3" creationId="{718DC00A-8BD9-B206-9DB0-DF514C1853C7}"/>
          </ac:graphicFrameMkLst>
        </pc:graphicFrameChg>
        <pc:cxnChg chg="add mod">
          <ac:chgData name="Berriri, Amin" userId="f0ac5b9f-00b2-4a20-9218-08f50abb4d12" providerId="ADAL" clId="{4E5DF939-ACD2-4D9D-8655-E9B807FFBE67}" dt="2026-01-09T21:54:18.135" v="39325" actId="14100"/>
          <ac:cxnSpMkLst>
            <pc:docMk/>
            <pc:sldMk cId="3314341724" sldId="2147480388"/>
            <ac:cxnSpMk id="5" creationId="{7945507C-EF25-1F27-33D3-EECA62C7D542}"/>
          </ac:cxnSpMkLst>
        </pc:cxnChg>
        <pc:cxnChg chg="add mod">
          <ac:chgData name="Berriri, Amin" userId="f0ac5b9f-00b2-4a20-9218-08f50abb4d12" providerId="ADAL" clId="{4E5DF939-ACD2-4D9D-8655-E9B807FFBE67}" dt="2026-01-09T21:56:49.122" v="39463" actId="14100"/>
          <ac:cxnSpMkLst>
            <pc:docMk/>
            <pc:sldMk cId="3314341724" sldId="2147480388"/>
            <ac:cxnSpMk id="9" creationId="{4CAC03F3-D9D8-7165-B830-940340CE6E0C}"/>
          </ac:cxnSpMkLst>
        </pc:cxnChg>
        <pc:cxnChg chg="add mod">
          <ac:chgData name="Berriri, Amin" userId="f0ac5b9f-00b2-4a20-9218-08f50abb4d12" providerId="ADAL" clId="{4E5DF939-ACD2-4D9D-8655-E9B807FFBE67}" dt="2026-01-09T21:55:24.878" v="39389" actId="14100"/>
          <ac:cxnSpMkLst>
            <pc:docMk/>
            <pc:sldMk cId="3314341724" sldId="2147480388"/>
            <ac:cxnSpMk id="17" creationId="{32078582-EA34-CC9E-BDCB-B4B4E52EDD5D}"/>
          </ac:cxnSpMkLst>
        </pc:cxnChg>
        <pc:cxnChg chg="add mod">
          <ac:chgData name="Berriri, Amin" userId="f0ac5b9f-00b2-4a20-9218-08f50abb4d12" providerId="ADAL" clId="{4E5DF939-ACD2-4D9D-8655-E9B807FFBE67}" dt="2026-01-09T21:59:06.003" v="39568" actId="14100"/>
          <ac:cxnSpMkLst>
            <pc:docMk/>
            <pc:sldMk cId="3314341724" sldId="2147480388"/>
            <ac:cxnSpMk id="24" creationId="{5C22D7C7-7EF3-3DBE-2DDC-223C52E8C963}"/>
          </ac:cxnSpMkLst>
        </pc:cxnChg>
      </pc:sldChg>
      <pc:sldChg chg="addSp modSp mod">
        <pc:chgData name="Berriri, Amin" userId="f0ac5b9f-00b2-4a20-9218-08f50abb4d12" providerId="ADAL" clId="{4E5DF939-ACD2-4D9D-8655-E9B807FFBE67}" dt="2026-01-09T22:16:08.558" v="40307" actId="20577"/>
        <pc:sldMkLst>
          <pc:docMk/>
          <pc:sldMk cId="463313529" sldId="2147480389"/>
        </pc:sldMkLst>
        <pc:spChg chg="add mod">
          <ac:chgData name="Berriri, Amin" userId="f0ac5b9f-00b2-4a20-9218-08f50abb4d12" providerId="ADAL" clId="{4E5DF939-ACD2-4D9D-8655-E9B807FFBE67}" dt="2026-01-09T22:11:56.095" v="39989" actId="20577"/>
          <ac:spMkLst>
            <pc:docMk/>
            <pc:sldMk cId="463313529" sldId="2147480389"/>
            <ac:spMk id="4" creationId="{97799206-FB46-95C7-E574-A334E6A9FB2E}"/>
          </ac:spMkLst>
        </pc:spChg>
        <pc:spChg chg="add mod">
          <ac:chgData name="Berriri, Amin" userId="f0ac5b9f-00b2-4a20-9218-08f50abb4d12" providerId="ADAL" clId="{4E5DF939-ACD2-4D9D-8655-E9B807FFBE67}" dt="2026-01-09T22:13:23.898" v="40138" actId="20577"/>
          <ac:spMkLst>
            <pc:docMk/>
            <pc:sldMk cId="463313529" sldId="2147480389"/>
            <ac:spMk id="7" creationId="{3B5C48B1-7C39-CAB9-B21A-B9E04A4E21E9}"/>
          </ac:spMkLst>
        </pc:spChg>
        <pc:spChg chg="add mod">
          <ac:chgData name="Berriri, Amin" userId="f0ac5b9f-00b2-4a20-9218-08f50abb4d12" providerId="ADAL" clId="{4E5DF939-ACD2-4D9D-8655-E9B807FFBE67}" dt="2026-01-09T22:14:43.468" v="40218" actId="20577"/>
          <ac:spMkLst>
            <pc:docMk/>
            <pc:sldMk cId="463313529" sldId="2147480389"/>
            <ac:spMk id="11" creationId="{F95331F9-FBBD-EC2E-F211-3526BE549344}"/>
          </ac:spMkLst>
        </pc:spChg>
        <pc:spChg chg="add mod">
          <ac:chgData name="Berriri, Amin" userId="f0ac5b9f-00b2-4a20-9218-08f50abb4d12" providerId="ADAL" clId="{4E5DF939-ACD2-4D9D-8655-E9B807FFBE67}" dt="2026-01-09T22:15:49.453" v="40305" actId="6549"/>
          <ac:spMkLst>
            <pc:docMk/>
            <pc:sldMk cId="463313529" sldId="2147480389"/>
            <ac:spMk id="16" creationId="{F437F5C3-7FD4-84BC-EBD4-183CD2D76AB9}"/>
          </ac:spMkLst>
        </pc:spChg>
        <pc:graphicFrameChg chg="add mod modGraphic">
          <ac:chgData name="Berriri, Amin" userId="f0ac5b9f-00b2-4a20-9218-08f50abb4d12" providerId="ADAL" clId="{4E5DF939-ACD2-4D9D-8655-E9B807FFBE67}" dt="2026-01-09T22:16:08.558" v="40307" actId="20577"/>
          <ac:graphicFrameMkLst>
            <pc:docMk/>
            <pc:sldMk cId="463313529" sldId="2147480389"/>
            <ac:graphicFrameMk id="3" creationId="{5771533E-1EFF-89E2-7FB6-2270A1ECA957}"/>
          </ac:graphicFrameMkLst>
        </pc:graphicFrameChg>
        <pc:cxnChg chg="add mod">
          <ac:chgData name="Berriri, Amin" userId="f0ac5b9f-00b2-4a20-9218-08f50abb4d12" providerId="ADAL" clId="{4E5DF939-ACD2-4D9D-8655-E9B807FFBE67}" dt="2026-01-09T22:11:49.908" v="39970"/>
          <ac:cxnSpMkLst>
            <pc:docMk/>
            <pc:sldMk cId="463313529" sldId="2147480389"/>
            <ac:cxnSpMk id="5" creationId="{A5620320-7C70-15C2-8073-5BE1E179BDF7}"/>
          </ac:cxnSpMkLst>
        </pc:cxnChg>
        <pc:cxnChg chg="add mod">
          <ac:chgData name="Berriri, Amin" userId="f0ac5b9f-00b2-4a20-9218-08f50abb4d12" providerId="ADAL" clId="{4E5DF939-ACD2-4D9D-8655-E9B807FFBE67}" dt="2026-01-09T22:13:06.601" v="40122" actId="6549"/>
          <ac:cxnSpMkLst>
            <pc:docMk/>
            <pc:sldMk cId="463313529" sldId="2147480389"/>
            <ac:cxnSpMk id="8" creationId="{A6A0C9A3-D743-C0CB-0D5F-D04ECA9C415F}"/>
          </ac:cxnSpMkLst>
        </pc:cxnChg>
        <pc:cxnChg chg="add mod">
          <ac:chgData name="Berriri, Amin" userId="f0ac5b9f-00b2-4a20-9218-08f50abb4d12" providerId="ADAL" clId="{4E5DF939-ACD2-4D9D-8655-E9B807FFBE67}" dt="2026-01-09T22:13:51.378" v="40143" actId="14100"/>
          <ac:cxnSpMkLst>
            <pc:docMk/>
            <pc:sldMk cId="463313529" sldId="2147480389"/>
            <ac:cxnSpMk id="12" creationId="{5CC935B4-6850-D45C-C585-85204C67D480}"/>
          </ac:cxnSpMkLst>
        </pc:cxnChg>
        <pc:cxnChg chg="add mod">
          <ac:chgData name="Berriri, Amin" userId="f0ac5b9f-00b2-4a20-9218-08f50abb4d12" providerId="ADAL" clId="{4E5DF939-ACD2-4D9D-8655-E9B807FFBE67}" dt="2026-01-09T22:15:56.904" v="40306" actId="14100"/>
          <ac:cxnSpMkLst>
            <pc:docMk/>
            <pc:sldMk cId="463313529" sldId="2147480389"/>
            <ac:cxnSpMk id="17" creationId="{C8176675-2C8D-CEDA-82CC-B441DC9BDC91}"/>
          </ac:cxnSpMkLst>
        </pc:cxnChg>
      </pc:sldChg>
      <pc:sldChg chg="addSp delSp modSp add mod">
        <pc:chgData name="Berriri, Amin" userId="f0ac5b9f-00b2-4a20-9218-08f50abb4d12" providerId="ADAL" clId="{4E5DF939-ACD2-4D9D-8655-E9B807FFBE67}" dt="2026-01-06T16:14:23.627" v="31256" actId="14100"/>
        <pc:sldMkLst>
          <pc:docMk/>
          <pc:sldMk cId="623533055" sldId="2147480390"/>
        </pc:sldMkLst>
        <pc:spChg chg="add mod">
          <ac:chgData name="Berriri, Amin" userId="f0ac5b9f-00b2-4a20-9218-08f50abb4d12" providerId="ADAL" clId="{4E5DF939-ACD2-4D9D-8655-E9B807FFBE67}" dt="2026-01-06T16:14:23.627" v="31256" actId="14100"/>
          <ac:spMkLst>
            <pc:docMk/>
            <pc:sldMk cId="623533055" sldId="2147480390"/>
            <ac:spMk id="7" creationId="{29AE9F43-971B-26C8-93DB-5F10A05F3F00}"/>
          </ac:spMkLst>
        </pc:spChg>
        <pc:spChg chg="add mod">
          <ac:chgData name="Berriri, Amin" userId="f0ac5b9f-00b2-4a20-9218-08f50abb4d12" providerId="ADAL" clId="{4E5DF939-ACD2-4D9D-8655-E9B807FFBE67}" dt="2025-12-19T19:10:53.380" v="30630" actId="14100"/>
          <ac:spMkLst>
            <pc:docMk/>
            <pc:sldMk cId="623533055" sldId="2147480390"/>
            <ac:spMk id="10" creationId="{D09355D2-FFBA-4646-AD69-7A98E5ADBEBD}"/>
          </ac:spMkLst>
        </pc:spChg>
        <pc:spChg chg="add mod">
          <ac:chgData name="Berriri, Amin" userId="f0ac5b9f-00b2-4a20-9218-08f50abb4d12" providerId="ADAL" clId="{4E5DF939-ACD2-4D9D-8655-E9B807FFBE67}" dt="2025-12-17T14:05:13.942" v="29822" actId="14100"/>
          <ac:spMkLst>
            <pc:docMk/>
            <pc:sldMk cId="623533055" sldId="2147480390"/>
            <ac:spMk id="14" creationId="{92D21C3C-D3E7-2612-31F5-6B9AE5F051C9}"/>
          </ac:spMkLst>
        </pc:spChg>
      </pc:sldChg>
      <pc:sldChg chg="addSp modSp add mod ord">
        <pc:chgData name="Berriri, Amin" userId="f0ac5b9f-00b2-4a20-9218-08f50abb4d12" providerId="ADAL" clId="{4E5DF939-ACD2-4D9D-8655-E9B807FFBE67}" dt="2026-01-12T17:58:43.350" v="40531" actId="20577"/>
        <pc:sldMkLst>
          <pc:docMk/>
          <pc:sldMk cId="4088715980" sldId="2147480391"/>
        </pc:sldMkLst>
        <pc:spChg chg="add mod">
          <ac:chgData name="Berriri, Amin" userId="f0ac5b9f-00b2-4a20-9218-08f50abb4d12" providerId="ADAL" clId="{4E5DF939-ACD2-4D9D-8655-E9B807FFBE67}" dt="2026-01-06T16:13:00.355" v="31215" actId="14100"/>
          <ac:spMkLst>
            <pc:docMk/>
            <pc:sldMk cId="4088715980" sldId="2147480391"/>
            <ac:spMk id="3" creationId="{2B170D68-C18F-D0FB-A90D-68402BB1B47F}"/>
          </ac:spMkLst>
        </pc:spChg>
        <pc:spChg chg="add mod">
          <ac:chgData name="Berriri, Amin" userId="f0ac5b9f-00b2-4a20-9218-08f50abb4d12" providerId="ADAL" clId="{4E5DF939-ACD2-4D9D-8655-E9B807FFBE67}" dt="2026-01-06T16:13:39.666" v="31255" actId="1038"/>
          <ac:spMkLst>
            <pc:docMk/>
            <pc:sldMk cId="4088715980" sldId="2147480391"/>
            <ac:spMk id="4" creationId="{0F8471C4-4062-ADAA-3460-47029F9B19E8}"/>
          </ac:spMkLst>
        </pc:spChg>
        <pc:spChg chg="add mod">
          <ac:chgData name="Berriri, Amin" userId="f0ac5b9f-00b2-4a20-9218-08f50abb4d12" providerId="ADAL" clId="{4E5DF939-ACD2-4D9D-8655-E9B807FFBE67}" dt="2026-01-06T16:10:46.580" v="31140" actId="1076"/>
          <ac:spMkLst>
            <pc:docMk/>
            <pc:sldMk cId="4088715980" sldId="2147480391"/>
            <ac:spMk id="5" creationId="{3AD06CD0-EDAC-0072-D61B-C159A78BB1D0}"/>
          </ac:spMkLst>
        </pc:spChg>
        <pc:spChg chg="add mod">
          <ac:chgData name="Berriri, Amin" userId="f0ac5b9f-00b2-4a20-9218-08f50abb4d12" providerId="ADAL" clId="{4E5DF939-ACD2-4D9D-8655-E9B807FFBE67}" dt="2026-01-06T16:10:23.295" v="31102" actId="14100"/>
          <ac:spMkLst>
            <pc:docMk/>
            <pc:sldMk cId="4088715980" sldId="2147480391"/>
            <ac:spMk id="6" creationId="{5DFB0221-7019-825C-0D40-58EF8B9FA61E}"/>
          </ac:spMkLst>
        </pc:spChg>
        <pc:spChg chg="add mod">
          <ac:chgData name="Berriri, Amin" userId="f0ac5b9f-00b2-4a20-9218-08f50abb4d12" providerId="ADAL" clId="{4E5DF939-ACD2-4D9D-8655-E9B807FFBE67}" dt="2026-01-06T16:11:59.225" v="31147" actId="14100"/>
          <ac:spMkLst>
            <pc:docMk/>
            <pc:sldMk cId="4088715980" sldId="2147480391"/>
            <ac:spMk id="8" creationId="{DD1D45BF-1D44-B237-0494-E5DD13ED0B71}"/>
          </ac:spMkLst>
        </pc:spChg>
        <pc:spChg chg="mod">
          <ac:chgData name="Berriri, Amin" userId="f0ac5b9f-00b2-4a20-9218-08f50abb4d12" providerId="ADAL" clId="{4E5DF939-ACD2-4D9D-8655-E9B807FFBE67}" dt="2026-01-06T16:12:25.510" v="31183" actId="14100"/>
          <ac:spMkLst>
            <pc:docMk/>
            <pc:sldMk cId="4088715980" sldId="2147480391"/>
            <ac:spMk id="9" creationId="{F1DA5632-2D71-C637-737A-3198E442E41B}"/>
          </ac:spMkLst>
        </pc:spChg>
        <pc:spChg chg="mod">
          <ac:chgData name="Berriri, Amin" userId="f0ac5b9f-00b2-4a20-9218-08f50abb4d12" providerId="ADAL" clId="{4E5DF939-ACD2-4D9D-8655-E9B807FFBE67}" dt="2026-01-06T16:13:09.640" v="31217" actId="14100"/>
          <ac:spMkLst>
            <pc:docMk/>
            <pc:sldMk cId="4088715980" sldId="2147480391"/>
            <ac:spMk id="10" creationId="{C1F52D2D-5168-4F6F-E3CE-C59C82B91A65}"/>
          </ac:spMkLst>
        </pc:spChg>
        <pc:spChg chg="add mod">
          <ac:chgData name="Berriri, Amin" userId="f0ac5b9f-00b2-4a20-9218-08f50abb4d12" providerId="ADAL" clId="{4E5DF939-ACD2-4D9D-8655-E9B807FFBE67}" dt="2026-01-06T16:12:06.940" v="31181" actId="1038"/>
          <ac:spMkLst>
            <pc:docMk/>
            <pc:sldMk cId="4088715980" sldId="2147480391"/>
            <ac:spMk id="11" creationId="{0F5968AA-9B48-E341-90B1-A07872CB825C}"/>
          </ac:spMkLst>
        </pc:spChg>
        <pc:spChg chg="add mod">
          <ac:chgData name="Berriri, Amin" userId="f0ac5b9f-00b2-4a20-9218-08f50abb4d12" providerId="ADAL" clId="{4E5DF939-ACD2-4D9D-8655-E9B807FFBE67}" dt="2026-01-06T16:12:31.144" v="31212" actId="1037"/>
          <ac:spMkLst>
            <pc:docMk/>
            <pc:sldMk cId="4088715980" sldId="2147480391"/>
            <ac:spMk id="12" creationId="{F1A96CCF-2457-45B4-2DFD-46EBD922B357}"/>
          </ac:spMkLst>
        </pc:spChg>
        <pc:spChg chg="mod">
          <ac:chgData name="Berriri, Amin" userId="f0ac5b9f-00b2-4a20-9218-08f50abb4d12" providerId="ADAL" clId="{4E5DF939-ACD2-4D9D-8655-E9B807FFBE67}" dt="2026-01-06T16:13:39.666" v="31255" actId="1038"/>
          <ac:spMkLst>
            <pc:docMk/>
            <pc:sldMk cId="4088715980" sldId="2147480391"/>
            <ac:spMk id="13" creationId="{21A1BE29-4BAB-6A28-1F37-3EAE143C5C76}"/>
          </ac:spMkLst>
        </pc:spChg>
        <pc:spChg chg="add mod">
          <ac:chgData name="Berriri, Amin" userId="f0ac5b9f-00b2-4a20-9218-08f50abb4d12" providerId="ADAL" clId="{4E5DF939-ACD2-4D9D-8655-E9B807FFBE67}" dt="2026-01-06T16:09:43.421" v="31097" actId="1036"/>
          <ac:spMkLst>
            <pc:docMk/>
            <pc:sldMk cId="4088715980" sldId="2147480391"/>
            <ac:spMk id="14" creationId="{34140A46-1065-981D-2A24-275179651106}"/>
          </ac:spMkLst>
        </pc:spChg>
        <pc:spChg chg="add mod">
          <ac:chgData name="Berriri, Amin" userId="f0ac5b9f-00b2-4a20-9218-08f50abb4d12" providerId="ADAL" clId="{4E5DF939-ACD2-4D9D-8655-E9B807FFBE67}" dt="2026-01-06T16:08:40.309" v="31024" actId="14100"/>
          <ac:spMkLst>
            <pc:docMk/>
            <pc:sldMk cId="4088715980" sldId="2147480391"/>
            <ac:spMk id="15" creationId="{20BC639E-1806-7759-30D0-8595680A5B6F}"/>
          </ac:spMkLst>
        </pc:spChg>
        <pc:spChg chg="add mod">
          <ac:chgData name="Berriri, Amin" userId="f0ac5b9f-00b2-4a20-9218-08f50abb4d12" providerId="ADAL" clId="{4E5DF939-ACD2-4D9D-8655-E9B807FFBE67}" dt="2026-01-06T16:09:43.421" v="31097" actId="1036"/>
          <ac:spMkLst>
            <pc:docMk/>
            <pc:sldMk cId="4088715980" sldId="2147480391"/>
            <ac:spMk id="16" creationId="{CD4E6E1B-8353-F8BF-4D43-1A3E6E64F636}"/>
          </ac:spMkLst>
        </pc:spChg>
        <pc:spChg chg="add mod">
          <ac:chgData name="Berriri, Amin" userId="f0ac5b9f-00b2-4a20-9218-08f50abb4d12" providerId="ADAL" clId="{4E5DF939-ACD2-4D9D-8655-E9B807FFBE67}" dt="2026-01-06T16:09:43.421" v="31097" actId="1036"/>
          <ac:spMkLst>
            <pc:docMk/>
            <pc:sldMk cId="4088715980" sldId="2147480391"/>
            <ac:spMk id="17" creationId="{07C5B193-8EFD-081D-982E-9A04D044A8B9}"/>
          </ac:spMkLst>
        </pc:spChg>
        <pc:spChg chg="add mod">
          <ac:chgData name="Berriri, Amin" userId="f0ac5b9f-00b2-4a20-9218-08f50abb4d12" providerId="ADAL" clId="{4E5DF939-ACD2-4D9D-8655-E9B807FFBE67}" dt="2026-01-06T16:09:43.421" v="31097" actId="1036"/>
          <ac:spMkLst>
            <pc:docMk/>
            <pc:sldMk cId="4088715980" sldId="2147480391"/>
            <ac:spMk id="18" creationId="{AB313E6C-AB10-7CCD-D097-B048B60C6B1D}"/>
          </ac:spMkLst>
        </pc:spChg>
        <pc:spChg chg="mod">
          <ac:chgData name="Berriri, Amin" userId="f0ac5b9f-00b2-4a20-9218-08f50abb4d12" providerId="ADAL" clId="{4E5DF939-ACD2-4D9D-8655-E9B807FFBE67}" dt="2026-01-06T16:10:39.897" v="31139" actId="1038"/>
          <ac:spMkLst>
            <pc:docMk/>
            <pc:sldMk cId="4088715980" sldId="2147480391"/>
            <ac:spMk id="19" creationId="{D909398C-5D08-5583-6B94-A5D358B91FE1}"/>
          </ac:spMkLst>
        </pc:spChg>
        <pc:spChg chg="add mod">
          <ac:chgData name="Berriri, Amin" userId="f0ac5b9f-00b2-4a20-9218-08f50abb4d12" providerId="ADAL" clId="{4E5DF939-ACD2-4D9D-8655-E9B807FFBE67}" dt="2026-01-06T16:10:15.015" v="31100" actId="14100"/>
          <ac:spMkLst>
            <pc:docMk/>
            <pc:sldMk cId="4088715980" sldId="2147480391"/>
            <ac:spMk id="21" creationId="{1B89E22A-9D3B-F09A-8161-3B10D1C0FA3A}"/>
          </ac:spMkLst>
        </pc:spChg>
        <pc:graphicFrameChg chg="mod modGraphic">
          <ac:chgData name="Berriri, Amin" userId="f0ac5b9f-00b2-4a20-9218-08f50abb4d12" providerId="ADAL" clId="{4E5DF939-ACD2-4D9D-8655-E9B807FFBE67}" dt="2026-01-12T17:58:43.350" v="40531" actId="20577"/>
          <ac:graphicFrameMkLst>
            <pc:docMk/>
            <pc:sldMk cId="4088715980" sldId="2147480391"/>
            <ac:graphicFrameMk id="7" creationId="{DDB9F469-5A86-8102-FAE1-A2CFB9B41C18}"/>
          </ac:graphicFrameMkLst>
        </pc:graphicFrameChg>
      </pc:sldChg>
      <pc:sldChg chg="addSp delSp modSp add mod">
        <pc:chgData name="Berriri, Amin" userId="f0ac5b9f-00b2-4a20-9218-08f50abb4d12" providerId="ADAL" clId="{4E5DF939-ACD2-4D9D-8655-E9B807FFBE67}" dt="2026-01-12T17:52:21.434" v="40523" actId="20577"/>
        <pc:sldMkLst>
          <pc:docMk/>
          <pc:sldMk cId="3640875648" sldId="2147480392"/>
        </pc:sldMkLst>
        <pc:spChg chg="mod">
          <ac:chgData name="Berriri, Amin" userId="f0ac5b9f-00b2-4a20-9218-08f50abb4d12" providerId="ADAL" clId="{4E5DF939-ACD2-4D9D-8655-E9B807FFBE67}" dt="2025-12-18T15:14:17.713" v="30414" actId="13926"/>
          <ac:spMkLst>
            <pc:docMk/>
            <pc:sldMk cId="3640875648" sldId="2147480392"/>
            <ac:spMk id="2" creationId="{8A693BAC-EE9F-39FD-04CE-80BA03BF66CC}"/>
          </ac:spMkLst>
        </pc:spChg>
        <pc:graphicFrameChg chg="add mod modGraphic">
          <ac:chgData name="Berriri, Amin" userId="f0ac5b9f-00b2-4a20-9218-08f50abb4d12" providerId="ADAL" clId="{4E5DF939-ACD2-4D9D-8655-E9B807FFBE67}" dt="2026-01-12T17:52:21.434" v="40523" actId="20577"/>
          <ac:graphicFrameMkLst>
            <pc:docMk/>
            <pc:sldMk cId="3640875648" sldId="2147480392"/>
            <ac:graphicFrameMk id="3" creationId="{20F5F211-3C1A-A9E9-4FF5-CCF1CFBF4B22}"/>
          </ac:graphicFrameMkLst>
        </pc:graphicFrameChg>
      </pc:sldChg>
      <pc:sldChg chg="modSp add mod">
        <pc:chgData name="Berriri, Amin" userId="f0ac5b9f-00b2-4a20-9218-08f50abb4d12" providerId="ADAL" clId="{4E5DF939-ACD2-4D9D-8655-E9B807FFBE67}" dt="2025-12-19T19:09:54.987" v="30629" actId="20577"/>
        <pc:sldMkLst>
          <pc:docMk/>
          <pc:sldMk cId="3723205286" sldId="2147480393"/>
        </pc:sldMkLst>
        <pc:graphicFrameChg chg="mod modGraphic">
          <ac:chgData name="Berriri, Amin" userId="f0ac5b9f-00b2-4a20-9218-08f50abb4d12" providerId="ADAL" clId="{4E5DF939-ACD2-4D9D-8655-E9B807FFBE67}" dt="2025-12-19T19:09:54.987" v="30629" actId="20577"/>
          <ac:graphicFrameMkLst>
            <pc:docMk/>
            <pc:sldMk cId="3723205286" sldId="2147480393"/>
            <ac:graphicFrameMk id="5" creationId="{4211D8C0-0074-8C36-C8FE-41C3348E672E}"/>
          </ac:graphicFrameMkLst>
        </pc:graphicFrameChg>
      </pc:sldChg>
      <pc:sldChg chg="modSp add mod">
        <pc:chgData name="Berriri, Amin" userId="f0ac5b9f-00b2-4a20-9218-08f50abb4d12" providerId="ADAL" clId="{4E5DF939-ACD2-4D9D-8655-E9B807FFBE67}" dt="2026-01-06T19:56:03.859" v="32350" actId="14734"/>
        <pc:sldMkLst>
          <pc:docMk/>
          <pc:sldMk cId="4242138019" sldId="2147480394"/>
        </pc:sldMkLst>
        <pc:spChg chg="mod">
          <ac:chgData name="Berriri, Amin" userId="f0ac5b9f-00b2-4a20-9218-08f50abb4d12" providerId="ADAL" clId="{4E5DF939-ACD2-4D9D-8655-E9B807FFBE67}" dt="2026-01-06T19:48:22.571" v="32223" actId="13926"/>
          <ac:spMkLst>
            <pc:docMk/>
            <pc:sldMk cId="4242138019" sldId="2147480394"/>
            <ac:spMk id="2" creationId="{584466F6-1578-E261-5F22-D7F6D5B0D8B2}"/>
          </ac:spMkLst>
        </pc:spChg>
        <pc:graphicFrameChg chg="mod modGraphic">
          <ac:chgData name="Berriri, Amin" userId="f0ac5b9f-00b2-4a20-9218-08f50abb4d12" providerId="ADAL" clId="{4E5DF939-ACD2-4D9D-8655-E9B807FFBE67}" dt="2026-01-06T19:56:03.859" v="32350" actId="14734"/>
          <ac:graphicFrameMkLst>
            <pc:docMk/>
            <pc:sldMk cId="4242138019" sldId="2147480394"/>
            <ac:graphicFrameMk id="4" creationId="{DC63DC2F-E64D-B1B9-683D-B9DC74526BD1}"/>
          </ac:graphicFrameMkLst>
        </pc:graphicFrameChg>
      </pc:sldChg>
      <pc:sldChg chg="modSp add mod">
        <pc:chgData name="Berriri, Amin" userId="f0ac5b9f-00b2-4a20-9218-08f50abb4d12" providerId="ADAL" clId="{4E5DF939-ACD2-4D9D-8655-E9B807FFBE67}" dt="2026-01-06T19:55:49.324" v="32348" actId="14734"/>
        <pc:sldMkLst>
          <pc:docMk/>
          <pc:sldMk cId="2289919101" sldId="2147480395"/>
        </pc:sldMkLst>
        <pc:spChg chg="mod">
          <ac:chgData name="Berriri, Amin" userId="f0ac5b9f-00b2-4a20-9218-08f50abb4d12" providerId="ADAL" clId="{4E5DF939-ACD2-4D9D-8655-E9B807FFBE67}" dt="2026-01-06T19:48:32.572" v="32224" actId="13926"/>
          <ac:spMkLst>
            <pc:docMk/>
            <pc:sldMk cId="2289919101" sldId="2147480395"/>
            <ac:spMk id="2" creationId="{392CB0CE-D593-4735-78DA-953AB0B7B1D2}"/>
          </ac:spMkLst>
        </pc:spChg>
        <pc:spChg chg="mod">
          <ac:chgData name="Berriri, Amin" userId="f0ac5b9f-00b2-4a20-9218-08f50abb4d12" providerId="ADAL" clId="{4E5DF939-ACD2-4D9D-8655-E9B807FFBE67}" dt="2026-01-06T19:53:58.136" v="32318" actId="14100"/>
          <ac:spMkLst>
            <pc:docMk/>
            <pc:sldMk cId="2289919101" sldId="2147480395"/>
            <ac:spMk id="3" creationId="{9D127726-BA21-1A38-F3D4-F8BED6D80E5F}"/>
          </ac:spMkLst>
        </pc:spChg>
        <pc:graphicFrameChg chg="mod modGraphic">
          <ac:chgData name="Berriri, Amin" userId="f0ac5b9f-00b2-4a20-9218-08f50abb4d12" providerId="ADAL" clId="{4E5DF939-ACD2-4D9D-8655-E9B807FFBE67}" dt="2026-01-06T19:55:49.324" v="32348" actId="14734"/>
          <ac:graphicFrameMkLst>
            <pc:docMk/>
            <pc:sldMk cId="2289919101" sldId="2147480395"/>
            <ac:graphicFrameMk id="4" creationId="{3B75F968-8CD1-EC11-7144-08A87D5ACA61}"/>
          </ac:graphicFrameMkLst>
        </pc:graphicFrameChg>
      </pc:sldChg>
      <pc:sldChg chg="modSp add mod">
        <pc:chgData name="Berriri, Amin" userId="f0ac5b9f-00b2-4a20-9218-08f50abb4d12" providerId="ADAL" clId="{4E5DF939-ACD2-4D9D-8655-E9B807FFBE67}" dt="2026-01-07T16:21:19.193" v="34637" actId="2165"/>
        <pc:sldMkLst>
          <pc:docMk/>
          <pc:sldMk cId="2235696396" sldId="2147480396"/>
        </pc:sldMkLst>
        <pc:graphicFrameChg chg="mod modGraphic">
          <ac:chgData name="Berriri, Amin" userId="f0ac5b9f-00b2-4a20-9218-08f50abb4d12" providerId="ADAL" clId="{4E5DF939-ACD2-4D9D-8655-E9B807FFBE67}" dt="2026-01-07T16:21:19.193" v="34637" actId="2165"/>
          <ac:graphicFrameMkLst>
            <pc:docMk/>
            <pc:sldMk cId="2235696396" sldId="2147480396"/>
            <ac:graphicFrameMk id="4" creationId="{67BFA9FB-9AAC-7256-EB0F-885EDA81ED7E}"/>
          </ac:graphicFrameMkLst>
        </pc:graphicFrameChg>
      </pc:sldChg>
      <pc:sldChg chg="addSp delSp modSp add mod">
        <pc:chgData name="Berriri, Amin" userId="f0ac5b9f-00b2-4a20-9218-08f50abb4d12" providerId="ADAL" clId="{4E5DF939-ACD2-4D9D-8655-E9B807FFBE67}" dt="2026-01-09T19:40:10.090" v="38011" actId="1076"/>
        <pc:sldMkLst>
          <pc:docMk/>
          <pc:sldMk cId="1612287203" sldId="2147480397"/>
        </pc:sldMkLst>
        <pc:spChg chg="mod">
          <ac:chgData name="Berriri, Amin" userId="f0ac5b9f-00b2-4a20-9218-08f50abb4d12" providerId="ADAL" clId="{4E5DF939-ACD2-4D9D-8655-E9B807FFBE67}" dt="2026-01-09T19:36:41.711" v="37995"/>
          <ac:spMkLst>
            <pc:docMk/>
            <pc:sldMk cId="1612287203" sldId="2147480397"/>
            <ac:spMk id="4" creationId="{91CF3308-DC6A-DCC6-2039-988ABAD97174}"/>
          </ac:spMkLst>
        </pc:spChg>
        <pc:picChg chg="add mod">
          <ac:chgData name="Berriri, Amin" userId="f0ac5b9f-00b2-4a20-9218-08f50abb4d12" providerId="ADAL" clId="{4E5DF939-ACD2-4D9D-8655-E9B807FFBE67}" dt="2026-01-09T19:40:10.090" v="38011" actId="1076"/>
          <ac:picMkLst>
            <pc:docMk/>
            <pc:sldMk cId="1612287203" sldId="2147480397"/>
            <ac:picMk id="14" creationId="{37922050-861C-1595-8DC4-AAFC76A66AD2}"/>
          </ac:picMkLst>
        </pc:picChg>
      </pc:sldChg>
      <pc:sldChg chg="addSp delSp modSp add mod">
        <pc:chgData name="Berriri, Amin" userId="f0ac5b9f-00b2-4a20-9218-08f50abb4d12" providerId="ADAL" clId="{4E5DF939-ACD2-4D9D-8655-E9B807FFBE67}" dt="2026-01-15T15:07:21.594" v="40710" actId="14100"/>
        <pc:sldMkLst>
          <pc:docMk/>
          <pc:sldMk cId="886496947" sldId="2147480398"/>
        </pc:sldMkLst>
        <pc:spChg chg="del">
          <ac:chgData name="Berriri, Amin" userId="f0ac5b9f-00b2-4a20-9218-08f50abb4d12" providerId="ADAL" clId="{4E5DF939-ACD2-4D9D-8655-E9B807FFBE67}" dt="2026-01-15T15:06:58.357" v="40704" actId="478"/>
          <ac:spMkLst>
            <pc:docMk/>
            <pc:sldMk cId="886496947" sldId="2147480398"/>
            <ac:spMk id="3" creationId="{EA44AC9D-3C1E-F351-90B0-9FC6464C196F}"/>
          </ac:spMkLst>
        </pc:spChg>
        <pc:spChg chg="del">
          <ac:chgData name="Berriri, Amin" userId="f0ac5b9f-00b2-4a20-9218-08f50abb4d12" providerId="ADAL" clId="{4E5DF939-ACD2-4D9D-8655-E9B807FFBE67}" dt="2026-01-15T15:06:58.357" v="40704" actId="478"/>
          <ac:spMkLst>
            <pc:docMk/>
            <pc:sldMk cId="886496947" sldId="2147480398"/>
            <ac:spMk id="4" creationId="{C193E5C1-99E6-8257-3E8D-BFB776C15DE5}"/>
          </ac:spMkLst>
        </pc:spChg>
        <pc:spChg chg="del">
          <ac:chgData name="Berriri, Amin" userId="f0ac5b9f-00b2-4a20-9218-08f50abb4d12" providerId="ADAL" clId="{4E5DF939-ACD2-4D9D-8655-E9B807FFBE67}" dt="2026-01-15T15:06:58.357" v="40704" actId="478"/>
          <ac:spMkLst>
            <pc:docMk/>
            <pc:sldMk cId="886496947" sldId="2147480398"/>
            <ac:spMk id="6" creationId="{8E078B90-21BF-EFAA-C078-1E8A7A99196E}"/>
          </ac:spMkLst>
        </pc:spChg>
        <pc:spChg chg="del">
          <ac:chgData name="Berriri, Amin" userId="f0ac5b9f-00b2-4a20-9218-08f50abb4d12" providerId="ADAL" clId="{4E5DF939-ACD2-4D9D-8655-E9B807FFBE67}" dt="2026-01-15T15:06:58.357" v="40704" actId="478"/>
          <ac:spMkLst>
            <pc:docMk/>
            <pc:sldMk cId="886496947" sldId="2147480398"/>
            <ac:spMk id="7" creationId="{C8184606-8E2B-4C12-132F-CFB58BD7EF09}"/>
          </ac:spMkLst>
        </pc:spChg>
        <pc:spChg chg="del">
          <ac:chgData name="Berriri, Amin" userId="f0ac5b9f-00b2-4a20-9218-08f50abb4d12" providerId="ADAL" clId="{4E5DF939-ACD2-4D9D-8655-E9B807FFBE67}" dt="2026-01-15T15:06:58.357" v="40704" actId="478"/>
          <ac:spMkLst>
            <pc:docMk/>
            <pc:sldMk cId="886496947" sldId="2147480398"/>
            <ac:spMk id="8" creationId="{A8E64F7A-833D-D879-7B4D-7BBE566F7705}"/>
          </ac:spMkLst>
        </pc:spChg>
        <pc:spChg chg="del">
          <ac:chgData name="Berriri, Amin" userId="f0ac5b9f-00b2-4a20-9218-08f50abb4d12" providerId="ADAL" clId="{4E5DF939-ACD2-4D9D-8655-E9B807FFBE67}" dt="2026-01-15T15:06:59.490" v="40705" actId="478"/>
          <ac:spMkLst>
            <pc:docMk/>
            <pc:sldMk cId="886496947" sldId="2147480398"/>
            <ac:spMk id="10" creationId="{28EC892D-FBAE-5ECA-7584-5729EE112F79}"/>
          </ac:spMkLst>
        </pc:spChg>
        <pc:spChg chg="del">
          <ac:chgData name="Berriri, Amin" userId="f0ac5b9f-00b2-4a20-9218-08f50abb4d12" providerId="ADAL" clId="{4E5DF939-ACD2-4D9D-8655-E9B807FFBE67}" dt="2026-01-15T15:06:58.357" v="40704" actId="478"/>
          <ac:spMkLst>
            <pc:docMk/>
            <pc:sldMk cId="886496947" sldId="2147480398"/>
            <ac:spMk id="11" creationId="{0EE93B87-2C71-9B85-2028-719C516A7999}"/>
          </ac:spMkLst>
        </pc:spChg>
        <pc:spChg chg="del">
          <ac:chgData name="Berriri, Amin" userId="f0ac5b9f-00b2-4a20-9218-08f50abb4d12" providerId="ADAL" clId="{4E5DF939-ACD2-4D9D-8655-E9B807FFBE67}" dt="2026-01-15T15:06:58.357" v="40704" actId="478"/>
          <ac:spMkLst>
            <pc:docMk/>
            <pc:sldMk cId="886496947" sldId="2147480398"/>
            <ac:spMk id="12" creationId="{FD95E9AC-1FF3-B39F-EC68-4B3FEC9DBB52}"/>
          </ac:spMkLst>
        </pc:spChg>
        <pc:spChg chg="del">
          <ac:chgData name="Berriri, Amin" userId="f0ac5b9f-00b2-4a20-9218-08f50abb4d12" providerId="ADAL" clId="{4E5DF939-ACD2-4D9D-8655-E9B807FFBE67}" dt="2026-01-15T15:06:58.357" v="40704" actId="478"/>
          <ac:spMkLst>
            <pc:docMk/>
            <pc:sldMk cId="886496947" sldId="2147480398"/>
            <ac:spMk id="14" creationId="{F0A3D85F-0567-D7EB-AEFE-37B721234A80}"/>
          </ac:spMkLst>
        </pc:spChg>
        <pc:spChg chg="del">
          <ac:chgData name="Berriri, Amin" userId="f0ac5b9f-00b2-4a20-9218-08f50abb4d12" providerId="ADAL" clId="{4E5DF939-ACD2-4D9D-8655-E9B807FFBE67}" dt="2026-01-15T15:06:58.357" v="40704" actId="478"/>
          <ac:spMkLst>
            <pc:docMk/>
            <pc:sldMk cId="886496947" sldId="2147480398"/>
            <ac:spMk id="15" creationId="{A08E3387-4F6C-6608-9FDC-C9B5954092CE}"/>
          </ac:spMkLst>
        </pc:spChg>
        <pc:spChg chg="del">
          <ac:chgData name="Berriri, Amin" userId="f0ac5b9f-00b2-4a20-9218-08f50abb4d12" providerId="ADAL" clId="{4E5DF939-ACD2-4D9D-8655-E9B807FFBE67}" dt="2026-01-15T15:06:58.357" v="40704" actId="478"/>
          <ac:spMkLst>
            <pc:docMk/>
            <pc:sldMk cId="886496947" sldId="2147480398"/>
            <ac:spMk id="16" creationId="{05D3EDE3-5415-3855-728B-AD8B04C21E87}"/>
          </ac:spMkLst>
        </pc:spChg>
        <pc:spChg chg="add del mod">
          <ac:chgData name="Berriri, Amin" userId="f0ac5b9f-00b2-4a20-9218-08f50abb4d12" providerId="ADAL" clId="{4E5DF939-ACD2-4D9D-8655-E9B807FFBE67}" dt="2026-01-15T15:06:55.065" v="40703" actId="478"/>
          <ac:spMkLst>
            <pc:docMk/>
            <pc:sldMk cId="886496947" sldId="2147480398"/>
            <ac:spMk id="19" creationId="{8912FA8B-6CD9-593A-901C-FC2B6E84E230}"/>
          </ac:spMkLst>
        </pc:spChg>
        <pc:graphicFrameChg chg="del">
          <ac:chgData name="Berriri, Amin" userId="f0ac5b9f-00b2-4a20-9218-08f50abb4d12" providerId="ADAL" clId="{4E5DF939-ACD2-4D9D-8655-E9B807FFBE67}" dt="2026-01-15T15:06:52.257" v="40702" actId="478"/>
          <ac:graphicFrameMkLst>
            <pc:docMk/>
            <pc:sldMk cId="886496947" sldId="2147480398"/>
            <ac:graphicFrameMk id="13" creationId="{EAFDFF1A-6491-94BA-28D6-1B68BD3E8190}"/>
          </ac:graphicFrameMkLst>
        </pc:graphicFrameChg>
        <pc:picChg chg="add mod">
          <ac:chgData name="Berriri, Amin" userId="f0ac5b9f-00b2-4a20-9218-08f50abb4d12" providerId="ADAL" clId="{4E5DF939-ACD2-4D9D-8655-E9B807FFBE67}" dt="2026-01-15T15:07:21.594" v="40710" actId="14100"/>
          <ac:picMkLst>
            <pc:docMk/>
            <pc:sldMk cId="886496947" sldId="2147480398"/>
            <ac:picMk id="21" creationId="{6F7477D5-289D-A68C-088B-462EA3143019}"/>
          </ac:picMkLst>
        </pc:picChg>
      </pc:sldChg>
    </pc:docChg>
  </pc:docChgLst>
  <pc:docChgLst>
    <pc:chgData name="Sauvestre, Marion" userId="S::marion.sauvestre@ia.ca::50458ef3-71da-4d91-9eb9-916e95c2dcdd" providerId="AD" clId="Web-{C986E322-5300-40D0-A48A-4F1F1E687DC8}"/>
    <pc:docChg chg="modSld">
      <pc:chgData name="Sauvestre, Marion" userId="S::marion.sauvestre@ia.ca::50458ef3-71da-4d91-9eb9-916e95c2dcdd" providerId="AD" clId="Web-{C986E322-5300-40D0-A48A-4F1F1E687DC8}" dt="2025-12-18T14:04:17.919" v="13"/>
      <pc:docMkLst>
        <pc:docMk/>
      </pc:docMkLst>
      <pc:sldChg chg="modSp">
        <pc:chgData name="Sauvestre, Marion" userId="S::marion.sauvestre@ia.ca::50458ef3-71da-4d91-9eb9-916e95c2dcdd" providerId="AD" clId="Web-{C986E322-5300-40D0-A48A-4F1F1E687DC8}" dt="2025-12-18T14:04:17.919" v="13"/>
        <pc:sldMkLst>
          <pc:docMk/>
          <pc:sldMk cId="3238403686" sldId="2147470059"/>
        </pc:sldMkLst>
        <pc:graphicFrameChg chg="mod modGraphic">
          <ac:chgData name="Sauvestre, Marion" userId="S::marion.sauvestre@ia.ca::50458ef3-71da-4d91-9eb9-916e95c2dcdd" providerId="AD" clId="Web-{C986E322-5300-40D0-A48A-4F1F1E687DC8}" dt="2025-12-18T14:04:17.919" v="13"/>
          <ac:graphicFrameMkLst>
            <pc:docMk/>
            <pc:sldMk cId="3238403686" sldId="2147470059"/>
            <ac:graphicFrameMk id="6" creationId="{03163732-64C5-7020-2939-8B8F0D8E8FB9}"/>
          </ac:graphicFrameMkLst>
        </pc:graphicFrameChg>
      </pc:sldChg>
    </pc:docChg>
  </pc:docChgLst>
  <pc:docChgLst>
    <pc:chgData name="Blais-Boilard, Andréanne" userId="211ae88a-998a-492e-bec2-ed805b9c21d8" providerId="ADAL" clId="{F7C59270-F152-48C2-889D-C89F6B787FC7}"/>
    <pc:docChg chg="custSel modSld">
      <pc:chgData name="Blais-Boilard, Andréanne" userId="211ae88a-998a-492e-bec2-ed805b9c21d8" providerId="ADAL" clId="{F7C59270-F152-48C2-889D-C89F6B787FC7}" dt="2025-12-18T18:30:10.051" v="116" actId="20577"/>
      <pc:docMkLst>
        <pc:docMk/>
      </pc:docMkLst>
      <pc:sldChg chg="modSp mod modCm">
        <pc:chgData name="Blais-Boilard, Andréanne" userId="211ae88a-998a-492e-bec2-ed805b9c21d8" providerId="ADAL" clId="{F7C59270-F152-48C2-889D-C89F6B787FC7}" dt="2025-12-18T18:23:37.142" v="7" actId="20577"/>
        <pc:sldMkLst>
          <pc:docMk/>
          <pc:sldMk cId="2632470636" sldId="300"/>
        </pc:sldMkLst>
        <pc:graphicFrameChg chg="modGraphic">
          <ac:chgData name="Blais-Boilard, Andréanne" userId="211ae88a-998a-492e-bec2-ed805b9c21d8" providerId="ADAL" clId="{F7C59270-F152-48C2-889D-C89F6B787FC7}" dt="2025-12-18T18:23:37.142" v="7" actId="20577"/>
          <ac:graphicFrameMkLst>
            <pc:docMk/>
            <pc:sldMk cId="2632470636" sldId="300"/>
            <ac:graphicFrameMk id="6" creationId="{152B70A0-E250-0C99-5670-689F3A2F0B67}"/>
          </ac:graphicFrameMkLst>
        </pc:graphicFrameChg>
        <pc:extLst>
          <p:ext xmlns:p="http://schemas.openxmlformats.org/presentationml/2006/main" uri="{D6D511B9-2390-475A-947B-AFAB55BFBCF1}">
            <pc226:cmChg xmlns:pc226="http://schemas.microsoft.com/office/powerpoint/2022/06/main/command" chg="mod">
              <pc226:chgData name="Blais-Boilard, Andréanne" userId="211ae88a-998a-492e-bec2-ed805b9c21d8" providerId="ADAL" clId="{F7C59270-F152-48C2-889D-C89F6B787FC7}" dt="2025-12-18T18:22:47.545" v="6" actId="20577"/>
              <pc2:cmMkLst xmlns:pc2="http://schemas.microsoft.com/office/powerpoint/2019/9/main/command">
                <pc:docMk/>
                <pc:sldMk cId="2632470636" sldId="300"/>
                <pc2:cmMk id="{8ED8442C-DEB6-4840-8C7C-E71C23925CDC}"/>
              </pc2:cmMkLst>
            </pc226:cmChg>
          </p:ext>
        </pc:extLst>
      </pc:sldChg>
      <pc:sldChg chg="modSp mod">
        <pc:chgData name="Blais-Boilard, Andréanne" userId="211ae88a-998a-492e-bec2-ed805b9c21d8" providerId="ADAL" clId="{F7C59270-F152-48C2-889D-C89F6B787FC7}" dt="2025-12-18T18:30:10.051" v="116" actId="20577"/>
        <pc:sldMkLst>
          <pc:docMk/>
          <pc:sldMk cId="3576115763" sldId="2147480384"/>
        </pc:sldMkLst>
        <pc:graphicFrameChg chg="modGraphic">
          <ac:chgData name="Blais-Boilard, Andréanne" userId="211ae88a-998a-492e-bec2-ed805b9c21d8" providerId="ADAL" clId="{F7C59270-F152-48C2-889D-C89F6B787FC7}" dt="2025-12-18T18:30:10.051" v="116" actId="20577"/>
          <ac:graphicFrameMkLst>
            <pc:docMk/>
            <pc:sldMk cId="3576115763" sldId="2147480384"/>
            <ac:graphicFrameMk id="6" creationId="{CB2B7561-3644-F66F-4CB1-8EFBAAD3ABEE}"/>
          </ac:graphicFrameMkLst>
        </pc:graphicFrameChg>
      </pc:sldChg>
    </pc:docChg>
  </pc:docChgLst>
  <pc:docChgLst>
    <pc:chgData name="Sauvestre, Marion" userId="S::marion.sauvestre@ia.ca::50458ef3-71da-4d91-9eb9-916e95c2dcdd" providerId="AD" clId="Web-{66C349E7-739B-4B5F-82EF-FBA70D584D25}"/>
    <pc:docChg chg="modSld">
      <pc:chgData name="Sauvestre, Marion" userId="S::marion.sauvestre@ia.ca::50458ef3-71da-4d91-9eb9-916e95c2dcdd" providerId="AD" clId="Web-{66C349E7-739B-4B5F-82EF-FBA70D584D25}" dt="2025-12-18T14:10:12.748" v="1"/>
      <pc:docMkLst>
        <pc:docMk/>
      </pc:docMkLst>
      <pc:sldChg chg="modSp">
        <pc:chgData name="Sauvestre, Marion" userId="S::marion.sauvestre@ia.ca::50458ef3-71da-4d91-9eb9-916e95c2dcdd" providerId="AD" clId="Web-{66C349E7-739B-4B5F-82EF-FBA70D584D25}" dt="2025-12-18T14:10:12.748" v="1"/>
        <pc:sldMkLst>
          <pc:docMk/>
          <pc:sldMk cId="3238403686" sldId="2147470059"/>
        </pc:sldMkLst>
        <pc:graphicFrameChg chg="mod modGraphic">
          <ac:chgData name="Sauvestre, Marion" userId="S::marion.sauvestre@ia.ca::50458ef3-71da-4d91-9eb9-916e95c2dcdd" providerId="AD" clId="Web-{66C349E7-739B-4B5F-82EF-FBA70D584D25}" dt="2025-12-18T14:10:12.748" v="1"/>
          <ac:graphicFrameMkLst>
            <pc:docMk/>
            <pc:sldMk cId="3238403686" sldId="2147470059"/>
            <ac:graphicFrameMk id="6" creationId="{03163732-64C5-7020-2939-8B8F0D8E8FB9}"/>
          </ac:graphicFrameMkLst>
        </pc:graphicFrameChg>
      </pc:sldChg>
    </pc:docChg>
  </pc:docChgLst>
  <pc:docChgLst>
    <pc:chgData name="Bélanger, Camilia" userId="d6985adc-0fb8-4b5d-a870-b379fa42017f" providerId="ADAL" clId="{D79D2237-5532-4DBA-AA30-D253F392EE72}"/>
    <pc:docChg chg="modSld">
      <pc:chgData name="Bélanger, Camilia" userId="d6985adc-0fb8-4b5d-a870-b379fa42017f" providerId="ADAL" clId="{D79D2237-5532-4DBA-AA30-D253F392EE72}" dt="2025-12-12T15:54:00.893" v="35" actId="20577"/>
      <pc:docMkLst>
        <pc:docMk/>
      </pc:docMkLst>
      <pc:sldChg chg="modSp mod">
        <pc:chgData name="Bélanger, Camilia" userId="d6985adc-0fb8-4b5d-a870-b379fa42017f" providerId="ADAL" clId="{D79D2237-5532-4DBA-AA30-D253F392EE72}" dt="2025-12-12T15:54:00.893" v="35" actId="20577"/>
        <pc:sldMkLst>
          <pc:docMk/>
          <pc:sldMk cId="2632470636" sldId="300"/>
        </pc:sldMkLst>
        <pc:graphicFrameChg chg="modGraphic">
          <ac:chgData name="Bélanger, Camilia" userId="d6985adc-0fb8-4b5d-a870-b379fa42017f" providerId="ADAL" clId="{D79D2237-5532-4DBA-AA30-D253F392EE72}" dt="2025-12-12T15:54:00.893" v="35" actId="20577"/>
          <ac:graphicFrameMkLst>
            <pc:docMk/>
            <pc:sldMk cId="2632470636" sldId="300"/>
            <ac:graphicFrameMk id="6" creationId="{152B70A0-E250-0C99-5670-689F3A2F0B67}"/>
          </ac:graphicFrameMkLst>
        </pc:graphicFrameChg>
      </pc:sldChg>
      <pc:sldChg chg="modSp mod modCm">
        <pc:chgData name="Bélanger, Camilia" userId="d6985adc-0fb8-4b5d-a870-b379fa42017f" providerId="ADAL" clId="{D79D2237-5532-4DBA-AA30-D253F392EE72}" dt="2025-12-12T13:40:32.932" v="11" actId="20577"/>
        <pc:sldMkLst>
          <pc:docMk/>
          <pc:sldMk cId="3238403686" sldId="2147470059"/>
        </pc:sldMkLst>
        <pc:graphicFrameChg chg="modGraphic">
          <ac:chgData name="Bélanger, Camilia" userId="d6985adc-0fb8-4b5d-a870-b379fa42017f" providerId="ADAL" clId="{D79D2237-5532-4DBA-AA30-D253F392EE72}" dt="2025-12-12T13:40:32.932" v="11" actId="20577"/>
          <ac:graphicFrameMkLst>
            <pc:docMk/>
            <pc:sldMk cId="3238403686" sldId="2147470059"/>
            <ac:graphicFrameMk id="6" creationId="{03163732-64C5-7020-2939-8B8F0D8E8FB9}"/>
          </ac:graphicFrameMkLst>
        </pc:graphicFrameChg>
        <pc:extLst>
          <p:ext xmlns:p="http://schemas.openxmlformats.org/presentationml/2006/main" uri="{D6D511B9-2390-475A-947B-AFAB55BFBCF1}">
            <pc226:cmChg xmlns:pc226="http://schemas.microsoft.com/office/powerpoint/2022/06/main/command" chg="mod">
              <pc226:chgData name="Bélanger, Camilia" userId="d6985adc-0fb8-4b5d-a870-b379fa42017f" providerId="ADAL" clId="{D79D2237-5532-4DBA-AA30-D253F392EE72}" dt="2025-12-12T13:40:32.932" v="11" actId="20577"/>
              <pc2:cmMkLst xmlns:pc2="http://schemas.microsoft.com/office/powerpoint/2019/9/main/command">
                <pc:docMk/>
                <pc:sldMk cId="3238403686" sldId="2147470059"/>
                <pc2:cmMk id="{62626849-31C3-4ADA-B32D-05AAA1892312}"/>
              </pc2:cmMkLst>
            </pc226:cmChg>
          </p:ext>
        </pc:extLst>
      </pc:sldChg>
      <pc:sldChg chg="modSp mod">
        <pc:chgData name="Bélanger, Camilia" userId="d6985adc-0fb8-4b5d-a870-b379fa42017f" providerId="ADAL" clId="{D79D2237-5532-4DBA-AA30-D253F392EE72}" dt="2025-12-12T13:26:03.271" v="5" actId="20577"/>
        <pc:sldMkLst>
          <pc:docMk/>
          <pc:sldMk cId="3934359605" sldId="2147480349"/>
        </pc:sldMkLst>
        <pc:graphicFrameChg chg="modGraphic">
          <ac:chgData name="Bélanger, Camilia" userId="d6985adc-0fb8-4b5d-a870-b379fa42017f" providerId="ADAL" clId="{D79D2237-5532-4DBA-AA30-D253F392EE72}" dt="2025-12-12T13:26:03.271" v="5" actId="20577"/>
          <ac:graphicFrameMkLst>
            <pc:docMk/>
            <pc:sldMk cId="3934359605" sldId="2147480349"/>
            <ac:graphicFrameMk id="6" creationId="{207721DD-2F71-13CF-95A4-4EA327F147D3}"/>
          </ac:graphicFrameMkLst>
        </pc:graphicFrameChg>
      </pc:sldChg>
      <pc:sldChg chg="modSp mod modCm">
        <pc:chgData name="Bélanger, Camilia" userId="d6985adc-0fb8-4b5d-a870-b379fa42017f" providerId="ADAL" clId="{D79D2237-5532-4DBA-AA30-D253F392EE72}" dt="2025-12-12T13:52:54.836" v="18" actId="20577"/>
        <pc:sldMkLst>
          <pc:docMk/>
          <pc:sldMk cId="2893539935" sldId="2147480351"/>
        </pc:sldMkLst>
        <pc:spChg chg="mod">
          <ac:chgData name="Bélanger, Camilia" userId="d6985adc-0fb8-4b5d-a870-b379fa42017f" providerId="ADAL" clId="{D79D2237-5532-4DBA-AA30-D253F392EE72}" dt="2025-12-12T13:52:54.836" v="18" actId="20577"/>
          <ac:spMkLst>
            <pc:docMk/>
            <pc:sldMk cId="2893539935" sldId="2147480351"/>
            <ac:spMk id="3" creationId="{D30DAA09-BF2B-AD78-40C6-D01D6A9C4AF0}"/>
          </ac:spMkLst>
        </pc:spChg>
        <pc:extLst>
          <p:ext xmlns:p="http://schemas.openxmlformats.org/presentationml/2006/main" uri="{D6D511B9-2390-475A-947B-AFAB55BFBCF1}">
            <pc226:cmChg xmlns:pc226="http://schemas.microsoft.com/office/powerpoint/2022/06/main/command" chg="mod">
              <pc226:chgData name="Bélanger, Camilia" userId="d6985adc-0fb8-4b5d-a870-b379fa42017f" providerId="ADAL" clId="{D79D2237-5532-4DBA-AA30-D253F392EE72}" dt="2025-12-12T13:52:54.836" v="18" actId="20577"/>
              <pc2:cmMkLst xmlns:pc2="http://schemas.microsoft.com/office/powerpoint/2019/9/main/command">
                <pc:docMk/>
                <pc:sldMk cId="2893539935" sldId="2147480351"/>
                <pc2:cmMk id="{9E5A742C-CB08-420E-A91E-C351B880DA48}"/>
              </pc2:cmMkLst>
            </pc226:cmChg>
            <pc226:cmChg xmlns:pc226="http://schemas.microsoft.com/office/powerpoint/2022/06/main/command" chg="mod">
              <pc226:chgData name="Bélanger, Camilia" userId="d6985adc-0fb8-4b5d-a870-b379fa42017f" providerId="ADAL" clId="{D79D2237-5532-4DBA-AA30-D253F392EE72}" dt="2025-12-12T13:52:54.836" v="18" actId="20577"/>
              <pc2:cmMkLst xmlns:pc2="http://schemas.microsoft.com/office/powerpoint/2019/9/main/command">
                <pc:docMk/>
                <pc:sldMk cId="2893539935" sldId="2147480351"/>
                <pc2:cmMk id="{DAB5A37C-AB9F-4CDE-A345-357961BCCD0F}"/>
              </pc2:cmMkLst>
            </pc226:cmChg>
          </p:ext>
        </pc:extLst>
      </pc:sldChg>
      <pc:sldChg chg="modSp mod">
        <pc:chgData name="Bélanger, Camilia" userId="d6985adc-0fb8-4b5d-a870-b379fa42017f" providerId="ADAL" clId="{D79D2237-5532-4DBA-AA30-D253F392EE72}" dt="2025-12-12T14:04:58.873" v="19" actId="20577"/>
        <pc:sldMkLst>
          <pc:docMk/>
          <pc:sldMk cId="293529484" sldId="2147480354"/>
        </pc:sldMkLst>
        <pc:graphicFrameChg chg="modGraphic">
          <ac:chgData name="Bélanger, Camilia" userId="d6985adc-0fb8-4b5d-a870-b379fa42017f" providerId="ADAL" clId="{D79D2237-5532-4DBA-AA30-D253F392EE72}" dt="2025-12-12T14:04:58.873" v="19" actId="20577"/>
          <ac:graphicFrameMkLst>
            <pc:docMk/>
            <pc:sldMk cId="293529484" sldId="2147480354"/>
            <ac:graphicFrameMk id="3" creationId="{C885B643-F57C-7F9D-8928-E93F03F611C1}"/>
          </ac:graphicFrameMkLst>
        </pc:graphicFrameChg>
      </pc:sldChg>
      <pc:sldChg chg="modSp">
        <pc:chgData name="Bélanger, Camilia" userId="d6985adc-0fb8-4b5d-a870-b379fa42017f" providerId="ADAL" clId="{D79D2237-5532-4DBA-AA30-D253F392EE72}" dt="2025-12-12T15:35:54.564" v="25" actId="20577"/>
        <pc:sldMkLst>
          <pc:docMk/>
          <pc:sldMk cId="696883208" sldId="2147480365"/>
        </pc:sldMkLst>
        <pc:graphicFrameChg chg="mod">
          <ac:chgData name="Bélanger, Camilia" userId="d6985adc-0fb8-4b5d-a870-b379fa42017f" providerId="ADAL" clId="{D79D2237-5532-4DBA-AA30-D253F392EE72}" dt="2025-12-12T15:35:54.564" v="25" actId="20577"/>
          <ac:graphicFrameMkLst>
            <pc:docMk/>
            <pc:sldMk cId="696883208" sldId="2147480365"/>
            <ac:graphicFrameMk id="6" creationId="{587B9292-2B3D-BC9E-41AD-85480297AB9D}"/>
          </ac:graphicFrameMkLst>
        </pc:graphicFrameChg>
      </pc:sldChg>
    </pc:docChg>
  </pc:docChgLst>
  <pc:docChgLst>
    <pc:chgData name="Roy, Vincent (DIT)" userId="S::vincent.roy3@ia.ca::1028e151-c1bf-40bd-ab15-2d0dfe61c87c" providerId="AD" clId="Web-{F52C77A1-3358-90E4-DC25-0D16184D0B8C}"/>
    <pc:docChg chg="modSld sldOrd">
      <pc:chgData name="Roy, Vincent (DIT)" userId="S::vincent.roy3@ia.ca::1028e151-c1bf-40bd-ab15-2d0dfe61c87c" providerId="AD" clId="Web-{F52C77A1-3358-90E4-DC25-0D16184D0B8C}" dt="2025-12-10T16:16:16.834" v="2"/>
      <pc:docMkLst>
        <pc:docMk/>
      </pc:docMkLst>
      <pc:sldChg chg="ord">
        <pc:chgData name="Roy, Vincent (DIT)" userId="S::vincent.roy3@ia.ca::1028e151-c1bf-40bd-ab15-2d0dfe61c87c" providerId="AD" clId="Web-{F52C77A1-3358-90E4-DC25-0D16184D0B8C}" dt="2025-12-10T16:16:16.834" v="2"/>
        <pc:sldMkLst>
          <pc:docMk/>
          <pc:sldMk cId="976141110" sldId="2147480353"/>
        </pc:sldMkLst>
      </pc:sldChg>
      <pc:sldChg chg="modSp">
        <pc:chgData name="Roy, Vincent (DIT)" userId="S::vincent.roy3@ia.ca::1028e151-c1bf-40bd-ab15-2d0dfe61c87c" providerId="AD" clId="Web-{F52C77A1-3358-90E4-DC25-0D16184D0B8C}" dt="2025-12-10T16:15:59.020" v="0"/>
        <pc:sldMkLst>
          <pc:docMk/>
          <pc:sldMk cId="293529484" sldId="2147480354"/>
        </pc:sldMkLst>
        <pc:graphicFrameChg chg="modGraphic">
          <ac:chgData name="Roy, Vincent (DIT)" userId="S::vincent.roy3@ia.ca::1028e151-c1bf-40bd-ab15-2d0dfe61c87c" providerId="AD" clId="Web-{F52C77A1-3358-90E4-DC25-0D16184D0B8C}" dt="2025-12-10T16:15:59.020" v="0"/>
          <ac:graphicFrameMkLst>
            <pc:docMk/>
            <pc:sldMk cId="293529484" sldId="2147480354"/>
            <ac:graphicFrameMk id="3" creationId="{C885B643-F57C-7F9D-8928-E93F03F611C1}"/>
          </ac:graphicFrameMkLst>
        </pc:graphicFrameChg>
      </pc:sldChg>
    </pc:docChg>
  </pc:docChgLst>
</pc:chgInfo>
</file>

<file path=ppt/comments/modernComment_7FFFCAD7_385C72E7.xml><?xml version="1.0" encoding="utf-8"?>
<p188:cmLst xmlns:a="http://schemas.openxmlformats.org/drawingml/2006/main" xmlns:r="http://schemas.openxmlformats.org/officeDocument/2006/relationships" xmlns:p188="http://schemas.microsoft.com/office/powerpoint/2018/8/main">
  <p188:cm id="{F5775C54-22DA-43C0-AB59-156A3247261B}" authorId="{B29AA509-44E4-50DB-9F32-86616C5D8514}" status="resolved" created="2025-12-09T18:17:11.235" complete="100000">
    <ac:deMkLst xmlns:ac="http://schemas.microsoft.com/office/drawing/2013/main/command">
      <pc:docMk xmlns:pc="http://schemas.microsoft.com/office/powerpoint/2013/main/command"/>
      <pc:sldMk xmlns:pc="http://schemas.microsoft.com/office/powerpoint/2013/main/command" cId="945582823" sldId="2147470039"/>
      <ac:graphicFrameMk id="7" creationId="{547710A2-82F2-59F9-E82E-C828A9D67C58}"/>
    </ac:deMkLst>
    <p188:replyLst>
      <p188:reply id="{2B241BBF-41D6-43F5-8C0A-C6EFCB49CE6F}" authorId="{A0983FDB-C865-0A92-860A-EE94860A2B27}" created="2025-12-18T14:53:06.328">
        <p188:txBody>
          <a:bodyPr/>
          <a:lstStyle/>
          <a:p>
            <a:r>
              <a:rPr lang="fr-FR"/>
              <a:t>Non ici on refers uniquement au économie réel : ce qu’on payait et qu’on ne paiera plus </a:t>
            </a:r>
          </a:p>
        </p188:txBody>
      </p188:reply>
    </p188:replyLst>
    <p188:txBody>
      <a:bodyPr/>
      <a:lstStyle/>
      <a:p>
        <a:r>
          <a:rPr lang="fr-CA"/>
          <a:t>Économies générées par l’optimisation de capacité de la structure de comptes? , est-ce que l’on réfère aussi à la rationalisation des efforts ?</a:t>
        </a:r>
      </a:p>
    </p188:txBody>
    <p188:extLst>
      <p:ext xmlns:p="http://schemas.openxmlformats.org/presentationml/2006/main" uri="{57CB4572-C831-44C2-8A1C-0ADB6CCDFE69}">
        <p223:reactions xmlns:p223="http://schemas.microsoft.com/office/powerpoint/2022/03/main">
          <p223:rxn type="👍">
            <p223:instance time="2025-12-18T14:52:11.140" authorId="{A0983FDB-C865-0A92-860A-EE94860A2B27}"/>
          </p223:rxn>
        </p223:reactions>
      </p:ext>
    </p188:extLst>
  </p188:cm>
  <p188:cm id="{34B5D612-249F-4E9A-916A-8D62A2932A6E}" authorId="{B29AA509-44E4-50DB-9F32-86616C5D8514}" status="resolved" created="2025-12-09T18:17:37.759" complete="100000">
    <ac:deMkLst xmlns:ac="http://schemas.microsoft.com/office/drawing/2013/main/command">
      <pc:docMk xmlns:pc="http://schemas.microsoft.com/office/powerpoint/2013/main/command"/>
      <pc:sldMk xmlns:pc="http://schemas.microsoft.com/office/powerpoint/2013/main/command" cId="945582823" sldId="2147470039"/>
      <ac:graphicFrameMk id="7" creationId="{547710A2-82F2-59F9-E82E-C828A9D67C58}"/>
    </ac:deMkLst>
    <p188:replyLst>
      <p188:reply id="{C2D61595-EB21-48CB-94A1-D0098B3DEDA4}" authorId="{A0983FDB-C865-0A92-860A-EE94860A2B27}" created="2025-12-18T14:54:21.056">
        <p188:txBody>
          <a:bodyPr/>
          <a:lstStyle/>
          <a:p>
            <a:r>
              <a:rPr lang="fr-FR"/>
              <a:t>Monétaire : c’est les économies en argent. 
Autres : économies en éfforts </a:t>
            </a:r>
          </a:p>
        </p188:txBody>
      </p188:reply>
    </p188:replyLst>
    <p188:txBody>
      <a:bodyPr/>
      <a:lstStyle/>
      <a:p>
        <a:r>
          <a:rPr lang="fr-CA"/>
          <a:t>Simplification semble etre aux 2 endroits (monétaires et autres)</a:t>
        </a:r>
      </a:p>
    </p188:txBody>
    <p188:extLst>
      <p:ext xmlns:p="http://schemas.openxmlformats.org/presentationml/2006/main" uri="{57CB4572-C831-44C2-8A1C-0ADB6CCDFE69}">
        <p223:reactions xmlns:p223="http://schemas.microsoft.com/office/powerpoint/2022/03/main">
          <p223:rxn type="👍">
            <p223:instance time="2025-12-18T14:53:16.835" authorId="{A0983FDB-C865-0A92-860A-EE94860A2B27}"/>
          </p223:rxn>
        </p223:reactions>
      </p:ext>
    </p188:extLst>
  </p188:cm>
</p188:cmLst>
</file>

<file path=ppt/comments/modernComment_7FFFCAD9_20C71D92.xml><?xml version="1.0" encoding="utf-8"?>
<p188:cmLst xmlns:a="http://schemas.openxmlformats.org/drawingml/2006/main" xmlns:r="http://schemas.openxmlformats.org/officeDocument/2006/relationships" xmlns:p188="http://schemas.microsoft.com/office/powerpoint/2018/8/main">
  <p188:cm id="{DDAD2854-2BD3-4DA9-8EF9-8245023EEFB8}" authorId="{AC9385C5-E5F7-4663-BC13-F5482E9DC9C1}" status="resolved" created="2025-12-03T01:35:43.901" complete="100000">
    <pc:sldMkLst xmlns:pc="http://schemas.microsoft.com/office/powerpoint/2013/main/command">
      <pc:docMk/>
      <pc:sldMk cId="549920146" sldId="2147470041"/>
    </pc:sldMkLst>
    <p188:txBody>
      <a:bodyPr/>
      <a:lstStyle/>
      <a:p>
        <a:r>
          <a:rPr lang="fr-CA"/>
          <a:t>Génial la liste, 1ere fois que je la vois de cette facon</a:t>
        </a:r>
      </a:p>
    </p188:txBody>
    <p188:extLst>
      <p:ext xmlns:p="http://schemas.openxmlformats.org/presentationml/2006/main" uri="{57CB4572-C831-44C2-8A1C-0ADB6CCDFE69}">
        <p223:reactions xmlns:p223="http://schemas.microsoft.com/office/powerpoint/2022/03/main">
          <p223:rxn type="👍">
            <p223:instance time="2025-12-04T02:45:09.369" authorId="{A0983FDB-C865-0A92-860A-EE94860A2B27}"/>
          </p223:rxn>
        </p223:reactions>
      </p:ext>
    </p188:extLst>
  </p188:cm>
  <p188:cm id="{BADF8FF7-AE74-4F1F-A7A0-368DF373ADE6}" authorId="{AC9385C5-E5F7-4663-BC13-F5482E9DC9C1}" status="resolved" created="2025-12-03T14:18:48.113" complete="100000">
    <pc:sldMkLst xmlns:pc="http://schemas.microsoft.com/office/powerpoint/2013/main/command">
      <pc:docMk/>
      <pc:sldMk cId="549920146" sldId="2147470041"/>
    </pc:sldMkLst>
    <p188:replyLst>
      <p188:reply id="{599B919E-62CF-48FC-A24E-A07426FD5784}" authorId="{A0983FDB-C865-0A92-860A-EE94860A2B27}" created="2025-12-04T02:47:13.651">
        <p188:txBody>
          <a:bodyPr/>
          <a:lstStyle/>
          <a:p>
            <a:r>
              <a:rPr lang="fr-FR"/>
              <a:t>Dans une autre dispo qui va énumérer les  transformations. Je n’ai pas voulu la mettre ici pour que ca reste des diapos digeste ^^ Mais ont pourrait si ça ramène plus de clareté </a:t>
            </a:r>
          </a:p>
        </p188:txBody>
      </p188:reply>
    </p188:replyLst>
    <p188:txBody>
      <a:bodyPr/>
      <a:lstStyle/>
      <a:p>
        <a:r>
          <a:rPr lang="fr-CA"/>
          <a:t>Ou retrouve-t-on les améliorations d,ameliorations par exemple pour les concil bancaire- a discuter</a:t>
        </a:r>
      </a:p>
    </p188:txBody>
    <p188:extLst>
      <p:ext xmlns:p="http://schemas.openxmlformats.org/presentationml/2006/main" uri="{57CB4572-C831-44C2-8A1C-0ADB6CCDFE69}">
        <p223:reactions xmlns:p223="http://schemas.microsoft.com/office/powerpoint/2022/03/main">
          <p223:rxn type="👍">
            <p223:instance time="2025-12-04T02:47:16.546" authorId="{A0983FDB-C865-0A92-860A-EE94860A2B27}"/>
          </p223:rxn>
        </p223:reactions>
      </p:ext>
    </p188:extLst>
  </p188:cm>
</p188:cmLst>
</file>

<file path=ppt/comments/modernComment_7FFFCAE2_B1434D54.xml><?xml version="1.0" encoding="utf-8"?>
<p188:cmLst xmlns:a="http://schemas.openxmlformats.org/drawingml/2006/main" xmlns:r="http://schemas.openxmlformats.org/officeDocument/2006/relationships" xmlns:p188="http://schemas.microsoft.com/office/powerpoint/2018/8/main">
  <p188:cm id="{E0AA9C7B-36A5-479A-89E0-8CC2496D8A1E}" authorId="{AC9385C5-E5F7-4663-BC13-F5482E9DC9C1}" status="resolved" created="2025-12-03T01:42:14.826" complete="100000">
    <ac:txMkLst xmlns:ac="http://schemas.microsoft.com/office/drawing/2013/main/command">
      <pc:docMk xmlns:pc="http://schemas.microsoft.com/office/powerpoint/2013/main/command"/>
      <pc:sldMk xmlns:pc="http://schemas.microsoft.com/office/powerpoint/2013/main/command" cId="2973977940" sldId="2147470050"/>
      <ac:graphicFrameMk id="4" creationId="{F66E4A0F-F4B1-5888-99D9-F11A9AEAF016}"/>
      <ac:tblMk/>
      <ac:tcMk rowId="1554931003" colId="3284901904"/>
      <ac:txMk cp="20" len="36">
        <ac:context len="96" hash="2409399889"/>
      </ac:txMk>
    </ac:txMkLst>
    <p188:pos x="6468083" y="2196013"/>
    <p188:replyLst>
      <p188:reply id="{00BF55A7-C58D-4149-9956-EE81B087E5E3}" authorId="{CD0735B6-0293-E85D-990F-23C65E27354C}" created="2025-12-03T20:50:22.695">
        <p188:txBody>
          <a:bodyPr/>
          <a:lstStyle/>
          <a:p>
            <a:r>
              <a:rPr lang="fr-CA"/>
              <a:t>Gestion de changement et message important à communiquer principalement du côté de l’individuelle pour ce positionnement.</a:t>
            </a:r>
          </a:p>
        </p188:txBody>
        <p188:extLst>
          <p:ext xmlns:p="http://schemas.openxmlformats.org/presentationml/2006/main" uri="{57CB4572-C831-44C2-8A1C-0ADB6CCDFE69}">
            <p223:reactions xmlns:p223="http://schemas.microsoft.com/office/powerpoint/2022/03/main">
              <p223:rxn type="👍">
                <p223:instance time="2025-12-04T02:49:36.703" authorId="{A0983FDB-C865-0A92-860A-EE94860A2B27}"/>
              </p223:rxn>
            </p223:reactions>
          </p:ext>
        </p188:extLst>
      </p188:reply>
      <p188:reply id="{58B94680-7E07-452E-9423-9D71D32D1449}" authorId="{A0983FDB-C865-0A92-860A-EE94860A2B27}" created="2025-12-04T02:51:21.362">
        <p188:txBody>
          <a:bodyPr/>
          <a:lstStyle/>
          <a:p>
            <a:r>
              <a:rPr lang="fr-FR"/>
              <a:t>Nous sommes en discussion sur ce point avec Yves et Marion justement. Nous en avons parlé au comité de gestion d’aujourd’hui. Hakim va organiser une autre rencontre et invité tout les personnes concerner la semaine prochaine</a:t>
            </a:r>
          </a:p>
        </p188:txBody>
      </p188:reply>
    </p188:replyLst>
    <p188:txBody>
      <a:bodyPr/>
      <a:lstStyle/>
      <a:p>
        <a:r>
          <a:rPr lang="fr-CA"/>
          <a:t>Prendre un nouveau positionnement / décision: je veux que tous les cheques périmés soient automatiquement annulés dans le compte de la ligne d’affaires. Pas de hybride.</a:t>
        </a:r>
      </a:p>
    </p188:txBody>
    <p188:extLst>
      <p:ext xmlns:p="http://schemas.openxmlformats.org/presentationml/2006/main" uri="{57CB4572-C831-44C2-8A1C-0ADB6CCDFE69}">
        <p223:reactions xmlns:p223="http://schemas.microsoft.com/office/powerpoint/2022/03/main">
          <p223:rxn type="👍">
            <p223:instance time="2025-12-03T20:30:19.151" authorId="{CD0735B6-0293-E85D-990F-23C65E27354C}"/>
            <p223:instance time="2025-12-04T02:49:25.843" authorId="{A0983FDB-C865-0A92-860A-EE94860A2B27}"/>
          </p223:rxn>
        </p223:reactions>
      </p:ext>
    </p188:extLst>
  </p188:cm>
  <p188:cm id="{6734FAA2-F639-46EF-AB68-61016078D22F}" authorId="{AC9385C5-E5F7-4663-BC13-F5482E9DC9C1}" status="resolved" created="2025-12-03T01:43:03.882" complete="100000">
    <ac:deMkLst xmlns:ac="http://schemas.microsoft.com/office/drawing/2013/main/command">
      <pc:docMk xmlns:pc="http://schemas.microsoft.com/office/powerpoint/2013/main/command"/>
      <pc:sldMk xmlns:pc="http://schemas.microsoft.com/office/powerpoint/2013/main/command" cId="2973977940" sldId="2147470050"/>
      <ac:graphicFrameMk id="4" creationId="{F66E4A0F-F4B1-5888-99D9-F11A9AEAF016}"/>
    </ac:deMkLst>
    <p188:replyLst>
      <p188:reply id="{9BAB3AB9-D324-4C9C-BD58-DF47D6A2652C}" authorId="{CD0735B6-0293-E85D-990F-23C65E27354C}" created="2025-12-03T20:44:15.725">
        <p188:txBody>
          <a:bodyPr/>
          <a:lstStyle/>
          <a:p>
            <a:r>
              <a:rPr lang="fr-CA"/>
              <a:t>On veut que les relevés bancaires soient transférés à Oracle pour permettre les conciliations bancaires de façon automatisée
</a:t>
            </a:r>
          </a:p>
        </p188:txBody>
        <p188:extLst>
          <p:ext xmlns:p="http://schemas.openxmlformats.org/presentationml/2006/main" uri="{57CB4572-C831-44C2-8A1C-0ADB6CCDFE69}">
            <p223:reactions xmlns:p223="http://schemas.microsoft.com/office/powerpoint/2022/03/main">
              <p223:rxn type="👍">
                <p223:instance time="2025-12-04T02:53:01.511" authorId="{A0983FDB-C865-0A92-860A-EE94860A2B27}"/>
              </p223:rxn>
            </p223:reactions>
          </p:ext>
        </p188:extLst>
      </p188:reply>
      <p188:reply id="{FD5D27B4-C08F-4B60-9E86-C37D14B771D4}" authorId="{A0983FDB-C865-0A92-860A-EE94860A2B27}" created="2025-12-04T02:52:57.623">
        <p188:txBody>
          <a:bodyPr/>
          <a:lstStyle/>
          <a:p>
            <a:r>
              <a:rPr lang="fr-FR"/>
              <a:t>Est ce un positionnement ou un besoin/requit affaire ?</a:t>
            </a:r>
          </a:p>
        </p188:txBody>
      </p188:reply>
    </p188:replyLst>
    <p188:txBody>
      <a:bodyPr/>
      <a:lstStyle/>
      <a:p>
        <a:r>
          <a:rPr lang="fr-CA"/>
          <a:t>Je souhaite également un nouveau positionnement: toute banque connectée a Kyriba doit avoir les fonctionnalités / liens pour faire les concil bancaires automatiquement dans cash management - A reformuler svp Andréanne</a:t>
        </a:r>
      </a:p>
    </p188:txBody>
    <p188:extLst>
      <p:ext xmlns:p="http://schemas.openxmlformats.org/presentationml/2006/main" uri="{57CB4572-C831-44C2-8A1C-0ADB6CCDFE69}">
        <p223:reactions xmlns:p223="http://schemas.microsoft.com/office/powerpoint/2022/03/main">
          <p223:rxn type="👍">
            <p223:instance time="2025-12-04T02:53:00.216" authorId="{A0983FDB-C865-0A92-860A-EE94860A2B27}"/>
          </p223:rxn>
        </p223:reactions>
      </p:ext>
    </p188:extLst>
  </p188:cm>
  <p188:cm id="{B718BF5B-4D89-46F7-8A43-9F0A85E2AE8F}" authorId="{CD0735B6-0293-E85D-990F-23C65E27354C}" status="resolved" created="2025-12-03T20:53:24.151" complete="100000">
    <ac:txMkLst xmlns:ac="http://schemas.microsoft.com/office/drawing/2013/main/command">
      <pc:docMk xmlns:pc="http://schemas.microsoft.com/office/powerpoint/2013/main/command"/>
      <pc:sldMk xmlns:pc="http://schemas.microsoft.com/office/powerpoint/2013/main/command" cId="2973977940" sldId="2147470050"/>
      <ac:graphicFrameMk id="4" creationId="{F66E4A0F-F4B1-5888-99D9-F11A9AEAF016}"/>
      <ac:tblMk/>
      <ac:tcMk rowId="4240942775" colId="3284901904"/>
      <ac:txMk cp="0" len="103">
        <ac:context len="104" hash="3816166084"/>
      </ac:txMk>
    </ac:txMkLst>
    <p188:pos x="6360360" y="2622597"/>
    <p188:txBody>
      <a:bodyPr/>
      <a:lstStyle/>
      <a:p>
        <a:r>
          <a:rPr lang="fr-CA"/>
          <a:t>Est-ce que ce positionnement est vraiment actif? Je pense que nous avions mis dans les exigences de garder le champs, mais je n’avais pas en tete qu’il était réellement en activité.</a:t>
        </a:r>
      </a:p>
    </p188:txBody>
  </p188:cm>
</p188:cmLst>
</file>

<file path=ppt/comments/modernComment_7FFFCAE6_EACB2E18.xml><?xml version="1.0" encoding="utf-8"?>
<p188:cmLst xmlns:a="http://schemas.openxmlformats.org/drawingml/2006/main" xmlns:r="http://schemas.openxmlformats.org/officeDocument/2006/relationships" xmlns:p188="http://schemas.microsoft.com/office/powerpoint/2018/8/main">
  <p188:cm id="{26C73893-48AA-43B3-9B19-3B2CD3233103}" authorId="{AC9385C5-E5F7-4663-BC13-F5482E9DC9C1}" status="resolved" created="2025-12-03T01:30:30.092" complete="100000">
    <ac:deMkLst xmlns:ac="http://schemas.microsoft.com/office/drawing/2013/main/command">
      <pc:docMk xmlns:pc="http://schemas.microsoft.com/office/powerpoint/2013/main/command"/>
      <pc:sldMk xmlns:pc="http://schemas.microsoft.com/office/powerpoint/2013/main/command" cId="3939184152" sldId="2147470054"/>
      <ac:graphicFrameMk id="8" creationId="{4CB98645-C8FA-EDB7-019A-DD396A9EDA38}"/>
    </ac:deMkLst>
    <p188:replyLst>
      <p188:reply id="{6A5EC73A-22EA-493F-B6A4-D352EE9CC68E}" authorId="{AC9385C5-E5F7-4663-BC13-F5482E9DC9C1}" created="2025-12-03T01:50:52.312">
        <p188:txBody>
          <a:bodyPr/>
          <a:lstStyle/>
          <a:p>
            <a:r>
              <a:rPr lang="fr-CA"/>
              <a:t>Il manque l’aspect de cela touche qui? On parle de la portée (contenu) mais pas à qui…. </a:t>
            </a:r>
          </a:p>
        </p188:txBody>
        <p188:extLst>
          <p:ext xmlns:p="http://schemas.openxmlformats.org/presentationml/2006/main" uri="{57CB4572-C831-44C2-8A1C-0ADB6CCDFE69}">
            <p223:reactions xmlns:p223="http://schemas.microsoft.com/office/powerpoint/2022/03/main">
              <p223:rxn type="👍">
                <p223:instance time="2025-12-04T02:38:23.741" authorId="{A0983FDB-C865-0A92-860A-EE94860A2B27}"/>
              </p223:rxn>
            </p223:reactions>
          </p:ext>
        </p188:extLst>
      </p188:reply>
    </p188:replyLst>
    <p188:txBody>
      <a:bodyPr/>
      <a:lstStyle/>
      <a:p>
        <a:r>
          <a:rPr lang="fr-CA"/>
          <a:t>Bien définir la portée pour les transactions manuelles: celles actuellement traitées par le CSP ou qui passent par nos solutions a nous </a:t>
        </a:r>
      </a:p>
    </p188:txBody>
    <p188:extLst>
      <p:ext xmlns:p="http://schemas.openxmlformats.org/presentationml/2006/main" uri="{57CB4572-C831-44C2-8A1C-0ADB6CCDFE69}">
        <p223:reactions xmlns:p223="http://schemas.microsoft.com/office/powerpoint/2022/03/main">
          <p223:rxn type="👍">
            <p223:instance time="2025-12-04T02:38:22.257" authorId="{A0983FDB-C865-0A92-860A-EE94860A2B27}"/>
          </p223:rxn>
        </p223:reactions>
      </p:ext>
    </p188:extLst>
  </p188:cm>
  <p188:cm id="{A1F8E995-258A-4803-9082-7C199583AA57}" authorId="{CD0735B6-0293-E85D-990F-23C65E27354C}" status="resolved" created="2025-12-03T13:33:46.883" complete="100000">
    <ac:deMkLst xmlns:ac="http://schemas.microsoft.com/office/drawing/2013/main/command">
      <pc:docMk xmlns:pc="http://schemas.microsoft.com/office/powerpoint/2013/main/command"/>
      <pc:sldMk xmlns:pc="http://schemas.microsoft.com/office/powerpoint/2013/main/command" cId="3939184152" sldId="2147470054"/>
      <ac:spMk id="5" creationId="{EE154D39-A99A-0DC8-56BB-CD56AC05F945}"/>
    </ac:deMkLst>
    <p188:txBody>
      <a:bodyPr/>
      <a:lstStyle/>
      <a:p>
        <a:r>
          <a:rPr lang="fr-CA"/>
          <a:t>Concernant la conciliation bancaire: Le scope qu’on avait en tête dans le SBC dépasse les paiements Trax et manuels. Est-ce qu’on doit le préciser?</a:t>
        </a:r>
      </a:p>
    </p188:txBody>
    <p188:extLst>
      <p:ext xmlns:p="http://schemas.openxmlformats.org/presentationml/2006/main" uri="{57CB4572-C831-44C2-8A1C-0ADB6CCDFE69}">
        <p223:reactions xmlns:p223="http://schemas.microsoft.com/office/powerpoint/2022/03/main">
          <p223:rxn type="👍">
            <p223:instance time="2025-12-04T02:39:10.742" authorId="{A0983FDB-C865-0A92-860A-EE94860A2B27}"/>
          </p223:rxn>
        </p223:reactions>
      </p:ext>
    </p188:extLst>
  </p188:cm>
</p188:cmLst>
</file>

<file path=ppt/comments/modernComment_7FFFCAE8_E10D1098.xml><?xml version="1.0" encoding="utf-8"?>
<p188:cmLst xmlns:a="http://schemas.openxmlformats.org/drawingml/2006/main" xmlns:r="http://schemas.openxmlformats.org/officeDocument/2006/relationships" xmlns:p188="http://schemas.microsoft.com/office/powerpoint/2018/8/main">
  <p188:cm id="{1D934A33-8E82-4640-ACA3-F60189D26576}" authorId="{CD0735B6-0293-E85D-990F-23C65E27354C}" status="resolved" created="2025-12-03T20:58:21.661" complete="100000">
    <ac:deMkLst xmlns:ac="http://schemas.microsoft.com/office/drawing/2013/main/command">
      <pc:docMk xmlns:pc="http://schemas.microsoft.com/office/powerpoint/2013/main/command"/>
      <pc:sldMk xmlns:pc="http://schemas.microsoft.com/office/powerpoint/2013/main/command" cId="3775729816" sldId="2147470056"/>
      <ac:graphicFrameMk id="4" creationId="{CDEA6E58-9505-D818-116C-D41ACC0BD7CC}"/>
    </ac:deMkLst>
    <p188:replyLst>
      <p188:reply id="{3DDDAD30-2952-4473-BC17-DEAFB016A116}" authorId="{A0983FDB-C865-0A92-860A-EE94860A2B27}" created="2025-12-04T02:56:23.999">
        <p188:txBody>
          <a:bodyPr/>
          <a:lstStyle/>
          <a:p>
            <a:r>
              <a:rPr lang="fr-FR"/>
              <a:t>Est ce un positionnement ?</a:t>
            </a:r>
          </a:p>
        </p188:txBody>
      </p188:reply>
    </p188:replyLst>
    <p188:txBody>
      <a:bodyPr/>
      <a:lstStyle/>
      <a:p>
        <a:r>
          <a:rPr lang="fr-CA"/>
          <a:t>Architecture de compte de banque?
Banques avec qui iA doit faire affaires?</a:t>
        </a:r>
      </a:p>
    </p188:txBody>
    <p188:extLst>
      <p:ext xmlns:p="http://schemas.openxmlformats.org/presentationml/2006/main" uri="{57CB4572-C831-44C2-8A1C-0ADB6CCDFE69}">
        <p223:reactions xmlns:p223="http://schemas.microsoft.com/office/powerpoint/2022/03/main">
          <p223:rxn type="👍">
            <p223:instance time="2025-12-04T02:56:24.989" authorId="{A0983FDB-C865-0A92-860A-EE94860A2B27}"/>
          </p223:rxn>
        </p223:reactions>
      </p:ext>
    </p188:extLst>
  </p188:cm>
</p188:cmLst>
</file>

<file path=ppt/comments/modernComment_7FFFCAEB_C1061E66.xml><?xml version="1.0" encoding="utf-8"?>
<p188:cmLst xmlns:a="http://schemas.openxmlformats.org/drawingml/2006/main" xmlns:r="http://schemas.openxmlformats.org/officeDocument/2006/relationships" xmlns:p188="http://schemas.microsoft.com/office/powerpoint/2018/8/main">
  <p188:cm id="{4801E36C-7409-47F9-85A4-854922F7070E}" authorId="{CD0735B6-0293-E85D-990F-23C65E27354C}" status="resolved" created="2025-12-02T19:42:18.486" complete="100000">
    <ac:deMkLst xmlns:ac="http://schemas.microsoft.com/office/drawing/2013/main/command">
      <pc:docMk xmlns:pc="http://schemas.microsoft.com/office/powerpoint/2013/main/command"/>
      <pc:sldMk xmlns:pc="http://schemas.microsoft.com/office/powerpoint/2013/main/command" cId="3238403686" sldId="2147470059"/>
      <ac:spMk id="2" creationId="{B7EB05FE-4AF7-F793-AD9E-C57E38F28745}"/>
    </ac:deMkLst>
    <p188:replyLst>
      <p188:reply id="{B6A546EB-EE1E-4EEB-AB90-BF7D442159E7}" authorId="{AC9385C5-E5F7-4663-BC13-F5482E9DC9C1}" created="2025-12-03T01:24:07.561">
        <p188:txBody>
          <a:bodyPr/>
          <a:lstStyle/>
          <a:p>
            <a:r>
              <a:rPr lang="fr-CA"/>
              <a:t>Oui préciser : 1 an plus tard? </a:t>
            </a:r>
          </a:p>
        </p188:txBody>
      </p188:reply>
      <p188:reply id="{2D4F21BA-5963-4451-933B-0107D38989AD}" authorId="{A0983FDB-C865-0A92-860A-EE94860A2B27}" created="2025-12-04T02:20:03.921">
        <p188:txBody>
          <a:bodyPr/>
          <a:lstStyle/>
          <a:p>
            <a:r>
              <a:rPr lang="fr-FR"/>
              <a:t>1 an c’est beaucoup il me semble, je dirai plus 6 mois ^^  à valider avec l’équipe projet p-e </a:t>
            </a:r>
          </a:p>
        </p188:txBody>
      </p188:reply>
    </p188:replyLst>
    <p188:txBody>
      <a:bodyPr/>
      <a:lstStyle/>
      <a:p>
        <a:r>
          <a:rPr lang="fr-CA"/>
          <a:t>Quel est la date cible pour le post-initiative? La diminution du nombre de comptes bancaires sera grandement impacté par cela.</a:t>
        </a:r>
      </a:p>
    </p188:txBody>
    <p188:extLst>
      <p:ext xmlns:p="http://schemas.openxmlformats.org/presentationml/2006/main" uri="{57CB4572-C831-44C2-8A1C-0ADB6CCDFE69}">
        <p223:reactions xmlns:p223="http://schemas.microsoft.com/office/powerpoint/2022/03/main">
          <p223:rxn type="👍">
            <p223:instance time="2025-12-04T02:18:36.587" authorId="{A0983FDB-C865-0A92-860A-EE94860A2B27}"/>
          </p223:rxn>
        </p223:reactions>
      </p:ext>
    </p188:extLst>
  </p188:cm>
  <p188:cm id="{DB673C73-C6D1-4242-A7C7-F2BD178BC23E}" authorId="{CD0735B6-0293-E85D-990F-23C65E27354C}" status="resolved" created="2025-12-02T19:45:19.509" complete="100000">
    <ac:deMkLst xmlns:ac="http://schemas.microsoft.com/office/drawing/2013/main/command">
      <pc:docMk xmlns:pc="http://schemas.microsoft.com/office/powerpoint/2013/main/command"/>
      <pc:sldMk xmlns:pc="http://schemas.microsoft.com/office/powerpoint/2013/main/command" cId="3238403686" sldId="2147470059"/>
      <ac:graphicFrameMk id="6" creationId="{03163732-64C5-7020-2939-8B8F0D8E8FB9}"/>
    </ac:deMkLst>
    <p188:replyLst>
      <p188:reply id="{893E1A73-613B-4867-A09F-E0C29AD65D75}" authorId="{AC9385C5-E5F7-4663-BC13-F5482E9DC9C1}" created="2025-12-03T01:24:22.853">
        <p188:txBody>
          <a:bodyPr/>
          <a:lstStyle/>
          <a:p>
            <a:r>
              <a:rPr lang="fr-CA"/>
              <a:t>oui</a:t>
            </a:r>
          </a:p>
        </p188:txBody>
        <p188:extLst>
          <p:ext xmlns:p="http://schemas.openxmlformats.org/presentationml/2006/main" uri="{57CB4572-C831-44C2-8A1C-0ADB6CCDFE69}">
            <p223:reactions xmlns:p223="http://schemas.microsoft.com/office/powerpoint/2022/03/main">
              <p223:rxn type="👍">
                <p223:instance time="2025-12-04T02:20:27.100" authorId="{A0983FDB-C865-0A92-860A-EE94860A2B27}"/>
              </p223:rxn>
            </p223:reactions>
          </p:ext>
        </p188:extLst>
      </p188:reply>
    </p188:replyLst>
    <p188:txBody>
      <a:bodyPr/>
      <a:lstStyle/>
      <a:p>
        <a:r>
          <a:rPr lang="fr-CA"/>
          <a:t>L’hypothèse qu’on a pris pour le SBC était de 10% pour les frais bancaires</a:t>
        </a:r>
      </a:p>
    </p188:txBody>
    <p188:extLst>
      <p:ext xmlns:p="http://schemas.openxmlformats.org/presentationml/2006/main" uri="{57CB4572-C831-44C2-8A1C-0ADB6CCDFE69}">
        <p223:reactions xmlns:p223="http://schemas.microsoft.com/office/powerpoint/2022/03/main">
          <p223:rxn type="👍">
            <p223:instance time="2025-12-04T02:20:25.296" authorId="{A0983FDB-C865-0A92-860A-EE94860A2B27}"/>
          </p223:rxn>
        </p223:reactions>
      </p:ext>
    </p188:extLst>
  </p188:cm>
  <p188:cm id="{3C68CEAD-9157-41F2-BECE-2ED252A91B7D}" authorId="{CD0735B6-0293-E85D-990F-23C65E27354C}" status="resolved" created="2025-12-02T19:50:57.443" complete="100000">
    <ac:deMkLst xmlns:ac="http://schemas.microsoft.com/office/drawing/2013/main/command">
      <pc:docMk xmlns:pc="http://schemas.microsoft.com/office/powerpoint/2013/main/command"/>
      <pc:sldMk xmlns:pc="http://schemas.microsoft.com/office/powerpoint/2013/main/command" cId="3238403686" sldId="2147470059"/>
      <ac:graphicFrameMk id="6" creationId="{03163732-64C5-7020-2939-8B8F0D8E8FB9}"/>
    </ac:deMkLst>
    <p188:replyLst>
      <p188:reply id="{86C50FA6-38D5-47B5-9227-F96918DDA196}" authorId="{AC9385C5-E5F7-4663-BC13-F5482E9DC9C1}" created="2025-12-03T01:25:20.674">
        <p188:txBody>
          <a:bodyPr/>
          <a:lstStyle/>
          <a:p>
            <a:r>
              <a:rPr lang="fr-CA"/>
              <a:t>Un objectif de déploiement plutôt par filiale</a:t>
            </a:r>
          </a:p>
        </p188:txBody>
      </p188:reply>
      <p188:reply id="{149C8B48-F756-42DE-B8E0-94D4D2412256}" authorId="{A0983FDB-C865-0A92-860A-EE94860A2B27}" created="2025-12-04T02:24:09.798">
        <p188:txBody>
          <a:bodyPr/>
          <a:lstStyle/>
          <a:p>
            <a:r>
              <a:rPr lang="fr-FR"/>
              <a:t>`là l’objectif vise à démontrer le gain en éfficacité oppérationnelle puisque ce n’est plus le CSP qui saisie les demande sur kyriba suite a des demande reçut sur 7900</a:t>
            </a:r>
          </a:p>
        </p188:txBody>
      </p188:reply>
    </p188:replyLst>
    <p188:txBody>
      <a:bodyPr/>
      <a:lstStyle/>
      <a:p>
        <a:r>
          <a:rPr lang="fr-CA"/>
          <a:t>Pour les paiements manuels, est-ce que le % de paiements manuels passants par Kyriba (équivalent de celui pendant l’initiative) serait pertinent? Peut-être à d’autres filiales?</a:t>
        </a:r>
      </a:p>
    </p188:txBody>
  </p188:cm>
  <p188:cm id="{05D34F60-0B3D-423D-B0F7-FEF673BAC219}" authorId="{CD0735B6-0293-E85D-990F-23C65E27354C}" status="resolved" created="2025-12-02T19:54:25.825" complete="100000">
    <ac:deMkLst xmlns:ac="http://schemas.microsoft.com/office/drawing/2013/main/command">
      <pc:docMk xmlns:pc="http://schemas.microsoft.com/office/powerpoint/2013/main/command"/>
      <pc:sldMk xmlns:pc="http://schemas.microsoft.com/office/powerpoint/2013/main/command" cId="3238403686" sldId="2147470059"/>
      <ac:graphicFrameMk id="6" creationId="{03163732-64C5-7020-2939-8B8F0D8E8FB9}"/>
    </ac:deMkLst>
    <p188:replyLst>
      <p188:reply id="{FB0169B8-683B-449E-AAD0-6F649A11A2FE}" authorId="{AC9385C5-E5F7-4663-BC13-F5482E9DC9C1}" created="2025-12-03T01:25:59.635">
        <p188:txBody>
          <a:bodyPr/>
          <a:lstStyle/>
          <a:p>
            <a:r>
              <a:rPr lang="fr-CA"/>
              <a:t>Je suis dac, je suivrais juste le nombre d’incidents</a:t>
            </a:r>
          </a:p>
        </p188:txBody>
        <p188:extLst>
          <p:ext xmlns:p="http://schemas.openxmlformats.org/presentationml/2006/main" uri="{57CB4572-C831-44C2-8A1C-0ADB6CCDFE69}">
            <p223:reactions xmlns:p223="http://schemas.microsoft.com/office/powerpoint/2022/03/main">
              <p223:rxn type="👍">
                <p223:instance time="2025-12-04T02:24:26.379" authorId="{A0983FDB-C865-0A92-860A-EE94860A2B27}"/>
              </p223:rxn>
            </p223:reactions>
          </p:ext>
        </p188:extLst>
      </p188:reply>
    </p188:replyLst>
    <p188:txBody>
      <a:bodyPr/>
      <a:lstStyle/>
      <a:p>
        <a:r>
          <a:rPr lang="fr-CA"/>
          <a:t>Pour le temps d’incident, je ne suis pas certaine qu’on ait cette information facilement</a:t>
        </a:r>
      </a:p>
    </p188:txBody>
    <p188:extLst>
      <p:ext xmlns:p="http://schemas.openxmlformats.org/presentationml/2006/main" uri="{57CB4572-C831-44C2-8A1C-0ADB6CCDFE69}">
        <p223:reactions xmlns:p223="http://schemas.microsoft.com/office/powerpoint/2022/03/main">
          <p223:rxn type="👍">
            <p223:instance time="2025-12-04T02:24:27.766" authorId="{A0983FDB-C865-0A92-860A-EE94860A2B27}"/>
          </p223:rxn>
        </p223:reactions>
      </p:ext>
    </p188:extLst>
  </p188:cm>
  <p188:cm id="{6C4EC4D1-CBA1-49AC-A3D6-3F656AE41121}" authorId="{AC9385C5-E5F7-4663-BC13-F5482E9DC9C1}" status="resolved" created="2025-12-03T01:26:25.243" complete="100000">
    <ac:deMkLst xmlns:ac="http://schemas.microsoft.com/office/drawing/2013/main/command">
      <pc:docMk xmlns:pc="http://schemas.microsoft.com/office/powerpoint/2013/main/command"/>
      <pc:sldMk xmlns:pc="http://schemas.microsoft.com/office/powerpoint/2013/main/command" cId="3238403686" sldId="2147470059"/>
      <ac:graphicFrameMk id="6" creationId="{03163732-64C5-7020-2939-8B8F0D8E8FB9}"/>
    </ac:deMkLst>
    <p188:txBody>
      <a:bodyPr/>
      <a:lstStyle/>
      <a:p>
        <a:r>
          <a:rPr lang="fr-CA"/>
          <a:t>Temps passé en approbation? On avait mentionné un 60JP par année : côté OpFin seulement? Ou pour toute la cie? </a:t>
        </a:r>
      </a:p>
    </p188:txBody>
  </p188:cm>
  <p188:cm id="{62626849-31C3-4ADA-B32D-05AAA1892312}" authorId="{B29AA509-44E4-50DB-9F32-86616C5D8514}" status="resolved" created="2025-12-09T18:20:00.596" complete="100000">
    <ac:txMkLst xmlns:ac="http://schemas.microsoft.com/office/drawing/2013/main/command">
      <pc:docMk xmlns:pc="http://schemas.microsoft.com/office/powerpoint/2013/main/command"/>
      <pc:sldMk xmlns:pc="http://schemas.microsoft.com/office/powerpoint/2013/main/command" cId="3238403686" sldId="2147470059"/>
      <ac:graphicFrameMk id="6" creationId="{03163732-64C5-7020-2939-8B8F0D8E8FB9}"/>
      <ac:tblMk/>
      <ac:tcMk rowId="1220485338" colId="3035159770"/>
      <ac:txMk cp="0" len="46">
        <ac:context len="47" hash="1163012867"/>
      </ac:txMk>
    </ac:txMkLst>
    <p188:pos x="8256504" y="707311"/>
    <p188:replyLst>
      <p188:reply id="{0DE47628-EC55-449D-88CB-6512BC3101C3}" authorId="{A0983FDB-C865-0A92-860A-EE94860A2B27}" created="2025-12-12T13:58:00.513">
        <p188:txBody>
          <a:bodyPr/>
          <a:lstStyle/>
          <a:p>
            <a:r>
              <a:rPr lang="fr-FR"/>
              <a:t>À court terme aucun impact 
Mais post initiative genre fin 2028 oui ils devront respecter les regles de la structure de compte définit par la Tréso corporative</a:t>
            </a:r>
          </a:p>
        </p188:txBody>
      </p188:reply>
    </p188:replyLst>
    <p188:txBody>
      <a:bodyPr/>
      <a:lstStyle/>
      <a:p>
        <a:r>
          <a:rPr lang="fr-CA"/>
          <a:t>Quels sont les impacts de la rationalisation des comptes pour les lignes d’affaires? Est-ce une attrition naturelle ou nous aurons des suivis et des nouvelles règles à mettre en place.</a:t>
        </a:r>
      </a:p>
    </p188:txBody>
  </p188:cm>
</p188:cmLst>
</file>

<file path=ppt/comments/modernComment_7FFFF31D_EA819035.xml><?xml version="1.0" encoding="utf-8"?>
<p188:cmLst xmlns:a="http://schemas.openxmlformats.org/drawingml/2006/main" xmlns:r="http://schemas.openxmlformats.org/officeDocument/2006/relationships" xmlns:p188="http://schemas.microsoft.com/office/powerpoint/2018/8/main">
  <p188:cm id="{F8198B33-8BD0-45A7-9479-C5703E4BD47E}" authorId="{CD0735B6-0293-E85D-990F-23C65E27354C}" status="resolved" created="2025-12-02T16:44:52.769" complete="100000">
    <ac:deMkLst xmlns:ac="http://schemas.microsoft.com/office/drawing/2013/main/command">
      <pc:docMk xmlns:pc="http://schemas.microsoft.com/office/powerpoint/2013/main/command"/>
      <pc:sldMk xmlns:pc="http://schemas.microsoft.com/office/powerpoint/2013/main/command" cId="3934359605" sldId="2147480349"/>
      <ac:graphicFrameMk id="6" creationId="{207721DD-2F71-13CF-95A4-4EA327F147D3}"/>
    </ac:deMkLst>
    <p188:replyLst>
      <p188:reply id="{C525CFF2-178F-4153-8FB6-526DF8CB61B4}" authorId="{CD0735B6-0293-E85D-990F-23C65E27354C}" created="2025-12-02T16:56:36.272">
        <p188:txBody>
          <a:bodyPr/>
          <a:lstStyle/>
          <a:p>
            <a:r>
              <a:rPr lang="fr-CA"/>
              <a:t>Sylvie Houle me dit 577 usagers en date du 1er décembre</a:t>
            </a:r>
          </a:p>
        </p188:txBody>
      </p188:reply>
    </p188:replyLst>
    <p188:txBody>
      <a:bodyPr/>
      <a:lstStyle/>
      <a:p>
        <a:r>
          <a:rPr lang="fr-CA"/>
          <a:t>J’avais en tête qu’il y a plus de 100 utilisateurs dans RBC Express. Je vais valider.</a:t>
        </a:r>
      </a:p>
    </p188:txBody>
    <p188:extLst>
      <p:ext xmlns:p="http://schemas.openxmlformats.org/presentationml/2006/main" uri="{57CB4572-C831-44C2-8A1C-0ADB6CCDFE69}">
        <p223:reactions xmlns:p223="http://schemas.microsoft.com/office/powerpoint/2022/03/main">
          <p223:rxn type="👍">
            <p223:instance time="2025-12-02T18:25:53.558" authorId="{A0983FDB-C865-0A92-860A-EE94860A2B27}"/>
          </p223:rxn>
        </p223:reactions>
      </p:ext>
    </p188:extLst>
  </p188:cm>
  <p188:cm id="{958B0F1D-598B-4643-B784-3C66E524AB67}" authorId="{AC9385C5-E5F7-4663-BC13-F5482E9DC9C1}" status="resolved" created="2025-12-03T01:22:24.310" complete="100000">
    <ac:deMkLst xmlns:ac="http://schemas.microsoft.com/office/drawing/2013/main/command">
      <pc:docMk xmlns:pc="http://schemas.microsoft.com/office/powerpoint/2013/main/command"/>
      <pc:sldMk xmlns:pc="http://schemas.microsoft.com/office/powerpoint/2013/main/command" cId="3934359605" sldId="2147480349"/>
      <ac:graphicFrameMk id="6" creationId="{207721DD-2F71-13CF-95A4-4EA327F147D3}"/>
    </ac:deMkLst>
    <p188:txBody>
      <a:bodyPr/>
      <a:lstStyle/>
      <a:p>
        <a:r>
          <a:rPr lang="fr-CA"/>
          <a:t>L’audit des plateformes est déjà en place - il faut p-e donner des objectifs précis lors du déploiement / des consignes / gouvernance?</a:t>
        </a:r>
      </a:p>
    </p188:txBody>
    <p188:extLst>
      <p:ext xmlns:p="http://schemas.openxmlformats.org/presentationml/2006/main" uri="{57CB4572-C831-44C2-8A1C-0ADB6CCDFE69}">
        <p223:reactions xmlns:p223="http://schemas.microsoft.com/office/powerpoint/2022/03/main">
          <p223:rxn type="👍">
            <p223:instance time="2025-12-05T13:18:56.876" authorId="{A0983FDB-C865-0A92-860A-EE94860A2B27}"/>
          </p223:rxn>
        </p223:reactions>
      </p:ext>
    </p188:extLst>
  </p188:cm>
  <p188:cm id="{0ABCF50A-402F-4CEF-A010-40E23265EFA0}" authorId="{AC9385C5-E5F7-4663-BC13-F5482E9DC9C1}" status="resolved" created="2025-12-03T01:23:30.930" complete="100000">
    <ac:deMkLst xmlns:ac="http://schemas.microsoft.com/office/drawing/2013/main/command">
      <pc:docMk xmlns:pc="http://schemas.microsoft.com/office/powerpoint/2013/main/command"/>
      <pc:sldMk xmlns:pc="http://schemas.microsoft.com/office/powerpoint/2013/main/command" cId="3934359605" sldId="2147480349"/>
      <ac:graphicFrameMk id="6" creationId="{207721DD-2F71-13CF-95A4-4EA327F147D3}"/>
    </ac:deMkLst>
    <p188:replyLst>
      <p188:reply id="{785879B1-B12C-4F16-879F-F3E71C5C1987}" authorId="{A0983FDB-C865-0A92-860A-EE94860A2B27}" created="2025-12-04T02:18:07.210">
        <p188:txBody>
          <a:bodyPr/>
          <a:lstStyle/>
          <a:p>
            <a:r>
              <a:rPr lang="fr-FR"/>
              <a:t>Debt module, ne fait pas partie du WS4 c’est le WS2 il me semble</a:t>
            </a:r>
          </a:p>
        </p188:txBody>
      </p188:reply>
    </p188:replyLst>
    <p188:txBody>
      <a:bodyPr/>
      <a:lstStyle/>
      <a:p>
        <a:r>
          <a:rPr lang="fr-CA"/>
          <a:t>Je pense que dans les 6 modules, cela incluant debt module, anomalie detection, BAM, bank fees, pmt… il m’en manque un?</a:t>
        </a:r>
      </a:p>
    </p188:txBody>
  </p188:cm>
  <p188:cm id="{29D65A65-2B70-4209-B3C5-5FBCBC3285C9}" authorId="{BC568A3A-F3A9-EB30-6C8C-C68855561EC9}" status="resolved" created="2025-12-12T13:25:14.136" complete="100000">
    <ac:txMkLst xmlns:ac="http://schemas.microsoft.com/office/drawing/2013/main/command">
      <pc:docMk xmlns:pc="http://schemas.microsoft.com/office/powerpoint/2013/main/command"/>
      <pc:sldMk xmlns:pc="http://schemas.microsoft.com/office/powerpoint/2013/main/command" cId="3934359605" sldId="2147480349"/>
      <ac:graphicFrameMk id="6" creationId="{207721DD-2F71-13CF-95A4-4EA327F147D3}"/>
      <ac:tblMk/>
      <ac:tcMk rowId="3694237023" colId="1634281488"/>
      <ac:txMk cp="28" len="17">
        <ac:context len="51" hash="1062156822"/>
      </ac:txMk>
    </ac:txMkLst>
    <p188:pos x="2612752" y="716160"/>
    <p188:replyLst>
      <p188:reply id="{63340655-39BC-4F49-97F9-7B3BDE4C20C4}" authorId="{A0983FDB-C865-0A92-860A-EE94860A2B27}" created="2025-12-12T13:54:56.320">
        <p188:txBody>
          <a:bodyPr/>
          <a:lstStyle/>
          <a:p>
            <a:r>
              <a:rPr lang="fr-FR"/>
              <a:t>Oui absolument ^^ </a:t>
            </a:r>
          </a:p>
        </p188:txBody>
      </p188:reply>
    </p188:replyLst>
    <p188:txBody>
      <a:bodyPr/>
      <a:lstStyle/>
      <a:p>
        <a:r>
          <a:rPr lang="fr-CA"/>
          <a:t>Veut-on dire dans TRAX vers Kyriba?</a:t>
        </a:r>
      </a:p>
    </p188:txBody>
    <p188:extLst>
      <p:ext xmlns:p="http://schemas.openxmlformats.org/presentationml/2006/main" uri="{57CB4572-C831-44C2-8A1C-0ADB6CCDFE69}">
        <p223:reactions xmlns:p223="http://schemas.microsoft.com/office/powerpoint/2022/03/main">
          <p223:rxn type="👍">
            <p223:instance time="2025-12-12T13:54:46.230" authorId="{A0983FDB-C865-0A92-860A-EE94860A2B27}"/>
          </p223:rxn>
        </p223:reactions>
      </p:ext>
    </p188:extLst>
  </p188:cm>
</p188:cmLst>
</file>

<file path=ppt/comments/modernComment_7FFFF31E_1A1F7C8D.xml><?xml version="1.0" encoding="utf-8"?>
<p188:cmLst xmlns:a="http://schemas.openxmlformats.org/drawingml/2006/main" xmlns:r="http://schemas.openxmlformats.org/officeDocument/2006/relationships" xmlns:p188="http://schemas.microsoft.com/office/powerpoint/2018/8/main">
  <p188:cm id="{717B09AC-112F-4400-85EF-F6A472E3D33F}" authorId="{AC9385C5-E5F7-4663-BC13-F5482E9DC9C1}" status="resolved" created="2025-12-03T01:27:55.387" complete="100000">
    <ac:deMkLst xmlns:ac="http://schemas.microsoft.com/office/drawing/2013/main/command">
      <pc:docMk xmlns:pc="http://schemas.microsoft.com/office/powerpoint/2013/main/command"/>
      <pc:sldMk xmlns:pc="http://schemas.microsoft.com/office/powerpoint/2013/main/command" cId="438271117" sldId="2147480350"/>
      <ac:graphicFrameMk id="5" creationId="{7C52C486-5228-77C9-EFC3-1024D77E1164}"/>
    </ac:deMkLst>
    <p188:txBody>
      <a:bodyPr/>
      <a:lstStyle/>
      <a:p>
        <a:r>
          <a:rPr lang="fr-CA"/>
          <a:t>J’ajouterais la mention de automatisé ET manuel. Dans le fonds, pour R3, on va également rendre possible les paiements que l’on fait sur la plateforme BMO et CIBC. (pas juste RBC )</a:t>
        </a:r>
      </a:p>
    </p188:txBody>
    <p188:extLst>
      <p:ext xmlns:p="http://schemas.openxmlformats.org/presentationml/2006/main" uri="{57CB4572-C831-44C2-8A1C-0ADB6CCDFE69}">
        <p223:reactions xmlns:p223="http://schemas.microsoft.com/office/powerpoint/2022/03/main">
          <p223:rxn type="👍">
            <p223:instance time="2025-12-03T13:16:35.375" authorId="{CD0735B6-0293-E85D-990F-23C65E27354C}"/>
            <p223:instance time="2025-12-04T02:31:20.883" authorId="{A0983FDB-C865-0A92-860A-EE94860A2B27}"/>
          </p223:rxn>
        </p223:reactions>
      </p:ext>
    </p188:extLst>
  </p188:cm>
  <p188:cm id="{44D8A4C2-64A9-49E8-96DA-ACE238F43532}" authorId="{AC9385C5-E5F7-4663-BC13-F5482E9DC9C1}" status="resolved" created="2025-12-03T01:28:37.262" complete="100000">
    <ac:deMkLst xmlns:ac="http://schemas.microsoft.com/office/drawing/2013/main/command">
      <pc:docMk xmlns:pc="http://schemas.microsoft.com/office/powerpoint/2013/main/command"/>
      <pc:sldMk xmlns:pc="http://schemas.microsoft.com/office/powerpoint/2013/main/command" cId="438271117" sldId="2147480350"/>
      <ac:graphicFrameMk id="5" creationId="{7C52C486-5228-77C9-EFC3-1024D77E1164}"/>
    </ac:deMkLst>
    <p188:replyLst>
      <p188:reply id="{6DDFAD87-D1F4-440F-B5AA-B22AE74B97F3}" authorId="{CD0735B6-0293-E85D-990F-23C65E27354C}" created="2025-12-03T13:20:01.283">
        <p188:txBody>
          <a:bodyPr/>
          <a:lstStyle/>
          <a:p>
            <a:r>
              <a:rPr lang="fr-CA"/>
              <a:t>C’est un bon point pour le déploiement des solutions manuelles, le scope n’est pas encore super clair pour moi pour la phase actuelle. C’est pour toutes les filiales intégrées en plus de iA? Est-ce qu’on doit le préciser ici? </a:t>
            </a:r>
          </a:p>
        </p188:txBody>
        <p188:extLst>
          <p:ext xmlns:p="http://schemas.openxmlformats.org/presentationml/2006/main" uri="{57CB4572-C831-44C2-8A1C-0ADB6CCDFE69}">
            <p223:reactions xmlns:p223="http://schemas.microsoft.com/office/powerpoint/2022/03/main">
              <p223:rxn type="👍">
                <p223:instance time="2025-12-04T02:33:00.777" authorId="{A0983FDB-C865-0A92-860A-EE94860A2B27}"/>
              </p223:rxn>
            </p223:reactions>
          </p:ext>
        </p188:extLst>
      </p188:reply>
      <p188:reply id="{E2A64F86-AFFB-4EC7-B1CC-B75871E7191D}" authorId="{A0983FDB-C865-0A92-860A-EE94860A2B27}" created="2025-12-04T02:35:21.021">
        <p188:txBody>
          <a:bodyPr/>
          <a:lstStyle/>
          <a:p>
            <a:r>
              <a:rPr lang="fr-FR"/>
              <a:t>Ici nous ne sommes pas encore au Release on parle encore d’objectif, les paiement manuelles arriveront plus tard dans les release. 
Dans la slide suivante je parle des filiales qui sont effectivement dans le scope de l’objectif 1 </a:t>
            </a:r>
          </a:p>
        </p188:txBody>
      </p188:reply>
    </p188:replyLst>
    <p188:txBody>
      <a:bodyPr/>
      <a:lstStyle/>
      <a:p>
        <a:r>
          <a:rPr lang="fr-CA"/>
          <a:t>Objectif 3 : déploiement? Je pense aux solutions manuelles … ? Scope? </a:t>
        </a:r>
      </a:p>
    </p188:txBody>
    <p188:extLst>
      <p:ext xmlns:p="http://schemas.openxmlformats.org/presentationml/2006/main" uri="{57CB4572-C831-44C2-8A1C-0ADB6CCDFE69}">
        <p223:reactions xmlns:p223="http://schemas.microsoft.com/office/powerpoint/2022/03/main">
          <p223:rxn type="👍">
            <p223:instance time="2025-12-04T02:32:59.064" authorId="{A0983FDB-C865-0A92-860A-EE94860A2B27}"/>
          </p223:rxn>
        </p223:reactions>
      </p:ext>
    </p188:extLst>
  </p188:cm>
  <p188:cm id="{D2D3D51D-22AC-4156-8915-4B80126B6A9B}" authorId="{B29AA509-44E4-50DB-9F32-86616C5D8514}" status="resolved" created="2025-12-09T18:22:59.453" complete="100000">
    <ac:txMkLst xmlns:ac="http://schemas.microsoft.com/office/drawing/2013/main/command">
      <pc:docMk xmlns:pc="http://schemas.microsoft.com/office/powerpoint/2013/main/command"/>
      <pc:sldMk xmlns:pc="http://schemas.microsoft.com/office/powerpoint/2013/main/command" cId="438271117" sldId="2147480350"/>
      <ac:graphicFrameMk id="5" creationId="{7C52C486-5228-77C9-EFC3-1024D77E1164}"/>
      <dc:dgmMk xmlns:dc="http://schemas.microsoft.com/office/drawing/2013/diagram/command"/>
      <dc:nodeMk xmlns:dc="http://schemas.microsoft.com/office/drawing/2013/diagram/command" id="{2AB7A077-0143-44D4-9C0E-9A6DE916F5EB}"/>
      <ac:txMk cp="1" len="49">
        <ac:context len="51" hash="2404455345"/>
      </ac:txMk>
    </ac:txMkLst>
    <p188:pos x="4006112" y="1939290"/>
    <p188:txBody>
      <a:bodyPr/>
      <a:lstStyle/>
      <a:p>
        <a:r>
          <a:rPr lang="fr-CA"/>
          <a:t>Objectif 1 : Proposer un accompagnement les équipes impactées (Solutions et Processus d’affaires)
Obj. 2 : Au lieu de communiquer devrions nous dire déployer et accompagner sur les nouveaux processus ?</a:t>
        </a:r>
      </a:p>
    </p188:txBody>
  </p188:cm>
</p188:cmLst>
</file>

<file path=ppt/comments/modernComment_7FFFF31F_AC77EA5F.xml><?xml version="1.0" encoding="utf-8"?>
<p188:cmLst xmlns:a="http://schemas.openxmlformats.org/drawingml/2006/main" xmlns:r="http://schemas.openxmlformats.org/officeDocument/2006/relationships" xmlns:p188="http://schemas.microsoft.com/office/powerpoint/2018/8/main">
  <p188:cm id="{9E5A742C-CB08-420E-A91E-C351B880DA48}" authorId="{AC9385C5-E5F7-4663-BC13-F5482E9DC9C1}" status="resolved" created="2025-12-03T01:31:48.958" complete="100000">
    <ac:txMkLst xmlns:ac="http://schemas.microsoft.com/office/drawing/2013/main/command">
      <pc:docMk xmlns:pc="http://schemas.microsoft.com/office/powerpoint/2013/main/command"/>
      <pc:sldMk xmlns:pc="http://schemas.microsoft.com/office/powerpoint/2013/main/command" cId="2893539935" sldId="2147480351"/>
      <ac:spMk id="3" creationId="{D30DAA09-BF2B-AD78-40C6-D01D6A9C4AF0}"/>
      <ac:txMk cp="1137">
        <ac:context len="1311" hash="3026843901"/>
      </ac:txMk>
    </ac:txMkLst>
    <p188:pos x="2452476" y="4139111"/>
    <p188:txBody>
      <a:bodyPr/>
      <a:lstStyle/>
      <a:p>
        <a:r>
          <a:rPr lang="fr-CA"/>
          <a:t>Pmt internationaux: ils sont inclus aussi dans les virements télégraphiques. Ne fais pas de différence </a:t>
        </a:r>
      </a:p>
    </p188:txBody>
    <p188:extLst>
      <p:ext xmlns:p="http://schemas.openxmlformats.org/presentationml/2006/main" uri="{57CB4572-C831-44C2-8A1C-0ADB6CCDFE69}">
        <p223:reactions xmlns:p223="http://schemas.microsoft.com/office/powerpoint/2022/03/main">
          <p223:rxn type="👍">
            <p223:instance time="2025-12-04T02:42:32.688" authorId="{A0983FDB-C865-0A92-860A-EE94860A2B27}"/>
          </p223:rxn>
        </p223:reactions>
      </p:ext>
    </p188:extLst>
  </p188:cm>
  <p188:cm id="{67879F1E-0276-4DBD-BE61-BAA60D51BA88}" authorId="{AC9385C5-E5F7-4663-BC13-F5482E9DC9C1}" status="resolved" created="2025-12-03T01:32:18.487" complete="100000">
    <ac:deMkLst xmlns:ac="http://schemas.microsoft.com/office/drawing/2013/main/command">
      <pc:docMk xmlns:pc="http://schemas.microsoft.com/office/powerpoint/2013/main/command"/>
      <pc:sldMk xmlns:pc="http://schemas.microsoft.com/office/powerpoint/2013/main/command" cId="2893539935" sldId="2147480351"/>
      <ac:spMk id="3" creationId="{D30DAA09-BF2B-AD78-40C6-D01D6A9C4AF0}"/>
    </ac:deMkLst>
    <p188:replyLst>
      <p188:reply id="{6E909D09-9CFE-4351-84CE-FF54E86CEC73}" authorId="{CD0735B6-0293-E85D-990F-23C65E27354C}" created="2025-12-03T13:49:22.694">
        <p188:txBody>
          <a:bodyPr/>
          <a:lstStyle/>
          <a:p>
            <a:r>
              <a:rPr lang="fr-CA"/>
              <a:t>Oui en effet il faut le mettre</a:t>
            </a:r>
          </a:p>
        </p188:txBody>
      </p188:reply>
    </p188:replyLst>
    <p188:txBody>
      <a:bodyPr/>
      <a:lstStyle/>
      <a:p>
        <a:r>
          <a:rPr lang="fr-CA"/>
          <a:t>Dernier point: on va quand meme mettre en place une fonction de coordonnées bancaires?</a:t>
        </a:r>
      </a:p>
    </p188:txBody>
    <p188:extLst>
      <p:ext xmlns:p="http://schemas.openxmlformats.org/presentationml/2006/main" uri="{57CB4572-C831-44C2-8A1C-0ADB6CCDFE69}">
        <p223:reactions xmlns:p223="http://schemas.microsoft.com/office/powerpoint/2022/03/main">
          <p223:rxn type="👍">
            <p223:instance time="2025-12-04T02:42:55.726" authorId="{A0983FDB-C865-0A92-860A-EE94860A2B27}"/>
          </p223:rxn>
        </p223:reactions>
      </p:ext>
    </p188:extLst>
  </p188:cm>
  <p188:cm id="{19A0948C-92B4-45B8-A90F-8F5A0357BB3F}" authorId="{CD0735B6-0293-E85D-990F-23C65E27354C}" status="resolved" created="2025-12-03T13:48:03.846" complete="100000">
    <ac:deMkLst xmlns:ac="http://schemas.microsoft.com/office/drawing/2013/main/command">
      <pc:docMk xmlns:pc="http://schemas.microsoft.com/office/powerpoint/2013/main/command"/>
      <pc:sldMk xmlns:pc="http://schemas.microsoft.com/office/powerpoint/2013/main/command" cId="2893539935" sldId="2147480351"/>
      <ac:spMk id="3" creationId="{D30DAA09-BF2B-AD78-40C6-D01D6A9C4AF0}"/>
    </ac:deMkLst>
    <p188:txBody>
      <a:bodyPr/>
      <a:lstStyle/>
      <a:p>
        <a:r>
          <a:rPr lang="fr-CA"/>
          <a:t>Consultation et rapports pour chaque mode de paiement</a:t>
        </a:r>
      </a:p>
    </p188:txBody>
    <p188:extLst>
      <p:ext xmlns:p="http://schemas.openxmlformats.org/presentationml/2006/main" uri="{57CB4572-C831-44C2-8A1C-0ADB6CCDFE69}">
        <p223:reactions xmlns:p223="http://schemas.microsoft.com/office/powerpoint/2022/03/main">
          <p223:rxn type="👍">
            <p223:instance time="2025-12-04T02:44:38.372" authorId="{A0983FDB-C865-0A92-860A-EE94860A2B27}"/>
          </p223:rxn>
        </p223:reactions>
      </p:ext>
    </p188:extLst>
  </p188:cm>
  <p188:cm id="{DAB5A37C-AB9F-4CDE-A345-357961BCCD0F}" authorId="{BC568A3A-F3A9-EB30-6C8C-C68855561EC9}" status="resolved" created="2025-12-12T13:50:16.885" complete="100000">
    <ac:txMkLst xmlns:ac="http://schemas.microsoft.com/office/drawing/2013/main/command">
      <pc:docMk xmlns:pc="http://schemas.microsoft.com/office/powerpoint/2013/main/command"/>
      <pc:sldMk xmlns:pc="http://schemas.microsoft.com/office/powerpoint/2013/main/command" cId="2893539935" sldId="2147480351"/>
      <ac:spMk id="3" creationId="{D30DAA09-BF2B-AD78-40C6-D01D6A9C4AF0}"/>
      <ac:txMk cp="632">
        <ac:context len="1311" hash="3026843901"/>
      </ac:txMk>
    </ac:txMkLst>
    <p188:pos x="3960717" y="2224504"/>
    <p188:txBody>
      <a:bodyPr/>
      <a:lstStyle/>
      <a:p>
        <a:r>
          <a:rPr lang="fr-CA"/>
          <a:t>Est compris dans l’objectif de standardiser et automatiser les modes manuels à mon avis. Sinon, je nommerais les autres opérations manuelles dans les autres applications (OP Bancaires, plateformes bancaires)
</a:t>
        </a:r>
      </a:p>
    </p188:txBody>
    <p188:extLst>
      <p:ext xmlns:p="http://schemas.openxmlformats.org/presentationml/2006/main" uri="{57CB4572-C831-44C2-8A1C-0ADB6CCDFE69}">
        <p223:reactions xmlns:p223="http://schemas.microsoft.com/office/powerpoint/2022/03/main">
          <p223:rxn type="👍">
            <p223:instance time="2025-12-12T14:00:31.830" authorId="{A0983FDB-C865-0A92-860A-EE94860A2B27}"/>
          </p223:rxn>
        </p223:reactions>
      </p:ext>
    </p188:extLst>
  </p188:cm>
  <p188:cm id="{8A3030B0-F2BB-4DC6-ADB1-D68BA917640D}" authorId="{BC568A3A-F3A9-EB30-6C8C-C68855561EC9}" status="resolved" created="2025-12-12T13:52:08.995" complete="100000">
    <ac:deMkLst xmlns:ac="http://schemas.microsoft.com/office/drawing/2013/main/command">
      <pc:docMk xmlns:pc="http://schemas.microsoft.com/office/powerpoint/2013/main/command"/>
      <pc:sldMk xmlns:pc="http://schemas.microsoft.com/office/powerpoint/2013/main/command" cId="2893539935" sldId="2147480351"/>
      <ac:spMk id="3" creationId="{D30DAA09-BF2B-AD78-40C6-D01D6A9C4AF0}"/>
    </ac:deMkLst>
    <p188:replyLst>
      <p188:reply id="{298A4DA4-1372-4B33-A084-585C0FF26454}" authorId="{A0983FDB-C865-0A92-860A-EE94860A2B27}" created="2025-12-12T14:01:20.459">
        <p188:txBody>
          <a:bodyPr/>
          <a:lstStyle/>
          <a:p>
            <a:r>
              <a:rPr lang="fr-FR"/>
              <a:t>Excellent point, je le clarifier un peu plus </a:t>
            </a:r>
          </a:p>
        </p188:txBody>
      </p188:reply>
    </p188:replyLst>
    <p188:txBody>
      <a:bodyPr/>
      <a:lstStyle/>
      <a:p>
        <a:r>
          <a:rPr lang="fr-CA"/>
          <a:t>Est-ce que le workflow d’approbation pour les opérations manuels est inclus dans l’objectif de standardiser et automatiser les modes manuels?</a:t>
        </a:r>
      </a:p>
    </p188:txBody>
    <p188:extLst>
      <p:ext xmlns:p="http://schemas.openxmlformats.org/presentationml/2006/main" uri="{57CB4572-C831-44C2-8A1C-0ADB6CCDFE69}">
        <p223:reactions xmlns:p223="http://schemas.microsoft.com/office/powerpoint/2022/03/main">
          <p223:rxn type="👍">
            <p223:instance time="2025-12-12T14:01:21.827" authorId="{A0983FDB-C865-0A92-860A-EE94860A2B27}"/>
          </p223:rxn>
        </p223:reactions>
      </p:ext>
    </p188:extLst>
  </p188:cm>
</p188:cmLst>
</file>

<file path=ppt/comments/modernComment_7FFFF32C_88CC2790.xml><?xml version="1.0" encoding="utf-8"?>
<p188:cmLst xmlns:a="http://schemas.openxmlformats.org/drawingml/2006/main" xmlns:r="http://schemas.openxmlformats.org/officeDocument/2006/relationships" xmlns:p188="http://schemas.microsoft.com/office/powerpoint/2018/8/main">
  <p188:cm id="{1ECCEFDA-7851-44AE-BEA2-8E9D449737BD}" authorId="{BC568A3A-F3A9-EB30-6C8C-C68855561EC9}" status="resolved" created="2025-12-12T15:34:28.873" complete="100000">
    <ac:txMkLst xmlns:ac="http://schemas.microsoft.com/office/drawing/2013/main/command">
      <pc:docMk xmlns:pc="http://schemas.microsoft.com/office/powerpoint/2013/main/command"/>
      <pc:sldMk xmlns:pc="http://schemas.microsoft.com/office/powerpoint/2013/main/command" cId="2295080848" sldId="2147480364"/>
      <ac:graphicFrameMk id="4" creationId="{70ED0420-6EBE-2754-EA6F-71B1EBF6C592}"/>
      <ac:tblMk/>
      <ac:tcMk rowId="1361097276" colId="3284901904"/>
      <ac:txMk cp="49" len="67">
        <ac:context len="154" hash="1530651322"/>
      </ac:txMk>
    </ac:txMkLst>
    <p188:pos x="6593464" y="1280297"/>
    <p188:replyLst>
      <p188:reply id="{A0DA75B7-DD36-49AD-AEE1-D2C81001074C}" authorId="{A0983FDB-C865-0A92-860A-EE94860A2B27}" created="2025-12-18T15:16:14.870">
        <p188:txBody>
          <a:bodyPr/>
          <a:lstStyle/>
          <a:p>
            <a:r>
              <a:rPr lang="fr-FR"/>
              <a:t>Oui pour les partenaires mais pour  le CSP bancaire la consultation par plateforme va rester disponible</a:t>
            </a:r>
          </a:p>
        </p188:txBody>
      </p188:reply>
    </p188:replyLst>
    <p188:txBody>
      <a:bodyPr/>
      <a:lstStyle/>
      <a:p>
        <a:r>
          <a:rPr lang="fr-CA"/>
          <a:t>Et les plateformes bancaires (si on inclut la saisie des virements, SDP et DPA manuels)</a:t>
        </a:r>
      </a:p>
    </p188:txBody>
    <p188:extLst>
      <p:ext xmlns:p="http://schemas.openxmlformats.org/presentationml/2006/main" uri="{57CB4572-C831-44C2-8A1C-0ADB6CCDFE69}">
        <p223:reactions xmlns:p223="http://schemas.microsoft.com/office/powerpoint/2022/03/main">
          <p223:rxn type="👍">
            <p223:instance time="2025-12-18T15:14:59.932" authorId="{A0983FDB-C865-0A92-860A-EE94860A2B27}"/>
          </p223:rxn>
        </p223:reactions>
      </p:ext>
    </p188:extLst>
  </p188:cm>
</p188:cmLst>
</file>

<file path=ppt/comments/modernComment_7FFFF32D_29899808.xml><?xml version="1.0" encoding="utf-8"?>
<p188:cmLst xmlns:a="http://schemas.openxmlformats.org/drawingml/2006/main" xmlns:r="http://schemas.openxmlformats.org/officeDocument/2006/relationships" xmlns:p188="http://schemas.microsoft.com/office/powerpoint/2018/8/main">
  <p188:cm id="{72270448-B402-4FB8-A41B-B97325D06C67}" authorId="{AC9385C5-E5F7-4663-BC13-F5482E9DC9C1}" status="resolved" created="2025-12-03T01:45:29.673" complete="100000">
    <ac:deMkLst xmlns:ac="http://schemas.microsoft.com/office/drawing/2013/main/command">
      <pc:docMk xmlns:pc="http://schemas.microsoft.com/office/powerpoint/2013/main/command"/>
      <pc:sldMk xmlns:pc="http://schemas.microsoft.com/office/powerpoint/2013/main/command" cId="696883208" sldId="2147480365"/>
      <ac:graphicFrameMk id="6" creationId="{587B9292-2B3D-BC9E-41AD-85480297AB9D}"/>
    </ac:deMkLst>
    <p188:replyLst>
      <p188:reply id="{1B0F663E-D5CE-40C2-B5A5-FACFF70DF265}" authorId="{CD0735B6-0293-E85D-990F-23C65E27354C}" created="2025-12-03T21:01:19.152">
        <p188:txBody>
          <a:bodyPr/>
          <a:lstStyle/>
          <a:p>
            <a:r>
              <a:rPr lang="fr-CA"/>
              <a:t>La mise en prod de R3 est seulement quelques mois (environ 2 mois?) après celle de R2, je pense que si on la laisse en R2 on est plus à risque que de le déplacer considérant tous les travaux. En plus, cela permettrait de faire le changement pour OSLC en même temps et de simplifier la communication et GDC pour nos partenaires.</a:t>
            </a:r>
          </a:p>
        </p188:txBody>
      </p188:reply>
    </p188:replyLst>
    <p188:txBody>
      <a:bodyPr/>
      <a:lstStyle/>
      <a:p>
        <a:r>
          <a:rPr lang="fr-CA"/>
          <a:t>Ok nouveau pour R3= on déplace 100% des cheques dans R3 - est-ce que cela nous met a risque pour les dates ? On doit compter le 6 mois de fin de vie d’un cheque </a:t>
        </a:r>
      </a:p>
    </p188:txBody>
  </p188:cm>
  <p188:cm id="{B034AF22-458B-4612-A32D-F12CEDEFC142}" authorId="{AC9385C5-E5F7-4663-BC13-F5482E9DC9C1}" status="resolved" created="2025-12-03T01:46:28.418" complete="100000">
    <ac:deMkLst xmlns:ac="http://schemas.microsoft.com/office/drawing/2013/main/command">
      <pc:docMk xmlns:pc="http://schemas.microsoft.com/office/powerpoint/2013/main/command"/>
      <pc:sldMk xmlns:pc="http://schemas.microsoft.com/office/powerpoint/2013/main/command" cId="696883208" sldId="2147480365"/>
      <ac:graphicFrameMk id="6" creationId="{587B9292-2B3D-BC9E-41AD-85480297AB9D}"/>
    </ac:deMkLst>
    <p188:txBody>
      <a:bodyPr/>
      <a:lstStyle/>
      <a:p>
        <a:r>
          <a:rPr lang="fr-CA"/>
          <a:t>Qu’est-ce que cela veut dire R4 - peux tu préciser davantage</a:t>
        </a:r>
      </a:p>
    </p188:txBody>
  </p188:cm>
  <p188:cm id="{4405CAA8-F21D-4FA9-969B-9339F2C09B76}" authorId="{AC9385C5-E5F7-4663-BC13-F5482E9DC9C1}" status="resolved" created="2025-12-03T14:15:51.301" complete="100000">
    <pc:sldMkLst xmlns:pc="http://schemas.microsoft.com/office/powerpoint/2013/main/command">
      <pc:docMk/>
      <pc:sldMk cId="696883208" sldId="2147480365"/>
    </pc:sldMkLst>
    <p188:replyLst>
      <p188:reply id="{1D51CB72-18C8-43E8-9523-B4A41C24843A}" authorId="{AC9385C5-E5F7-4663-BC13-F5482E9DC9C1}" created="2025-12-03T14:19:22.735">
        <p188:txBody>
          <a:bodyPr/>
          <a:lstStyle/>
          <a:p>
            <a:r>
              <a:rPr lang="fr-CA"/>
              <a:t>Ou encore, devrions nous se faire une vue qui croise les R et les objectifs 1-2-3</a:t>
            </a:r>
          </a:p>
        </p188:txBody>
      </p188:reply>
    </p188:replyLst>
    <p188:txBody>
      <a:bodyPr/>
      <a:lstStyle/>
      <a:p>
        <a:r>
          <a:rPr lang="fr-CA"/>
          <a:t>Devrions nous rendre visible ici les travaux qu’il restera suite  aux travaux avec Huron. Par exemple, dans R1, bout TI, et ensuite, programme Tréso doit faire l’opérationnalisation et dessiner les process. 2 colonnes? A discuter demain</a:t>
        </a:r>
      </a:p>
    </p188:txBody>
    <p188:extLst>
      <p:ext xmlns:p="http://schemas.openxmlformats.org/presentationml/2006/main" uri="{57CB4572-C831-44C2-8A1C-0ADB6CCDFE69}">
        <p223:reactions xmlns:p223="http://schemas.microsoft.com/office/powerpoint/2022/03/main">
          <p223:rxn type="👍">
            <p223:instance time="2025-12-18T15:17:17.370" authorId="{A0983FDB-C865-0A92-860A-EE94860A2B27}"/>
          </p223:rxn>
        </p223:reactions>
      </p:ext>
    </p188:extLst>
  </p188:cm>
  <p188:cm id="{C7B61E78-0673-4AA3-AA00-3DCB463F7413}" authorId="{CD0735B6-0293-E85D-990F-23C65E27354C}" status="resolved" created="2025-12-03T21:06:11.729" complete="100000">
    <ac:txMkLst xmlns:ac="http://schemas.microsoft.com/office/drawing/2013/main/command">
      <pc:docMk xmlns:pc="http://schemas.microsoft.com/office/powerpoint/2013/main/command"/>
      <pc:sldMk xmlns:pc="http://schemas.microsoft.com/office/powerpoint/2013/main/command" cId="696883208" sldId="2147480365"/>
      <ac:graphicFrameMk id="6" creationId="{587B9292-2B3D-BC9E-41AD-85480297AB9D}"/>
      <dc:dgmMk xmlns:dc="http://schemas.microsoft.com/office/drawing/2013/diagram/command"/>
      <dc:nodeMk xmlns:dc="http://schemas.microsoft.com/office/drawing/2013/diagram/command" id="{6A400AD9-758F-4382-9451-0E2390DDE9F1}"/>
      <ac:txMk cp="4" len="2">
        <ac:context len="10" hash="899166498"/>
      </ac:txMk>
    </ac:txMkLst>
    <p188:pos x="589892" y="3958998"/>
    <p188:txBody>
      <a:bodyPr/>
      <a:lstStyle/>
      <a:p>
        <a:r>
          <a:rPr lang="fr-CA"/>
          <a:t>Il me semble qu’on avait d’autres éléments en R4, exemple revue du processus de conciliation bancaires avec sales forces?</a:t>
        </a:r>
      </a:p>
    </p188:txBody>
  </p188:cm>
</p188:cmLst>
</file>

<file path=ppt/comments/modernComment_7FFFF32F_595809B5.xml><?xml version="1.0" encoding="utf-8"?>
<p188:cmLst xmlns:a="http://schemas.openxmlformats.org/drawingml/2006/main" xmlns:r="http://schemas.openxmlformats.org/officeDocument/2006/relationships" xmlns:p188="http://schemas.microsoft.com/office/powerpoint/2018/8/main">
  <p188:cm id="{19E2B9FC-DA0C-4B33-93CD-E3B5C31F62C5}" authorId="{AC9385C5-E5F7-4663-BC13-F5482E9DC9C1}" status="resolved" created="2025-12-03T01:47:24.048" complete="100000">
    <ac:txMkLst xmlns:ac="http://schemas.microsoft.com/office/drawing/2013/main/command">
      <pc:docMk xmlns:pc="http://schemas.microsoft.com/office/powerpoint/2013/main/command"/>
      <pc:sldMk xmlns:pc="http://schemas.microsoft.com/office/powerpoint/2013/main/command" cId="1498941877" sldId="2147480367"/>
      <ac:graphicFrameMk id="5" creationId="{23A32E30-AEA6-0EEB-CF86-118AF7D2830E}"/>
      <ac:tblMk/>
      <ac:tcMk rowId="3618412485" colId="3284901904"/>
      <ac:txMk cp="76">
        <ac:context len="945" hash="1279931777"/>
      </ac:txMk>
    </ac:txMkLst>
    <p188:pos x="7502103" y="525483"/>
    <p188:txBody>
      <a:bodyPr/>
      <a:lstStyle/>
      <a:p>
        <a:r>
          <a:rPr lang="fr-CA"/>
          <a:t>Serait CAD seulement si on se fie a ce qui passe dans TRAX? J’ai du DD via EB en USD seulement </a:t>
        </a:r>
      </a:p>
    </p188:txBody>
    <p188:extLst>
      <p:ext xmlns:p="http://schemas.openxmlformats.org/presentationml/2006/main" uri="{57CB4572-C831-44C2-8A1C-0ADB6CCDFE69}">
        <p223:reactions xmlns:p223="http://schemas.microsoft.com/office/powerpoint/2022/03/main">
          <p223:rxn type="👍">
            <p223:instance time="2025-12-03T15:27:49.443" authorId="{A0983FDB-C865-0A92-860A-EE94860A2B27}"/>
          </p223:rxn>
        </p223:reactions>
      </p:ext>
    </p188:extLst>
  </p188:cm>
  <p188:cm id="{C308FEA4-3568-4AAD-B0FA-D1667EED1F2B}" authorId="{AC9385C5-E5F7-4663-BC13-F5482E9DC9C1}" status="resolved" created="2025-12-03T01:47:41.708" complete="100000">
    <ac:txMkLst xmlns:ac="http://schemas.microsoft.com/office/drawing/2013/main/command">
      <pc:docMk xmlns:pc="http://schemas.microsoft.com/office/powerpoint/2013/main/command"/>
      <pc:sldMk xmlns:pc="http://schemas.microsoft.com/office/powerpoint/2013/main/command" cId="1498941877" sldId="2147480367"/>
      <ac:graphicFrameMk id="5" creationId="{23A32E30-AEA6-0EEB-CF86-118AF7D2830E}"/>
      <ac:tblMk/>
      <ac:tcMk rowId="3618412485" colId="3284901904"/>
      <ac:txMk cp="542">
        <ac:context len="945" hash="1279931777"/>
      </ac:txMk>
    </ac:txMkLst>
    <p188:pos x="5542674" y="2158340"/>
    <p188:txBody>
      <a:bodyPr/>
      <a:lstStyle/>
      <a:p>
        <a:r>
          <a:rPr lang="fr-CA"/>
          <a:t>non</a:t>
        </a:r>
      </a:p>
    </p188:txBody>
    <p188:extLst>
      <p:ext xmlns:p="http://schemas.openxmlformats.org/presentationml/2006/main" uri="{57CB4572-C831-44C2-8A1C-0ADB6CCDFE69}">
        <p223:reactions xmlns:p223="http://schemas.microsoft.com/office/powerpoint/2022/03/main">
          <p223:rxn type="👍">
            <p223:instance time="2025-12-03T15:27:46.959" authorId="{A0983FDB-C865-0A92-860A-EE94860A2B27}"/>
          </p223:rxn>
        </p223:reactions>
      </p:ext>
    </p188:extLst>
  </p188:cm>
  <p188:cm id="{BBCDA872-DE28-4631-9C63-0FCC0C7CCADC}" authorId="{AC9385C5-E5F7-4663-BC13-F5482E9DC9C1}" status="resolved" created="2025-12-03T01:48:20.954" complete="100000">
    <ac:txMkLst xmlns:ac="http://schemas.microsoft.com/office/drawing/2013/main/command">
      <pc:docMk xmlns:pc="http://schemas.microsoft.com/office/powerpoint/2013/main/command"/>
      <pc:sldMk xmlns:pc="http://schemas.microsoft.com/office/powerpoint/2013/main/command" cId="1498941877" sldId="2147480367"/>
      <ac:graphicFrameMk id="5" creationId="{23A32E30-AEA6-0EEB-CF86-118AF7D2830E}"/>
      <ac:tblMk/>
      <ac:tcMk rowId="3618412485" colId="3284901904"/>
      <ac:txMk cp="628" len="80">
        <ac:context len="945" hash="1279931777"/>
      </ac:txMk>
    </ac:txMkLst>
    <p188:pos x="7930274" y="2862283"/>
    <p188:txBody>
      <a:bodyPr/>
      <a:lstStyle/>
      <a:p>
        <a:r>
          <a:rPr lang="fr-CA"/>
          <a:t>En R2 pour le 11? Je pense qu’on sera plus en fréquence, seuil, redondance non?</a:t>
        </a:r>
      </a:p>
    </p188:txBody>
    <p188:extLst>
      <p:ext xmlns:p="http://schemas.openxmlformats.org/presentationml/2006/main" uri="{57CB4572-C831-44C2-8A1C-0ADB6CCDFE69}">
        <p223:reactions xmlns:p223="http://schemas.microsoft.com/office/powerpoint/2022/03/main">
          <p223:rxn type="👍">
            <p223:instance time="2025-12-18T15:18:49.472" authorId="{A0983FDB-C865-0A92-860A-EE94860A2B27}"/>
          </p223:rxn>
        </p223:reactions>
      </p:ext>
    </p188:extLst>
  </p188:cm>
  <p188:cm id="{08AF25E0-70F4-4AB2-AE09-4102D5A772F8}" authorId="{AC9385C5-E5F7-4663-BC13-F5482E9DC9C1}" status="resolved" created="2025-12-03T01:48:50.207" complete="100000">
    <ac:deMkLst xmlns:ac="http://schemas.microsoft.com/office/drawing/2013/main/command">
      <pc:docMk xmlns:pc="http://schemas.microsoft.com/office/powerpoint/2013/main/command"/>
      <pc:sldMk xmlns:pc="http://schemas.microsoft.com/office/powerpoint/2013/main/command" cId="1498941877" sldId="2147480367"/>
      <ac:graphicFrameMk id="5" creationId="{23A32E30-AEA6-0EEB-CF86-118AF7D2830E}"/>
    </ac:deMkLst>
    <p188:replyLst>
      <p188:reply id="{30A03C72-6CC7-4C7C-92C9-A3433C7BEA7F}" authorId="{A0983FDB-C865-0A92-860A-EE94860A2B27}" created="2025-12-03T15:25:09.945">
        <p188:txBody>
          <a:bodyPr/>
          <a:lstStyle/>
          <a:p>
            <a:r>
              <a:rPr lang="fr-FR"/>
              <a:t>Tu as raison c’est du R3</a:t>
            </a:r>
          </a:p>
        </p188:txBody>
      </p188:reply>
    </p188:replyLst>
    <p188:txBody>
      <a:bodyPr/>
      <a:lstStyle/>
      <a:p>
        <a:r>
          <a:rPr lang="fr-CA"/>
          <a:t>15 - la saisie est faite par la ligne d’affaires, par OpFin? Quel est le processus? </a:t>
        </a:r>
      </a:p>
    </p188:txBody>
    <p188:extLst>
      <p:ext xmlns:p="http://schemas.openxmlformats.org/presentationml/2006/main" uri="{57CB4572-C831-44C2-8A1C-0ADB6CCDFE69}">
        <p223:reactions xmlns:p223="http://schemas.microsoft.com/office/powerpoint/2022/03/main">
          <p223:rxn type="👍">
            <p223:instance time="2025-12-03T15:27:51.548" authorId="{A0983FDB-C865-0A92-860A-EE94860A2B27}"/>
          </p223:rxn>
        </p223:reactions>
      </p:ext>
    </p188:extLst>
  </p188:cm>
  <p188:cm id="{24EB3695-6D34-47AF-8581-D03B61182D81}" authorId="{AC9385C5-E5F7-4663-BC13-F5482E9DC9C1}" status="resolved" created="2025-12-03T01:51:57.360" complete="100000">
    <ac:deMkLst xmlns:ac="http://schemas.microsoft.com/office/drawing/2013/main/command">
      <pc:docMk xmlns:pc="http://schemas.microsoft.com/office/powerpoint/2013/main/command"/>
      <pc:sldMk xmlns:pc="http://schemas.microsoft.com/office/powerpoint/2013/main/command" cId="1498941877" sldId="2147480367"/>
      <ac:graphicFrameMk id="5" creationId="{23A32E30-AEA6-0EEB-CF86-118AF7D2830E}"/>
    </ac:deMkLst>
    <p188:replyLst>
      <p188:reply id="{C715A994-5784-4029-A3AA-BFFFB9536283}" authorId="{A0983FDB-C865-0A92-860A-EE94860A2B27}" created="2025-12-03T15:29:12.835">
        <p188:txBody>
          <a:bodyPr/>
          <a:lstStyle/>
          <a:p>
            <a:r>
              <a:rPr lang="fr-FR"/>
              <a:t>C’est des règles d’affaire et exigence qui décrivent cela, ça vient plus en phase de réalisation / dossier d’affaire</a:t>
            </a:r>
          </a:p>
        </p188:txBody>
      </p188:reply>
    </p188:replyLst>
    <p188:txBody>
      <a:bodyPr/>
      <a:lstStyle/>
      <a:p>
        <a:r>
          <a:rPr lang="fr-CA"/>
          <a:t>Est-ce qu’on explique en qq part les controles qu’on mettra en place ? (ou trop détaillé pour l’architecture?) </a:t>
        </a:r>
      </a:p>
    </p188:txBody>
    <p188:extLst>
      <p:ext xmlns:p="http://schemas.openxmlformats.org/presentationml/2006/main" uri="{57CB4572-C831-44C2-8A1C-0ADB6CCDFE69}">
        <p223:reactions xmlns:p223="http://schemas.microsoft.com/office/powerpoint/2022/03/main">
          <p223:rxn type="👍">
            <p223:instance time="2025-12-03T15:29:14.135" authorId="{A0983FDB-C865-0A92-860A-EE94860A2B27}"/>
          </p223:rxn>
        </p223:reactions>
      </p:ext>
    </p188:extLst>
  </p188:cm>
</p188:cmLst>
</file>

<file path=ppt/comments/modernComment_7FFFF33E_3A442DCD.xml><?xml version="1.0" encoding="utf-8"?>
<p188:cmLst xmlns:a="http://schemas.openxmlformats.org/drawingml/2006/main" xmlns:r="http://schemas.openxmlformats.org/officeDocument/2006/relationships" xmlns:p188="http://schemas.microsoft.com/office/powerpoint/2018/8/main">
  <p188:cm id="{AA73149C-1872-4F2B-963A-FA8BADA98E8B}" authorId="{AC9385C5-E5F7-4663-BC13-F5482E9DC9C1}" created="2025-12-05T13:37:01.825" startDate="2025-12-05T13:37:01.825" dueDate="2025-12-05T13:37:01.825" assignedTo="{B29AA509-44E4-50DB-9F32-86616C5D8514}" title="@Auclair, Bianca J’ai en tete un visuel qui croise le détail des R et le détail des 3 objectifs. On s’en parle… (plus détaillé)">
    <pc:sldMkLst xmlns:pc="http://schemas.microsoft.com/office/powerpoint/2013/main/command">
      <pc:docMk/>
      <pc:sldMk cId="977546701" sldId="2147480382"/>
    </pc:sldMkLst>
    <p188:txBody>
      <a:bodyPr/>
      <a:lstStyle/>
      <a:p>
        <a:r>
          <a:rPr lang="fr-CA"/>
          <a:t>[@Auclair, Bianca]  J’ai en tete un visuel qui croise le détail des R et le détail des 3 objectifs. On s’en parle… (plus détaillé)</a:t>
        </a:r>
      </a:p>
    </p188:txBody>
    <p188:extLst>
      <p:ext xmlns:p="http://schemas.openxmlformats.org/presentationml/2006/main" uri="{5BB2D875-25FF-4072-B9AC-8F64D62656EB}">
        <p228:taskDetails xmlns:p228="http://schemas.microsoft.com/office/powerpoint/2022/08/main">
          <p228:history>
            <p228:event time="2025-12-05T13:37:01.825" id="{A666877B-A768-4153-A42F-F98EBD6CA521}">
              <p228:atrbtn authorId="{AC9385C5-E5F7-4663-BC13-F5482E9DC9C1}"/>
              <p228:anchr>
                <p228:comment id="{AA73149C-1872-4F2B-963A-FA8BADA98E8B}"/>
              </p228:anchr>
              <p228:add/>
            </p228:event>
            <p228:event time="2025-12-05T13:37:01.825" id="{492E3715-06E8-4684-A817-2CE345CD782F}">
              <p228:atrbtn authorId="{AC9385C5-E5F7-4663-BC13-F5482E9DC9C1}"/>
              <p228:anchr>
                <p228:comment id="{AA73149C-1872-4F2B-963A-FA8BADA98E8B}"/>
              </p228:anchr>
              <p228:asgn authorId="{B29AA509-44E4-50DB-9F32-86616C5D8514}"/>
            </p228:event>
            <p228:event time="2025-12-05T13:37:01.825" id="{CF24C5FA-1B93-4676-9308-A2CA70AD8D3C}">
              <p228:atrbtn authorId="{AC9385C5-E5F7-4663-BC13-F5482E9DC9C1}"/>
              <p228:anchr>
                <p228:comment id="{AA73149C-1872-4F2B-963A-FA8BADA98E8B}"/>
              </p228:anchr>
              <p228:title val="@Auclair, Bianca J’ai en tete un visuel qui croise le détail des R et le détail des 3 objectifs. On s’en parle… (plus détaillé)"/>
            </p228:event>
            <p228:event time="2025-12-05T13:37:01.825" id="{637EB286-A9B2-4A6C-B581-8FCBE75313EC}">
              <p228:atrbtn authorId="{AC9385C5-E5F7-4663-BC13-F5482E9DC9C1}"/>
              <p228:anchr>
                <p228:comment id="{AA73149C-1872-4F2B-963A-FA8BADA98E8B}"/>
              </p228:anchr>
              <p228:date stDt="2025-12-05T13:37:01.825" endDt="2025-12-05T13:37:01.825"/>
            </p228:event>
          </p228:history>
        </p228:taskDetails>
      </p:ext>
    </p188:extLst>
  </p188:cm>
</p188:cmLst>
</file>

<file path=ppt/comments/modernComment_7FFFF324_A4367F37.xml><?xml version="1.0" encoding="utf-8"?>
<p188:cmLst xmlns:a="http://schemas.openxmlformats.org/drawingml/2006/main" xmlns:r="http://schemas.openxmlformats.org/officeDocument/2006/relationships" xmlns:p188="http://schemas.microsoft.com/office/powerpoint/2018/8/main">
  <p188:cm id="{7C73429E-1117-4DD7-9757-D6BFDC35734E}" authorId="{AC9385C5-E5F7-4663-BC13-F5482E9DC9C1}" status="resolved" created="2025-12-03T01:35:26.102" complete="100000">
    <ac:txMkLst xmlns:ac="http://schemas.microsoft.com/office/drawing/2013/main/command">
      <pc:docMk xmlns:pc="http://schemas.microsoft.com/office/powerpoint/2013/main/command"/>
      <pc:sldMk xmlns:pc="http://schemas.microsoft.com/office/powerpoint/2013/main/command" cId="2755034935" sldId="2147480356"/>
      <ac:spMk id="3" creationId="{06BBEAC0-C4D1-07D6-390D-B06B41971682}"/>
      <ac:txMk cp="279" len="6">
        <ac:context len="518" hash="953660896"/>
      </ac:txMk>
    </ac:txMkLst>
    <p188:pos x="993790" y="889757"/>
    <p188:txBody>
      <a:bodyPr/>
      <a:lstStyle/>
      <a:p>
        <a:r>
          <a:rPr lang="fr-CA"/>
          <a:t>Est-ce que la cartographie inclut: définir les R&amp;R, identifier les risques et les controles… on fait la cartographie dans quel but</a:t>
        </a:r>
      </a:p>
    </p188:txBody>
  </p188:cm>
</p188:cmLst>
</file>

<file path=ppt/comments/modernComment_7FFFF325_BA793242.xml><?xml version="1.0" encoding="utf-8"?>
<p188:cmLst xmlns:a="http://schemas.openxmlformats.org/drawingml/2006/main" xmlns:r="http://schemas.openxmlformats.org/officeDocument/2006/relationships" xmlns:p188="http://schemas.microsoft.com/office/powerpoint/2018/8/main">
  <p188:cm id="{3133778D-0C11-450B-80E9-AB1B6BAF664E}" authorId="{AC9385C5-E5F7-4663-BC13-F5482E9DC9C1}" status="resolved" created="2025-12-03T01:34:03.256" complete="100000">
    <ac:txMkLst xmlns:ac="http://schemas.microsoft.com/office/drawing/2013/main/command">
      <pc:docMk xmlns:pc="http://schemas.microsoft.com/office/powerpoint/2013/main/command"/>
      <pc:sldMk xmlns:pc="http://schemas.microsoft.com/office/powerpoint/2013/main/command" cId="3128504898" sldId="2147480357"/>
      <ac:spMk id="3" creationId="{AC35ABCD-7E07-B25E-D6E3-ED724D88B1C3}"/>
      <ac:txMk cp="371">
        <ac:context len="411" hash="1553782308"/>
      </ac:txMk>
    </ac:txMkLst>
    <p188:pos x="1509047" y="3857929"/>
    <p188:txBody>
      <a:bodyPr/>
      <a:lstStyle/>
      <a:p>
        <a:r>
          <a:rPr lang="fr-CA"/>
          <a:t>Tu veux dire le déploiement?</a:t>
        </a:r>
      </a:p>
    </p188:txBody>
    <p188:extLst>
      <p:ext xmlns:p="http://schemas.openxmlformats.org/presentationml/2006/main" uri="{57CB4572-C831-44C2-8A1C-0ADB6CCDFE69}">
        <p223:reactions xmlns:p223="http://schemas.microsoft.com/office/powerpoint/2022/03/main">
          <p223:rxn type="👍">
            <p223:instance time="2025-12-03T15:08:04.591" authorId="{A0983FDB-C865-0A92-860A-EE94860A2B27}"/>
          </p223:rxn>
        </p223:reactions>
      </p:ext>
    </p188:extLst>
  </p188:cm>
  <p188:cm id="{E84A7F01-41AD-49B8-A0E2-3BF2BD6AE06E}" authorId="{CD0735B6-0293-E85D-990F-23C65E27354C}" status="resolved" created="2025-12-03T13:58:56.670" complete="100000">
    <ac:txMkLst xmlns:ac="http://schemas.microsoft.com/office/drawing/2013/main/command">
      <pc:docMk xmlns:pc="http://schemas.microsoft.com/office/powerpoint/2013/main/command"/>
      <pc:sldMk xmlns:pc="http://schemas.microsoft.com/office/powerpoint/2013/main/command" cId="3128504898" sldId="2147480357"/>
      <ac:spMk id="3" creationId="{AC35ABCD-7E07-B25E-D6E3-ED724D88B1C3}"/>
      <ac:txMk cp="171" len="24">
        <ac:context len="411" hash="1553782308"/>
      </ac:txMk>
    </ac:txMkLst>
    <p188:pos x="3100516" y="888624"/>
    <p188:txBody>
      <a:bodyPr/>
      <a:lstStyle/>
      <a:p>
        <a:r>
          <a:rPr lang="fr-CA"/>
          <a:t>Est-ce qu’on précise entre qui et qui? Surtout avec Tréso et également dans le contexte de la mise en place du module de fraude.</a:t>
        </a:r>
      </a:p>
    </p188:txBody>
    <p188:extLst>
      <p:ext xmlns:p="http://schemas.openxmlformats.org/presentationml/2006/main" uri="{57CB4572-C831-44C2-8A1C-0ADB6CCDFE69}">
        <p223:reactions xmlns:p223="http://schemas.microsoft.com/office/powerpoint/2022/03/main">
          <p223:rxn type="👍">
            <p223:instance time="2025-12-04T02:47:45.752" authorId="{A0983FDB-C865-0A92-860A-EE94860A2B27}"/>
          </p223:rxn>
        </p223:reactions>
      </p:ext>
    </p188:extLst>
  </p188:cm>
  <p188:cm id="{7A6B9BF7-34C6-495A-BF1D-E36FB2B8ADC3}" authorId="{AC9385C5-E5F7-4663-BC13-F5482E9DC9C1}" status="resolved" created="2025-12-03T14:10:33.379" complete="100000">
    <pc:sldMkLst xmlns:pc="http://schemas.microsoft.com/office/powerpoint/2013/main/command">
      <pc:docMk/>
      <pc:sldMk cId="3128504898" sldId="2147480357"/>
    </pc:sldMkLst>
    <p188:replyLst>
      <p188:reply id="{C62FAE28-F2C1-4C56-ADA7-2FE3F6714763}" authorId="{A0983FDB-C865-0A92-860A-EE94860A2B27}" created="2025-12-03T15:12:54.737">
        <p188:txBody>
          <a:bodyPr/>
          <a:lstStyle/>
          <a:p>
            <a:r>
              <a:rPr lang="fr-FR"/>
              <a:t>Exemple : si c’est obligation pour les filiales intégrés a Oracle de passer par le CSP pour leur paiements ? Pareille pour les lignes d’affaire ? Je pense que ça va être le output du projet Finance+ si ma comprehension est bonne  </a:t>
            </a:r>
          </a:p>
        </p188:txBody>
      </p188:reply>
    </p188:replyLst>
    <p188:txBody>
      <a:bodyPr/>
      <a:lstStyle/>
      <a:p>
        <a:r>
          <a:rPr lang="fr-CA"/>
          <a:t>Quels positionnements? Devrions nous en lister? </a:t>
        </a:r>
      </a:p>
    </p188:txBody>
    <p188:extLst>
      <p:ext xmlns:p="http://schemas.openxmlformats.org/presentationml/2006/main" uri="{57CB4572-C831-44C2-8A1C-0ADB6CCDFE69}">
        <p223:reactions xmlns:p223="http://schemas.microsoft.com/office/powerpoint/2022/03/main">
          <p223:rxn type="👍">
            <p223:instance time="2025-12-04T02:47:55.104" authorId="{A0983FDB-C865-0A92-860A-EE94860A2B27}"/>
          </p223:rxn>
        </p223:reactions>
      </p:ext>
    </p188:extLst>
  </p188:cm>
  <p188:cm id="{021BDDF3-5D4C-4C18-866F-F041A2903232}" authorId="{A0983FDB-C865-0A92-860A-EE94860A2B27}" status="resolved" created="2025-12-17T19:48:26.308" complete="100000">
    <ac:txMkLst xmlns:ac="http://schemas.microsoft.com/office/drawing/2013/main/command">
      <pc:docMk xmlns:pc="http://schemas.microsoft.com/office/powerpoint/2013/main/command"/>
      <pc:sldMk xmlns:pc="http://schemas.microsoft.com/office/powerpoint/2013/main/command" cId="3128504898" sldId="2147480357"/>
      <ac:graphicFrameMk id="4" creationId="{EC5EB2A9-88BB-CD96-30F7-A66DF727E190}"/>
      <ac:tblMk/>
      <ac:tcMk rowId="1132158584" colId="3229427417"/>
      <ac:txMk cp="0" len="3">
        <ac:context len="4" hash="1855801"/>
      </ac:txMk>
    </ac:txMkLst>
    <p188:txBody>
      <a:bodyPr/>
      <a:lstStyle/>
      <a:p>
        <a:r>
          <a:rPr lang="fr-FR"/>
          <a:t>Le mettre en camamber pourcentage</a:t>
        </a:r>
      </a:p>
    </p188:txBody>
  </p188:cm>
</p188:cmLst>
</file>

<file path=ppt/comments/modernComment_7FFFF326_A40C615C.xml><?xml version="1.0" encoding="utf-8"?>
<p188:cmLst xmlns:a="http://schemas.openxmlformats.org/drawingml/2006/main" xmlns:r="http://schemas.openxmlformats.org/officeDocument/2006/relationships" xmlns:p188="http://schemas.microsoft.com/office/powerpoint/2018/8/main">
  <p188:cm id="{F6E5136F-A4E1-4049-9A46-5BE83B4B9CC3}" authorId="{AC9385C5-E5F7-4663-BC13-F5482E9DC9C1}" status="resolved" created="2025-12-03T01:40:20.458" complete="100000">
    <ac:deMkLst xmlns:ac="http://schemas.microsoft.com/office/drawing/2013/main/command">
      <pc:docMk xmlns:pc="http://schemas.microsoft.com/office/powerpoint/2013/main/command"/>
      <pc:sldMk xmlns:pc="http://schemas.microsoft.com/office/powerpoint/2013/main/command" cId="2752274780" sldId="2147480358"/>
      <ac:graphicFrameMk id="7" creationId="{5F4E6685-B31C-7B29-2B37-36607DC40EDE}"/>
    </ac:deMkLst>
    <p188:txBody>
      <a:bodyPr/>
      <a:lstStyle/>
      <a:p>
        <a:r>
          <a:rPr lang="fr-CA"/>
          <a:t>Est-ce que la complexité des solutions est une contrainte? Disponibilité des ressources? (présent dans tous les projets..) </a:t>
        </a:r>
      </a:p>
    </p188:txBody>
  </p188:cm>
  <p188:cm id="{B3ABD06F-E004-4D87-9E7A-64F9892A459D}" authorId="{AC9385C5-E5F7-4663-BC13-F5482E9DC9C1}" status="resolved" created="2025-12-03T01:51:14.899" complete="100000">
    <pc:sldMkLst xmlns:pc="http://schemas.microsoft.com/office/powerpoint/2013/main/command">
      <pc:docMk/>
      <pc:sldMk cId="2752274780" sldId="2147480358"/>
    </pc:sldMkLst>
    <p188:replyLst>
      <p188:reply id="{B3DEA452-CB44-4828-BBBE-4EC0416E4BD7}" authorId="{A0983FDB-C865-0A92-860A-EE94860A2B27}" created="2025-12-03T15:14:53.516">
        <p188:txBody>
          <a:bodyPr/>
          <a:lstStyle/>
          <a:p>
            <a:r>
              <a:rPr lang="fr-FR"/>
              <a:t>Oui ça doit venir un peu plus tard dans le document</a:t>
            </a:r>
          </a:p>
        </p188:txBody>
      </p188:reply>
    </p188:replyLst>
    <p188:txBody>
      <a:bodyPr/>
      <a:lstStyle/>
      <a:p>
        <a:r>
          <a:rPr lang="fr-CA"/>
          <a:t>Est-ce que les risques devraient apparaitre en qq part dans cette analyse? </a:t>
        </a:r>
      </a:p>
    </p188:txBody>
    <p188:extLst>
      <p:ext xmlns:p="http://schemas.openxmlformats.org/presentationml/2006/main" uri="{57CB4572-C831-44C2-8A1C-0ADB6CCDFE69}">
        <p223:reactions xmlns:p223="http://schemas.microsoft.com/office/powerpoint/2022/03/main">
          <p223:rxn type="👍">
            <p223:instance time="2025-12-03T15:15:52.110" authorId="{A0983FDB-C865-0A92-860A-EE94860A2B27}"/>
          </p223:rxn>
        </p223:reactions>
      </p:ext>
    </p188:extLst>
  </p188:cm>
  <p188:cm id="{C3F13C4A-7BC1-4C2B-9C4D-2B001B887D8C}" authorId="{CD0735B6-0293-E85D-990F-23C65E27354C}" status="resolved" created="2025-12-03T14:00:20.128" complete="100000">
    <ac:txMkLst xmlns:ac="http://schemas.microsoft.com/office/drawing/2013/main/command">
      <pc:docMk xmlns:pc="http://schemas.microsoft.com/office/powerpoint/2013/main/command"/>
      <pc:sldMk xmlns:pc="http://schemas.microsoft.com/office/powerpoint/2013/main/command" cId="2752274780" sldId="2147480358"/>
      <ac:graphicFrameMk id="7" creationId="{5F4E6685-B31C-7B29-2B37-36607DC40EDE}"/>
      <dc:dgmMk xmlns:dc="http://schemas.microsoft.com/office/drawing/2013/diagram/command"/>
      <dc:nodeMk xmlns:dc="http://schemas.microsoft.com/office/drawing/2013/diagram/command" id="{2D6A0F9A-115C-4929-8320-82971493253B}"/>
      <ac:txMk cp="23" len="4">
        <ac:context len="72" hash="144852020"/>
      </ac:txMk>
    </ac:txMkLst>
    <p188:pos x="2525294" y="1713800"/>
    <p188:txBody>
      <a:bodyPr/>
      <a:lstStyle/>
      <a:p>
        <a:r>
          <a:rPr lang="fr-CA"/>
          <a:t>Fin du contrat avec le fournisseur de trax en mai 2027</a:t>
        </a:r>
      </a:p>
    </p188:txBody>
    <p188:extLst>
      <p:ext xmlns:p="http://schemas.openxmlformats.org/presentationml/2006/main" uri="{57CB4572-C831-44C2-8A1C-0ADB6CCDFE69}">
        <p223:reactions xmlns:p223="http://schemas.microsoft.com/office/powerpoint/2022/03/main">
          <p223:rxn type="👍">
            <p223:instance time="2025-12-04T14:28:19.542" authorId="{A0983FDB-C865-0A92-860A-EE94860A2B27}"/>
          </p223:rxn>
        </p223:reactions>
      </p:ext>
    </p188:extLst>
  </p188:cm>
  <p188:cm id="{416C8F4C-212E-498D-BBC5-5095BC4C2EF8}" authorId="{CD0735B6-0293-E85D-990F-23C65E27354C}" status="resolved" created="2025-12-03T20:19:04.568" complete="100000">
    <ac:txMkLst xmlns:ac="http://schemas.microsoft.com/office/drawing/2013/main/command">
      <pc:docMk xmlns:pc="http://schemas.microsoft.com/office/powerpoint/2013/main/command"/>
      <pc:sldMk xmlns:pc="http://schemas.microsoft.com/office/powerpoint/2013/main/command" cId="2752274780" sldId="2147480358"/>
      <ac:graphicFrameMk id="7" creationId="{5F4E6685-B31C-7B29-2B37-36607DC40EDE}"/>
      <dc:dgmMk xmlns:dc="http://schemas.microsoft.com/office/drawing/2013/diagram/command"/>
      <dc:nodeMk xmlns:dc="http://schemas.microsoft.com/office/drawing/2013/diagram/command" id="{A64D2028-6658-47D3-A1E8-4E67ADEEAF5C}"/>
      <ac:txMk cp="22" len="26">
        <ac:context len="49" hash="2862373896"/>
      </ac:txMk>
    </ac:txMkLst>
    <p188:pos x="2711032" y="2590639"/>
    <p188:txBody>
      <a:bodyPr/>
      <a:lstStyle/>
      <a:p>
        <a:r>
          <a:rPr lang="fr-CA"/>
          <a:t>Désuétude est sur opérations sur les cheques et non opérations bancaires</a:t>
        </a:r>
      </a:p>
    </p188:txBody>
    <p188:extLst>
      <p:ext xmlns:p="http://schemas.openxmlformats.org/presentationml/2006/main" uri="{57CB4572-C831-44C2-8A1C-0ADB6CCDFE69}">
        <p223:reactions xmlns:p223="http://schemas.microsoft.com/office/powerpoint/2022/03/main">
          <p223:rxn type="👍">
            <p223:instance time="2025-12-04T14:29:33.845" authorId="{A0983FDB-C865-0A92-860A-EE94860A2B27}"/>
          </p223:rxn>
        </p223:reactions>
      </p:ext>
    </p188:extLst>
  </p188:cm>
  <p188:cm id="{D9B00189-62C9-45FB-8591-FF36981FF26C}" authorId="{BC568A3A-F3A9-EB30-6C8C-C68855561EC9}" status="resolved" created="2025-12-12T15:31:50.240" complete="100000">
    <ac:txMkLst xmlns:ac="http://schemas.microsoft.com/office/drawing/2013/main/command">
      <pc:docMk xmlns:pc="http://schemas.microsoft.com/office/powerpoint/2013/main/command"/>
      <pc:sldMk xmlns:pc="http://schemas.microsoft.com/office/powerpoint/2013/main/command" cId="2752274780" sldId="2147480358"/>
      <ac:graphicFrameMk id="7" creationId="{5F4E6685-B31C-7B29-2B37-36607DC40EDE}"/>
      <dc:dgmMk xmlns:dc="http://schemas.microsoft.com/office/drawing/2013/diagram/command"/>
      <dc:nodeMk xmlns:dc="http://schemas.microsoft.com/office/drawing/2013/diagram/command" id="{3C32C508-8C0B-4E2B-A7AF-2BDB94E10EA2}"/>
      <ac:txMk cp="0" len="116">
        <ac:context len="120" hash="3694268719"/>
      </ac:txMk>
    </ac:txMkLst>
    <p188:pos x="3018213" y="4106605"/>
    <p188:replyLst>
      <p188:reply id="{CB53C59B-8D2D-4F35-B466-ECD4FE615C82}" authorId="{A0983FDB-C865-0A92-860A-EE94860A2B27}" created="2025-12-18T15:04:49.857">
        <p188:txBody>
          <a:bodyPr/>
          <a:lstStyle/>
          <a:p>
            <a:r>
              <a:rPr lang="fr-FR"/>
              <a:t>Nous avons écarté cette dépendance ont transférant l’analyse au niveau de l’architecture d’entreprise</a:t>
            </a:r>
          </a:p>
        </p188:txBody>
      </p188:reply>
    </p188:replyLst>
    <p188:txBody>
      <a:bodyPr/>
      <a:lstStyle/>
      <a:p>
        <a:r>
          <a:rPr lang="fr-CA"/>
          <a:t>Devrait-on inclure ici le sujet des coordonnées bancaires aussi?</a:t>
        </a:r>
      </a:p>
    </p188:txBody>
  </p188:cm>
</p188:cmLst>
</file>

<file path=ppt/comments/modernComment_7FFFF330_7F6E51DA.xml><?xml version="1.0" encoding="utf-8"?>
<p188:cmLst xmlns:a="http://schemas.openxmlformats.org/drawingml/2006/main" xmlns:r="http://schemas.openxmlformats.org/officeDocument/2006/relationships" xmlns:p188="http://schemas.microsoft.com/office/powerpoint/2018/8/main">
  <p188:cm id="{5E154164-B65A-49FB-A75F-EE9B095FF5A0}" authorId="{CD0735B6-0293-E85D-990F-23C65E27354C}" status="resolved" created="2025-12-03T21:09:58.648" complete="100000">
    <ac:deMkLst xmlns:ac="http://schemas.microsoft.com/office/drawing/2013/main/command">
      <pc:docMk xmlns:pc="http://schemas.microsoft.com/office/powerpoint/2013/main/command"/>
      <pc:sldMk xmlns:pc="http://schemas.microsoft.com/office/powerpoint/2013/main/command" cId="2137936346" sldId="2147480368"/>
      <ac:graphicFrameMk id="5" creationId="{DF328D30-4672-4FE2-2E36-89A1A35FC027}"/>
    </ac:deMkLst>
    <p188:txBody>
      <a:bodyPr/>
      <a:lstStyle/>
      <a:p>
        <a:r>
          <a:rPr lang="fr-CA"/>
          <a:t>Pouvoir comptabiliser un rejet ou péremption de chèque automatiquement dans une combinaison comptable différente de celle de l’émission.</a:t>
        </a:r>
      </a:p>
    </p188:txBody>
    <p188:extLst>
      <p:ext xmlns:p="http://schemas.openxmlformats.org/presentationml/2006/main" uri="{57CB4572-C831-44C2-8A1C-0ADB6CCDFE69}">
        <p223:reactions xmlns:p223="http://schemas.microsoft.com/office/powerpoint/2022/03/main">
          <p223:rxn type="👍">
            <p223:instance time="2025-12-04T01:56:37.265" authorId="{A0983FDB-C865-0A92-860A-EE94860A2B27}"/>
          </p223:rxn>
        </p223:reactions>
      </p:ext>
    </p188:extLst>
  </p188:cm>
</p188:cmLst>
</file>

<file path=ppt/comments/modernComment_7FFFF335_C9BE1988.xml><?xml version="1.0" encoding="utf-8"?>
<p188:cmLst xmlns:a="http://schemas.openxmlformats.org/drawingml/2006/main" xmlns:r="http://schemas.openxmlformats.org/officeDocument/2006/relationships" xmlns:p188="http://schemas.microsoft.com/office/powerpoint/2018/8/main">
  <p188:cm id="{1EEC2C93-B085-48D2-A001-52633D841B0E}" authorId="{A0983FDB-C865-0A92-860A-EE94860A2B27}" created="2025-12-03T16:38:13.564">
    <pc:sldMkLst xmlns:pc="http://schemas.microsoft.com/office/powerpoint/2013/main/command">
      <pc:docMk/>
      <pc:sldMk cId="3384678792" sldId="2147480373"/>
    </pc:sldMkLst>
    <p188:txBody>
      <a:bodyPr/>
      <a:lstStyle/>
      <a:p>
        <a:r>
          <a:rPr lang="fr-FR"/>
          <a:t>Premier jet à revoir ensemble</a:t>
        </a:r>
      </a:p>
    </p188:txBody>
  </p188:cm>
</p188:cmLst>
</file>

<file path=ppt/comments/modernComment_7FFFF336_F8621731.xml><?xml version="1.0" encoding="utf-8"?>
<p188:cmLst xmlns:a="http://schemas.openxmlformats.org/drawingml/2006/main" xmlns:r="http://schemas.openxmlformats.org/officeDocument/2006/relationships" xmlns:p188="http://schemas.microsoft.com/office/powerpoint/2018/8/main">
  <p188:cm id="{50049499-C19E-4288-8464-84B23A9CDEB1}" authorId="{CD0735B6-0293-E85D-990F-23C65E27354C}" status="resolved" created="2025-12-03T21:16:24.390" complete="100000">
    <ac:deMkLst xmlns:ac="http://schemas.microsoft.com/office/drawing/2013/main/command">
      <pc:docMk xmlns:pc="http://schemas.microsoft.com/office/powerpoint/2013/main/command"/>
      <pc:sldMk xmlns:pc="http://schemas.microsoft.com/office/powerpoint/2013/main/command" cId="4167178033" sldId="2147480374"/>
      <ac:graphicFrameMk id="4" creationId="{4366B80C-2C99-24A6-1A54-863D2EFA9A23}"/>
    </ac:deMkLst>
    <p188:replyLst>
      <p188:reply id="{262941A2-6354-4AC6-A0BE-E1025C164AD2}" authorId="{CD0735B6-0293-E85D-990F-23C65E27354C}" created="2025-12-03T21:16:50.941">
        <p188:txBody>
          <a:bodyPr/>
          <a:lstStyle/>
          <a:p>
            <a:r>
              <a:rPr lang="fr-CA"/>
              <a:t>Projet avec Flinks? AA: Romain Bonnet</a:t>
            </a:r>
          </a:p>
        </p188:txBody>
        <p188:extLst>
          <p:ext xmlns:p="http://schemas.openxmlformats.org/presentationml/2006/main" uri="{57CB4572-C831-44C2-8A1C-0ADB6CCDFE69}">
            <p223:reactions xmlns:p223="http://schemas.microsoft.com/office/powerpoint/2022/03/main">
              <p223:rxn type="👍">
                <p223:instance time="2025-12-04T14:07:08.014" authorId="{A0983FDB-C865-0A92-860A-EE94860A2B27}"/>
              </p223:rxn>
            </p223:reactions>
          </p:ext>
        </p188:extLst>
      </p188:reply>
      <p188:reply id="{EF30AD9C-F4CF-4782-B7A6-7662F9DBBF81}" authorId="{A0983FDB-C865-0A92-860A-EE94860A2B27}" created="2025-12-04T14:07:36.046">
        <p188:txBody>
          <a:bodyPr/>
          <a:lstStyle/>
          <a:p>
            <a:r>
              <a:rPr lang="fr-FR"/>
              <a:t>Non le contenue de cette diapo n’est pas à jour c’est copier coller ^^</a:t>
            </a:r>
          </a:p>
        </p188:txBody>
      </p188:reply>
    </p188:replyLst>
    <p188:txBody>
      <a:bodyPr/>
      <a:lstStyle/>
      <a:p>
        <a:r>
          <a:rPr lang="fr-CA"/>
          <a:t>Modernia? Global CX par rapport aux coordonnées bancaires? </a:t>
        </a:r>
      </a:p>
    </p188:txBody>
    <p188:extLst>
      <p:ext xmlns:p="http://schemas.openxmlformats.org/presentationml/2006/main" uri="{57CB4572-C831-44C2-8A1C-0ADB6CCDFE69}">
        <p223:reactions xmlns:p223="http://schemas.microsoft.com/office/powerpoint/2022/03/main">
          <p223:rxn type="👍">
            <p223:instance time="2025-12-04T14:07:09.458" authorId="{A0983FDB-C865-0A92-860A-EE94860A2B27}"/>
          </p223:rxn>
        </p223:reactions>
      </p:ext>
    </p188:extLst>
  </p188:cm>
</p188:cmLst>
</file>

<file path=ppt/comments/modernComment_7FFFF340_D5273233.xml><?xml version="1.0" encoding="utf-8"?>
<p188:cmLst xmlns:a="http://schemas.openxmlformats.org/drawingml/2006/main" xmlns:r="http://schemas.openxmlformats.org/officeDocument/2006/relationships" xmlns:p188="http://schemas.microsoft.com/office/powerpoint/2018/8/main">
  <p188:cm id="{B57941BF-0CB5-4940-8501-AC4998235D16}" authorId="{CD0735B6-0293-E85D-990F-23C65E27354C}" status="resolved" created="2025-12-18T18:29:11.572" complete="100000">
    <ac:txMkLst xmlns:ac="http://schemas.microsoft.com/office/drawing/2013/main/command">
      <pc:docMk xmlns:pc="http://schemas.microsoft.com/office/powerpoint/2013/main/command"/>
      <pc:sldMk xmlns:pc="http://schemas.microsoft.com/office/powerpoint/2013/main/command" cId="3576115763" sldId="2147480384"/>
      <ac:graphicFrameMk id="6" creationId="{CB2B7561-3644-F66F-4CB1-8EFBAAD3ABEE}"/>
      <ac:tblMk/>
      <ac:tcMk rowId="4200649479" colId="2908348383"/>
      <ac:txMk cp="273">
        <ac:context len="494" hash="1273245183"/>
      </ac:txMk>
    </ac:txMkLst>
    <p188:pos x="8356767" y="1424697"/>
    <p188:txBody>
      <a:bodyPr/>
      <a:lstStyle/>
      <a:p>
        <a:r>
          <a:rPr lang="fr-CA"/>
          <a:t>On va quand même le faire en regroupement de paiements lorsque la banque le fait de cette façon, mais avec les mêmes transactions dans le regroupement. Donc regroupement des transactions de la comptabilité basé sur le réel de la banque.</a:t>
        </a:r>
      </a:p>
    </p188:txBody>
    <p188:extLst>
      <p:ext xmlns:p="http://schemas.openxmlformats.org/presentationml/2006/main" uri="{57CB4572-C831-44C2-8A1C-0ADB6CCDFE69}">
        <p223:reactions xmlns:p223="http://schemas.microsoft.com/office/powerpoint/2022/03/main">
          <p223:rxn type="👍">
            <p223:instance time="2025-12-18T19:45:57.341" authorId="{A0983FDB-C865-0A92-860A-EE94860A2B27}"/>
          </p223:rxn>
        </p223:reactions>
      </p:ext>
    </p188:extLst>
  </p188:cm>
</p188:cmLst>
</file>

<file path=ppt/comments/modernComment_12C_9CE8506C.xml><?xml version="1.0" encoding="utf-8"?>
<p188:cmLst xmlns:a="http://schemas.openxmlformats.org/drawingml/2006/main" xmlns:r="http://schemas.openxmlformats.org/officeDocument/2006/relationships" xmlns:p188="http://schemas.microsoft.com/office/powerpoint/2018/8/main">
  <p188:cm id="{62ECA362-BB06-4848-9B34-88359638EF1C}" authorId="{A0983FDB-C865-0A92-860A-EE94860A2B27}" status="resolved" created="2025-12-05T16:19:08.254" startDate="2025-12-05T16:19:08.254" dueDate="2025-12-05T16:19:08.254" assignedTo="{CD0735B6-0293-E85D-990F-23C65E27354C}" complete="100000" title="@Blais-Boilard, Andréanne svp est ce que tu pourrai réviser ces 2 diapo svp et me dire si tu vois d’autre axe de changement majeurs ?">
    <pc:sldMkLst xmlns:pc="http://schemas.microsoft.com/office/powerpoint/2013/main/command">
      <pc:docMk/>
      <pc:sldMk cId="2632470636" sldId="300"/>
    </pc:sldMkLst>
    <p188:txBody>
      <a:bodyPr/>
      <a:lstStyle/>
      <a:p>
        <a:r>
          <a:rPr lang="fr-FR"/>
          <a:t>[@Blais-Boilard, Andréanne]  svp est ce que tu pourrai réviser ces 2 diapo svp et me dire si tu vois d’autre axe de changement majeurs ?</a:t>
        </a:r>
      </a:p>
    </p188:txBody>
    <p188:extLst>
      <p:ext xmlns:p="http://schemas.openxmlformats.org/presentationml/2006/main" uri="{5BB2D875-25FF-4072-B9AC-8F64D62656EB}">
        <p228:taskDetails xmlns:p228="http://schemas.microsoft.com/office/powerpoint/2022/08/main">
          <p228:history>
            <p228:event time="2025-12-05T16:19:08.254" id="{B58C92E8-7A66-4DF5-BDB1-2FAC933551C1}">
              <p228:atrbtn authorId="{A0983FDB-C865-0A92-860A-EE94860A2B27}"/>
              <p228:anchr>
                <p228:comment id="{62ECA362-BB06-4848-9B34-88359638EF1C}"/>
              </p228:anchr>
              <p228:add/>
            </p228:event>
            <p228:event time="2025-12-05T16:19:08.254" id="{EBEE8923-CECF-4CE1-9BA6-729E65A1D28C}">
              <p228:atrbtn authorId="{A0983FDB-C865-0A92-860A-EE94860A2B27}"/>
              <p228:anchr>
                <p228:comment id="{62ECA362-BB06-4848-9B34-88359638EF1C}"/>
              </p228:anchr>
              <p228:asgn authorId="{CD0735B6-0293-E85D-990F-23C65E27354C}"/>
            </p228:event>
            <p228:event time="2025-12-05T16:19:08.254" id="{275F8CA4-63A2-4296-890B-1DE900F6BD61}">
              <p228:atrbtn authorId="{A0983FDB-C865-0A92-860A-EE94860A2B27}"/>
              <p228:anchr>
                <p228:comment id="{62ECA362-BB06-4848-9B34-88359638EF1C}"/>
              </p228:anchr>
              <p228:title val="@Blais-Boilard, Andréanne svp est ce que tu pourrai réviser ces 2 diapo svp et me dire si tu vois d’autre axe de changement majeurs ?"/>
            </p228:event>
            <p228:event time="2025-12-05T16:19:08.254" id="{4AE295A5-94CE-4AF2-818A-96847038079F}">
              <p228:atrbtn authorId="{A0983FDB-C865-0A92-860A-EE94860A2B27}"/>
              <p228:anchr>
                <p228:comment id="{62ECA362-BB06-4848-9B34-88359638EF1C}"/>
              </p228:anchr>
              <p228:date stDt="2025-12-05T16:19:08.254" endDt="2025-12-05T16:19:08.254"/>
            </p228:event>
            <p228:event time="2025-12-18T15:19:31.831" id="{8D00753B-7F02-473A-B139-CC64B765E79D}">
              <p228:atrbtn authorId="{A0983FDB-C865-0A92-860A-EE94860A2B27}"/>
              <p228:anchr>
                <p228:comment id="{00000000-0000-0000-0000-000000000000}"/>
              </p228:anchr>
              <p228:pcntCmplt val="100000"/>
            </p228:event>
          </p228:history>
        </p228:taskDetails>
      </p:ext>
    </p188:extLst>
  </p188:cm>
  <p188:cm id="{8ED8442C-DEB6-4840-8C7C-E71C23925CDC}" authorId="{BC568A3A-F3A9-EB30-6C8C-C68855561EC9}" status="resolved" created="2025-12-12T15:55:44.778" complete="100000">
    <ac:txMkLst xmlns:ac="http://schemas.microsoft.com/office/drawing/2013/main/command">
      <pc:docMk xmlns:pc="http://schemas.microsoft.com/office/powerpoint/2013/main/command"/>
      <pc:sldMk xmlns:pc="http://schemas.microsoft.com/office/powerpoint/2013/main/command" cId="2632470636" sldId="300"/>
      <ac:graphicFrameMk id="6" creationId="{152B70A0-E250-0C99-5670-689F3A2F0B67}"/>
      <ac:tblMk/>
      <ac:tcMk rowId="1268558728" colId="2908348383"/>
      <ac:txMk cp="80" len="126">
        <ac:context len="207" hash="488126531"/>
      </ac:txMk>
    </ac:txMkLst>
    <p188:pos x="6461632" y="2676895"/>
    <p188:replyLst>
      <p188:reply id="{25D32B94-FAA9-47C8-B6A0-98913F6E0E81}" authorId="{A0983FDB-C865-0A92-860A-EE94860A2B27}" created="2025-12-18T15:58:56.731">
        <p188:txBody>
          <a:bodyPr/>
          <a:lstStyle/>
          <a:p>
            <a:r>
              <a:rPr lang="fr-FR"/>
              <a:t>Tres bon point 
Je l’ai ajouté dans la section Paiement par chèques</a:t>
            </a:r>
          </a:p>
        </p188:txBody>
      </p188:reply>
    </p188:replyLst>
    <p188:txBody>
      <a:bodyPr/>
      <a:lstStyle/>
      <a:p>
        <a:r>
          <a:rPr lang="fr-CA"/>
          <a:t>Les opérations d’annulation et/ou d’arrêt de paiement sur les chèques ne seront plus opérés dans l’application Opérations Bancaires</a:t>
        </a:r>
      </a:p>
    </p188:txBody>
    <p188:extLst>
      <p:ext xmlns:p="http://schemas.openxmlformats.org/presentationml/2006/main" uri="{57CB4572-C831-44C2-8A1C-0ADB6CCDFE69}">
        <p223:reactions xmlns:p223="http://schemas.microsoft.com/office/powerpoint/2022/03/main">
          <p223:rxn type="👍">
            <p223:instance time="2025-12-18T15:58:26.274" authorId="{A0983FDB-C865-0A92-860A-EE94860A2B27}"/>
          </p223:rxn>
        </p223:reactions>
      </p:ext>
    </p188:extLst>
  </p188:cm>
  <p188:cm id="{794FF8A1-2EF5-4424-A421-422D90A31926}" authorId="{CD0735B6-0293-E85D-990F-23C65E27354C}" status="resolved" created="2025-12-18T18:25:12.538" complete="100000">
    <ac:txMkLst xmlns:ac="http://schemas.microsoft.com/office/drawing/2013/main/command">
      <pc:docMk xmlns:pc="http://schemas.microsoft.com/office/powerpoint/2013/main/command"/>
      <pc:sldMk xmlns:pc="http://schemas.microsoft.com/office/powerpoint/2013/main/command" cId="2632470636" sldId="300"/>
      <ac:graphicFrameMk id="6" creationId="{152B70A0-E250-0C99-5670-689F3A2F0B67}"/>
      <ac:tblMk/>
      <ac:tcMk rowId="1024983421" colId="2908348383"/>
      <ac:txMk cp="221">
        <ac:context len="222" hash="2771038495"/>
      </ac:txMk>
    </ac:txMkLst>
    <p188:pos x="8217974" y="4388333"/>
    <p188:replyLst>
      <p188:reply id="{A3447F40-E1C9-4904-9FE8-CAAE51B74A1B}" authorId="{A0983FDB-C865-0A92-860A-EE94860A2B27}" created="2025-12-18T19:43:16.022">
        <p188:txBody>
          <a:bodyPr/>
          <a:lstStyle/>
          <a:p>
            <a:r>
              <a:rPr lang="fr-FR"/>
              <a:t>Tu as raison, je ne sais pas pourquoi je parle de ça ici ! 
Je vais le retirer</a:t>
            </a:r>
          </a:p>
        </p188:txBody>
      </p188:reply>
    </p188:replyLst>
    <p188:txBody>
      <a:bodyPr/>
      <a:lstStyle/>
      <a:p>
        <a:r>
          <a:rPr lang="fr-CA"/>
          <a:t>Le relevé à 0 est pour la conciliation bancaire - pour permettre de nettoyer les transactions comptables renversées. On peut le retirer de la section comptabilité </a:t>
        </a:r>
      </a:p>
    </p188:txBody>
    <p188:extLst>
      <p:ext xmlns:p="http://schemas.openxmlformats.org/presentationml/2006/main" uri="{57CB4572-C831-44C2-8A1C-0ADB6CCDFE69}">
        <p223:reactions xmlns:p223="http://schemas.microsoft.com/office/powerpoint/2022/03/main">
          <p223:rxn type="👍">
            <p223:instance time="2025-12-18T19:41:53.716" authorId="{A0983FDB-C865-0A92-860A-EE94860A2B27}"/>
          </p223:rxn>
        </p223:reactions>
      </p:ext>
    </p188:extLst>
  </p188:cm>
</p188:cmLst>
</file>

<file path=ppt/comments/modernComment_123_8DF937F4.xml><?xml version="1.0" encoding="utf-8"?>
<p188:cmLst xmlns:a="http://schemas.openxmlformats.org/drawingml/2006/main" xmlns:r="http://schemas.openxmlformats.org/officeDocument/2006/relationships" xmlns:p188="http://schemas.microsoft.com/office/powerpoint/2018/8/main">
  <p188:cm id="{1BDC7F24-2898-48A7-9627-A6A32FB7FF2D}" authorId="{B29AA509-44E4-50DB-9F32-86616C5D8514}" created="2025-12-09T18:13:35.862">
    <ac:deMkLst xmlns:ac="http://schemas.microsoft.com/office/drawing/2013/main/command">
      <pc:docMk xmlns:pc="http://schemas.microsoft.com/office/powerpoint/2013/main/command"/>
      <pc:sldMk xmlns:pc="http://schemas.microsoft.com/office/powerpoint/2013/main/command" cId="2381920244" sldId="291"/>
      <ac:graphicFrameMk id="3" creationId="{77A99E82-70E4-6102-5FB1-61790C5E5E5E}"/>
    </ac:deMkLst>
    <p188:replyLst>
      <p188:reply id="{6FB19FC8-6E75-4CCA-963A-CA7B18A81C2F}" authorId="{A0983FDB-C865-0A92-860A-EE94860A2B27}" created="2025-12-18T14:51:33.065">
        <p188:txBody>
          <a:bodyPr/>
          <a:lstStyle/>
          <a:p>
            <a:r>
              <a:rPr lang="fr-FR"/>
              <a:t>J’ai repris les objectif prévus au SBC
Je n’étais pas là à ce moment mais est ce que l’objectif est de remplacer Trax qui ne convenait pas au besoin ou plutôt d’avoir un outil commun avec Treso et que Trax ne répondait pas au besoin Tréso ?</a:t>
            </a:r>
          </a:p>
        </p188:txBody>
      </p188:reply>
    </p188:replyLst>
    <p188:txBody>
      <a:bodyPr/>
      <a:lstStyle/>
      <a:p>
        <a:r>
          <a:rPr lang="fr-CA"/>
          <a:t>Pour l’objectif 1 : Implanter une solution unifiée bancaire et trésorerie corporative.</a:t>
        </a:r>
      </a:p>
    </p188:txBody>
  </p188:cm>
</p188: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2F5FD83-6456-4D93-94B8-54D017C66D4D}" type="doc">
      <dgm:prSet loTypeId="urn:microsoft.com/office/officeart/2005/8/layout/radial3" loCatId="cycle" qsTypeId="urn:microsoft.com/office/officeart/2005/8/quickstyle/simple1" qsCatId="simple" csTypeId="urn:microsoft.com/office/officeart/2005/8/colors/accent1_2" csCatId="accent1" phldr="1"/>
      <dgm:spPr/>
      <dgm:t>
        <a:bodyPr/>
        <a:lstStyle/>
        <a:p>
          <a:endParaRPr lang="fr-FR"/>
        </a:p>
      </dgm:t>
    </dgm:pt>
    <dgm:pt modelId="{7782B13F-21AE-4F78-BA34-BF945000FF40}">
      <dgm:prSet phldrT="[Texte]"/>
      <dgm:spPr/>
      <dgm:t>
        <a:bodyPr/>
        <a:lstStyle/>
        <a:p>
          <a:r>
            <a:rPr lang="fr-CA" noProof="0" err="1"/>
            <a:t>Corporate</a:t>
          </a:r>
          <a:r>
            <a:rPr lang="fr-CA" noProof="0"/>
            <a:t> </a:t>
          </a:r>
          <a:r>
            <a:rPr lang="fr-CA" noProof="0" err="1"/>
            <a:t>Treasury</a:t>
          </a:r>
          <a:r>
            <a:rPr lang="fr-CA" noProof="0"/>
            <a:t> program</a:t>
          </a:r>
        </a:p>
      </dgm:t>
    </dgm:pt>
    <dgm:pt modelId="{D6E68081-829D-4E28-9EF0-3D616A4B1DCA}" type="parTrans" cxnId="{D77A310A-6E20-418F-BE93-09DC43C72FDA}">
      <dgm:prSet/>
      <dgm:spPr/>
      <dgm:t>
        <a:bodyPr/>
        <a:lstStyle/>
        <a:p>
          <a:endParaRPr lang="fr-FR"/>
        </a:p>
      </dgm:t>
    </dgm:pt>
    <dgm:pt modelId="{E164A646-96C3-44C1-8577-734E7EBC97CF}" type="sibTrans" cxnId="{D77A310A-6E20-418F-BE93-09DC43C72FDA}">
      <dgm:prSet/>
      <dgm:spPr/>
      <dgm:t>
        <a:bodyPr/>
        <a:lstStyle/>
        <a:p>
          <a:endParaRPr lang="fr-FR"/>
        </a:p>
      </dgm:t>
    </dgm:pt>
    <dgm:pt modelId="{90E6E963-036C-4956-B26E-FBA8E8B22826}">
      <dgm:prSet phldrT="[Texte]" custT="1"/>
      <dgm:spPr>
        <a:solidFill>
          <a:srgbClr val="B6B8DC">
            <a:alpha val="50000"/>
            <a:hueOff val="0"/>
            <a:satOff val="0"/>
            <a:lumOff val="0"/>
            <a:alphaOff val="0"/>
          </a:srgbClr>
        </a:solidFill>
        <a:ln w="12700" cap="flat" cmpd="sng" algn="ctr">
          <a:solidFill>
            <a:srgbClr val="FFFFFF">
              <a:hueOff val="0"/>
              <a:satOff val="0"/>
              <a:lumOff val="0"/>
              <a:alphaOff val="0"/>
            </a:srgbClr>
          </a:solidFill>
          <a:prstDash val="solid"/>
          <a:miter lim="800000"/>
        </a:ln>
        <a:effectLst/>
      </dgm:spPr>
      <dgm:t>
        <a:bodyPr spcFirstLastPara="0" vert="horz" wrap="square" lIns="11430" tIns="11430" rIns="11430" bIns="11430" numCol="1" spcCol="1270" anchor="ctr" anchorCtr="0"/>
        <a:lstStyle/>
        <a:p>
          <a:r>
            <a:rPr lang="fr-CA" sz="900" kern="1200" noProof="0">
              <a:solidFill>
                <a:srgbClr val="003DA5"/>
              </a:solidFill>
              <a:latin typeface="Calibri" panose="020F0502020204030204"/>
              <a:ea typeface="+mn-ea"/>
              <a:cs typeface="+mn-cs"/>
            </a:rPr>
            <a:t>WS1</a:t>
          </a:r>
          <a:r>
            <a:rPr lang="fr-CA" sz="900" kern="1200" noProof="0"/>
            <a:t> Capital </a:t>
          </a:r>
          <a:r>
            <a:rPr lang="fr-CA" sz="900" kern="1200" noProof="0" err="1"/>
            <a:t>Optimization</a:t>
          </a:r>
          <a:endParaRPr lang="fr-CA" sz="900" kern="1200" noProof="0"/>
        </a:p>
      </dgm:t>
    </dgm:pt>
    <dgm:pt modelId="{51ABBD7B-AF3D-4450-8A75-0EAA699B2D1D}" type="parTrans" cxnId="{824C6204-AE24-4617-9D85-85B77AA30F4E}">
      <dgm:prSet/>
      <dgm:spPr/>
      <dgm:t>
        <a:bodyPr/>
        <a:lstStyle/>
        <a:p>
          <a:endParaRPr lang="fr-FR"/>
        </a:p>
      </dgm:t>
    </dgm:pt>
    <dgm:pt modelId="{840EF468-5E35-452F-85EC-5A4BB95BC307}" type="sibTrans" cxnId="{824C6204-AE24-4617-9D85-85B77AA30F4E}">
      <dgm:prSet/>
      <dgm:spPr/>
      <dgm:t>
        <a:bodyPr/>
        <a:lstStyle/>
        <a:p>
          <a:endParaRPr lang="fr-FR"/>
        </a:p>
      </dgm:t>
    </dgm:pt>
    <dgm:pt modelId="{F43A78B9-D194-4E83-B746-C081731929E8}">
      <dgm:prSet phldrT="[Texte]" custT="1"/>
      <dgm:spPr>
        <a:solidFill>
          <a:srgbClr val="B6B8DC">
            <a:alpha val="50000"/>
            <a:hueOff val="0"/>
            <a:satOff val="0"/>
            <a:lumOff val="0"/>
            <a:alphaOff val="0"/>
          </a:srgbClr>
        </a:solidFill>
        <a:ln w="12700" cap="flat" cmpd="sng" algn="ctr">
          <a:solidFill>
            <a:srgbClr val="FFFFFF">
              <a:hueOff val="0"/>
              <a:satOff val="0"/>
              <a:lumOff val="0"/>
              <a:alphaOff val="0"/>
            </a:srgbClr>
          </a:solidFill>
          <a:prstDash val="solid"/>
          <a:miter lim="800000"/>
        </a:ln>
        <a:effectLst/>
      </dgm:spPr>
      <dgm:t>
        <a:bodyPr spcFirstLastPara="0" vert="horz" wrap="square" lIns="11430" tIns="11430" rIns="11430" bIns="11430" numCol="1" spcCol="1270" anchor="ctr" anchorCtr="0"/>
        <a:lstStyle/>
        <a:p>
          <a:r>
            <a:rPr lang="fr-CA" sz="900" kern="1200" noProof="0"/>
            <a:t>WS2 Inter </a:t>
          </a:r>
          <a:r>
            <a:rPr lang="fr-CA" sz="900" kern="1200" noProof="0" err="1"/>
            <a:t>Loans</a:t>
          </a:r>
          <a:r>
            <a:rPr lang="fr-CA" sz="900" kern="1200" noProof="0"/>
            <a:t> </a:t>
          </a:r>
          <a:r>
            <a:rPr lang="fr-CA" sz="900" kern="1200" noProof="0">
              <a:solidFill>
                <a:srgbClr val="003DA5"/>
              </a:solidFill>
              <a:latin typeface="Calibri" panose="020F0502020204030204"/>
              <a:ea typeface="+mn-ea"/>
              <a:cs typeface="+mn-cs"/>
            </a:rPr>
            <a:t>management</a:t>
          </a:r>
        </a:p>
      </dgm:t>
    </dgm:pt>
    <dgm:pt modelId="{7937CD1A-D5EC-4B40-8022-506A6FFED799}" type="parTrans" cxnId="{B6D03F0B-E938-4E26-9B8C-D7245118E4DA}">
      <dgm:prSet/>
      <dgm:spPr/>
      <dgm:t>
        <a:bodyPr/>
        <a:lstStyle/>
        <a:p>
          <a:endParaRPr lang="fr-FR"/>
        </a:p>
      </dgm:t>
    </dgm:pt>
    <dgm:pt modelId="{0329CEEE-466D-43C1-86F4-DB3ECF79E70A}" type="sibTrans" cxnId="{B6D03F0B-E938-4E26-9B8C-D7245118E4DA}">
      <dgm:prSet/>
      <dgm:spPr/>
      <dgm:t>
        <a:bodyPr/>
        <a:lstStyle/>
        <a:p>
          <a:endParaRPr lang="fr-FR"/>
        </a:p>
      </dgm:t>
    </dgm:pt>
    <dgm:pt modelId="{975BDA2D-ED10-4F99-BF2F-CBB17F5CF653}">
      <dgm:prSet phldrT="[Texte]"/>
      <dgm:spPr/>
      <dgm:t>
        <a:bodyPr/>
        <a:lstStyle/>
        <a:p>
          <a:r>
            <a:rPr lang="fr-CA" noProof="0"/>
            <a:t>WS3 </a:t>
          </a:r>
          <a:r>
            <a:rPr lang="fr-CA" noProof="0" err="1"/>
            <a:t>Treasury</a:t>
          </a:r>
          <a:r>
            <a:rPr lang="fr-CA" noProof="0"/>
            <a:t> intelligence</a:t>
          </a:r>
        </a:p>
      </dgm:t>
    </dgm:pt>
    <dgm:pt modelId="{18550817-D83F-4D86-A403-150F07217EAD}" type="parTrans" cxnId="{386E4EDE-2985-454C-8E97-DC9276EACE4A}">
      <dgm:prSet/>
      <dgm:spPr/>
      <dgm:t>
        <a:bodyPr/>
        <a:lstStyle/>
        <a:p>
          <a:endParaRPr lang="fr-FR"/>
        </a:p>
      </dgm:t>
    </dgm:pt>
    <dgm:pt modelId="{8D362BBF-A774-4BD5-B9DD-CE354A9684E5}" type="sibTrans" cxnId="{386E4EDE-2985-454C-8E97-DC9276EACE4A}">
      <dgm:prSet/>
      <dgm:spPr/>
      <dgm:t>
        <a:bodyPr/>
        <a:lstStyle/>
        <a:p>
          <a:endParaRPr lang="fr-FR"/>
        </a:p>
      </dgm:t>
    </dgm:pt>
    <dgm:pt modelId="{D159DEB7-7F4F-42B9-AE04-5900E767767D}">
      <dgm:prSet phldrT="[Texte]" custT="1"/>
      <dgm:spPr>
        <a:solidFill>
          <a:srgbClr val="B9DCD2">
            <a:lumMod val="75000"/>
            <a:alpha val="50000"/>
          </a:srgbClr>
        </a:solidFill>
        <a:ln w="12700" cap="flat" cmpd="sng" algn="ctr">
          <a:solidFill>
            <a:srgbClr val="FFFFFF">
              <a:hueOff val="0"/>
              <a:satOff val="0"/>
              <a:lumOff val="0"/>
              <a:alphaOff val="0"/>
            </a:srgbClr>
          </a:solidFill>
          <a:prstDash val="solid"/>
          <a:miter lim="800000"/>
        </a:ln>
        <a:effectLst/>
      </dgm:spPr>
      <dgm:t>
        <a:bodyPr spcFirstLastPara="0" vert="horz" wrap="square" lIns="11430" tIns="11430" rIns="11430" bIns="11430" numCol="1" spcCol="1270" anchor="ctr" anchorCtr="0"/>
        <a:lstStyle/>
        <a:p>
          <a:pPr marL="0" lvl="0" indent="0" algn="ctr" defTabSz="400050">
            <a:lnSpc>
              <a:spcPct val="90000"/>
            </a:lnSpc>
            <a:spcBef>
              <a:spcPct val="0"/>
            </a:spcBef>
            <a:spcAft>
              <a:spcPct val="35000"/>
            </a:spcAft>
            <a:buNone/>
          </a:pPr>
          <a:r>
            <a:rPr lang="fr-CA" sz="900" kern="1200" noProof="0">
              <a:solidFill>
                <a:srgbClr val="003DA5"/>
              </a:solidFill>
              <a:latin typeface="Calibri" panose="020F0502020204030204"/>
              <a:ea typeface="+mn-ea"/>
              <a:cs typeface="+mn-cs"/>
            </a:rPr>
            <a:t>WS4 Banking Infrastructure and </a:t>
          </a:r>
          <a:r>
            <a:rPr lang="fr-CA" sz="900" kern="1200" noProof="0" err="1">
              <a:solidFill>
                <a:srgbClr val="003DA5"/>
              </a:solidFill>
              <a:latin typeface="Calibri" panose="020F0502020204030204"/>
              <a:ea typeface="+mn-ea"/>
              <a:cs typeface="+mn-cs"/>
            </a:rPr>
            <a:t>governance</a:t>
          </a:r>
          <a:endParaRPr lang="fr-CA" sz="900" kern="1200" noProof="0">
            <a:solidFill>
              <a:srgbClr val="003DA5"/>
            </a:solidFill>
            <a:latin typeface="Calibri" panose="020F0502020204030204"/>
            <a:ea typeface="+mn-ea"/>
            <a:cs typeface="+mn-cs"/>
          </a:endParaRPr>
        </a:p>
      </dgm:t>
    </dgm:pt>
    <dgm:pt modelId="{2979A80E-9844-4843-9923-3A8D0BB0B1CA}" type="parTrans" cxnId="{91068FEB-16CB-4327-AF0D-E08CC4B9B5CC}">
      <dgm:prSet/>
      <dgm:spPr/>
      <dgm:t>
        <a:bodyPr/>
        <a:lstStyle/>
        <a:p>
          <a:endParaRPr lang="fr-FR"/>
        </a:p>
      </dgm:t>
    </dgm:pt>
    <dgm:pt modelId="{681593AB-1202-450C-8F43-5E10C88E70F4}" type="sibTrans" cxnId="{91068FEB-16CB-4327-AF0D-E08CC4B9B5CC}">
      <dgm:prSet/>
      <dgm:spPr/>
      <dgm:t>
        <a:bodyPr/>
        <a:lstStyle/>
        <a:p>
          <a:endParaRPr lang="fr-FR"/>
        </a:p>
      </dgm:t>
    </dgm:pt>
    <dgm:pt modelId="{52831857-5D1F-453F-A1D0-79DD4766CF3D}" type="pres">
      <dgm:prSet presAssocID="{92F5FD83-6456-4D93-94B8-54D017C66D4D}" presName="composite" presStyleCnt="0">
        <dgm:presLayoutVars>
          <dgm:chMax val="1"/>
          <dgm:dir/>
          <dgm:resizeHandles val="exact"/>
        </dgm:presLayoutVars>
      </dgm:prSet>
      <dgm:spPr/>
    </dgm:pt>
    <dgm:pt modelId="{1595422E-8916-4686-A454-0290374EB0C9}" type="pres">
      <dgm:prSet presAssocID="{92F5FD83-6456-4D93-94B8-54D017C66D4D}" presName="radial" presStyleCnt="0">
        <dgm:presLayoutVars>
          <dgm:animLvl val="ctr"/>
        </dgm:presLayoutVars>
      </dgm:prSet>
      <dgm:spPr/>
    </dgm:pt>
    <dgm:pt modelId="{077522E6-7FA8-4516-8C31-16F28780485D}" type="pres">
      <dgm:prSet presAssocID="{7782B13F-21AE-4F78-BA34-BF945000FF40}" presName="centerShape" presStyleLbl="vennNode1" presStyleIdx="0" presStyleCnt="5"/>
      <dgm:spPr/>
    </dgm:pt>
    <dgm:pt modelId="{3EDEA11B-F927-4E98-8695-D1950B6D2D9C}" type="pres">
      <dgm:prSet presAssocID="{90E6E963-036C-4956-B26E-FBA8E8B22826}" presName="node" presStyleLbl="vennNode1" presStyleIdx="1" presStyleCnt="5">
        <dgm:presLayoutVars>
          <dgm:bulletEnabled val="1"/>
        </dgm:presLayoutVars>
      </dgm:prSet>
      <dgm:spPr>
        <a:xfrm>
          <a:off x="1495921" y="347"/>
          <a:ext cx="972145" cy="972145"/>
        </a:xfrm>
        <a:prstGeom prst="ellipse">
          <a:avLst/>
        </a:prstGeom>
      </dgm:spPr>
    </dgm:pt>
    <dgm:pt modelId="{B89F19F7-BBAC-4CF6-B04E-05AB98CE8C14}" type="pres">
      <dgm:prSet presAssocID="{F43A78B9-D194-4E83-B746-C081731929E8}" presName="node" presStyleLbl="vennNode1" presStyleIdx="2" presStyleCnt="5">
        <dgm:presLayoutVars>
          <dgm:bulletEnabled val="1"/>
        </dgm:presLayoutVars>
      </dgm:prSet>
      <dgm:spPr>
        <a:xfrm>
          <a:off x="2762101" y="1266527"/>
          <a:ext cx="972145" cy="972145"/>
        </a:xfrm>
        <a:prstGeom prst="ellipse">
          <a:avLst/>
        </a:prstGeom>
      </dgm:spPr>
    </dgm:pt>
    <dgm:pt modelId="{FA4287F6-0633-434F-B8CA-554493D84444}" type="pres">
      <dgm:prSet presAssocID="{975BDA2D-ED10-4F99-BF2F-CBB17F5CF653}" presName="node" presStyleLbl="vennNode1" presStyleIdx="3" presStyleCnt="5">
        <dgm:presLayoutVars>
          <dgm:bulletEnabled val="1"/>
        </dgm:presLayoutVars>
      </dgm:prSet>
      <dgm:spPr/>
    </dgm:pt>
    <dgm:pt modelId="{DFF538C7-5CD9-46E0-B434-8E5BF83ACF99}" type="pres">
      <dgm:prSet presAssocID="{D159DEB7-7F4F-42B9-AE04-5900E767767D}" presName="node" presStyleLbl="vennNode1" presStyleIdx="4" presStyleCnt="5">
        <dgm:presLayoutVars>
          <dgm:bulletEnabled val="1"/>
        </dgm:presLayoutVars>
      </dgm:prSet>
      <dgm:spPr>
        <a:xfrm>
          <a:off x="229741" y="1266527"/>
          <a:ext cx="972145" cy="972145"/>
        </a:xfrm>
        <a:prstGeom prst="ellipse">
          <a:avLst/>
        </a:prstGeom>
      </dgm:spPr>
    </dgm:pt>
  </dgm:ptLst>
  <dgm:cxnLst>
    <dgm:cxn modelId="{AFC3D203-3D0F-47A2-AA4F-6A771AC4D07F}" type="presOf" srcId="{92F5FD83-6456-4D93-94B8-54D017C66D4D}" destId="{52831857-5D1F-453F-A1D0-79DD4766CF3D}" srcOrd="0" destOrd="0" presId="urn:microsoft.com/office/officeart/2005/8/layout/radial3"/>
    <dgm:cxn modelId="{824C6204-AE24-4617-9D85-85B77AA30F4E}" srcId="{7782B13F-21AE-4F78-BA34-BF945000FF40}" destId="{90E6E963-036C-4956-B26E-FBA8E8B22826}" srcOrd="0" destOrd="0" parTransId="{51ABBD7B-AF3D-4450-8A75-0EAA699B2D1D}" sibTransId="{840EF468-5E35-452F-85EC-5A4BB95BC307}"/>
    <dgm:cxn modelId="{D77A310A-6E20-418F-BE93-09DC43C72FDA}" srcId="{92F5FD83-6456-4D93-94B8-54D017C66D4D}" destId="{7782B13F-21AE-4F78-BA34-BF945000FF40}" srcOrd="0" destOrd="0" parTransId="{D6E68081-829D-4E28-9EF0-3D616A4B1DCA}" sibTransId="{E164A646-96C3-44C1-8577-734E7EBC97CF}"/>
    <dgm:cxn modelId="{B6D03F0B-E938-4E26-9B8C-D7245118E4DA}" srcId="{7782B13F-21AE-4F78-BA34-BF945000FF40}" destId="{F43A78B9-D194-4E83-B746-C081731929E8}" srcOrd="1" destOrd="0" parTransId="{7937CD1A-D5EC-4B40-8022-506A6FFED799}" sibTransId="{0329CEEE-466D-43C1-86F4-DB3ECF79E70A}"/>
    <dgm:cxn modelId="{A80B0E11-C241-4263-8E20-E72D6C93368C}" type="presOf" srcId="{975BDA2D-ED10-4F99-BF2F-CBB17F5CF653}" destId="{FA4287F6-0633-434F-B8CA-554493D84444}" srcOrd="0" destOrd="0" presId="urn:microsoft.com/office/officeart/2005/8/layout/radial3"/>
    <dgm:cxn modelId="{B6A42229-D886-4072-918C-8434CDD0BFBD}" type="presOf" srcId="{7782B13F-21AE-4F78-BA34-BF945000FF40}" destId="{077522E6-7FA8-4516-8C31-16F28780485D}" srcOrd="0" destOrd="0" presId="urn:microsoft.com/office/officeart/2005/8/layout/radial3"/>
    <dgm:cxn modelId="{13598071-E6BA-4D4F-9D8A-D3FA933BF634}" type="presOf" srcId="{D159DEB7-7F4F-42B9-AE04-5900E767767D}" destId="{DFF538C7-5CD9-46E0-B434-8E5BF83ACF99}" srcOrd="0" destOrd="0" presId="urn:microsoft.com/office/officeart/2005/8/layout/radial3"/>
    <dgm:cxn modelId="{13FDE092-2B74-48A7-9527-612AA2D969AF}" type="presOf" srcId="{90E6E963-036C-4956-B26E-FBA8E8B22826}" destId="{3EDEA11B-F927-4E98-8695-D1950B6D2D9C}" srcOrd="0" destOrd="0" presId="urn:microsoft.com/office/officeart/2005/8/layout/radial3"/>
    <dgm:cxn modelId="{FE66E1D3-F6E4-4D08-8D0A-54A0B0D670B6}" type="presOf" srcId="{F43A78B9-D194-4E83-B746-C081731929E8}" destId="{B89F19F7-BBAC-4CF6-B04E-05AB98CE8C14}" srcOrd="0" destOrd="0" presId="urn:microsoft.com/office/officeart/2005/8/layout/radial3"/>
    <dgm:cxn modelId="{386E4EDE-2985-454C-8E97-DC9276EACE4A}" srcId="{7782B13F-21AE-4F78-BA34-BF945000FF40}" destId="{975BDA2D-ED10-4F99-BF2F-CBB17F5CF653}" srcOrd="2" destOrd="0" parTransId="{18550817-D83F-4D86-A403-150F07217EAD}" sibTransId="{8D362BBF-A774-4BD5-B9DD-CE354A9684E5}"/>
    <dgm:cxn modelId="{91068FEB-16CB-4327-AF0D-E08CC4B9B5CC}" srcId="{7782B13F-21AE-4F78-BA34-BF945000FF40}" destId="{D159DEB7-7F4F-42B9-AE04-5900E767767D}" srcOrd="3" destOrd="0" parTransId="{2979A80E-9844-4843-9923-3A8D0BB0B1CA}" sibTransId="{681593AB-1202-450C-8F43-5E10C88E70F4}"/>
    <dgm:cxn modelId="{AF0E754E-18EB-4062-B4B5-73A019385064}" type="presParOf" srcId="{52831857-5D1F-453F-A1D0-79DD4766CF3D}" destId="{1595422E-8916-4686-A454-0290374EB0C9}" srcOrd="0" destOrd="0" presId="urn:microsoft.com/office/officeart/2005/8/layout/radial3"/>
    <dgm:cxn modelId="{71E0DCE3-DCF4-45BA-98FB-A89894BAAF6A}" type="presParOf" srcId="{1595422E-8916-4686-A454-0290374EB0C9}" destId="{077522E6-7FA8-4516-8C31-16F28780485D}" srcOrd="0" destOrd="0" presId="urn:microsoft.com/office/officeart/2005/8/layout/radial3"/>
    <dgm:cxn modelId="{564B37F5-5440-4BDA-A2BE-E828834DDCC9}" type="presParOf" srcId="{1595422E-8916-4686-A454-0290374EB0C9}" destId="{3EDEA11B-F927-4E98-8695-D1950B6D2D9C}" srcOrd="1" destOrd="0" presId="urn:microsoft.com/office/officeart/2005/8/layout/radial3"/>
    <dgm:cxn modelId="{A95A6F14-7849-4122-9B4B-E6D61521E436}" type="presParOf" srcId="{1595422E-8916-4686-A454-0290374EB0C9}" destId="{B89F19F7-BBAC-4CF6-B04E-05AB98CE8C14}" srcOrd="2" destOrd="0" presId="urn:microsoft.com/office/officeart/2005/8/layout/radial3"/>
    <dgm:cxn modelId="{8DAA091A-06EE-4FAD-9A15-CFD1ABB45BE0}" type="presParOf" srcId="{1595422E-8916-4686-A454-0290374EB0C9}" destId="{FA4287F6-0633-434F-B8CA-554493D84444}" srcOrd="3" destOrd="0" presId="urn:microsoft.com/office/officeart/2005/8/layout/radial3"/>
    <dgm:cxn modelId="{3868D507-9020-4D0B-9A3C-D7AD1B3BFD1E}" type="presParOf" srcId="{1595422E-8916-4686-A454-0290374EB0C9}" destId="{DFF538C7-5CD9-46E0-B434-8E5BF83ACF99}" srcOrd="4" destOrd="0" presId="urn:microsoft.com/office/officeart/2005/8/layout/radial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2FEB4D1-96B1-4471-9F8E-93453D318B03}" type="doc">
      <dgm:prSet loTypeId="urn:microsoft.com/office/officeart/2005/8/layout/pyramid4" loCatId="pyramid" qsTypeId="urn:microsoft.com/office/officeart/2005/8/quickstyle/simple1" qsCatId="simple" csTypeId="urn:microsoft.com/office/officeart/2005/8/colors/accent1_4" csCatId="accent1" phldr="1"/>
      <dgm:spPr/>
    </dgm:pt>
    <dgm:pt modelId="{FD8742E4-3B38-4D88-A4D0-96EF053260C0}">
      <dgm:prSet phldrT="[Texte]"/>
      <dgm:spPr/>
      <dgm:t>
        <a:bodyPr/>
        <a:lstStyle/>
        <a:p>
          <a:r>
            <a:rPr lang="fr-CA" noProof="0"/>
            <a:t>Implémenter Hub trésorerie et BI analytique</a:t>
          </a:r>
        </a:p>
      </dgm:t>
    </dgm:pt>
    <dgm:pt modelId="{098014F4-9E3A-40DE-9E45-09EFEDAFD7DE}" type="parTrans" cxnId="{386A7123-9D34-435E-BE2A-CBDDCF4254D2}">
      <dgm:prSet/>
      <dgm:spPr/>
      <dgm:t>
        <a:bodyPr/>
        <a:lstStyle/>
        <a:p>
          <a:endParaRPr lang="fr-FR"/>
        </a:p>
      </dgm:t>
    </dgm:pt>
    <dgm:pt modelId="{2B749693-86B6-473B-A8AD-7A10397CE6C8}" type="sibTrans" cxnId="{386A7123-9D34-435E-BE2A-CBDDCF4254D2}">
      <dgm:prSet/>
      <dgm:spPr/>
      <dgm:t>
        <a:bodyPr/>
        <a:lstStyle/>
        <a:p>
          <a:endParaRPr lang="fr-FR"/>
        </a:p>
      </dgm:t>
    </dgm:pt>
    <dgm:pt modelId="{2535F1EF-467E-4093-B2C0-424D6352D385}">
      <dgm:prSet phldrT="[Texte]"/>
      <dgm:spPr/>
      <dgm:t>
        <a:bodyPr/>
        <a:lstStyle/>
        <a:p>
          <a:r>
            <a:rPr lang="fr-CA" noProof="0"/>
            <a:t>Gérer projections 30 jours</a:t>
          </a:r>
        </a:p>
      </dgm:t>
    </dgm:pt>
    <dgm:pt modelId="{476D7362-1EDA-40C1-ABD4-DD68900F7603}" type="parTrans" cxnId="{C85F1A00-084B-4748-8DF2-9E2584A0D75A}">
      <dgm:prSet/>
      <dgm:spPr/>
      <dgm:t>
        <a:bodyPr/>
        <a:lstStyle/>
        <a:p>
          <a:endParaRPr lang="fr-FR"/>
        </a:p>
      </dgm:t>
    </dgm:pt>
    <dgm:pt modelId="{54322DCA-CEDB-4F4F-921A-6714B3FCC909}" type="sibTrans" cxnId="{C85F1A00-084B-4748-8DF2-9E2584A0D75A}">
      <dgm:prSet/>
      <dgm:spPr/>
      <dgm:t>
        <a:bodyPr/>
        <a:lstStyle/>
        <a:p>
          <a:endParaRPr lang="fr-FR"/>
        </a:p>
      </dgm:t>
    </dgm:pt>
    <dgm:pt modelId="{0FFF9086-49DA-4081-9011-F1C4A1978C36}">
      <dgm:prSet phldrT="[Texte]"/>
      <dgm:spPr/>
      <dgm:t>
        <a:bodyPr/>
        <a:lstStyle/>
        <a:p>
          <a:r>
            <a:rPr lang="fr-CA" noProof="0"/>
            <a:t>Gouvernance et politique de  trésorerie</a:t>
          </a:r>
        </a:p>
      </dgm:t>
    </dgm:pt>
    <dgm:pt modelId="{C2A0427A-E650-4097-8C07-BF6E475C0A5A}" type="parTrans" cxnId="{3FE412FD-16EF-4345-8448-253F904D46A0}">
      <dgm:prSet/>
      <dgm:spPr/>
      <dgm:t>
        <a:bodyPr/>
        <a:lstStyle/>
        <a:p>
          <a:endParaRPr lang="fr-FR"/>
        </a:p>
      </dgm:t>
    </dgm:pt>
    <dgm:pt modelId="{C5205768-BD22-408A-94F7-C90A98A329E6}" type="sibTrans" cxnId="{3FE412FD-16EF-4345-8448-253F904D46A0}">
      <dgm:prSet/>
      <dgm:spPr/>
      <dgm:t>
        <a:bodyPr/>
        <a:lstStyle/>
        <a:p>
          <a:endParaRPr lang="fr-FR"/>
        </a:p>
      </dgm:t>
    </dgm:pt>
    <dgm:pt modelId="{BB7E41EC-CB9E-457A-850C-E9E26E81141C}">
      <dgm:prSet/>
      <dgm:spPr/>
      <dgm:t>
        <a:bodyPr/>
        <a:lstStyle/>
        <a:p>
          <a:r>
            <a:rPr lang="fr-CA" noProof="0"/>
            <a:t>Obtenir visibilité des liquidités</a:t>
          </a:r>
        </a:p>
      </dgm:t>
    </dgm:pt>
    <dgm:pt modelId="{D5C044A1-E038-4437-826E-59640B1C04E6}" type="parTrans" cxnId="{E41D3BC8-2DD2-4C10-B97A-86A16B0DE82E}">
      <dgm:prSet/>
      <dgm:spPr/>
      <dgm:t>
        <a:bodyPr/>
        <a:lstStyle/>
        <a:p>
          <a:endParaRPr lang="fr-FR"/>
        </a:p>
      </dgm:t>
    </dgm:pt>
    <dgm:pt modelId="{2E5A60B1-0643-49CB-8166-C05D9DC4CF28}" type="sibTrans" cxnId="{E41D3BC8-2DD2-4C10-B97A-86A16B0DE82E}">
      <dgm:prSet/>
      <dgm:spPr/>
      <dgm:t>
        <a:bodyPr/>
        <a:lstStyle/>
        <a:p>
          <a:endParaRPr lang="fr-FR"/>
        </a:p>
      </dgm:t>
    </dgm:pt>
    <dgm:pt modelId="{502AABC1-1A83-4185-AB74-4B1AB132A265}" type="pres">
      <dgm:prSet presAssocID="{22FEB4D1-96B1-4471-9F8E-93453D318B03}" presName="compositeShape" presStyleCnt="0">
        <dgm:presLayoutVars>
          <dgm:chMax val="9"/>
          <dgm:dir/>
          <dgm:resizeHandles val="exact"/>
        </dgm:presLayoutVars>
      </dgm:prSet>
      <dgm:spPr/>
    </dgm:pt>
    <dgm:pt modelId="{F64F3ADA-E089-46D9-8AFB-208F48D68E6B}" type="pres">
      <dgm:prSet presAssocID="{22FEB4D1-96B1-4471-9F8E-93453D318B03}" presName="triangle1" presStyleLbl="node1" presStyleIdx="0" presStyleCnt="4">
        <dgm:presLayoutVars>
          <dgm:bulletEnabled val="1"/>
        </dgm:presLayoutVars>
      </dgm:prSet>
      <dgm:spPr/>
    </dgm:pt>
    <dgm:pt modelId="{DD666EE7-ECD5-4B32-BB27-6CCCB9675AFE}" type="pres">
      <dgm:prSet presAssocID="{22FEB4D1-96B1-4471-9F8E-93453D318B03}" presName="triangle2" presStyleLbl="node1" presStyleIdx="1" presStyleCnt="4">
        <dgm:presLayoutVars>
          <dgm:bulletEnabled val="1"/>
        </dgm:presLayoutVars>
      </dgm:prSet>
      <dgm:spPr/>
    </dgm:pt>
    <dgm:pt modelId="{5BC35718-D1C1-4C74-A08A-664ED617D14A}" type="pres">
      <dgm:prSet presAssocID="{22FEB4D1-96B1-4471-9F8E-93453D318B03}" presName="triangle3" presStyleLbl="node1" presStyleIdx="2" presStyleCnt="4">
        <dgm:presLayoutVars>
          <dgm:bulletEnabled val="1"/>
        </dgm:presLayoutVars>
      </dgm:prSet>
      <dgm:spPr/>
    </dgm:pt>
    <dgm:pt modelId="{417D2CCC-0869-47DC-9411-7205FA09A324}" type="pres">
      <dgm:prSet presAssocID="{22FEB4D1-96B1-4471-9F8E-93453D318B03}" presName="triangle4" presStyleLbl="node1" presStyleIdx="3" presStyleCnt="4">
        <dgm:presLayoutVars>
          <dgm:bulletEnabled val="1"/>
        </dgm:presLayoutVars>
      </dgm:prSet>
      <dgm:spPr/>
    </dgm:pt>
  </dgm:ptLst>
  <dgm:cxnLst>
    <dgm:cxn modelId="{C85F1A00-084B-4748-8DF2-9E2584A0D75A}" srcId="{22FEB4D1-96B1-4471-9F8E-93453D318B03}" destId="{2535F1EF-467E-4093-B2C0-424D6352D385}" srcOrd="1" destOrd="0" parTransId="{476D7362-1EDA-40C1-ABD4-DD68900F7603}" sibTransId="{54322DCA-CEDB-4F4F-921A-6714B3FCC909}"/>
    <dgm:cxn modelId="{386A7123-9D34-435E-BE2A-CBDDCF4254D2}" srcId="{22FEB4D1-96B1-4471-9F8E-93453D318B03}" destId="{FD8742E4-3B38-4D88-A4D0-96EF053260C0}" srcOrd="0" destOrd="0" parTransId="{098014F4-9E3A-40DE-9E45-09EFEDAFD7DE}" sibTransId="{2B749693-86B6-473B-A8AD-7A10397CE6C8}"/>
    <dgm:cxn modelId="{82EC324C-EEF7-41BA-9D78-3B96CB1C8B4C}" type="presOf" srcId="{2535F1EF-467E-4093-B2C0-424D6352D385}" destId="{DD666EE7-ECD5-4B32-BB27-6CCCB9675AFE}" srcOrd="0" destOrd="0" presId="urn:microsoft.com/office/officeart/2005/8/layout/pyramid4"/>
    <dgm:cxn modelId="{33CAF675-4AC8-4FC5-AEB4-95573EC0A433}" type="presOf" srcId="{FD8742E4-3B38-4D88-A4D0-96EF053260C0}" destId="{F64F3ADA-E089-46D9-8AFB-208F48D68E6B}" srcOrd="0" destOrd="0" presId="urn:microsoft.com/office/officeart/2005/8/layout/pyramid4"/>
    <dgm:cxn modelId="{322D8682-9535-4C1E-BC4A-AD633E60B9ED}" type="presOf" srcId="{0FFF9086-49DA-4081-9011-F1C4A1978C36}" destId="{5BC35718-D1C1-4C74-A08A-664ED617D14A}" srcOrd="0" destOrd="0" presId="urn:microsoft.com/office/officeart/2005/8/layout/pyramid4"/>
    <dgm:cxn modelId="{C0CE69A7-DA6B-4ADD-BB77-D18808DF01E2}" type="presOf" srcId="{22FEB4D1-96B1-4471-9F8E-93453D318B03}" destId="{502AABC1-1A83-4185-AB74-4B1AB132A265}" srcOrd="0" destOrd="0" presId="urn:microsoft.com/office/officeart/2005/8/layout/pyramid4"/>
    <dgm:cxn modelId="{E41D3BC8-2DD2-4C10-B97A-86A16B0DE82E}" srcId="{22FEB4D1-96B1-4471-9F8E-93453D318B03}" destId="{BB7E41EC-CB9E-457A-850C-E9E26E81141C}" srcOrd="3" destOrd="0" parTransId="{D5C044A1-E038-4437-826E-59640B1C04E6}" sibTransId="{2E5A60B1-0643-49CB-8166-C05D9DC4CF28}"/>
    <dgm:cxn modelId="{55203DF3-A8E3-451E-835C-1DC39021AB89}" type="presOf" srcId="{BB7E41EC-CB9E-457A-850C-E9E26E81141C}" destId="{417D2CCC-0869-47DC-9411-7205FA09A324}" srcOrd="0" destOrd="0" presId="urn:microsoft.com/office/officeart/2005/8/layout/pyramid4"/>
    <dgm:cxn modelId="{3FE412FD-16EF-4345-8448-253F904D46A0}" srcId="{22FEB4D1-96B1-4471-9F8E-93453D318B03}" destId="{0FFF9086-49DA-4081-9011-F1C4A1978C36}" srcOrd="2" destOrd="0" parTransId="{C2A0427A-E650-4097-8C07-BF6E475C0A5A}" sibTransId="{C5205768-BD22-408A-94F7-C90A98A329E6}"/>
    <dgm:cxn modelId="{E08AB4CB-9B42-435C-99E4-ACE8126E9E8E}" type="presParOf" srcId="{502AABC1-1A83-4185-AB74-4B1AB132A265}" destId="{F64F3ADA-E089-46D9-8AFB-208F48D68E6B}" srcOrd="0" destOrd="0" presId="urn:microsoft.com/office/officeart/2005/8/layout/pyramid4"/>
    <dgm:cxn modelId="{618307C0-3B09-4FAB-86F5-8A9BDBD7336F}" type="presParOf" srcId="{502AABC1-1A83-4185-AB74-4B1AB132A265}" destId="{DD666EE7-ECD5-4B32-BB27-6CCCB9675AFE}" srcOrd="1" destOrd="0" presId="urn:microsoft.com/office/officeart/2005/8/layout/pyramid4"/>
    <dgm:cxn modelId="{B0D1BE85-E089-47AD-9B9B-1D51F05A27F4}" type="presParOf" srcId="{502AABC1-1A83-4185-AB74-4B1AB132A265}" destId="{5BC35718-D1C1-4C74-A08A-664ED617D14A}" srcOrd="2" destOrd="0" presId="urn:microsoft.com/office/officeart/2005/8/layout/pyramid4"/>
    <dgm:cxn modelId="{A5421632-8BD1-47E3-8190-7BBDF0652C48}" type="presParOf" srcId="{502AABC1-1A83-4185-AB74-4B1AB132A265}" destId="{417D2CCC-0869-47DC-9411-7205FA09A324}" srcOrd="3" destOrd="0" presId="urn:microsoft.com/office/officeart/2005/8/layout/pyramid4"/>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E6569C9-3228-41A4-81E6-6EFE9C3C8E99}"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fr-FR"/>
        </a:p>
      </dgm:t>
    </dgm:pt>
    <dgm:pt modelId="{F8A9B338-2461-468D-B893-55AA441502D5}">
      <dgm:prSet phldrT="[Texte]" custT="1"/>
      <dgm:spPr/>
      <dgm:t>
        <a:bodyPr/>
        <a:lstStyle/>
        <a:p>
          <a:r>
            <a:rPr lang="fr-CA" sz="2000" b="0" noProof="0">
              <a:latin typeface="Calibri"/>
              <a:ea typeface="Calibri"/>
              <a:cs typeface="Calibri"/>
            </a:rPr>
            <a:t>Implémentation de la nouvelle solution bancaire à la CFO</a:t>
          </a:r>
          <a:endParaRPr lang="fr-CA" sz="2400" noProof="0"/>
        </a:p>
      </dgm:t>
    </dgm:pt>
    <dgm:pt modelId="{B2FAA285-6CAD-4161-A30C-314A0450B943}" type="parTrans" cxnId="{F230F6AE-4B0E-4BA2-A1E6-43E7EA555701}">
      <dgm:prSet/>
      <dgm:spPr/>
      <dgm:t>
        <a:bodyPr/>
        <a:lstStyle/>
        <a:p>
          <a:endParaRPr lang="fr-FR"/>
        </a:p>
      </dgm:t>
    </dgm:pt>
    <dgm:pt modelId="{B313D10A-ED4D-4484-9760-DE59F85294E6}" type="sibTrans" cxnId="{F230F6AE-4B0E-4BA2-A1E6-43E7EA555701}">
      <dgm:prSet/>
      <dgm:spPr/>
      <dgm:t>
        <a:bodyPr/>
        <a:lstStyle/>
        <a:p>
          <a:endParaRPr lang="fr-FR"/>
        </a:p>
      </dgm:t>
    </dgm:pt>
    <dgm:pt modelId="{FB990A30-A8E5-432A-BFA4-D51A95FD3BD8}">
      <dgm:prSet phldrT="[Texte]"/>
      <dgm:spPr/>
      <dgm:t>
        <a:bodyPr/>
        <a:lstStyle/>
        <a:p>
          <a:r>
            <a:rPr lang="fr-CA" b="0" noProof="0">
              <a:latin typeface="Calibri"/>
              <a:ea typeface="Calibri"/>
              <a:cs typeface="Calibri"/>
            </a:rPr>
            <a:t>Simplifier, automatiser et standardiser les processus d’affaires</a:t>
          </a:r>
          <a:endParaRPr lang="fr-CA" noProof="0"/>
        </a:p>
      </dgm:t>
    </dgm:pt>
    <dgm:pt modelId="{EC08195A-1831-412D-AFB9-C2A5627BB742}" type="parTrans" cxnId="{87B2201D-29C0-44D1-B443-8A4063A915CE}">
      <dgm:prSet/>
      <dgm:spPr/>
      <dgm:t>
        <a:bodyPr/>
        <a:lstStyle/>
        <a:p>
          <a:endParaRPr lang="fr-FR"/>
        </a:p>
      </dgm:t>
    </dgm:pt>
    <dgm:pt modelId="{E47BA364-7EA1-48DD-8A7C-C08C4B7E277F}" type="sibTrans" cxnId="{87B2201D-29C0-44D1-B443-8A4063A915CE}">
      <dgm:prSet/>
      <dgm:spPr/>
      <dgm:t>
        <a:bodyPr/>
        <a:lstStyle/>
        <a:p>
          <a:endParaRPr lang="fr-FR"/>
        </a:p>
      </dgm:t>
    </dgm:pt>
    <dgm:pt modelId="{BE39A07B-BFD3-4B11-92B7-D47B0B7EF2BA}">
      <dgm:prSet phldrT="[Texte]"/>
      <dgm:spPr/>
      <dgm:t>
        <a:bodyPr/>
        <a:lstStyle/>
        <a:p>
          <a:r>
            <a:rPr lang="fr-CA" b="0" noProof="0">
              <a:latin typeface="Calibri"/>
              <a:ea typeface="Calibri"/>
              <a:cs typeface="Calibri"/>
            </a:rPr>
            <a:t>Définir et diffuser le modèle opérationnel du </a:t>
          </a:r>
          <a:r>
            <a:rPr lang="fr-CA" noProof="0">
              <a:latin typeface="Calibri"/>
              <a:ea typeface="Calibri"/>
              <a:cs typeface="Calibri"/>
            </a:rPr>
            <a:t>CSP bancaire</a:t>
          </a:r>
          <a:endParaRPr lang="fr-CA" noProof="0"/>
        </a:p>
      </dgm:t>
    </dgm:pt>
    <dgm:pt modelId="{19720E27-6C2E-4919-AD5C-AB0F24859B3D}" type="parTrans" cxnId="{92D056AA-A6F8-48F0-93E0-CEF8C5DFF5BE}">
      <dgm:prSet/>
      <dgm:spPr/>
      <dgm:t>
        <a:bodyPr/>
        <a:lstStyle/>
        <a:p>
          <a:endParaRPr lang="fr-FR"/>
        </a:p>
      </dgm:t>
    </dgm:pt>
    <dgm:pt modelId="{0738FF68-0926-47FF-BF3B-4BB1C126EF9B}" type="sibTrans" cxnId="{92D056AA-A6F8-48F0-93E0-CEF8C5DFF5BE}">
      <dgm:prSet/>
      <dgm:spPr/>
      <dgm:t>
        <a:bodyPr/>
        <a:lstStyle/>
        <a:p>
          <a:endParaRPr lang="fr-FR"/>
        </a:p>
      </dgm:t>
    </dgm:pt>
    <dgm:pt modelId="{69E68A02-FAD5-4B8F-A7C2-874D06209BE2}" type="pres">
      <dgm:prSet presAssocID="{AE6569C9-3228-41A4-81E6-6EFE9C3C8E99}" presName="Name0" presStyleCnt="0">
        <dgm:presLayoutVars>
          <dgm:chMax val="7"/>
          <dgm:chPref val="7"/>
          <dgm:dir/>
        </dgm:presLayoutVars>
      </dgm:prSet>
      <dgm:spPr/>
    </dgm:pt>
    <dgm:pt modelId="{1698872E-86A5-4DEE-95F8-67A7BD044B2D}" type="pres">
      <dgm:prSet presAssocID="{AE6569C9-3228-41A4-81E6-6EFE9C3C8E99}" presName="Name1" presStyleCnt="0"/>
      <dgm:spPr/>
    </dgm:pt>
    <dgm:pt modelId="{678BB072-52AD-40A1-BDC9-84C24073B2ED}" type="pres">
      <dgm:prSet presAssocID="{AE6569C9-3228-41A4-81E6-6EFE9C3C8E99}" presName="cycle" presStyleCnt="0"/>
      <dgm:spPr/>
    </dgm:pt>
    <dgm:pt modelId="{4E33AAA7-330F-4708-9B37-44834A0F6843}" type="pres">
      <dgm:prSet presAssocID="{AE6569C9-3228-41A4-81E6-6EFE9C3C8E99}" presName="srcNode" presStyleLbl="node1" presStyleIdx="0" presStyleCnt="3"/>
      <dgm:spPr/>
    </dgm:pt>
    <dgm:pt modelId="{DEBFA474-941E-401F-8616-BCA3F10AA38D}" type="pres">
      <dgm:prSet presAssocID="{AE6569C9-3228-41A4-81E6-6EFE9C3C8E99}" presName="conn" presStyleLbl="parChTrans1D2" presStyleIdx="0" presStyleCnt="1"/>
      <dgm:spPr/>
    </dgm:pt>
    <dgm:pt modelId="{CE5B61EC-5C9B-4267-9400-BA486437D505}" type="pres">
      <dgm:prSet presAssocID="{AE6569C9-3228-41A4-81E6-6EFE9C3C8E99}" presName="extraNode" presStyleLbl="node1" presStyleIdx="0" presStyleCnt="3"/>
      <dgm:spPr/>
    </dgm:pt>
    <dgm:pt modelId="{2672290F-3FF4-4664-AC50-14156CBE025D}" type="pres">
      <dgm:prSet presAssocID="{AE6569C9-3228-41A4-81E6-6EFE9C3C8E99}" presName="dstNode" presStyleLbl="node1" presStyleIdx="0" presStyleCnt="3"/>
      <dgm:spPr/>
    </dgm:pt>
    <dgm:pt modelId="{1352A2B6-DAA5-4313-97B6-C73E93FC20AE}" type="pres">
      <dgm:prSet presAssocID="{F8A9B338-2461-468D-B893-55AA441502D5}" presName="text_1" presStyleLbl="node1" presStyleIdx="0" presStyleCnt="3">
        <dgm:presLayoutVars>
          <dgm:bulletEnabled val="1"/>
        </dgm:presLayoutVars>
      </dgm:prSet>
      <dgm:spPr/>
    </dgm:pt>
    <dgm:pt modelId="{E54CA34F-69B1-42A0-83DC-CEF92E11593B}" type="pres">
      <dgm:prSet presAssocID="{F8A9B338-2461-468D-B893-55AA441502D5}" presName="accent_1" presStyleCnt="0"/>
      <dgm:spPr/>
    </dgm:pt>
    <dgm:pt modelId="{82E824E6-CD4C-4ED2-99DC-E3F2465D1A95}" type="pres">
      <dgm:prSet presAssocID="{F8A9B338-2461-468D-B893-55AA441502D5}" presName="accentRepeatNode" presStyleLbl="solidFgAcc1" presStyleIdx="0" presStyleCnt="3">
        <dgm:style>
          <a:lnRef idx="2">
            <a:schemeClr val="dk1"/>
          </a:lnRef>
          <a:fillRef idx="1">
            <a:schemeClr val="lt1"/>
          </a:fillRef>
          <a:effectRef idx="0">
            <a:schemeClr val="dk1"/>
          </a:effectRef>
          <a:fontRef idx="minor">
            <a:schemeClr val="dk1"/>
          </a:fontRef>
        </dgm:style>
      </dgm:prSet>
      <dgm:spPr/>
    </dgm:pt>
    <dgm:pt modelId="{C7D95150-EBE4-4F6A-A891-67DF7ED27007}" type="pres">
      <dgm:prSet presAssocID="{FB990A30-A8E5-432A-BFA4-D51A95FD3BD8}" presName="text_2" presStyleLbl="node1" presStyleIdx="1" presStyleCnt="3">
        <dgm:presLayoutVars>
          <dgm:bulletEnabled val="1"/>
        </dgm:presLayoutVars>
      </dgm:prSet>
      <dgm:spPr/>
    </dgm:pt>
    <dgm:pt modelId="{6493D3B7-DDE8-4C36-B25F-BFFE57D28602}" type="pres">
      <dgm:prSet presAssocID="{FB990A30-A8E5-432A-BFA4-D51A95FD3BD8}" presName="accent_2" presStyleCnt="0"/>
      <dgm:spPr/>
    </dgm:pt>
    <dgm:pt modelId="{82FF165D-7AA5-4159-9E15-8B1CCB552B19}" type="pres">
      <dgm:prSet presAssocID="{FB990A30-A8E5-432A-BFA4-D51A95FD3BD8}" presName="accentRepeatNode" presStyleLbl="solidFgAcc1" presStyleIdx="1" presStyleCnt="3">
        <dgm:style>
          <a:lnRef idx="2">
            <a:schemeClr val="accent2"/>
          </a:lnRef>
          <a:fillRef idx="1">
            <a:schemeClr val="lt1"/>
          </a:fillRef>
          <a:effectRef idx="0">
            <a:schemeClr val="accent2"/>
          </a:effectRef>
          <a:fontRef idx="minor">
            <a:schemeClr val="dk1"/>
          </a:fontRef>
        </dgm:style>
      </dgm:prSet>
      <dgm:spPr/>
    </dgm:pt>
    <dgm:pt modelId="{630BD8B6-BA8C-4C2E-ACC9-A9E688D76AAD}" type="pres">
      <dgm:prSet presAssocID="{BE39A07B-BFD3-4B11-92B7-D47B0B7EF2BA}" presName="text_3" presStyleLbl="node1" presStyleIdx="2" presStyleCnt="3">
        <dgm:presLayoutVars>
          <dgm:bulletEnabled val="1"/>
        </dgm:presLayoutVars>
      </dgm:prSet>
      <dgm:spPr/>
    </dgm:pt>
    <dgm:pt modelId="{8B1257F9-4F00-4C82-84C9-DCB36F426A24}" type="pres">
      <dgm:prSet presAssocID="{BE39A07B-BFD3-4B11-92B7-D47B0B7EF2BA}" presName="accent_3" presStyleCnt="0"/>
      <dgm:spPr/>
    </dgm:pt>
    <dgm:pt modelId="{1E4C697F-001A-4460-87B4-9AA55DE8A81E}" type="pres">
      <dgm:prSet presAssocID="{BE39A07B-BFD3-4B11-92B7-D47B0B7EF2BA}" presName="accentRepeatNode" presStyleLbl="solidFgAcc1" presStyleIdx="2" presStyleCnt="3">
        <dgm:style>
          <a:lnRef idx="2">
            <a:schemeClr val="accent4"/>
          </a:lnRef>
          <a:fillRef idx="1">
            <a:schemeClr val="lt1"/>
          </a:fillRef>
          <a:effectRef idx="0">
            <a:schemeClr val="accent4"/>
          </a:effectRef>
          <a:fontRef idx="minor">
            <a:schemeClr val="dk1"/>
          </a:fontRef>
        </dgm:style>
      </dgm:prSet>
      <dgm:spPr/>
    </dgm:pt>
  </dgm:ptLst>
  <dgm:cxnLst>
    <dgm:cxn modelId="{87B2201D-29C0-44D1-B443-8A4063A915CE}" srcId="{AE6569C9-3228-41A4-81E6-6EFE9C3C8E99}" destId="{FB990A30-A8E5-432A-BFA4-D51A95FD3BD8}" srcOrd="1" destOrd="0" parTransId="{EC08195A-1831-412D-AFB9-C2A5627BB742}" sibTransId="{E47BA364-7EA1-48DD-8A7C-C08C4B7E277F}"/>
    <dgm:cxn modelId="{61C3237E-5E5F-4260-A78B-A617B13E1208}" type="presOf" srcId="{BE39A07B-BFD3-4B11-92B7-D47B0B7EF2BA}" destId="{630BD8B6-BA8C-4C2E-ACC9-A9E688D76AAD}" srcOrd="0" destOrd="0" presId="urn:microsoft.com/office/officeart/2008/layout/VerticalCurvedList"/>
    <dgm:cxn modelId="{A3A5468F-B00B-459D-999F-9F8600CC8B36}" type="presOf" srcId="{B313D10A-ED4D-4484-9760-DE59F85294E6}" destId="{DEBFA474-941E-401F-8616-BCA3F10AA38D}" srcOrd="0" destOrd="0" presId="urn:microsoft.com/office/officeart/2008/layout/VerticalCurvedList"/>
    <dgm:cxn modelId="{662623A6-1033-426C-9882-5860182BD017}" type="presOf" srcId="{AE6569C9-3228-41A4-81E6-6EFE9C3C8E99}" destId="{69E68A02-FAD5-4B8F-A7C2-874D06209BE2}" srcOrd="0" destOrd="0" presId="urn:microsoft.com/office/officeart/2008/layout/VerticalCurvedList"/>
    <dgm:cxn modelId="{92D056AA-A6F8-48F0-93E0-CEF8C5DFF5BE}" srcId="{AE6569C9-3228-41A4-81E6-6EFE9C3C8E99}" destId="{BE39A07B-BFD3-4B11-92B7-D47B0B7EF2BA}" srcOrd="2" destOrd="0" parTransId="{19720E27-6C2E-4919-AD5C-AB0F24859B3D}" sibTransId="{0738FF68-0926-47FF-BF3B-4BB1C126EF9B}"/>
    <dgm:cxn modelId="{F230F6AE-4B0E-4BA2-A1E6-43E7EA555701}" srcId="{AE6569C9-3228-41A4-81E6-6EFE9C3C8E99}" destId="{F8A9B338-2461-468D-B893-55AA441502D5}" srcOrd="0" destOrd="0" parTransId="{B2FAA285-6CAD-4161-A30C-314A0450B943}" sibTransId="{B313D10A-ED4D-4484-9760-DE59F85294E6}"/>
    <dgm:cxn modelId="{AC87C1B9-2945-4825-87CC-04AF8C62D424}" type="presOf" srcId="{F8A9B338-2461-468D-B893-55AA441502D5}" destId="{1352A2B6-DAA5-4313-97B6-C73E93FC20AE}" srcOrd="0" destOrd="0" presId="urn:microsoft.com/office/officeart/2008/layout/VerticalCurvedList"/>
    <dgm:cxn modelId="{369D5EE7-D176-4056-8D6B-7401C92FF70A}" type="presOf" srcId="{FB990A30-A8E5-432A-BFA4-D51A95FD3BD8}" destId="{C7D95150-EBE4-4F6A-A891-67DF7ED27007}" srcOrd="0" destOrd="0" presId="urn:microsoft.com/office/officeart/2008/layout/VerticalCurvedList"/>
    <dgm:cxn modelId="{03A0930F-5451-4451-8D18-FB10BD31E7CA}" type="presParOf" srcId="{69E68A02-FAD5-4B8F-A7C2-874D06209BE2}" destId="{1698872E-86A5-4DEE-95F8-67A7BD044B2D}" srcOrd="0" destOrd="0" presId="urn:microsoft.com/office/officeart/2008/layout/VerticalCurvedList"/>
    <dgm:cxn modelId="{9E05BDC8-F230-412C-92A9-BD8654DA931B}" type="presParOf" srcId="{1698872E-86A5-4DEE-95F8-67A7BD044B2D}" destId="{678BB072-52AD-40A1-BDC9-84C24073B2ED}" srcOrd="0" destOrd="0" presId="urn:microsoft.com/office/officeart/2008/layout/VerticalCurvedList"/>
    <dgm:cxn modelId="{9723C054-5BE3-46D8-8C03-4853CBE1B35B}" type="presParOf" srcId="{678BB072-52AD-40A1-BDC9-84C24073B2ED}" destId="{4E33AAA7-330F-4708-9B37-44834A0F6843}" srcOrd="0" destOrd="0" presId="urn:microsoft.com/office/officeart/2008/layout/VerticalCurvedList"/>
    <dgm:cxn modelId="{B6BD4CFB-C82F-4237-AEDD-05AE6F1F7FBB}" type="presParOf" srcId="{678BB072-52AD-40A1-BDC9-84C24073B2ED}" destId="{DEBFA474-941E-401F-8616-BCA3F10AA38D}" srcOrd="1" destOrd="0" presId="urn:microsoft.com/office/officeart/2008/layout/VerticalCurvedList"/>
    <dgm:cxn modelId="{961760DC-07E4-4464-A178-F6DD54A9A3BA}" type="presParOf" srcId="{678BB072-52AD-40A1-BDC9-84C24073B2ED}" destId="{CE5B61EC-5C9B-4267-9400-BA486437D505}" srcOrd="2" destOrd="0" presId="urn:microsoft.com/office/officeart/2008/layout/VerticalCurvedList"/>
    <dgm:cxn modelId="{1A506B9A-FF3E-471C-A46A-FB1799138FAE}" type="presParOf" srcId="{678BB072-52AD-40A1-BDC9-84C24073B2ED}" destId="{2672290F-3FF4-4664-AC50-14156CBE025D}" srcOrd="3" destOrd="0" presId="urn:microsoft.com/office/officeart/2008/layout/VerticalCurvedList"/>
    <dgm:cxn modelId="{028F2348-4D62-40B7-B9E1-E77E87D04F38}" type="presParOf" srcId="{1698872E-86A5-4DEE-95F8-67A7BD044B2D}" destId="{1352A2B6-DAA5-4313-97B6-C73E93FC20AE}" srcOrd="1" destOrd="0" presId="urn:microsoft.com/office/officeart/2008/layout/VerticalCurvedList"/>
    <dgm:cxn modelId="{EB5606EA-87A0-425D-846F-17E6D69A055B}" type="presParOf" srcId="{1698872E-86A5-4DEE-95F8-67A7BD044B2D}" destId="{E54CA34F-69B1-42A0-83DC-CEF92E11593B}" srcOrd="2" destOrd="0" presId="urn:microsoft.com/office/officeart/2008/layout/VerticalCurvedList"/>
    <dgm:cxn modelId="{C7990BD1-DFDB-4C5A-A9E3-CCD42D42D949}" type="presParOf" srcId="{E54CA34F-69B1-42A0-83DC-CEF92E11593B}" destId="{82E824E6-CD4C-4ED2-99DC-E3F2465D1A95}" srcOrd="0" destOrd="0" presId="urn:microsoft.com/office/officeart/2008/layout/VerticalCurvedList"/>
    <dgm:cxn modelId="{350DFDFE-B401-4AC3-8808-1175E8E1EA89}" type="presParOf" srcId="{1698872E-86A5-4DEE-95F8-67A7BD044B2D}" destId="{C7D95150-EBE4-4F6A-A891-67DF7ED27007}" srcOrd="3" destOrd="0" presId="urn:microsoft.com/office/officeart/2008/layout/VerticalCurvedList"/>
    <dgm:cxn modelId="{CAE90AA4-FB1D-4CAD-B36A-9AB95D229109}" type="presParOf" srcId="{1698872E-86A5-4DEE-95F8-67A7BD044B2D}" destId="{6493D3B7-DDE8-4C36-B25F-BFFE57D28602}" srcOrd="4" destOrd="0" presId="urn:microsoft.com/office/officeart/2008/layout/VerticalCurvedList"/>
    <dgm:cxn modelId="{6813996F-D047-4F55-9A13-E5B777BA9CDE}" type="presParOf" srcId="{6493D3B7-DDE8-4C36-B25F-BFFE57D28602}" destId="{82FF165D-7AA5-4159-9E15-8B1CCB552B19}" srcOrd="0" destOrd="0" presId="urn:microsoft.com/office/officeart/2008/layout/VerticalCurvedList"/>
    <dgm:cxn modelId="{0B3C7F28-AEA5-40EE-9BE3-3227ECF64EFB}" type="presParOf" srcId="{1698872E-86A5-4DEE-95F8-67A7BD044B2D}" destId="{630BD8B6-BA8C-4C2E-ACC9-A9E688D76AAD}" srcOrd="5" destOrd="0" presId="urn:microsoft.com/office/officeart/2008/layout/VerticalCurvedList"/>
    <dgm:cxn modelId="{F5298D92-9E4E-4981-918B-9D65CB799622}" type="presParOf" srcId="{1698872E-86A5-4DEE-95F8-67A7BD044B2D}" destId="{8B1257F9-4F00-4C82-84C9-DCB36F426A24}" srcOrd="6" destOrd="0" presId="urn:microsoft.com/office/officeart/2008/layout/VerticalCurvedList"/>
    <dgm:cxn modelId="{99340C92-CBDD-4D35-B479-72EEFC0AF5F3}" type="presParOf" srcId="{8B1257F9-4F00-4C82-84C9-DCB36F426A24}" destId="{1E4C697F-001A-4460-87B4-9AA55DE8A81E}"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CE8E8DA-D2C3-4B63-9A79-F6153344B04D}" type="doc">
      <dgm:prSet loTypeId="urn:microsoft.com/office/officeart/2005/8/layout/vList6" loCatId="list" qsTypeId="urn:microsoft.com/office/officeart/2005/8/quickstyle/3d2" qsCatId="3D" csTypeId="urn:microsoft.com/office/officeart/2005/8/colors/accent1_2" csCatId="accent1" phldr="1"/>
      <dgm:spPr/>
      <dgm:t>
        <a:bodyPr/>
        <a:lstStyle/>
        <a:p>
          <a:endParaRPr lang="fr-FR"/>
        </a:p>
      </dgm:t>
    </dgm:pt>
    <dgm:pt modelId="{BDA9485B-DE28-48EB-B87B-DBAC36DAAFB4}">
      <dgm:prSet phldrT="[Texte]" custT="1"/>
      <dgm:spPr/>
      <dgm:t>
        <a:bodyPr/>
        <a:lstStyle/>
        <a:p>
          <a:r>
            <a:rPr lang="fr-CA" sz="3600" noProof="0"/>
            <a:t>Bénéfices monétaires</a:t>
          </a:r>
        </a:p>
      </dgm:t>
    </dgm:pt>
    <dgm:pt modelId="{DE7B2205-277E-495C-A4FC-D37E3C6C979C}" type="parTrans" cxnId="{DC3D6501-61CB-4538-A216-21510AAC0192}">
      <dgm:prSet/>
      <dgm:spPr/>
      <dgm:t>
        <a:bodyPr/>
        <a:lstStyle/>
        <a:p>
          <a:endParaRPr lang="fr-FR"/>
        </a:p>
      </dgm:t>
    </dgm:pt>
    <dgm:pt modelId="{CC730FDF-A181-41E5-BBE8-04DBF36D694D}" type="sibTrans" cxnId="{DC3D6501-61CB-4538-A216-21510AAC0192}">
      <dgm:prSet/>
      <dgm:spPr/>
      <dgm:t>
        <a:bodyPr/>
        <a:lstStyle/>
        <a:p>
          <a:endParaRPr lang="fr-FR"/>
        </a:p>
      </dgm:t>
    </dgm:pt>
    <dgm:pt modelId="{727558FF-35D9-4453-BE10-5C29963608DA}">
      <dgm:prSet phldrT="[Texte]"/>
      <dgm:spPr/>
      <dgm:t>
        <a:bodyPr/>
        <a:lstStyle/>
        <a:p>
          <a:pPr marL="268288" indent="-176213">
            <a:buFont typeface="Wingdings" panose="05000000000000000000" pitchFamily="2" charset="2"/>
            <a:buChar char="Ø"/>
          </a:pPr>
          <a:r>
            <a:rPr lang="fr-CA" sz="1200" noProof="0"/>
            <a:t>Des </a:t>
          </a:r>
          <a:r>
            <a:rPr lang="fr-CA" sz="1200"/>
            <a:t>Économies générées par une optimisation des capacités liées a la structure bancaire :</a:t>
          </a:r>
          <a:r>
            <a:rPr lang="fr-CA" sz="1200" noProof="0"/>
            <a:t> </a:t>
          </a:r>
        </a:p>
      </dgm:t>
    </dgm:pt>
    <dgm:pt modelId="{ED1DE7FA-87BB-44EB-AF1B-CFACB9D0EB6B}" type="parTrans" cxnId="{98A935D8-DE5B-48B0-94F4-34DDA6C1BCDA}">
      <dgm:prSet/>
      <dgm:spPr/>
      <dgm:t>
        <a:bodyPr/>
        <a:lstStyle/>
        <a:p>
          <a:endParaRPr lang="fr-FR"/>
        </a:p>
      </dgm:t>
    </dgm:pt>
    <dgm:pt modelId="{0365B425-CBCB-4BAC-BA91-D18AB0972577}" type="sibTrans" cxnId="{98A935D8-DE5B-48B0-94F4-34DDA6C1BCDA}">
      <dgm:prSet/>
      <dgm:spPr/>
      <dgm:t>
        <a:bodyPr/>
        <a:lstStyle/>
        <a:p>
          <a:endParaRPr lang="fr-FR"/>
        </a:p>
      </dgm:t>
    </dgm:pt>
    <dgm:pt modelId="{9F589BB1-98FE-4963-8C81-CFD60329EA65}">
      <dgm:prSet phldrT="[Texte]" custT="1"/>
      <dgm:spPr/>
      <dgm:t>
        <a:bodyPr/>
        <a:lstStyle/>
        <a:p>
          <a:r>
            <a:rPr lang="fr-CA" sz="4000" noProof="0"/>
            <a:t>Bénéfices autres</a:t>
          </a:r>
        </a:p>
      </dgm:t>
    </dgm:pt>
    <dgm:pt modelId="{2C2A8CA2-9300-4A5F-9DB4-6F3518A78962}" type="parTrans" cxnId="{059B82A0-ADE8-4747-BBE4-CB1359657542}">
      <dgm:prSet/>
      <dgm:spPr/>
      <dgm:t>
        <a:bodyPr/>
        <a:lstStyle/>
        <a:p>
          <a:endParaRPr lang="fr-FR"/>
        </a:p>
      </dgm:t>
    </dgm:pt>
    <dgm:pt modelId="{177FB7F8-6BC7-4872-9D69-AC8920670C58}" type="sibTrans" cxnId="{059B82A0-ADE8-4747-BBE4-CB1359657542}">
      <dgm:prSet/>
      <dgm:spPr/>
      <dgm:t>
        <a:bodyPr/>
        <a:lstStyle/>
        <a:p>
          <a:endParaRPr lang="fr-FR"/>
        </a:p>
      </dgm:t>
    </dgm:pt>
    <dgm:pt modelId="{4392303A-9F90-4A3D-9BAF-089677FA9133}">
      <dgm:prSet custT="1"/>
      <dgm:spPr/>
      <dgm:t>
        <a:bodyPr/>
        <a:lstStyle/>
        <a:p>
          <a:pPr marL="268288" indent="-176213">
            <a:buFont typeface="Wingdings" panose="05000000000000000000" pitchFamily="2" charset="2"/>
            <a:buChar char="Ø"/>
          </a:pPr>
          <a:r>
            <a:rPr lang="fr-CA" sz="1200" kern="1200" noProof="0">
              <a:solidFill>
                <a:srgbClr val="003DA5">
                  <a:hueOff val="0"/>
                  <a:satOff val="0"/>
                  <a:lumOff val="0"/>
                  <a:alphaOff val="0"/>
                </a:srgbClr>
              </a:solidFill>
              <a:latin typeface="+mn-lt"/>
              <a:ea typeface="+mn-ea"/>
              <a:cs typeface="+mn-cs"/>
            </a:rPr>
            <a:t>Mise en place d’outils permettant une meilleure prise de décision </a:t>
          </a:r>
        </a:p>
      </dgm:t>
    </dgm:pt>
    <dgm:pt modelId="{B5018249-C9FB-445E-81C5-1EC0D92312C1}" type="parTrans" cxnId="{CB36739A-01BA-4A16-9017-EA0CEB2930B7}">
      <dgm:prSet/>
      <dgm:spPr/>
      <dgm:t>
        <a:bodyPr/>
        <a:lstStyle/>
        <a:p>
          <a:endParaRPr lang="fr-FR"/>
        </a:p>
      </dgm:t>
    </dgm:pt>
    <dgm:pt modelId="{9D519A7C-F3DA-4C8C-8412-5EA78EDEFCC8}" type="sibTrans" cxnId="{CB36739A-01BA-4A16-9017-EA0CEB2930B7}">
      <dgm:prSet/>
      <dgm:spPr/>
      <dgm:t>
        <a:bodyPr/>
        <a:lstStyle/>
        <a:p>
          <a:endParaRPr lang="fr-FR"/>
        </a:p>
      </dgm:t>
    </dgm:pt>
    <dgm:pt modelId="{1B763DFA-E693-4396-A304-A6388CF26D47}">
      <dgm:prSet custT="1"/>
      <dgm:spPr/>
      <dgm:t>
        <a:bodyPr/>
        <a:lstStyle/>
        <a:p>
          <a:pPr marL="268288" indent="-176213">
            <a:buFont typeface="Wingdings" panose="05000000000000000000" pitchFamily="2" charset="2"/>
            <a:buChar char="Ø"/>
          </a:pPr>
          <a:r>
            <a:rPr lang="fr-CA" sz="1200" kern="1200" noProof="0">
              <a:solidFill>
                <a:srgbClr val="003DA5">
                  <a:hueOff val="0"/>
                  <a:satOff val="0"/>
                  <a:lumOff val="0"/>
                  <a:alphaOff val="0"/>
                </a:srgbClr>
              </a:solidFill>
              <a:latin typeface="+mn-lt"/>
              <a:ea typeface="+mn-ea"/>
              <a:cs typeface="+mn-cs"/>
            </a:rPr>
            <a:t>Meilleure gestion des cas d’anomalies, d’erreur et de fraude</a:t>
          </a:r>
        </a:p>
      </dgm:t>
    </dgm:pt>
    <dgm:pt modelId="{4A5CAE75-16FD-46BE-A227-6BE0F516F703}" type="parTrans" cxnId="{68A8498D-F9EB-4D48-9F6E-B4227E2C0476}">
      <dgm:prSet/>
      <dgm:spPr/>
      <dgm:t>
        <a:bodyPr/>
        <a:lstStyle/>
        <a:p>
          <a:endParaRPr lang="fr-FR"/>
        </a:p>
      </dgm:t>
    </dgm:pt>
    <dgm:pt modelId="{C35CEE8D-9EA4-4507-B392-E29EC0474003}" type="sibTrans" cxnId="{68A8498D-F9EB-4D48-9F6E-B4227E2C0476}">
      <dgm:prSet/>
      <dgm:spPr/>
      <dgm:t>
        <a:bodyPr/>
        <a:lstStyle/>
        <a:p>
          <a:endParaRPr lang="fr-FR"/>
        </a:p>
      </dgm:t>
    </dgm:pt>
    <dgm:pt modelId="{EC238498-BD51-4DDF-8A65-B32F43BACC46}">
      <dgm:prSet phldrT="[Texte]"/>
      <dgm:spPr/>
      <dgm:t>
        <a:bodyPr/>
        <a:lstStyle/>
        <a:p>
          <a:pPr marL="360363" indent="-92075">
            <a:buFont typeface="Wingdings" panose="05000000000000000000" pitchFamily="2" charset="2"/>
            <a:buChar char="ü"/>
          </a:pPr>
          <a:r>
            <a:rPr lang="fr-CA" sz="1200" noProof="0"/>
            <a:t> Diminution des frais pour </a:t>
          </a:r>
          <a:r>
            <a:rPr lang="fr-CA" sz="1200" noProof="0" err="1"/>
            <a:t>iA</a:t>
          </a:r>
          <a:endParaRPr lang="fr-CA" sz="1200" noProof="0"/>
        </a:p>
      </dgm:t>
    </dgm:pt>
    <dgm:pt modelId="{2E4F86EC-2961-4CDF-AE41-9ECEA7333500}" type="parTrans" cxnId="{0B75F3D1-3C5D-4732-8611-3F3C1D2582ED}">
      <dgm:prSet/>
      <dgm:spPr/>
      <dgm:t>
        <a:bodyPr/>
        <a:lstStyle/>
        <a:p>
          <a:endParaRPr lang="fr-FR"/>
        </a:p>
      </dgm:t>
    </dgm:pt>
    <dgm:pt modelId="{C20D8E5B-58FF-47B9-8FA5-3648E1633707}" type="sibTrans" cxnId="{0B75F3D1-3C5D-4732-8611-3F3C1D2582ED}">
      <dgm:prSet/>
      <dgm:spPr/>
      <dgm:t>
        <a:bodyPr/>
        <a:lstStyle/>
        <a:p>
          <a:endParaRPr lang="fr-FR"/>
        </a:p>
      </dgm:t>
    </dgm:pt>
    <dgm:pt modelId="{0304DD2D-0310-4A70-81EC-FF731F8E9422}">
      <dgm:prSet phldrT="[Texte]" custT="1"/>
      <dgm:spPr/>
      <dgm:t>
        <a:bodyPr/>
        <a:lstStyle/>
        <a:p>
          <a:pPr marL="268288" indent="-176213"/>
          <a:endParaRPr lang="fr-CA" sz="600" noProof="0"/>
        </a:p>
      </dgm:t>
    </dgm:pt>
    <dgm:pt modelId="{16E42C08-0842-4830-A78B-03F287799302}" type="parTrans" cxnId="{259F3377-82D5-49CC-A6A2-AD4FFBD6455A}">
      <dgm:prSet/>
      <dgm:spPr/>
      <dgm:t>
        <a:bodyPr/>
        <a:lstStyle/>
        <a:p>
          <a:endParaRPr lang="fr-FR"/>
        </a:p>
      </dgm:t>
    </dgm:pt>
    <dgm:pt modelId="{DB534110-BC6A-44C2-A36C-8C7C454538F4}" type="sibTrans" cxnId="{259F3377-82D5-49CC-A6A2-AD4FFBD6455A}">
      <dgm:prSet/>
      <dgm:spPr/>
      <dgm:t>
        <a:bodyPr/>
        <a:lstStyle/>
        <a:p>
          <a:endParaRPr lang="fr-FR"/>
        </a:p>
      </dgm:t>
    </dgm:pt>
    <dgm:pt modelId="{A3C3776C-40C6-4C59-91EA-471B6D31997C}">
      <dgm:prSet phldrT="[Texte]"/>
      <dgm:spPr/>
      <dgm:t>
        <a:bodyPr/>
        <a:lstStyle/>
        <a:p>
          <a:pPr marL="268288" indent="-176213">
            <a:buFont typeface="Wingdings" panose="05000000000000000000" pitchFamily="2" charset="2"/>
            <a:buChar char="Ø"/>
          </a:pPr>
          <a:r>
            <a:rPr lang="fr-CA" sz="1200" noProof="0"/>
            <a:t>Des économies générées par la simplification de l'écosystème bancaire</a:t>
          </a:r>
        </a:p>
      </dgm:t>
    </dgm:pt>
    <dgm:pt modelId="{ABD604E1-D5F8-497B-B661-F1309045251A}" type="parTrans" cxnId="{A7D90D73-0B01-4D6A-9A93-B1AC8EE9AD4F}">
      <dgm:prSet/>
      <dgm:spPr/>
      <dgm:t>
        <a:bodyPr/>
        <a:lstStyle/>
        <a:p>
          <a:endParaRPr lang="fr-FR"/>
        </a:p>
      </dgm:t>
    </dgm:pt>
    <dgm:pt modelId="{AAB9CC4A-3B8E-4D30-B3EA-FB76A71C91BE}" type="sibTrans" cxnId="{A7D90D73-0B01-4D6A-9A93-B1AC8EE9AD4F}">
      <dgm:prSet/>
      <dgm:spPr/>
      <dgm:t>
        <a:bodyPr/>
        <a:lstStyle/>
        <a:p>
          <a:endParaRPr lang="fr-FR"/>
        </a:p>
      </dgm:t>
    </dgm:pt>
    <dgm:pt modelId="{51738255-EB23-41B8-A0B4-7355539854A4}">
      <dgm:prSet phldrT="[Texte]"/>
      <dgm:spPr/>
      <dgm:t>
        <a:bodyPr/>
        <a:lstStyle/>
        <a:p>
          <a:pPr marL="446088" indent="-177800">
            <a:buFont typeface="Wingdings" panose="05000000000000000000" pitchFamily="2" charset="2"/>
            <a:buChar char="ü"/>
          </a:pPr>
          <a:r>
            <a:rPr lang="fr-CA" sz="1200" noProof="0"/>
            <a:t>Diminution des coûts de maintenance système </a:t>
          </a:r>
        </a:p>
      </dgm:t>
    </dgm:pt>
    <dgm:pt modelId="{CB5D35C1-C63C-40F1-9F70-78D22A95B5C1}" type="parTrans" cxnId="{57FDADB4-5740-4B7D-AC24-6C54A27B0DB0}">
      <dgm:prSet/>
      <dgm:spPr/>
      <dgm:t>
        <a:bodyPr/>
        <a:lstStyle/>
        <a:p>
          <a:endParaRPr lang="fr-FR"/>
        </a:p>
      </dgm:t>
    </dgm:pt>
    <dgm:pt modelId="{616E4B0E-6D26-40CC-9CE5-C30F48E3CB10}" type="sibTrans" cxnId="{57FDADB4-5740-4B7D-AC24-6C54A27B0DB0}">
      <dgm:prSet/>
      <dgm:spPr/>
      <dgm:t>
        <a:bodyPr/>
        <a:lstStyle/>
        <a:p>
          <a:endParaRPr lang="fr-FR"/>
        </a:p>
      </dgm:t>
    </dgm:pt>
    <dgm:pt modelId="{32E79E26-CDCB-4A62-82DA-EC8E5BED8480}">
      <dgm:prSet phldrT="[Texte]" custT="1"/>
      <dgm:spPr/>
      <dgm:t>
        <a:bodyPr/>
        <a:lstStyle/>
        <a:p>
          <a:pPr marL="271463" indent="-185738">
            <a:buFont typeface="Wingdings" panose="05000000000000000000" pitchFamily="2" charset="2"/>
            <a:buChar char="Ø"/>
          </a:pPr>
          <a:endParaRPr lang="fr-CA" sz="400" kern="1200" noProof="0">
            <a:solidFill>
              <a:srgbClr val="003DA5">
                <a:hueOff val="0"/>
                <a:satOff val="0"/>
                <a:lumOff val="0"/>
                <a:alphaOff val="0"/>
              </a:srgbClr>
            </a:solidFill>
            <a:latin typeface="Calibri" panose="020F0502020204030204"/>
            <a:ea typeface="+mn-ea"/>
            <a:cs typeface="+mn-cs"/>
          </a:endParaRPr>
        </a:p>
      </dgm:t>
    </dgm:pt>
    <dgm:pt modelId="{1B2A72CC-29AB-44D1-A33C-C8637E7BE9A2}" type="parTrans" cxnId="{5B61B38B-6E6F-46C9-8F32-DCB6B00BC6F7}">
      <dgm:prSet/>
      <dgm:spPr/>
      <dgm:t>
        <a:bodyPr/>
        <a:lstStyle/>
        <a:p>
          <a:endParaRPr lang="fr-FR"/>
        </a:p>
      </dgm:t>
    </dgm:pt>
    <dgm:pt modelId="{FFD8EF67-F7A5-4467-B8D2-3084321ED248}" type="sibTrans" cxnId="{5B61B38B-6E6F-46C9-8F32-DCB6B00BC6F7}">
      <dgm:prSet/>
      <dgm:spPr/>
      <dgm:t>
        <a:bodyPr/>
        <a:lstStyle/>
        <a:p>
          <a:endParaRPr lang="fr-FR"/>
        </a:p>
      </dgm:t>
    </dgm:pt>
    <dgm:pt modelId="{168AA155-7AFB-450E-9DD7-35B05936B482}">
      <dgm:prSet phldrT="[Texte]"/>
      <dgm:spPr/>
      <dgm:t>
        <a:bodyPr/>
        <a:lstStyle/>
        <a:p>
          <a:pPr marL="360363" indent="-92075">
            <a:buFont typeface="Wingdings" panose="05000000000000000000" pitchFamily="2" charset="2"/>
            <a:buChar char="ü"/>
          </a:pPr>
          <a:r>
            <a:rPr lang="fr-CA" sz="1200" noProof="0"/>
            <a:t> Rationalisation de compte bancaires </a:t>
          </a:r>
        </a:p>
      </dgm:t>
    </dgm:pt>
    <dgm:pt modelId="{4EF06F91-FFFF-4EB1-B3C3-D0EC6DA1C76C}" type="parTrans" cxnId="{3BC14711-A5E2-437D-81CE-7BA975F7350D}">
      <dgm:prSet/>
      <dgm:spPr/>
      <dgm:t>
        <a:bodyPr/>
        <a:lstStyle/>
        <a:p>
          <a:endParaRPr lang="fr-FR"/>
        </a:p>
      </dgm:t>
    </dgm:pt>
    <dgm:pt modelId="{21669A2A-C9D0-4130-B738-FD25F26FD612}" type="sibTrans" cxnId="{3BC14711-A5E2-437D-81CE-7BA975F7350D}">
      <dgm:prSet/>
      <dgm:spPr/>
      <dgm:t>
        <a:bodyPr/>
        <a:lstStyle/>
        <a:p>
          <a:endParaRPr lang="fr-FR"/>
        </a:p>
      </dgm:t>
    </dgm:pt>
    <dgm:pt modelId="{06F4EEA1-53D1-49A9-A278-6016A7F75BBB}">
      <dgm:prSet custT="1"/>
      <dgm:spPr/>
      <dgm:t>
        <a:bodyPr/>
        <a:lstStyle/>
        <a:p>
          <a:pPr marL="268288" indent="-176213">
            <a:buFont typeface="Wingdings" panose="05000000000000000000" pitchFamily="2" charset="2"/>
            <a:buChar char="Ø"/>
          </a:pPr>
          <a:r>
            <a:rPr lang="fr-CA" sz="1200" kern="1200" noProof="0">
              <a:solidFill>
                <a:srgbClr val="003DA5">
                  <a:hueOff val="0"/>
                  <a:satOff val="0"/>
                  <a:lumOff val="0"/>
                  <a:alphaOff val="0"/>
                </a:srgbClr>
              </a:solidFill>
              <a:latin typeface="+mn-lt"/>
              <a:ea typeface="+mn-ea"/>
              <a:cs typeface="+mn-cs"/>
            </a:rPr>
            <a:t>Faciliter les futures intégrations de nouveaux services bancaires</a:t>
          </a:r>
        </a:p>
      </dgm:t>
    </dgm:pt>
    <dgm:pt modelId="{5E5557B6-89DC-4437-A6F9-0DE8B556B099}" type="parTrans" cxnId="{7F5DE1A1-EF59-481D-9CB9-A67FF2C76181}">
      <dgm:prSet/>
      <dgm:spPr/>
      <dgm:t>
        <a:bodyPr/>
        <a:lstStyle/>
        <a:p>
          <a:endParaRPr lang="fr-FR"/>
        </a:p>
      </dgm:t>
    </dgm:pt>
    <dgm:pt modelId="{ACA61E03-5C87-438E-BE17-A9F3747A55BD}" type="sibTrans" cxnId="{7F5DE1A1-EF59-481D-9CB9-A67FF2C76181}">
      <dgm:prSet/>
      <dgm:spPr/>
      <dgm:t>
        <a:bodyPr/>
        <a:lstStyle/>
        <a:p>
          <a:endParaRPr lang="fr-FR"/>
        </a:p>
      </dgm:t>
    </dgm:pt>
    <dgm:pt modelId="{47F12ECD-A261-4404-9354-3C0262F484B4}">
      <dgm:prSet custT="1"/>
      <dgm:spPr/>
      <dgm:t>
        <a:bodyPr/>
        <a:lstStyle/>
        <a:p>
          <a:pPr marL="268288" indent="-176213">
            <a:buFont typeface="Wingdings" panose="05000000000000000000" pitchFamily="2" charset="2"/>
            <a:buChar char="Ø"/>
          </a:pPr>
          <a:r>
            <a:rPr lang="fr-CA" sz="1200" kern="1200" noProof="0">
              <a:solidFill>
                <a:srgbClr val="003DA5">
                  <a:hueOff val="0"/>
                  <a:satOff val="0"/>
                  <a:lumOff val="0"/>
                  <a:alphaOff val="0"/>
                </a:srgbClr>
              </a:solidFill>
              <a:latin typeface="+mn-lt"/>
              <a:ea typeface="+mn-ea"/>
              <a:cs typeface="+mn-cs"/>
            </a:rPr>
            <a:t>Simplification de l’écosystème bancaire</a:t>
          </a:r>
        </a:p>
      </dgm:t>
    </dgm:pt>
    <dgm:pt modelId="{74C02C1D-1E2D-4525-8D18-0E42D15D87EE}" type="parTrans" cxnId="{C5424A01-5E7D-481F-B3BB-564B1D162208}">
      <dgm:prSet/>
      <dgm:spPr/>
      <dgm:t>
        <a:bodyPr/>
        <a:lstStyle/>
        <a:p>
          <a:endParaRPr lang="fr-FR"/>
        </a:p>
      </dgm:t>
    </dgm:pt>
    <dgm:pt modelId="{F2DCC556-0BEF-4CAE-89A9-D975D7E492C6}" type="sibTrans" cxnId="{C5424A01-5E7D-481F-B3BB-564B1D162208}">
      <dgm:prSet/>
      <dgm:spPr/>
      <dgm:t>
        <a:bodyPr/>
        <a:lstStyle/>
        <a:p>
          <a:endParaRPr lang="fr-FR"/>
        </a:p>
      </dgm:t>
    </dgm:pt>
    <dgm:pt modelId="{525095A7-4953-48A5-A0D2-F76E161A1BC6}">
      <dgm:prSet phldrT="[Texte]" custT="1"/>
      <dgm:spPr/>
      <dgm:t>
        <a:bodyPr/>
        <a:lstStyle/>
        <a:p>
          <a:pPr marL="271463" indent="-185738">
            <a:buFont typeface="Wingdings" panose="05000000000000000000" pitchFamily="2" charset="2"/>
            <a:buChar char="Ø"/>
          </a:pPr>
          <a:r>
            <a:rPr lang="fr-CA" sz="1200" kern="1200" noProof="0">
              <a:solidFill>
                <a:srgbClr val="003DA5">
                  <a:hueOff val="0"/>
                  <a:satOff val="0"/>
                  <a:lumOff val="0"/>
                  <a:alphaOff val="0"/>
                </a:srgbClr>
              </a:solidFill>
              <a:latin typeface="+mn-lt"/>
              <a:ea typeface="+mn-ea"/>
              <a:cs typeface="+mn-cs"/>
            </a:rPr>
            <a:t>Automatisation des processus les plus énergivores</a:t>
          </a:r>
          <a:endParaRPr lang="fr-CA" sz="1200" kern="1200" noProof="0">
            <a:solidFill>
              <a:srgbClr val="003DA5">
                <a:hueOff val="0"/>
                <a:satOff val="0"/>
                <a:lumOff val="0"/>
                <a:alphaOff val="0"/>
              </a:srgbClr>
            </a:solidFill>
            <a:latin typeface="Calibri" panose="020F0502020204030204"/>
            <a:ea typeface="+mn-ea"/>
            <a:cs typeface="+mn-cs"/>
          </a:endParaRPr>
        </a:p>
      </dgm:t>
    </dgm:pt>
    <dgm:pt modelId="{F00CE2DC-DF85-40C0-BB9F-BA2EA0B0A7E4}" type="parTrans" cxnId="{7DCAC8FA-41E5-4282-A858-672A7DF53C3D}">
      <dgm:prSet/>
      <dgm:spPr/>
      <dgm:t>
        <a:bodyPr/>
        <a:lstStyle/>
        <a:p>
          <a:endParaRPr lang="fr-FR"/>
        </a:p>
      </dgm:t>
    </dgm:pt>
    <dgm:pt modelId="{214C2239-C08C-4598-992D-F6B5766C09F3}" type="sibTrans" cxnId="{7DCAC8FA-41E5-4282-A858-672A7DF53C3D}">
      <dgm:prSet/>
      <dgm:spPr/>
      <dgm:t>
        <a:bodyPr/>
        <a:lstStyle/>
        <a:p>
          <a:endParaRPr lang="fr-FR"/>
        </a:p>
      </dgm:t>
    </dgm:pt>
    <dgm:pt modelId="{E23C8CE4-A9F7-4CD6-80E0-E8645AAEE720}" type="pres">
      <dgm:prSet presAssocID="{ACE8E8DA-D2C3-4B63-9A79-F6153344B04D}" presName="Name0" presStyleCnt="0">
        <dgm:presLayoutVars>
          <dgm:dir/>
          <dgm:animLvl val="lvl"/>
          <dgm:resizeHandles/>
        </dgm:presLayoutVars>
      </dgm:prSet>
      <dgm:spPr/>
    </dgm:pt>
    <dgm:pt modelId="{95180181-C83C-40B8-BB79-BEECBDFFEC0C}" type="pres">
      <dgm:prSet presAssocID="{BDA9485B-DE28-48EB-B87B-DBAC36DAAFB4}" presName="linNode" presStyleCnt="0"/>
      <dgm:spPr/>
    </dgm:pt>
    <dgm:pt modelId="{5727A504-BE97-4202-8976-E7B85812E363}" type="pres">
      <dgm:prSet presAssocID="{BDA9485B-DE28-48EB-B87B-DBAC36DAAFB4}" presName="parentShp" presStyleLbl="node1" presStyleIdx="0" presStyleCnt="2">
        <dgm:presLayoutVars>
          <dgm:bulletEnabled val="1"/>
        </dgm:presLayoutVars>
      </dgm:prSet>
      <dgm:spPr/>
    </dgm:pt>
    <dgm:pt modelId="{D2F013E1-18AE-4FE9-9044-703B8FFB844C}" type="pres">
      <dgm:prSet presAssocID="{BDA9485B-DE28-48EB-B87B-DBAC36DAAFB4}" presName="childShp" presStyleLbl="bgAccFollowNode1" presStyleIdx="0" presStyleCnt="2" custScaleY="118740" custLinFactNeighborX="-236">
        <dgm:presLayoutVars>
          <dgm:bulletEnabled val="1"/>
        </dgm:presLayoutVars>
      </dgm:prSet>
      <dgm:spPr/>
    </dgm:pt>
    <dgm:pt modelId="{BF6E59BA-472F-4722-B5DF-8F035958F38D}" type="pres">
      <dgm:prSet presAssocID="{CC730FDF-A181-41E5-BBE8-04DBF36D694D}" presName="spacing" presStyleCnt="0"/>
      <dgm:spPr/>
    </dgm:pt>
    <dgm:pt modelId="{3A22BD51-6DC1-49BA-B7D2-03D6DA188EF0}" type="pres">
      <dgm:prSet presAssocID="{9F589BB1-98FE-4963-8C81-CFD60329EA65}" presName="linNode" presStyleCnt="0"/>
      <dgm:spPr/>
    </dgm:pt>
    <dgm:pt modelId="{5A35D188-71CB-4F74-AA19-ED730D9AE94D}" type="pres">
      <dgm:prSet presAssocID="{9F589BB1-98FE-4963-8C81-CFD60329EA65}" presName="parentShp" presStyleLbl="node1" presStyleIdx="1" presStyleCnt="2">
        <dgm:presLayoutVars>
          <dgm:bulletEnabled val="1"/>
        </dgm:presLayoutVars>
      </dgm:prSet>
      <dgm:spPr/>
    </dgm:pt>
    <dgm:pt modelId="{ED3F4AA9-45DE-41BF-8F51-4871F5ABD331}" type="pres">
      <dgm:prSet presAssocID="{9F589BB1-98FE-4963-8C81-CFD60329EA65}" presName="childShp" presStyleLbl="bgAccFollowNode1" presStyleIdx="1" presStyleCnt="2" custScaleX="100714" custScaleY="119239">
        <dgm:presLayoutVars>
          <dgm:bulletEnabled val="1"/>
        </dgm:presLayoutVars>
      </dgm:prSet>
      <dgm:spPr/>
    </dgm:pt>
  </dgm:ptLst>
  <dgm:cxnLst>
    <dgm:cxn modelId="{FB085800-D358-4B6A-BE75-05D1AB950285}" type="presOf" srcId="{A3C3776C-40C6-4C59-91EA-471B6D31997C}" destId="{D2F013E1-18AE-4FE9-9044-703B8FFB844C}" srcOrd="0" destOrd="4" presId="urn:microsoft.com/office/officeart/2005/8/layout/vList6"/>
    <dgm:cxn modelId="{DC3D6501-61CB-4538-A216-21510AAC0192}" srcId="{ACE8E8DA-D2C3-4B63-9A79-F6153344B04D}" destId="{BDA9485B-DE28-48EB-B87B-DBAC36DAAFB4}" srcOrd="0" destOrd="0" parTransId="{DE7B2205-277E-495C-A4FC-D37E3C6C979C}" sibTransId="{CC730FDF-A181-41E5-BBE8-04DBF36D694D}"/>
    <dgm:cxn modelId="{C5424A01-5E7D-481F-B3BB-564B1D162208}" srcId="{9F589BB1-98FE-4963-8C81-CFD60329EA65}" destId="{47F12ECD-A261-4404-9354-3C0262F484B4}" srcOrd="5" destOrd="0" parTransId="{74C02C1D-1E2D-4525-8D18-0E42D15D87EE}" sibTransId="{F2DCC556-0BEF-4CAE-89A9-D975D7E492C6}"/>
    <dgm:cxn modelId="{3BC14711-A5E2-437D-81CE-7BA975F7350D}" srcId="{727558FF-35D9-4453-BE10-5C29963608DA}" destId="{168AA155-7AFB-450E-9DD7-35B05936B482}" srcOrd="1" destOrd="0" parTransId="{4EF06F91-FFFF-4EB1-B3C3-D0EC6DA1C76C}" sibTransId="{21669A2A-C9D0-4130-B738-FD25F26FD612}"/>
    <dgm:cxn modelId="{CCABE42B-2E60-41FE-94C4-CB978B195EBF}" type="presOf" srcId="{727558FF-35D9-4453-BE10-5C29963608DA}" destId="{D2F013E1-18AE-4FE9-9044-703B8FFB844C}" srcOrd="0" destOrd="1" presId="urn:microsoft.com/office/officeart/2005/8/layout/vList6"/>
    <dgm:cxn modelId="{25535335-22F9-4AF9-81F8-7B3E12C81E3F}" type="presOf" srcId="{0304DD2D-0310-4A70-81EC-FF731F8E9422}" destId="{D2F013E1-18AE-4FE9-9044-703B8FFB844C}" srcOrd="0" destOrd="0" presId="urn:microsoft.com/office/officeart/2005/8/layout/vList6"/>
    <dgm:cxn modelId="{32E3033B-9FF7-4356-BB9D-7A5497BB2D1E}" type="presOf" srcId="{9F589BB1-98FE-4963-8C81-CFD60329EA65}" destId="{5A35D188-71CB-4F74-AA19-ED730D9AE94D}" srcOrd="0" destOrd="0" presId="urn:microsoft.com/office/officeart/2005/8/layout/vList6"/>
    <dgm:cxn modelId="{7B2DD33F-3C87-428F-A7A3-B7387CF24C70}" type="presOf" srcId="{168AA155-7AFB-450E-9DD7-35B05936B482}" destId="{D2F013E1-18AE-4FE9-9044-703B8FFB844C}" srcOrd="0" destOrd="3" presId="urn:microsoft.com/office/officeart/2005/8/layout/vList6"/>
    <dgm:cxn modelId="{E1F7365B-E217-4D66-8D15-D417312AC9FE}" type="presOf" srcId="{525095A7-4953-48A5-A0D2-F76E161A1BC6}" destId="{ED3F4AA9-45DE-41BF-8F51-4871F5ABD331}" srcOrd="0" destOrd="1" presId="urn:microsoft.com/office/officeart/2005/8/layout/vList6"/>
    <dgm:cxn modelId="{56F79265-A04B-41A5-A219-C164CB9A0AD7}" type="presOf" srcId="{06F4EEA1-53D1-49A9-A278-6016A7F75BBB}" destId="{ED3F4AA9-45DE-41BF-8F51-4871F5ABD331}" srcOrd="0" destOrd="4" presId="urn:microsoft.com/office/officeart/2005/8/layout/vList6"/>
    <dgm:cxn modelId="{40854050-698A-4B07-AF6D-DEA2DE21C036}" type="presOf" srcId="{1B763DFA-E693-4396-A304-A6388CF26D47}" destId="{ED3F4AA9-45DE-41BF-8F51-4871F5ABD331}" srcOrd="0" destOrd="3" presId="urn:microsoft.com/office/officeart/2005/8/layout/vList6"/>
    <dgm:cxn modelId="{A7D90D73-0B01-4D6A-9A93-B1AC8EE9AD4F}" srcId="{727558FF-35D9-4453-BE10-5C29963608DA}" destId="{A3C3776C-40C6-4C59-91EA-471B6D31997C}" srcOrd="2" destOrd="0" parTransId="{ABD604E1-D5F8-497B-B661-F1309045251A}" sibTransId="{AAB9CC4A-3B8E-4D30-B3EA-FB76A71C91BE}"/>
    <dgm:cxn modelId="{4D3DF975-2581-4023-BB81-41CC6915CEA2}" type="presOf" srcId="{EC238498-BD51-4DDF-8A65-B32F43BACC46}" destId="{D2F013E1-18AE-4FE9-9044-703B8FFB844C}" srcOrd="0" destOrd="2" presId="urn:microsoft.com/office/officeart/2005/8/layout/vList6"/>
    <dgm:cxn modelId="{259F3377-82D5-49CC-A6A2-AD4FFBD6455A}" srcId="{BDA9485B-DE28-48EB-B87B-DBAC36DAAFB4}" destId="{0304DD2D-0310-4A70-81EC-FF731F8E9422}" srcOrd="0" destOrd="0" parTransId="{16E42C08-0842-4830-A78B-03F287799302}" sibTransId="{DB534110-BC6A-44C2-A36C-8C7C454538F4}"/>
    <dgm:cxn modelId="{5B61B38B-6E6F-46C9-8F32-DCB6B00BC6F7}" srcId="{9F589BB1-98FE-4963-8C81-CFD60329EA65}" destId="{32E79E26-CDCB-4A62-82DA-EC8E5BED8480}" srcOrd="0" destOrd="0" parTransId="{1B2A72CC-29AB-44D1-A33C-C8637E7BE9A2}" sibTransId="{FFD8EF67-F7A5-4467-B8D2-3084321ED248}"/>
    <dgm:cxn modelId="{68A8498D-F9EB-4D48-9F6E-B4227E2C0476}" srcId="{9F589BB1-98FE-4963-8C81-CFD60329EA65}" destId="{1B763DFA-E693-4396-A304-A6388CF26D47}" srcOrd="3" destOrd="0" parTransId="{4A5CAE75-16FD-46BE-A227-6BE0F516F703}" sibTransId="{C35CEE8D-9EA4-4507-B392-E29EC0474003}"/>
    <dgm:cxn modelId="{CB36739A-01BA-4A16-9017-EA0CEB2930B7}" srcId="{9F589BB1-98FE-4963-8C81-CFD60329EA65}" destId="{4392303A-9F90-4A3D-9BAF-089677FA9133}" srcOrd="2" destOrd="0" parTransId="{B5018249-C9FB-445E-81C5-1EC0D92312C1}" sibTransId="{9D519A7C-F3DA-4C8C-8412-5EA78EDEFCC8}"/>
    <dgm:cxn modelId="{059B82A0-ADE8-4747-BBE4-CB1359657542}" srcId="{ACE8E8DA-D2C3-4B63-9A79-F6153344B04D}" destId="{9F589BB1-98FE-4963-8C81-CFD60329EA65}" srcOrd="1" destOrd="0" parTransId="{2C2A8CA2-9300-4A5F-9DB4-6F3518A78962}" sibTransId="{177FB7F8-6BC7-4872-9D69-AC8920670C58}"/>
    <dgm:cxn modelId="{7F5DE1A1-EF59-481D-9CB9-A67FF2C76181}" srcId="{9F589BB1-98FE-4963-8C81-CFD60329EA65}" destId="{06F4EEA1-53D1-49A9-A278-6016A7F75BBB}" srcOrd="4" destOrd="0" parTransId="{5E5557B6-89DC-4437-A6F9-0DE8B556B099}" sibTransId="{ACA61E03-5C87-438E-BE17-A9F3747A55BD}"/>
    <dgm:cxn modelId="{57FDADB4-5740-4B7D-AC24-6C54A27B0DB0}" srcId="{727558FF-35D9-4453-BE10-5C29963608DA}" destId="{51738255-EB23-41B8-A0B4-7355539854A4}" srcOrd="3" destOrd="0" parTransId="{CB5D35C1-C63C-40F1-9F70-78D22A95B5C1}" sibTransId="{616E4B0E-6D26-40CC-9CE5-C30F48E3CB10}"/>
    <dgm:cxn modelId="{0B75F3D1-3C5D-4732-8611-3F3C1D2582ED}" srcId="{727558FF-35D9-4453-BE10-5C29963608DA}" destId="{EC238498-BD51-4DDF-8A65-B32F43BACC46}" srcOrd="0" destOrd="0" parTransId="{2E4F86EC-2961-4CDF-AE41-9ECEA7333500}" sibTransId="{C20D8E5B-58FF-47B9-8FA5-3648E1633707}"/>
    <dgm:cxn modelId="{7B4419D6-B888-4F54-B9CE-CFC056308A72}" type="presOf" srcId="{ACE8E8DA-D2C3-4B63-9A79-F6153344B04D}" destId="{E23C8CE4-A9F7-4CD6-80E0-E8645AAEE720}" srcOrd="0" destOrd="0" presId="urn:microsoft.com/office/officeart/2005/8/layout/vList6"/>
    <dgm:cxn modelId="{98A935D8-DE5B-48B0-94F4-34DDA6C1BCDA}" srcId="{BDA9485B-DE28-48EB-B87B-DBAC36DAAFB4}" destId="{727558FF-35D9-4453-BE10-5C29963608DA}" srcOrd="1" destOrd="0" parTransId="{ED1DE7FA-87BB-44EB-AF1B-CFACB9D0EB6B}" sibTransId="{0365B425-CBCB-4BAC-BA91-D18AB0972577}"/>
    <dgm:cxn modelId="{94494AE4-FC02-4562-9097-B9E52D74932F}" type="presOf" srcId="{51738255-EB23-41B8-A0B4-7355539854A4}" destId="{D2F013E1-18AE-4FE9-9044-703B8FFB844C}" srcOrd="0" destOrd="5" presId="urn:microsoft.com/office/officeart/2005/8/layout/vList6"/>
    <dgm:cxn modelId="{5E8E4BE4-CE6C-4ACC-972C-ACC2CC5D47B9}" type="presOf" srcId="{BDA9485B-DE28-48EB-B87B-DBAC36DAAFB4}" destId="{5727A504-BE97-4202-8976-E7B85812E363}" srcOrd="0" destOrd="0" presId="urn:microsoft.com/office/officeart/2005/8/layout/vList6"/>
    <dgm:cxn modelId="{8DFADDF3-6385-4425-8570-5998FDBBC154}" type="presOf" srcId="{47F12ECD-A261-4404-9354-3C0262F484B4}" destId="{ED3F4AA9-45DE-41BF-8F51-4871F5ABD331}" srcOrd="0" destOrd="5" presId="urn:microsoft.com/office/officeart/2005/8/layout/vList6"/>
    <dgm:cxn modelId="{7DCAC8FA-41E5-4282-A858-672A7DF53C3D}" srcId="{9F589BB1-98FE-4963-8C81-CFD60329EA65}" destId="{525095A7-4953-48A5-A0D2-F76E161A1BC6}" srcOrd="1" destOrd="0" parTransId="{F00CE2DC-DF85-40C0-BB9F-BA2EA0B0A7E4}" sibTransId="{214C2239-C08C-4598-992D-F6B5766C09F3}"/>
    <dgm:cxn modelId="{3FE47DFF-61C7-496A-A247-F046848562E6}" type="presOf" srcId="{4392303A-9F90-4A3D-9BAF-089677FA9133}" destId="{ED3F4AA9-45DE-41BF-8F51-4871F5ABD331}" srcOrd="0" destOrd="2" presId="urn:microsoft.com/office/officeart/2005/8/layout/vList6"/>
    <dgm:cxn modelId="{E9F6B1FF-7CA7-4EB9-8F7C-D86573B6F57D}" type="presOf" srcId="{32E79E26-CDCB-4A62-82DA-EC8E5BED8480}" destId="{ED3F4AA9-45DE-41BF-8F51-4871F5ABD331}" srcOrd="0" destOrd="0" presId="urn:microsoft.com/office/officeart/2005/8/layout/vList6"/>
    <dgm:cxn modelId="{18D95BF0-DD7B-49E1-9C3F-E37A9011261D}" type="presParOf" srcId="{E23C8CE4-A9F7-4CD6-80E0-E8645AAEE720}" destId="{95180181-C83C-40B8-BB79-BEECBDFFEC0C}" srcOrd="0" destOrd="0" presId="urn:microsoft.com/office/officeart/2005/8/layout/vList6"/>
    <dgm:cxn modelId="{D8845C69-F2B1-47FA-91A4-0B60839E0E20}" type="presParOf" srcId="{95180181-C83C-40B8-BB79-BEECBDFFEC0C}" destId="{5727A504-BE97-4202-8976-E7B85812E363}" srcOrd="0" destOrd="0" presId="urn:microsoft.com/office/officeart/2005/8/layout/vList6"/>
    <dgm:cxn modelId="{E02C23A2-FF4C-4686-BC4A-4D58741BE877}" type="presParOf" srcId="{95180181-C83C-40B8-BB79-BEECBDFFEC0C}" destId="{D2F013E1-18AE-4FE9-9044-703B8FFB844C}" srcOrd="1" destOrd="0" presId="urn:microsoft.com/office/officeart/2005/8/layout/vList6"/>
    <dgm:cxn modelId="{9A77319E-F660-4E69-AE98-C8D9AADDAFA0}" type="presParOf" srcId="{E23C8CE4-A9F7-4CD6-80E0-E8645AAEE720}" destId="{BF6E59BA-472F-4722-B5DF-8F035958F38D}" srcOrd="1" destOrd="0" presId="urn:microsoft.com/office/officeart/2005/8/layout/vList6"/>
    <dgm:cxn modelId="{DA07FD4C-289F-4CC5-B1E9-349080EA6A8D}" type="presParOf" srcId="{E23C8CE4-A9F7-4CD6-80E0-E8645AAEE720}" destId="{3A22BD51-6DC1-49BA-B7D2-03D6DA188EF0}" srcOrd="2" destOrd="0" presId="urn:microsoft.com/office/officeart/2005/8/layout/vList6"/>
    <dgm:cxn modelId="{F52CC427-ED9E-4674-B25C-D59170CBDABA}" type="presParOf" srcId="{3A22BD51-6DC1-49BA-B7D2-03D6DA188EF0}" destId="{5A35D188-71CB-4F74-AA19-ED730D9AE94D}" srcOrd="0" destOrd="0" presId="urn:microsoft.com/office/officeart/2005/8/layout/vList6"/>
    <dgm:cxn modelId="{641EB9C6-CE5A-4991-9A3B-78EBDC4E018E}" type="presParOf" srcId="{3A22BD51-6DC1-49BA-B7D2-03D6DA188EF0}" destId="{ED3F4AA9-45DE-41BF-8F51-4871F5ABD331}" srcOrd="1" destOrd="0" presId="urn:microsoft.com/office/officeart/2005/8/layout/vList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1FB9D38-1D0D-4384-9E31-FBE0ACFE1620}"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fr-CA"/>
        </a:p>
      </dgm:t>
    </dgm:pt>
    <dgm:pt modelId="{4B55228A-C363-4C87-B178-235ACA9F6F24}">
      <dgm:prSet phldrT="[Texte]"/>
      <dgm:spPr/>
      <dgm:t>
        <a:bodyPr/>
        <a:lstStyle/>
        <a:p>
          <a:pPr>
            <a:buNone/>
          </a:pPr>
          <a:r>
            <a:rPr lang="fr-CA" b="1" noProof="0">
              <a:solidFill>
                <a:schemeClr val="dk1"/>
              </a:solidFill>
              <a:ea typeface="+mn-ea"/>
              <a:cs typeface="+mn-cs"/>
            </a:rPr>
            <a:t>Objectif 1 – </a:t>
          </a:r>
          <a:r>
            <a:rPr lang="fr-CA" b="1" noProof="0">
              <a:solidFill>
                <a:srgbClr val="003DA5"/>
              </a:solidFill>
              <a:ea typeface="Calibri"/>
              <a:cs typeface="Arial"/>
            </a:rPr>
            <a:t>Implémentation d’un nouvel hub de paiement à la CFO</a:t>
          </a:r>
          <a:endParaRPr lang="fr-CA" noProof="0"/>
        </a:p>
      </dgm:t>
    </dgm:pt>
    <dgm:pt modelId="{D0FD1A55-E2A1-43DF-94BD-13EA616CE215}" type="parTrans" cxnId="{8A118CEB-B5E2-4A8B-BF59-C52D321C88FA}">
      <dgm:prSet/>
      <dgm:spPr/>
      <dgm:t>
        <a:bodyPr/>
        <a:lstStyle/>
        <a:p>
          <a:endParaRPr lang="fr-CA"/>
        </a:p>
      </dgm:t>
    </dgm:pt>
    <dgm:pt modelId="{03E2F78B-7F1F-4AB3-9182-2521A9AA8AA0}" type="sibTrans" cxnId="{8A118CEB-B5E2-4A8B-BF59-C52D321C88FA}">
      <dgm:prSet/>
      <dgm:spPr/>
      <dgm:t>
        <a:bodyPr/>
        <a:lstStyle/>
        <a:p>
          <a:endParaRPr lang="fr-CA"/>
        </a:p>
      </dgm:t>
    </dgm:pt>
    <dgm:pt modelId="{C97A03CA-E7C7-42C4-8EEE-8BCE623ECBFC}">
      <dgm:prSet phldrT="[Texte]"/>
      <dgm:spPr/>
      <dgm:t>
        <a:bodyPr/>
        <a:lstStyle/>
        <a:p>
          <a:pPr>
            <a:buNone/>
          </a:pPr>
          <a:r>
            <a:rPr lang="fr-CA" b="1" noProof="0">
              <a:solidFill>
                <a:schemeClr val="dk1"/>
              </a:solidFill>
              <a:ea typeface="+mn-ea"/>
              <a:cs typeface="+mn-cs"/>
            </a:rPr>
            <a:t>Objectif 2 - </a:t>
          </a:r>
          <a:r>
            <a:rPr lang="fr-CA" b="1" noProof="0">
              <a:solidFill>
                <a:srgbClr val="003DA5"/>
              </a:solidFill>
              <a:ea typeface="Calibri"/>
              <a:cs typeface="Arial"/>
            </a:rPr>
            <a:t>Simplifier, automatiser et standardiser les processus d’affaires</a:t>
          </a:r>
          <a:endParaRPr lang="fr-CA" noProof="0"/>
        </a:p>
      </dgm:t>
    </dgm:pt>
    <dgm:pt modelId="{2281C4DC-C06B-4FD2-A232-A933B5A40C52}" type="parTrans" cxnId="{1F9695D4-C708-4CEF-ACB4-CB8D2925536F}">
      <dgm:prSet/>
      <dgm:spPr/>
      <dgm:t>
        <a:bodyPr/>
        <a:lstStyle/>
        <a:p>
          <a:endParaRPr lang="fr-CA"/>
        </a:p>
      </dgm:t>
    </dgm:pt>
    <dgm:pt modelId="{807ADA64-B1C9-4902-8072-080C88C5AA6A}" type="sibTrans" cxnId="{1F9695D4-C708-4CEF-ACB4-CB8D2925536F}">
      <dgm:prSet/>
      <dgm:spPr/>
      <dgm:t>
        <a:bodyPr/>
        <a:lstStyle/>
        <a:p>
          <a:endParaRPr lang="fr-CA"/>
        </a:p>
      </dgm:t>
    </dgm:pt>
    <dgm:pt modelId="{D33C6248-8EB5-4AED-8E4F-95D2DDF5F1CD}">
      <dgm:prSet phldrT="[Texte]"/>
      <dgm:spPr/>
      <dgm:t>
        <a:bodyPr/>
        <a:lstStyle/>
        <a:p>
          <a:pPr>
            <a:buNone/>
          </a:pPr>
          <a:r>
            <a:rPr lang="fr-CA" b="1" noProof="0">
              <a:solidFill>
                <a:schemeClr val="dk1"/>
              </a:solidFill>
              <a:ea typeface="+mn-ea"/>
              <a:cs typeface="+mn-cs"/>
            </a:rPr>
            <a:t>Objectif 3 - </a:t>
          </a:r>
          <a:r>
            <a:rPr lang="fr-CA" b="1" noProof="0">
              <a:solidFill>
                <a:srgbClr val="003DA5"/>
              </a:solidFill>
              <a:ea typeface="Calibri"/>
              <a:cs typeface="Arial"/>
            </a:rPr>
            <a:t>Définir et diffuser le modèle opérationnel du CSP bancaire</a:t>
          </a:r>
          <a:endParaRPr lang="fr-CA" noProof="0"/>
        </a:p>
      </dgm:t>
    </dgm:pt>
    <dgm:pt modelId="{53EF7895-82E2-4033-813E-E349BE0D1FE4}" type="parTrans" cxnId="{D0F35020-565F-4D56-B687-AE87A52AFE73}">
      <dgm:prSet/>
      <dgm:spPr/>
      <dgm:t>
        <a:bodyPr/>
        <a:lstStyle/>
        <a:p>
          <a:endParaRPr lang="fr-CA"/>
        </a:p>
      </dgm:t>
    </dgm:pt>
    <dgm:pt modelId="{B21DF7F9-33A5-49E1-B27D-9D13EE0D9E36}" type="sibTrans" cxnId="{D0F35020-565F-4D56-B687-AE87A52AFE73}">
      <dgm:prSet/>
      <dgm:spPr/>
      <dgm:t>
        <a:bodyPr/>
        <a:lstStyle/>
        <a:p>
          <a:endParaRPr lang="fr-CA"/>
        </a:p>
      </dgm:t>
    </dgm:pt>
    <dgm:pt modelId="{97C7C23D-B264-45DD-94A0-1F8C3E009276}">
      <dgm:prSet phldrT="[Texte]" custT="1"/>
      <dgm:spPr/>
      <dgm:t>
        <a:bodyPr/>
        <a:lstStyle/>
        <a:p>
          <a:pPr>
            <a:buFont typeface="Wingdings" panose="05000000000000000000" pitchFamily="2" charset="2"/>
            <a:buChar char="Ø"/>
          </a:pPr>
          <a:r>
            <a:rPr lang="fr-CA" sz="1200" kern="1200" noProof="0">
              <a:solidFill>
                <a:srgbClr val="003DA5"/>
              </a:solidFill>
              <a:latin typeface="Calibri" panose="020F0502020204030204"/>
              <a:ea typeface="Calibri"/>
              <a:cs typeface="Calibri"/>
            </a:rPr>
            <a:t> Analyser, adapter, optimiser et cartographier </a:t>
          </a:r>
          <a:r>
            <a:rPr lang="fr-CA" sz="1200" kern="1200" noProof="0">
              <a:solidFill>
                <a:srgbClr val="003DA5"/>
              </a:solidFill>
              <a:latin typeface="+mn-lt"/>
              <a:ea typeface="Calibri"/>
              <a:cs typeface="Calibri"/>
            </a:rPr>
            <a:t>les </a:t>
          </a:r>
          <a:r>
            <a:rPr lang="fr-CA" sz="1200" kern="1200" noProof="0">
              <a:solidFill>
                <a:srgbClr val="003DA5"/>
              </a:solidFill>
              <a:ea typeface="Calibri"/>
              <a:cs typeface="Calibri"/>
            </a:rPr>
            <a:t>processus d’affaires existants</a:t>
          </a:r>
          <a:endParaRPr lang="fr-CA" sz="1200" kern="1200" noProof="0"/>
        </a:p>
      </dgm:t>
    </dgm:pt>
    <dgm:pt modelId="{B39685E8-E6AE-4A43-9C4F-5829F3DF23DC}" type="parTrans" cxnId="{C53C61AB-FAF3-4ABB-8592-C89584611D5B}">
      <dgm:prSet/>
      <dgm:spPr/>
      <dgm:t>
        <a:bodyPr/>
        <a:lstStyle/>
        <a:p>
          <a:endParaRPr lang="fr-CA"/>
        </a:p>
      </dgm:t>
    </dgm:pt>
    <dgm:pt modelId="{772741D0-6C1A-48D7-8F85-A56A5DF4570C}" type="sibTrans" cxnId="{C53C61AB-FAF3-4ABB-8592-C89584611D5B}">
      <dgm:prSet/>
      <dgm:spPr/>
      <dgm:t>
        <a:bodyPr/>
        <a:lstStyle/>
        <a:p>
          <a:endParaRPr lang="fr-CA"/>
        </a:p>
      </dgm:t>
    </dgm:pt>
    <dgm:pt modelId="{02F6F660-08BA-4195-8482-378494DAA31A}">
      <dgm:prSet custT="1"/>
      <dgm:spPr/>
      <dgm:t>
        <a:bodyPr/>
        <a:lstStyle/>
        <a:p>
          <a:pPr>
            <a:buFont typeface="Wingdings" panose="05000000000000000000" pitchFamily="2" charset="2"/>
            <a:buChar char="Ø"/>
          </a:pPr>
          <a:r>
            <a:rPr lang="fr-CA" sz="1200" kern="1200" noProof="0">
              <a:solidFill>
                <a:srgbClr val="003DA5"/>
              </a:solidFill>
              <a:ea typeface="Calibri"/>
              <a:cs typeface="Calibri"/>
            </a:rPr>
            <a:t> Concevoir et cartographier les nouveaux processus d'affaires </a:t>
          </a:r>
        </a:p>
      </dgm:t>
    </dgm:pt>
    <dgm:pt modelId="{3E2DD52B-787F-49D6-B3F2-2E700E590B7A}" type="parTrans" cxnId="{C3493048-01D6-4A18-8214-E061F361CC33}">
      <dgm:prSet/>
      <dgm:spPr/>
      <dgm:t>
        <a:bodyPr/>
        <a:lstStyle/>
        <a:p>
          <a:endParaRPr lang="fr-CA"/>
        </a:p>
      </dgm:t>
    </dgm:pt>
    <dgm:pt modelId="{385DD08D-C0BA-4E4F-ACFF-704D795A88B6}" type="sibTrans" cxnId="{C3493048-01D6-4A18-8214-E061F361CC33}">
      <dgm:prSet/>
      <dgm:spPr/>
      <dgm:t>
        <a:bodyPr/>
        <a:lstStyle/>
        <a:p>
          <a:endParaRPr lang="fr-CA"/>
        </a:p>
      </dgm:t>
    </dgm:pt>
    <dgm:pt modelId="{24C636C3-1577-489F-A15D-63D9B17B31DF}">
      <dgm:prSet custT="1"/>
      <dgm:spPr/>
      <dgm:t>
        <a:bodyPr/>
        <a:lstStyle/>
        <a:p>
          <a:pPr>
            <a:buFont typeface="Wingdings" panose="05000000000000000000" pitchFamily="2" charset="2"/>
            <a:buChar char="Ø"/>
          </a:pPr>
          <a:r>
            <a:rPr lang="fr-CA" sz="1200" kern="1200" noProof="0">
              <a:solidFill>
                <a:srgbClr val="003DA5"/>
              </a:solidFill>
              <a:ea typeface="Calibri"/>
              <a:cs typeface="Calibri"/>
            </a:rPr>
            <a:t> Communiquer sur les processus d’affaires</a:t>
          </a:r>
        </a:p>
      </dgm:t>
    </dgm:pt>
    <dgm:pt modelId="{F019861E-F88D-481B-8FA6-6540404BFEF6}" type="parTrans" cxnId="{A7FF3919-0F03-4998-81BD-D7ADFFB3102C}">
      <dgm:prSet/>
      <dgm:spPr/>
      <dgm:t>
        <a:bodyPr/>
        <a:lstStyle/>
        <a:p>
          <a:endParaRPr lang="fr-CA"/>
        </a:p>
      </dgm:t>
    </dgm:pt>
    <dgm:pt modelId="{9877E8C4-50B6-46BD-932F-214DB43D1DCB}" type="sibTrans" cxnId="{A7FF3919-0F03-4998-81BD-D7ADFFB3102C}">
      <dgm:prSet/>
      <dgm:spPr/>
      <dgm:t>
        <a:bodyPr/>
        <a:lstStyle/>
        <a:p>
          <a:endParaRPr lang="fr-CA"/>
        </a:p>
      </dgm:t>
    </dgm:pt>
    <dgm:pt modelId="{BD23D02A-F796-42D0-85FA-810F86597CB1}">
      <dgm:prSet phldrT="[Texte]" custT="1"/>
      <dgm:spPr/>
      <dgm:t>
        <a:bodyPr/>
        <a:lstStyle/>
        <a:p>
          <a:pPr>
            <a:buFont typeface="Wingdings" panose="05000000000000000000" pitchFamily="2" charset="2"/>
            <a:buChar char="Ø"/>
          </a:pPr>
          <a:r>
            <a:rPr lang="fr-CA" sz="1200" noProof="0">
              <a:solidFill>
                <a:srgbClr val="003DA5"/>
              </a:solidFill>
              <a:ea typeface="Calibri"/>
              <a:cs typeface="Arial"/>
            </a:rPr>
            <a:t> Définir le modèle d’affaires du CSP bancaire </a:t>
          </a:r>
          <a:endParaRPr lang="fr-CA" sz="1200" noProof="0"/>
        </a:p>
      </dgm:t>
    </dgm:pt>
    <dgm:pt modelId="{1DA275FA-CD7D-422B-9D75-B014CB50CF4B}" type="parTrans" cxnId="{2E46296B-EDF0-4DBF-B4FC-88B7E04B1024}">
      <dgm:prSet/>
      <dgm:spPr/>
      <dgm:t>
        <a:bodyPr/>
        <a:lstStyle/>
        <a:p>
          <a:endParaRPr lang="fr-CA"/>
        </a:p>
      </dgm:t>
    </dgm:pt>
    <dgm:pt modelId="{3FBD6275-AE3C-4D5A-A4CA-5CCD1A5F35F5}" type="sibTrans" cxnId="{2E46296B-EDF0-4DBF-B4FC-88B7E04B1024}">
      <dgm:prSet/>
      <dgm:spPr/>
      <dgm:t>
        <a:bodyPr/>
        <a:lstStyle/>
        <a:p>
          <a:endParaRPr lang="fr-CA"/>
        </a:p>
      </dgm:t>
    </dgm:pt>
    <dgm:pt modelId="{8211F047-4269-4BA7-AA3C-F8347E626FCD}">
      <dgm:prSet custT="1"/>
      <dgm:spPr/>
      <dgm:t>
        <a:bodyPr/>
        <a:lstStyle/>
        <a:p>
          <a:pPr>
            <a:buFont typeface="Wingdings" panose="05000000000000000000" pitchFamily="2" charset="2"/>
            <a:buChar char="Ø"/>
          </a:pPr>
          <a:r>
            <a:rPr lang="fr-CA" sz="1200" noProof="0">
              <a:solidFill>
                <a:srgbClr val="003DA5"/>
              </a:solidFill>
              <a:ea typeface="Calibri"/>
              <a:cs typeface="Arial"/>
            </a:rPr>
            <a:t> Diffuser le modèle opérationnel du CSP bancaire</a:t>
          </a:r>
        </a:p>
      </dgm:t>
    </dgm:pt>
    <dgm:pt modelId="{A3D167F1-08A0-4140-9D78-2D1FB5F13DB2}" type="parTrans" cxnId="{0DA45EA1-7696-4848-9F03-3DA385302FDB}">
      <dgm:prSet/>
      <dgm:spPr/>
      <dgm:t>
        <a:bodyPr/>
        <a:lstStyle/>
        <a:p>
          <a:endParaRPr lang="fr-CA"/>
        </a:p>
      </dgm:t>
    </dgm:pt>
    <dgm:pt modelId="{CA05ED6B-6FC3-458A-8ABF-2B530C457861}" type="sibTrans" cxnId="{0DA45EA1-7696-4848-9F03-3DA385302FDB}">
      <dgm:prSet/>
      <dgm:spPr/>
      <dgm:t>
        <a:bodyPr/>
        <a:lstStyle/>
        <a:p>
          <a:endParaRPr lang="fr-CA"/>
        </a:p>
      </dgm:t>
    </dgm:pt>
    <dgm:pt modelId="{B2427E54-26B5-4AE1-813C-F94C1FF54A33}">
      <dgm:prSet custT="1"/>
      <dgm:spPr/>
      <dgm:t>
        <a:bodyPr/>
        <a:lstStyle/>
        <a:p>
          <a:pPr>
            <a:buFont typeface="Wingdings" panose="05000000000000000000" pitchFamily="2" charset="2"/>
            <a:buChar char="Ø"/>
          </a:pPr>
          <a:r>
            <a:rPr lang="fr-CA" sz="1200" noProof="0">
              <a:solidFill>
                <a:srgbClr val="003DA5"/>
              </a:solidFill>
              <a:ea typeface="Calibri"/>
              <a:cs typeface="Arial"/>
            </a:rPr>
            <a:t> Définir les rôles et responsabilités CSP bancaires versus Trésorerie corporatif</a:t>
          </a:r>
        </a:p>
      </dgm:t>
    </dgm:pt>
    <dgm:pt modelId="{10E9692C-668D-4DF8-A4D1-5F298DA6AE7D}" type="parTrans" cxnId="{14F9B6F7-1B1E-4A2E-AC75-9D1965E3E4A6}">
      <dgm:prSet/>
      <dgm:spPr/>
      <dgm:t>
        <a:bodyPr/>
        <a:lstStyle/>
        <a:p>
          <a:endParaRPr lang="fr-CA"/>
        </a:p>
      </dgm:t>
    </dgm:pt>
    <dgm:pt modelId="{CC8B4420-677B-41F3-B107-6331AD0959FB}" type="sibTrans" cxnId="{14F9B6F7-1B1E-4A2E-AC75-9D1965E3E4A6}">
      <dgm:prSet/>
      <dgm:spPr/>
      <dgm:t>
        <a:bodyPr/>
        <a:lstStyle/>
        <a:p>
          <a:endParaRPr lang="fr-CA"/>
        </a:p>
      </dgm:t>
    </dgm:pt>
    <dgm:pt modelId="{8CE7EBEE-20C3-42F9-BA1F-F6FA61557630}">
      <dgm:prSet phldrT="[Texte]" custT="1"/>
      <dgm:spPr/>
      <dgm:t>
        <a:bodyPr/>
        <a:lstStyle/>
        <a:p>
          <a:pPr>
            <a:buFont typeface="Wingdings" panose="05000000000000000000" pitchFamily="2" charset="2"/>
            <a:buChar char="Ø"/>
          </a:pPr>
          <a:r>
            <a:rPr lang="fr-CA" sz="1200" noProof="0">
              <a:solidFill>
                <a:srgbClr val="003DA5"/>
              </a:solidFill>
              <a:ea typeface="Calibri"/>
              <a:cs typeface="Arial"/>
            </a:rPr>
            <a:t> Centraliser tout les paiements et perceptions, automatiques et manuels, précédemment dans Trax, Opérations sur les chèques ou sur le portail des </a:t>
          </a:r>
          <a:r>
            <a:rPr lang="fr-CA" sz="1200" noProof="0">
              <a:solidFill>
                <a:srgbClr val="003DA5"/>
              </a:solidFill>
              <a:latin typeface="Calibri Light" panose="020F0302020204030204"/>
              <a:ea typeface="Calibri"/>
              <a:cs typeface="Arial"/>
            </a:rPr>
            <a:t>institutions</a:t>
          </a:r>
          <a:r>
            <a:rPr lang="fr-CA" sz="1200" noProof="0">
              <a:solidFill>
                <a:srgbClr val="003DA5"/>
              </a:solidFill>
              <a:ea typeface="Calibri"/>
              <a:cs typeface="Arial"/>
            </a:rPr>
            <a:t> bancaires, dans le nouvel Hub de paiement Kyriba</a:t>
          </a:r>
          <a:endParaRPr lang="fr-CA" sz="1200" noProof="0"/>
        </a:p>
      </dgm:t>
    </dgm:pt>
    <dgm:pt modelId="{99770937-85A4-48B3-86D4-395505B6AE75}" type="parTrans" cxnId="{F19524E2-12E9-4693-A076-75CAF38DA27B}">
      <dgm:prSet/>
      <dgm:spPr/>
      <dgm:t>
        <a:bodyPr/>
        <a:lstStyle/>
        <a:p>
          <a:endParaRPr lang="fr-CA"/>
        </a:p>
      </dgm:t>
    </dgm:pt>
    <dgm:pt modelId="{1E80FBA0-0586-4F8C-9DB1-ABF5515255F7}" type="sibTrans" cxnId="{F19524E2-12E9-4693-A076-75CAF38DA27B}">
      <dgm:prSet/>
      <dgm:spPr/>
      <dgm:t>
        <a:bodyPr/>
        <a:lstStyle/>
        <a:p>
          <a:endParaRPr lang="fr-CA"/>
        </a:p>
      </dgm:t>
    </dgm:pt>
    <dgm:pt modelId="{C67274F3-D52E-4C00-8646-1FEF755D3B09}">
      <dgm:prSet custT="1"/>
      <dgm:spPr/>
      <dgm:t>
        <a:bodyPr/>
        <a:lstStyle/>
        <a:p>
          <a:pPr>
            <a:buFont typeface="Wingdings" panose="05000000000000000000" pitchFamily="2" charset="2"/>
            <a:buChar char="Ø"/>
          </a:pPr>
          <a:r>
            <a:rPr lang="fr-CA" sz="1200" noProof="0">
              <a:solidFill>
                <a:srgbClr val="003DA5"/>
              </a:solidFill>
              <a:ea typeface="Calibri"/>
              <a:cs typeface="Arial"/>
            </a:rPr>
            <a:t> Centraliser la gestion de la structure de comptes bancaires dans Kyriba</a:t>
          </a:r>
          <a:endParaRPr lang="fr-CA" sz="1200" noProof="0"/>
        </a:p>
      </dgm:t>
    </dgm:pt>
    <dgm:pt modelId="{0C7A9772-D5C4-4BD8-A8DE-5713B5FDEA05}" type="parTrans" cxnId="{5F25613B-967E-4A4D-8868-5F3772DEB2B7}">
      <dgm:prSet/>
      <dgm:spPr/>
      <dgm:t>
        <a:bodyPr/>
        <a:lstStyle/>
        <a:p>
          <a:endParaRPr lang="fr-CA"/>
        </a:p>
      </dgm:t>
    </dgm:pt>
    <dgm:pt modelId="{B280E33F-9E07-40EE-B4DD-08AF5197B84E}" type="sibTrans" cxnId="{5F25613B-967E-4A4D-8868-5F3772DEB2B7}">
      <dgm:prSet/>
      <dgm:spPr/>
      <dgm:t>
        <a:bodyPr/>
        <a:lstStyle/>
        <a:p>
          <a:endParaRPr lang="fr-CA"/>
        </a:p>
      </dgm:t>
    </dgm:pt>
    <dgm:pt modelId="{310F4C2E-D4B6-48BA-815D-827429EE80A5}">
      <dgm:prSet custT="1"/>
      <dgm:spPr/>
      <dgm:t>
        <a:bodyPr/>
        <a:lstStyle/>
        <a:p>
          <a:pPr>
            <a:buFont typeface="Wingdings" panose="05000000000000000000" pitchFamily="2" charset="2"/>
            <a:buChar char="Ø"/>
          </a:pPr>
          <a:r>
            <a:rPr lang="fr-CA" sz="1200" noProof="0">
              <a:solidFill>
                <a:srgbClr val="003DA5"/>
              </a:solidFill>
              <a:ea typeface="Calibri"/>
              <a:cs typeface="Arial"/>
            </a:rPr>
            <a:t> Implanter le module de gestion des fraudes</a:t>
          </a:r>
        </a:p>
      </dgm:t>
    </dgm:pt>
    <dgm:pt modelId="{0BA28C5A-7299-4B00-B7B5-9C158ED36F9D}" type="parTrans" cxnId="{AC3BB269-6CC7-4928-9356-328F6589EFAB}">
      <dgm:prSet/>
      <dgm:spPr/>
      <dgm:t>
        <a:bodyPr/>
        <a:lstStyle/>
        <a:p>
          <a:endParaRPr lang="fr-CA"/>
        </a:p>
      </dgm:t>
    </dgm:pt>
    <dgm:pt modelId="{A62FEF48-256A-499F-9985-0487C69AEF4C}" type="sibTrans" cxnId="{AC3BB269-6CC7-4928-9356-328F6589EFAB}">
      <dgm:prSet/>
      <dgm:spPr/>
      <dgm:t>
        <a:bodyPr/>
        <a:lstStyle/>
        <a:p>
          <a:endParaRPr lang="fr-CA"/>
        </a:p>
      </dgm:t>
    </dgm:pt>
    <dgm:pt modelId="{2AB7A077-0143-44D4-9C0E-9A6DE916F5EB}">
      <dgm:prSet custT="1"/>
      <dgm:spPr/>
      <dgm:t>
        <a:bodyPr/>
        <a:lstStyle/>
        <a:p>
          <a:pPr>
            <a:buFont typeface="Wingdings" panose="05000000000000000000" pitchFamily="2" charset="2"/>
            <a:buChar char="Ø"/>
          </a:pPr>
          <a:r>
            <a:rPr lang="fr-CA" sz="1200" noProof="0">
              <a:solidFill>
                <a:srgbClr val="003DA5"/>
              </a:solidFill>
              <a:ea typeface="Calibri"/>
              <a:cs typeface="Arial"/>
            </a:rPr>
            <a:t> Programme de formation et Support aux partenaires</a:t>
          </a:r>
        </a:p>
      </dgm:t>
    </dgm:pt>
    <dgm:pt modelId="{C64C01FD-1108-486B-B089-47CD0E010707}" type="parTrans" cxnId="{4DEB8093-D3D6-469F-8280-64CC11013B9F}">
      <dgm:prSet/>
      <dgm:spPr/>
      <dgm:t>
        <a:bodyPr/>
        <a:lstStyle/>
        <a:p>
          <a:endParaRPr lang="fr-CA"/>
        </a:p>
      </dgm:t>
    </dgm:pt>
    <dgm:pt modelId="{83D2BD00-A03C-4316-BA49-82F1C5EABC49}" type="sibTrans" cxnId="{4DEB8093-D3D6-469F-8280-64CC11013B9F}">
      <dgm:prSet/>
      <dgm:spPr/>
      <dgm:t>
        <a:bodyPr/>
        <a:lstStyle/>
        <a:p>
          <a:endParaRPr lang="fr-CA"/>
        </a:p>
      </dgm:t>
    </dgm:pt>
    <dgm:pt modelId="{A03E71C7-A704-4570-A72A-808308684D0C}">
      <dgm:prSet custT="1"/>
      <dgm:spPr/>
      <dgm:t>
        <a:bodyPr/>
        <a:lstStyle/>
        <a:p>
          <a:pPr>
            <a:buFont typeface="Wingdings" panose="05000000000000000000" pitchFamily="2" charset="2"/>
            <a:buChar char="Ø"/>
          </a:pPr>
          <a:r>
            <a:rPr lang="fr-CA" sz="1200" noProof="0"/>
            <a:t> Implanter le module d’analyse de frais bancaires</a:t>
          </a:r>
        </a:p>
      </dgm:t>
    </dgm:pt>
    <dgm:pt modelId="{45865782-5E12-4928-A6B6-779614D0A64D}" type="parTrans" cxnId="{13BA43E6-F533-4BB2-AE97-F22321DCAEC4}">
      <dgm:prSet/>
      <dgm:spPr/>
      <dgm:t>
        <a:bodyPr/>
        <a:lstStyle/>
        <a:p>
          <a:endParaRPr lang="fr-FR"/>
        </a:p>
      </dgm:t>
    </dgm:pt>
    <dgm:pt modelId="{D9BE7905-F434-4FB4-940A-997EDCD33845}" type="sibTrans" cxnId="{13BA43E6-F533-4BB2-AE97-F22321DCAEC4}">
      <dgm:prSet/>
      <dgm:spPr/>
      <dgm:t>
        <a:bodyPr/>
        <a:lstStyle/>
        <a:p>
          <a:endParaRPr lang="fr-FR"/>
        </a:p>
      </dgm:t>
    </dgm:pt>
    <dgm:pt modelId="{43D1878D-AC15-48EB-AA46-3026D9C35491}" type="pres">
      <dgm:prSet presAssocID="{61FB9D38-1D0D-4384-9E31-FBE0ACFE1620}" presName="linear" presStyleCnt="0">
        <dgm:presLayoutVars>
          <dgm:dir/>
          <dgm:animLvl val="lvl"/>
          <dgm:resizeHandles val="exact"/>
        </dgm:presLayoutVars>
      </dgm:prSet>
      <dgm:spPr/>
    </dgm:pt>
    <dgm:pt modelId="{DBD44ED4-EA46-4D48-9BF0-1FE54F64049E}" type="pres">
      <dgm:prSet presAssocID="{4B55228A-C363-4C87-B178-235ACA9F6F24}" presName="parentLin" presStyleCnt="0"/>
      <dgm:spPr/>
    </dgm:pt>
    <dgm:pt modelId="{15501A90-47D3-478E-9742-07EC8DAA6908}" type="pres">
      <dgm:prSet presAssocID="{4B55228A-C363-4C87-B178-235ACA9F6F24}" presName="parentLeftMargin" presStyleLbl="node1" presStyleIdx="0" presStyleCnt="3"/>
      <dgm:spPr/>
    </dgm:pt>
    <dgm:pt modelId="{0FD92C22-E23A-4765-9B49-13A67495EBAE}" type="pres">
      <dgm:prSet presAssocID="{4B55228A-C363-4C87-B178-235ACA9F6F24}" presName="parentText" presStyleLbl="node1" presStyleIdx="0" presStyleCnt="3">
        <dgm:presLayoutVars>
          <dgm:chMax val="0"/>
          <dgm:bulletEnabled val="1"/>
        </dgm:presLayoutVars>
      </dgm:prSet>
      <dgm:spPr/>
    </dgm:pt>
    <dgm:pt modelId="{0CB7D2EA-BC44-4C06-95ED-D966D6099900}" type="pres">
      <dgm:prSet presAssocID="{4B55228A-C363-4C87-B178-235ACA9F6F24}" presName="negativeSpace" presStyleCnt="0"/>
      <dgm:spPr/>
    </dgm:pt>
    <dgm:pt modelId="{53AFC11C-CCC0-49EA-AF5A-90DA17BE8AD3}" type="pres">
      <dgm:prSet presAssocID="{4B55228A-C363-4C87-B178-235ACA9F6F24}" presName="childText" presStyleLbl="conFgAcc1" presStyleIdx="0" presStyleCnt="3">
        <dgm:presLayoutVars>
          <dgm:bulletEnabled val="1"/>
        </dgm:presLayoutVars>
      </dgm:prSet>
      <dgm:spPr/>
    </dgm:pt>
    <dgm:pt modelId="{FC30B46A-3971-45BE-AA6A-56E2DFED372A}" type="pres">
      <dgm:prSet presAssocID="{03E2F78B-7F1F-4AB3-9182-2521A9AA8AA0}" presName="spaceBetweenRectangles" presStyleCnt="0"/>
      <dgm:spPr/>
    </dgm:pt>
    <dgm:pt modelId="{360B985C-8C25-4A9F-AD28-4057D7CC154B}" type="pres">
      <dgm:prSet presAssocID="{C97A03CA-E7C7-42C4-8EEE-8BCE623ECBFC}" presName="parentLin" presStyleCnt="0"/>
      <dgm:spPr/>
    </dgm:pt>
    <dgm:pt modelId="{F9C87602-0975-4247-8EAB-DF653AB67257}" type="pres">
      <dgm:prSet presAssocID="{C97A03CA-E7C7-42C4-8EEE-8BCE623ECBFC}" presName="parentLeftMargin" presStyleLbl="node1" presStyleIdx="0" presStyleCnt="3"/>
      <dgm:spPr/>
    </dgm:pt>
    <dgm:pt modelId="{B754AB35-7F16-4E16-A9AB-30527984B7A7}" type="pres">
      <dgm:prSet presAssocID="{C97A03CA-E7C7-42C4-8EEE-8BCE623ECBFC}" presName="parentText" presStyleLbl="node1" presStyleIdx="1" presStyleCnt="3">
        <dgm:presLayoutVars>
          <dgm:chMax val="0"/>
          <dgm:bulletEnabled val="1"/>
        </dgm:presLayoutVars>
      </dgm:prSet>
      <dgm:spPr/>
    </dgm:pt>
    <dgm:pt modelId="{C9AEA8A2-6B39-42E5-998C-45C02F1789F8}" type="pres">
      <dgm:prSet presAssocID="{C97A03CA-E7C7-42C4-8EEE-8BCE623ECBFC}" presName="negativeSpace" presStyleCnt="0"/>
      <dgm:spPr/>
    </dgm:pt>
    <dgm:pt modelId="{6470E621-38A5-43E8-94CF-DD430514023A}" type="pres">
      <dgm:prSet presAssocID="{C97A03CA-E7C7-42C4-8EEE-8BCE623ECBFC}" presName="childText" presStyleLbl="conFgAcc1" presStyleIdx="1" presStyleCnt="3">
        <dgm:presLayoutVars>
          <dgm:bulletEnabled val="1"/>
        </dgm:presLayoutVars>
      </dgm:prSet>
      <dgm:spPr/>
    </dgm:pt>
    <dgm:pt modelId="{0F174435-0E46-49F2-934B-A813B767DF73}" type="pres">
      <dgm:prSet presAssocID="{807ADA64-B1C9-4902-8072-080C88C5AA6A}" presName="spaceBetweenRectangles" presStyleCnt="0"/>
      <dgm:spPr/>
    </dgm:pt>
    <dgm:pt modelId="{E24436B8-8B48-4A99-AAEE-3BAA121A89EC}" type="pres">
      <dgm:prSet presAssocID="{D33C6248-8EB5-4AED-8E4F-95D2DDF5F1CD}" presName="parentLin" presStyleCnt="0"/>
      <dgm:spPr/>
    </dgm:pt>
    <dgm:pt modelId="{8D2DC49E-CFE5-4BE9-B473-A743285DC289}" type="pres">
      <dgm:prSet presAssocID="{D33C6248-8EB5-4AED-8E4F-95D2DDF5F1CD}" presName="parentLeftMargin" presStyleLbl="node1" presStyleIdx="1" presStyleCnt="3"/>
      <dgm:spPr/>
    </dgm:pt>
    <dgm:pt modelId="{14FC512B-B444-4DD4-8666-B07D137398FE}" type="pres">
      <dgm:prSet presAssocID="{D33C6248-8EB5-4AED-8E4F-95D2DDF5F1CD}" presName="parentText" presStyleLbl="node1" presStyleIdx="2" presStyleCnt="3">
        <dgm:presLayoutVars>
          <dgm:chMax val="0"/>
          <dgm:bulletEnabled val="1"/>
        </dgm:presLayoutVars>
      </dgm:prSet>
      <dgm:spPr/>
    </dgm:pt>
    <dgm:pt modelId="{27045544-D2A7-483A-983D-42098D24BB86}" type="pres">
      <dgm:prSet presAssocID="{D33C6248-8EB5-4AED-8E4F-95D2DDF5F1CD}" presName="negativeSpace" presStyleCnt="0"/>
      <dgm:spPr/>
    </dgm:pt>
    <dgm:pt modelId="{36BE6DCB-5421-4E89-951A-324604FBA78C}" type="pres">
      <dgm:prSet presAssocID="{D33C6248-8EB5-4AED-8E4F-95D2DDF5F1CD}" presName="childText" presStyleLbl="conFgAcc1" presStyleIdx="2" presStyleCnt="3" custLinFactNeighborX="-1203">
        <dgm:presLayoutVars>
          <dgm:bulletEnabled val="1"/>
        </dgm:presLayoutVars>
      </dgm:prSet>
      <dgm:spPr/>
    </dgm:pt>
  </dgm:ptLst>
  <dgm:cxnLst>
    <dgm:cxn modelId="{95505501-82EA-4FC2-9D9D-D0EF73AA8CCE}" type="presOf" srcId="{C97A03CA-E7C7-42C4-8EEE-8BCE623ECBFC}" destId="{B754AB35-7F16-4E16-A9AB-30527984B7A7}" srcOrd="1" destOrd="0" presId="urn:microsoft.com/office/officeart/2005/8/layout/list1"/>
    <dgm:cxn modelId="{A7FF3919-0F03-4998-81BD-D7ADFFB3102C}" srcId="{C97A03CA-E7C7-42C4-8EEE-8BCE623ECBFC}" destId="{24C636C3-1577-489F-A15D-63D9B17B31DF}" srcOrd="2" destOrd="0" parTransId="{F019861E-F88D-481B-8FA6-6540404BFEF6}" sibTransId="{9877E8C4-50B6-46BD-932F-214DB43D1DCB}"/>
    <dgm:cxn modelId="{D0F35020-565F-4D56-B687-AE87A52AFE73}" srcId="{61FB9D38-1D0D-4384-9E31-FBE0ACFE1620}" destId="{D33C6248-8EB5-4AED-8E4F-95D2DDF5F1CD}" srcOrd="2" destOrd="0" parTransId="{53EF7895-82E2-4033-813E-E349BE0D1FE4}" sibTransId="{B21DF7F9-33A5-49E1-B27D-9D13EE0D9E36}"/>
    <dgm:cxn modelId="{ADC29322-D0CF-4886-8F2F-09F56CD03849}" type="presOf" srcId="{2AB7A077-0143-44D4-9C0E-9A6DE916F5EB}" destId="{53AFC11C-CCC0-49EA-AF5A-90DA17BE8AD3}" srcOrd="0" destOrd="4" presId="urn:microsoft.com/office/officeart/2005/8/layout/list1"/>
    <dgm:cxn modelId="{3FCA5628-6C18-46E2-BFD5-CAA9927DD11D}" type="presOf" srcId="{C67274F3-D52E-4C00-8646-1FEF755D3B09}" destId="{53AFC11C-CCC0-49EA-AF5A-90DA17BE8AD3}" srcOrd="0" destOrd="1" presId="urn:microsoft.com/office/officeart/2005/8/layout/list1"/>
    <dgm:cxn modelId="{B40E5F2D-5043-4A66-9132-9091A39A88E4}" type="presOf" srcId="{4B55228A-C363-4C87-B178-235ACA9F6F24}" destId="{0FD92C22-E23A-4765-9B49-13A67495EBAE}" srcOrd="1" destOrd="0" presId="urn:microsoft.com/office/officeart/2005/8/layout/list1"/>
    <dgm:cxn modelId="{CA595B32-6CD4-4AF2-9C3E-D7D3A5C5FB1E}" type="presOf" srcId="{97C7C23D-B264-45DD-94A0-1F8C3E009276}" destId="{6470E621-38A5-43E8-94CF-DD430514023A}" srcOrd="0" destOrd="0" presId="urn:microsoft.com/office/officeart/2005/8/layout/list1"/>
    <dgm:cxn modelId="{9D667736-E050-4BC4-9C9C-FE6195D58235}" type="presOf" srcId="{310F4C2E-D4B6-48BA-815D-827429EE80A5}" destId="{53AFC11C-CCC0-49EA-AF5A-90DA17BE8AD3}" srcOrd="0" destOrd="3" presId="urn:microsoft.com/office/officeart/2005/8/layout/list1"/>
    <dgm:cxn modelId="{5F25613B-967E-4A4D-8868-5F3772DEB2B7}" srcId="{4B55228A-C363-4C87-B178-235ACA9F6F24}" destId="{C67274F3-D52E-4C00-8646-1FEF755D3B09}" srcOrd="1" destOrd="0" parTransId="{0C7A9772-D5C4-4BD8-A8DE-5713B5FDEA05}" sibTransId="{B280E33F-9E07-40EE-B4DD-08AF5197B84E}"/>
    <dgm:cxn modelId="{E87A5761-4DB2-4320-AC61-513FB4715347}" type="presOf" srcId="{A03E71C7-A704-4570-A72A-808308684D0C}" destId="{53AFC11C-CCC0-49EA-AF5A-90DA17BE8AD3}" srcOrd="0" destOrd="2" presId="urn:microsoft.com/office/officeart/2005/8/layout/list1"/>
    <dgm:cxn modelId="{A52C1363-1432-4AE6-BEFD-E3E00F2D16E9}" type="presOf" srcId="{C97A03CA-E7C7-42C4-8EEE-8BCE623ECBFC}" destId="{F9C87602-0975-4247-8EAB-DF653AB67257}" srcOrd="0" destOrd="0" presId="urn:microsoft.com/office/officeart/2005/8/layout/list1"/>
    <dgm:cxn modelId="{C3493048-01D6-4A18-8214-E061F361CC33}" srcId="{C97A03CA-E7C7-42C4-8EEE-8BCE623ECBFC}" destId="{02F6F660-08BA-4195-8482-378494DAA31A}" srcOrd="1" destOrd="0" parTransId="{3E2DD52B-787F-49D6-B3F2-2E700E590B7A}" sibTransId="{385DD08D-C0BA-4E4F-ACFF-704D795A88B6}"/>
    <dgm:cxn modelId="{AC3BB269-6CC7-4928-9356-328F6589EFAB}" srcId="{4B55228A-C363-4C87-B178-235ACA9F6F24}" destId="{310F4C2E-D4B6-48BA-815D-827429EE80A5}" srcOrd="3" destOrd="0" parTransId="{0BA28C5A-7299-4B00-B7B5-9C158ED36F9D}" sibTransId="{A62FEF48-256A-499F-9985-0487C69AEF4C}"/>
    <dgm:cxn modelId="{2E46296B-EDF0-4DBF-B4FC-88B7E04B1024}" srcId="{D33C6248-8EB5-4AED-8E4F-95D2DDF5F1CD}" destId="{BD23D02A-F796-42D0-85FA-810F86597CB1}" srcOrd="0" destOrd="0" parTransId="{1DA275FA-CD7D-422B-9D75-B014CB50CF4B}" sibTransId="{3FBD6275-AE3C-4D5A-A4CA-5CCD1A5F35F5}"/>
    <dgm:cxn modelId="{D6683F4B-76D1-4D7C-9BD1-061C93BD6254}" type="presOf" srcId="{B2427E54-26B5-4AE1-813C-F94C1FF54A33}" destId="{36BE6DCB-5421-4E89-951A-324604FBA78C}" srcOrd="0" destOrd="2" presId="urn:microsoft.com/office/officeart/2005/8/layout/list1"/>
    <dgm:cxn modelId="{44B6584E-4742-4F17-BD15-38566E28CDA1}" type="presOf" srcId="{8CE7EBEE-20C3-42F9-BA1F-F6FA61557630}" destId="{53AFC11C-CCC0-49EA-AF5A-90DA17BE8AD3}" srcOrd="0" destOrd="0" presId="urn:microsoft.com/office/officeart/2005/8/layout/list1"/>
    <dgm:cxn modelId="{C11EF771-7790-4F7F-A31E-4B1F54025788}" type="presOf" srcId="{D33C6248-8EB5-4AED-8E4F-95D2DDF5F1CD}" destId="{14FC512B-B444-4DD4-8666-B07D137398FE}" srcOrd="1" destOrd="0" presId="urn:microsoft.com/office/officeart/2005/8/layout/list1"/>
    <dgm:cxn modelId="{4DEB8093-D3D6-469F-8280-64CC11013B9F}" srcId="{4B55228A-C363-4C87-B178-235ACA9F6F24}" destId="{2AB7A077-0143-44D4-9C0E-9A6DE916F5EB}" srcOrd="4" destOrd="0" parTransId="{C64C01FD-1108-486B-B089-47CD0E010707}" sibTransId="{83D2BD00-A03C-4316-BA49-82F1C5EABC49}"/>
    <dgm:cxn modelId="{0DA45EA1-7696-4848-9F03-3DA385302FDB}" srcId="{D33C6248-8EB5-4AED-8E4F-95D2DDF5F1CD}" destId="{8211F047-4269-4BA7-AA3C-F8347E626FCD}" srcOrd="1" destOrd="0" parTransId="{A3D167F1-08A0-4140-9D78-2D1FB5F13DB2}" sibTransId="{CA05ED6B-6FC3-458A-8ABF-2B530C457861}"/>
    <dgm:cxn modelId="{C53C61AB-FAF3-4ABB-8592-C89584611D5B}" srcId="{C97A03CA-E7C7-42C4-8EEE-8BCE623ECBFC}" destId="{97C7C23D-B264-45DD-94A0-1F8C3E009276}" srcOrd="0" destOrd="0" parTransId="{B39685E8-E6AE-4A43-9C4F-5829F3DF23DC}" sibTransId="{772741D0-6C1A-48D7-8F85-A56A5DF4570C}"/>
    <dgm:cxn modelId="{83C69CB2-B306-479F-91D0-F743A7826842}" type="presOf" srcId="{D33C6248-8EB5-4AED-8E4F-95D2DDF5F1CD}" destId="{8D2DC49E-CFE5-4BE9-B473-A743285DC289}" srcOrd="0" destOrd="0" presId="urn:microsoft.com/office/officeart/2005/8/layout/list1"/>
    <dgm:cxn modelId="{239699B3-B94B-40A1-A864-F47E0C920381}" type="presOf" srcId="{24C636C3-1577-489F-A15D-63D9B17B31DF}" destId="{6470E621-38A5-43E8-94CF-DD430514023A}" srcOrd="0" destOrd="2" presId="urn:microsoft.com/office/officeart/2005/8/layout/list1"/>
    <dgm:cxn modelId="{11E4CFBC-6BCC-4688-88A3-C3120B375D63}" type="presOf" srcId="{BD23D02A-F796-42D0-85FA-810F86597CB1}" destId="{36BE6DCB-5421-4E89-951A-324604FBA78C}" srcOrd="0" destOrd="0" presId="urn:microsoft.com/office/officeart/2005/8/layout/list1"/>
    <dgm:cxn modelId="{B2B87CC7-CF81-42B6-A78B-0E6EE27ACB86}" type="presOf" srcId="{61FB9D38-1D0D-4384-9E31-FBE0ACFE1620}" destId="{43D1878D-AC15-48EB-AA46-3026D9C35491}" srcOrd="0" destOrd="0" presId="urn:microsoft.com/office/officeart/2005/8/layout/list1"/>
    <dgm:cxn modelId="{73FE42D0-4A79-46BB-9CAF-988BEFBF6E42}" type="presOf" srcId="{02F6F660-08BA-4195-8482-378494DAA31A}" destId="{6470E621-38A5-43E8-94CF-DD430514023A}" srcOrd="0" destOrd="1" presId="urn:microsoft.com/office/officeart/2005/8/layout/list1"/>
    <dgm:cxn modelId="{1F9695D4-C708-4CEF-ACB4-CB8D2925536F}" srcId="{61FB9D38-1D0D-4384-9E31-FBE0ACFE1620}" destId="{C97A03CA-E7C7-42C4-8EEE-8BCE623ECBFC}" srcOrd="1" destOrd="0" parTransId="{2281C4DC-C06B-4FD2-A232-A933B5A40C52}" sibTransId="{807ADA64-B1C9-4902-8072-080C88C5AA6A}"/>
    <dgm:cxn modelId="{C7CDECD5-4E16-4362-AAB1-FFDA0F517C40}" type="presOf" srcId="{8211F047-4269-4BA7-AA3C-F8347E626FCD}" destId="{36BE6DCB-5421-4E89-951A-324604FBA78C}" srcOrd="0" destOrd="1" presId="urn:microsoft.com/office/officeart/2005/8/layout/list1"/>
    <dgm:cxn modelId="{F19524E2-12E9-4693-A076-75CAF38DA27B}" srcId="{4B55228A-C363-4C87-B178-235ACA9F6F24}" destId="{8CE7EBEE-20C3-42F9-BA1F-F6FA61557630}" srcOrd="0" destOrd="0" parTransId="{99770937-85A4-48B3-86D4-395505B6AE75}" sibTransId="{1E80FBA0-0586-4F8C-9DB1-ABF5515255F7}"/>
    <dgm:cxn modelId="{13BA43E6-F533-4BB2-AE97-F22321DCAEC4}" srcId="{4B55228A-C363-4C87-B178-235ACA9F6F24}" destId="{A03E71C7-A704-4570-A72A-808308684D0C}" srcOrd="2" destOrd="0" parTransId="{45865782-5E12-4928-A6B6-779614D0A64D}" sibTransId="{D9BE7905-F434-4FB4-940A-997EDCD33845}"/>
    <dgm:cxn modelId="{8A118CEB-B5E2-4A8B-BF59-C52D321C88FA}" srcId="{61FB9D38-1D0D-4384-9E31-FBE0ACFE1620}" destId="{4B55228A-C363-4C87-B178-235ACA9F6F24}" srcOrd="0" destOrd="0" parTransId="{D0FD1A55-E2A1-43DF-94BD-13EA616CE215}" sibTransId="{03E2F78B-7F1F-4AB3-9182-2521A9AA8AA0}"/>
    <dgm:cxn modelId="{14F9B6F7-1B1E-4A2E-AC75-9D1965E3E4A6}" srcId="{D33C6248-8EB5-4AED-8E4F-95D2DDF5F1CD}" destId="{B2427E54-26B5-4AE1-813C-F94C1FF54A33}" srcOrd="2" destOrd="0" parTransId="{10E9692C-668D-4DF8-A4D1-5F298DA6AE7D}" sibTransId="{CC8B4420-677B-41F3-B107-6331AD0959FB}"/>
    <dgm:cxn modelId="{073BACFE-ACA5-4591-BC26-D6F8AC0F6949}" type="presOf" srcId="{4B55228A-C363-4C87-B178-235ACA9F6F24}" destId="{15501A90-47D3-478E-9742-07EC8DAA6908}" srcOrd="0" destOrd="0" presId="urn:microsoft.com/office/officeart/2005/8/layout/list1"/>
    <dgm:cxn modelId="{164C989B-413A-4224-A173-82E7C442AB2B}" type="presParOf" srcId="{43D1878D-AC15-48EB-AA46-3026D9C35491}" destId="{DBD44ED4-EA46-4D48-9BF0-1FE54F64049E}" srcOrd="0" destOrd="0" presId="urn:microsoft.com/office/officeart/2005/8/layout/list1"/>
    <dgm:cxn modelId="{33474887-9A1F-47A2-B1B1-D4D9677F88C2}" type="presParOf" srcId="{DBD44ED4-EA46-4D48-9BF0-1FE54F64049E}" destId="{15501A90-47D3-478E-9742-07EC8DAA6908}" srcOrd="0" destOrd="0" presId="urn:microsoft.com/office/officeart/2005/8/layout/list1"/>
    <dgm:cxn modelId="{57A317AD-B647-4174-B9BF-58BBCCEBA041}" type="presParOf" srcId="{DBD44ED4-EA46-4D48-9BF0-1FE54F64049E}" destId="{0FD92C22-E23A-4765-9B49-13A67495EBAE}" srcOrd="1" destOrd="0" presId="urn:microsoft.com/office/officeart/2005/8/layout/list1"/>
    <dgm:cxn modelId="{2632BD28-9DEC-449D-8D26-5B6AD73160CE}" type="presParOf" srcId="{43D1878D-AC15-48EB-AA46-3026D9C35491}" destId="{0CB7D2EA-BC44-4C06-95ED-D966D6099900}" srcOrd="1" destOrd="0" presId="urn:microsoft.com/office/officeart/2005/8/layout/list1"/>
    <dgm:cxn modelId="{DE83936B-0B8D-42F5-BD4B-2FB4B0DFFBCD}" type="presParOf" srcId="{43D1878D-AC15-48EB-AA46-3026D9C35491}" destId="{53AFC11C-CCC0-49EA-AF5A-90DA17BE8AD3}" srcOrd="2" destOrd="0" presId="urn:microsoft.com/office/officeart/2005/8/layout/list1"/>
    <dgm:cxn modelId="{25256B4B-4739-47BC-8E16-F4907E98006A}" type="presParOf" srcId="{43D1878D-AC15-48EB-AA46-3026D9C35491}" destId="{FC30B46A-3971-45BE-AA6A-56E2DFED372A}" srcOrd="3" destOrd="0" presId="urn:microsoft.com/office/officeart/2005/8/layout/list1"/>
    <dgm:cxn modelId="{75F1C533-CC7D-4454-AEC0-E234198B8AD0}" type="presParOf" srcId="{43D1878D-AC15-48EB-AA46-3026D9C35491}" destId="{360B985C-8C25-4A9F-AD28-4057D7CC154B}" srcOrd="4" destOrd="0" presId="urn:microsoft.com/office/officeart/2005/8/layout/list1"/>
    <dgm:cxn modelId="{B11CCBF5-F25B-4D55-B8AD-EE29B6FE2184}" type="presParOf" srcId="{360B985C-8C25-4A9F-AD28-4057D7CC154B}" destId="{F9C87602-0975-4247-8EAB-DF653AB67257}" srcOrd="0" destOrd="0" presId="urn:microsoft.com/office/officeart/2005/8/layout/list1"/>
    <dgm:cxn modelId="{B6EE9A39-A53B-4922-AC7D-B34D09B3846D}" type="presParOf" srcId="{360B985C-8C25-4A9F-AD28-4057D7CC154B}" destId="{B754AB35-7F16-4E16-A9AB-30527984B7A7}" srcOrd="1" destOrd="0" presId="urn:microsoft.com/office/officeart/2005/8/layout/list1"/>
    <dgm:cxn modelId="{C7927236-339F-4847-8F05-2CAE3272E99B}" type="presParOf" srcId="{43D1878D-AC15-48EB-AA46-3026D9C35491}" destId="{C9AEA8A2-6B39-42E5-998C-45C02F1789F8}" srcOrd="5" destOrd="0" presId="urn:microsoft.com/office/officeart/2005/8/layout/list1"/>
    <dgm:cxn modelId="{DE47D76B-72C8-442D-B35D-DA16F356032F}" type="presParOf" srcId="{43D1878D-AC15-48EB-AA46-3026D9C35491}" destId="{6470E621-38A5-43E8-94CF-DD430514023A}" srcOrd="6" destOrd="0" presId="urn:microsoft.com/office/officeart/2005/8/layout/list1"/>
    <dgm:cxn modelId="{C8731325-C348-4C3B-BF37-FBC175CA1B9E}" type="presParOf" srcId="{43D1878D-AC15-48EB-AA46-3026D9C35491}" destId="{0F174435-0E46-49F2-934B-A813B767DF73}" srcOrd="7" destOrd="0" presId="urn:microsoft.com/office/officeart/2005/8/layout/list1"/>
    <dgm:cxn modelId="{F2F9FB88-3FE1-45A0-8BC7-E880B7FD09D7}" type="presParOf" srcId="{43D1878D-AC15-48EB-AA46-3026D9C35491}" destId="{E24436B8-8B48-4A99-AAEE-3BAA121A89EC}" srcOrd="8" destOrd="0" presId="urn:microsoft.com/office/officeart/2005/8/layout/list1"/>
    <dgm:cxn modelId="{3030EE71-10D1-4AC6-A864-1F9ED3A1B879}" type="presParOf" srcId="{E24436B8-8B48-4A99-AAEE-3BAA121A89EC}" destId="{8D2DC49E-CFE5-4BE9-B473-A743285DC289}" srcOrd="0" destOrd="0" presId="urn:microsoft.com/office/officeart/2005/8/layout/list1"/>
    <dgm:cxn modelId="{872CEBA7-8755-4342-9429-4A051B7F1207}" type="presParOf" srcId="{E24436B8-8B48-4A99-AAEE-3BAA121A89EC}" destId="{14FC512B-B444-4DD4-8666-B07D137398FE}" srcOrd="1" destOrd="0" presId="urn:microsoft.com/office/officeart/2005/8/layout/list1"/>
    <dgm:cxn modelId="{80125989-BDFE-40BF-9678-71DCD8149E78}" type="presParOf" srcId="{43D1878D-AC15-48EB-AA46-3026D9C35491}" destId="{27045544-D2A7-483A-983D-42098D24BB86}" srcOrd="9" destOrd="0" presId="urn:microsoft.com/office/officeart/2005/8/layout/list1"/>
    <dgm:cxn modelId="{81CF97E2-9EE9-4552-A7C1-DA27E42DA21C}" type="presParOf" srcId="{43D1878D-AC15-48EB-AA46-3026D9C35491}" destId="{36BE6DCB-5421-4E89-951A-324604FBA78C}" srcOrd="10"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AAED668-5E1C-4093-8D55-508407C03175}" type="doc">
      <dgm:prSet loTypeId="urn:microsoft.com/office/officeart/2008/layout/IncreasingCircleProcess" loCatId="list" qsTypeId="urn:microsoft.com/office/officeart/2005/8/quickstyle/simple1" qsCatId="simple" csTypeId="urn:microsoft.com/office/officeart/2005/8/colors/colorful1" csCatId="colorful" phldr="1"/>
      <dgm:spPr/>
      <dgm:t>
        <a:bodyPr/>
        <a:lstStyle/>
        <a:p>
          <a:endParaRPr lang="fr-FR"/>
        </a:p>
      </dgm:t>
    </dgm:pt>
    <dgm:pt modelId="{572944D9-1532-48AD-BB63-BFD8ACD74E40}">
      <dgm:prSet phldrT="[Texte]" phldr="0"/>
      <dgm:spPr/>
      <dgm:t>
        <a:bodyPr/>
        <a:lstStyle/>
        <a:p>
          <a:r>
            <a:rPr lang="fr-FR"/>
            <a:t>Filiales</a:t>
          </a:r>
        </a:p>
      </dgm:t>
    </dgm:pt>
    <dgm:pt modelId="{616AA41D-76BE-4864-ABAF-F24C2776BE62}" type="parTrans" cxnId="{C0095E6C-0D67-47F0-8E0A-4879478EC03C}">
      <dgm:prSet/>
      <dgm:spPr/>
      <dgm:t>
        <a:bodyPr/>
        <a:lstStyle/>
        <a:p>
          <a:endParaRPr lang="fr-FR"/>
        </a:p>
      </dgm:t>
    </dgm:pt>
    <dgm:pt modelId="{AC0BDFE1-4A68-4E17-9BC0-973611D72309}" type="sibTrans" cxnId="{C0095E6C-0D67-47F0-8E0A-4879478EC03C}">
      <dgm:prSet/>
      <dgm:spPr/>
      <dgm:t>
        <a:bodyPr/>
        <a:lstStyle/>
        <a:p>
          <a:endParaRPr lang="fr-FR"/>
        </a:p>
      </dgm:t>
    </dgm:pt>
    <dgm:pt modelId="{31A26969-77AD-422C-8A00-232BFA6AE021}">
      <dgm:prSet phldrT="[Texte]" phldr="0"/>
      <dgm:spPr/>
      <dgm:t>
        <a:bodyPr/>
        <a:lstStyle/>
        <a:p>
          <a:r>
            <a:rPr lang="fr-FR"/>
            <a:t>Lignes d’affaires</a:t>
          </a:r>
        </a:p>
      </dgm:t>
    </dgm:pt>
    <dgm:pt modelId="{067F9BA0-384D-4768-941B-815169463BE3}" type="parTrans" cxnId="{7621B4B8-A512-4302-9963-EE742D4965B1}">
      <dgm:prSet/>
      <dgm:spPr/>
      <dgm:t>
        <a:bodyPr/>
        <a:lstStyle/>
        <a:p>
          <a:endParaRPr lang="fr-FR"/>
        </a:p>
      </dgm:t>
    </dgm:pt>
    <dgm:pt modelId="{6AED35A8-48AC-4766-9CC4-69894BD6E419}" type="sibTrans" cxnId="{7621B4B8-A512-4302-9963-EE742D4965B1}">
      <dgm:prSet/>
      <dgm:spPr/>
      <dgm:t>
        <a:bodyPr/>
        <a:lstStyle/>
        <a:p>
          <a:endParaRPr lang="fr-FR"/>
        </a:p>
      </dgm:t>
    </dgm:pt>
    <dgm:pt modelId="{D089C132-5710-45A7-A5D0-B3BD6BDD75B3}">
      <dgm:prSet phldrT="[Texte]" phldr="0" custT="1"/>
      <dgm:spPr/>
      <dgm:t>
        <a:bodyPr/>
        <a:lstStyle/>
        <a:p>
          <a:r>
            <a:rPr lang="fr-FR" sz="1100"/>
            <a:t>25 %</a:t>
          </a:r>
        </a:p>
      </dgm:t>
    </dgm:pt>
    <dgm:pt modelId="{3EDDAB58-8F34-4713-98F0-784A509E6543}" type="parTrans" cxnId="{F8789368-A06A-4EF9-8D4D-4AA1D5D9FF16}">
      <dgm:prSet/>
      <dgm:spPr/>
      <dgm:t>
        <a:bodyPr/>
        <a:lstStyle/>
        <a:p>
          <a:endParaRPr lang="fr-FR"/>
        </a:p>
      </dgm:t>
    </dgm:pt>
    <dgm:pt modelId="{E64D39CC-849B-4F71-8B95-73076E0EC093}" type="sibTrans" cxnId="{F8789368-A06A-4EF9-8D4D-4AA1D5D9FF16}">
      <dgm:prSet/>
      <dgm:spPr/>
      <dgm:t>
        <a:bodyPr/>
        <a:lstStyle/>
        <a:p>
          <a:endParaRPr lang="fr-FR"/>
        </a:p>
      </dgm:t>
    </dgm:pt>
    <dgm:pt modelId="{B8B5ED4C-1C35-4E36-A39E-2BF89A3AA194}">
      <dgm:prSet phldrT="[Texte]" phldr="0"/>
      <dgm:spPr/>
      <dgm:t>
        <a:bodyPr/>
        <a:lstStyle/>
        <a:p>
          <a:r>
            <a:rPr lang="fr-FR"/>
            <a:t>Secteurs</a:t>
          </a:r>
        </a:p>
      </dgm:t>
    </dgm:pt>
    <dgm:pt modelId="{72798123-4801-4371-9C6C-7709F18A7B98}" type="parTrans" cxnId="{448D9E7E-2E47-4F99-9129-3AAB43361236}">
      <dgm:prSet/>
      <dgm:spPr/>
      <dgm:t>
        <a:bodyPr/>
        <a:lstStyle/>
        <a:p>
          <a:endParaRPr lang="fr-FR"/>
        </a:p>
      </dgm:t>
    </dgm:pt>
    <dgm:pt modelId="{D147020B-08E2-4060-A4BD-BCB2633A2CC0}" type="sibTrans" cxnId="{448D9E7E-2E47-4F99-9129-3AAB43361236}">
      <dgm:prSet/>
      <dgm:spPr/>
      <dgm:t>
        <a:bodyPr/>
        <a:lstStyle/>
        <a:p>
          <a:endParaRPr lang="fr-FR"/>
        </a:p>
      </dgm:t>
    </dgm:pt>
    <dgm:pt modelId="{9EE30336-44FF-49A3-AA46-78AA3A618676}">
      <dgm:prSet phldrT="[Texte]" phldr="0" custT="1"/>
      <dgm:spPr/>
      <dgm:t>
        <a:bodyPr/>
        <a:lstStyle/>
        <a:p>
          <a:r>
            <a:rPr lang="fr-FR" sz="1100"/>
            <a:t>100% </a:t>
          </a:r>
        </a:p>
      </dgm:t>
    </dgm:pt>
    <dgm:pt modelId="{EB435F91-232A-4512-A605-736B8B0538FF}" type="parTrans" cxnId="{C9A374EE-76B2-455F-976F-BC0FB97F5B66}">
      <dgm:prSet/>
      <dgm:spPr/>
      <dgm:t>
        <a:bodyPr/>
        <a:lstStyle/>
        <a:p>
          <a:endParaRPr lang="fr-FR"/>
        </a:p>
      </dgm:t>
    </dgm:pt>
    <dgm:pt modelId="{7534A85E-FD3F-4974-995B-B22ADF1FC225}" type="sibTrans" cxnId="{C9A374EE-76B2-455F-976F-BC0FB97F5B66}">
      <dgm:prSet/>
      <dgm:spPr/>
      <dgm:t>
        <a:bodyPr/>
        <a:lstStyle/>
        <a:p>
          <a:endParaRPr lang="fr-FR"/>
        </a:p>
      </dgm:t>
    </dgm:pt>
    <dgm:pt modelId="{D85C6E5E-C38E-4A9E-ABEE-97DC0203FBD8}">
      <dgm:prSet phldrT="[Texte]" custT="1"/>
      <dgm:spPr/>
      <dgm:t>
        <a:bodyPr/>
        <a:lstStyle/>
        <a:p>
          <a:r>
            <a:rPr lang="fr-FR" sz="1100"/>
            <a:t>100 %</a:t>
          </a:r>
        </a:p>
      </dgm:t>
    </dgm:pt>
    <dgm:pt modelId="{69282AEA-F357-4D69-8F90-D92A2B3ED32C}" type="parTrans" cxnId="{909473CB-81C0-46E2-AFDD-84F45781E920}">
      <dgm:prSet/>
      <dgm:spPr/>
      <dgm:t>
        <a:bodyPr/>
        <a:lstStyle/>
        <a:p>
          <a:endParaRPr lang="fr-FR"/>
        </a:p>
      </dgm:t>
    </dgm:pt>
    <dgm:pt modelId="{09EC5447-0801-4970-B23F-BF50B1741880}" type="sibTrans" cxnId="{909473CB-81C0-46E2-AFDD-84F45781E920}">
      <dgm:prSet/>
      <dgm:spPr/>
      <dgm:t>
        <a:bodyPr/>
        <a:lstStyle/>
        <a:p>
          <a:endParaRPr lang="fr-FR"/>
        </a:p>
      </dgm:t>
    </dgm:pt>
    <dgm:pt modelId="{22C955D0-F298-47C6-8E75-998EC583AB7B}" type="pres">
      <dgm:prSet presAssocID="{6AAED668-5E1C-4093-8D55-508407C03175}" presName="Name0" presStyleCnt="0">
        <dgm:presLayoutVars>
          <dgm:chMax val="7"/>
          <dgm:chPref val="7"/>
          <dgm:dir/>
          <dgm:animOne val="branch"/>
          <dgm:animLvl val="lvl"/>
        </dgm:presLayoutVars>
      </dgm:prSet>
      <dgm:spPr/>
    </dgm:pt>
    <dgm:pt modelId="{796398CB-705D-4896-A694-A11B01B1AB52}" type="pres">
      <dgm:prSet presAssocID="{572944D9-1532-48AD-BB63-BFD8ACD74E40}" presName="composite" presStyleCnt="0"/>
      <dgm:spPr/>
    </dgm:pt>
    <dgm:pt modelId="{BA292B10-CF3A-42BA-B27A-EC6C0FC113FB}" type="pres">
      <dgm:prSet presAssocID="{572944D9-1532-48AD-BB63-BFD8ACD74E40}" presName="BackAccent" presStyleLbl="bgShp" presStyleIdx="0" presStyleCnt="3"/>
      <dgm:spPr/>
    </dgm:pt>
    <dgm:pt modelId="{7A68EC78-C710-4ADE-BA33-7E2D06FA1E69}" type="pres">
      <dgm:prSet presAssocID="{572944D9-1532-48AD-BB63-BFD8ACD74E40}" presName="Accent" presStyleLbl="alignNode1" presStyleIdx="0" presStyleCnt="3"/>
      <dgm:spPr/>
    </dgm:pt>
    <dgm:pt modelId="{20554D1E-92E9-4042-A143-CE45A567ECC7}" type="pres">
      <dgm:prSet presAssocID="{572944D9-1532-48AD-BB63-BFD8ACD74E40}" presName="Child" presStyleLbl="revTx" presStyleIdx="0" presStyleCnt="6">
        <dgm:presLayoutVars>
          <dgm:chMax val="0"/>
          <dgm:chPref val="0"/>
          <dgm:bulletEnabled val="1"/>
        </dgm:presLayoutVars>
      </dgm:prSet>
      <dgm:spPr/>
    </dgm:pt>
    <dgm:pt modelId="{284D370A-27E9-42CE-88B9-EA6FC7E28BEA}" type="pres">
      <dgm:prSet presAssocID="{572944D9-1532-48AD-BB63-BFD8ACD74E40}" presName="Parent" presStyleLbl="revTx" presStyleIdx="1" presStyleCnt="6">
        <dgm:presLayoutVars>
          <dgm:chMax val="1"/>
          <dgm:chPref val="1"/>
          <dgm:bulletEnabled val="1"/>
        </dgm:presLayoutVars>
      </dgm:prSet>
      <dgm:spPr/>
    </dgm:pt>
    <dgm:pt modelId="{00F63C7F-9780-4F90-8955-8B475A5CCF57}" type="pres">
      <dgm:prSet presAssocID="{AC0BDFE1-4A68-4E17-9BC0-973611D72309}" presName="sibTrans" presStyleCnt="0"/>
      <dgm:spPr/>
    </dgm:pt>
    <dgm:pt modelId="{2B2CC28E-6D70-477D-B69A-2BBA92939FF2}" type="pres">
      <dgm:prSet presAssocID="{31A26969-77AD-422C-8A00-232BFA6AE021}" presName="composite" presStyleCnt="0"/>
      <dgm:spPr/>
    </dgm:pt>
    <dgm:pt modelId="{02BCB6ED-A9FF-4906-B715-09B78B5AAC64}" type="pres">
      <dgm:prSet presAssocID="{31A26969-77AD-422C-8A00-232BFA6AE021}" presName="BackAccent" presStyleLbl="bgShp" presStyleIdx="1" presStyleCnt="3"/>
      <dgm:spPr/>
    </dgm:pt>
    <dgm:pt modelId="{A2D07CAE-E94F-4F8C-83D8-108342688986}" type="pres">
      <dgm:prSet presAssocID="{31A26969-77AD-422C-8A00-232BFA6AE021}" presName="Accent" presStyleLbl="alignNode1" presStyleIdx="1" presStyleCnt="3"/>
      <dgm:spPr/>
    </dgm:pt>
    <dgm:pt modelId="{9AE27CBB-2841-485A-8F09-53F59920C8C4}" type="pres">
      <dgm:prSet presAssocID="{31A26969-77AD-422C-8A00-232BFA6AE021}" presName="Child" presStyleLbl="revTx" presStyleIdx="2" presStyleCnt="6">
        <dgm:presLayoutVars>
          <dgm:chMax val="0"/>
          <dgm:chPref val="0"/>
          <dgm:bulletEnabled val="1"/>
        </dgm:presLayoutVars>
      </dgm:prSet>
      <dgm:spPr/>
    </dgm:pt>
    <dgm:pt modelId="{EF4334A8-625B-45D8-A9F9-80A1D990D770}" type="pres">
      <dgm:prSet presAssocID="{31A26969-77AD-422C-8A00-232BFA6AE021}" presName="Parent" presStyleLbl="revTx" presStyleIdx="3" presStyleCnt="6">
        <dgm:presLayoutVars>
          <dgm:chMax val="1"/>
          <dgm:chPref val="1"/>
          <dgm:bulletEnabled val="1"/>
        </dgm:presLayoutVars>
      </dgm:prSet>
      <dgm:spPr/>
    </dgm:pt>
    <dgm:pt modelId="{AB1D7879-0841-4F5E-9EF2-37387AB90EA3}" type="pres">
      <dgm:prSet presAssocID="{6AED35A8-48AC-4766-9CC4-69894BD6E419}" presName="sibTrans" presStyleCnt="0"/>
      <dgm:spPr/>
    </dgm:pt>
    <dgm:pt modelId="{69A75181-F505-4659-AA36-4C357D7BAED6}" type="pres">
      <dgm:prSet presAssocID="{B8B5ED4C-1C35-4E36-A39E-2BF89A3AA194}" presName="composite" presStyleCnt="0"/>
      <dgm:spPr/>
    </dgm:pt>
    <dgm:pt modelId="{8CA06B0C-236A-4BE8-8675-EBD79BF552B4}" type="pres">
      <dgm:prSet presAssocID="{B8B5ED4C-1C35-4E36-A39E-2BF89A3AA194}" presName="BackAccent" presStyleLbl="bgShp" presStyleIdx="2" presStyleCnt="3"/>
      <dgm:spPr/>
    </dgm:pt>
    <dgm:pt modelId="{7DD88D83-4A2E-4EE1-94C5-FEB92E11EE27}" type="pres">
      <dgm:prSet presAssocID="{B8B5ED4C-1C35-4E36-A39E-2BF89A3AA194}" presName="Accent" presStyleLbl="alignNode1" presStyleIdx="2" presStyleCnt="3"/>
      <dgm:spPr/>
    </dgm:pt>
    <dgm:pt modelId="{2C1E05DB-8799-423C-B68F-CAE23033C6DA}" type="pres">
      <dgm:prSet presAssocID="{B8B5ED4C-1C35-4E36-A39E-2BF89A3AA194}" presName="Child" presStyleLbl="revTx" presStyleIdx="4" presStyleCnt="6">
        <dgm:presLayoutVars>
          <dgm:chMax val="0"/>
          <dgm:chPref val="0"/>
          <dgm:bulletEnabled val="1"/>
        </dgm:presLayoutVars>
      </dgm:prSet>
      <dgm:spPr/>
    </dgm:pt>
    <dgm:pt modelId="{F8D94B3C-C0FA-46FF-B838-3882D7255CA1}" type="pres">
      <dgm:prSet presAssocID="{B8B5ED4C-1C35-4E36-A39E-2BF89A3AA194}" presName="Parent" presStyleLbl="revTx" presStyleIdx="5" presStyleCnt="6">
        <dgm:presLayoutVars>
          <dgm:chMax val="1"/>
          <dgm:chPref val="1"/>
          <dgm:bulletEnabled val="1"/>
        </dgm:presLayoutVars>
      </dgm:prSet>
      <dgm:spPr/>
    </dgm:pt>
  </dgm:ptLst>
  <dgm:cxnLst>
    <dgm:cxn modelId="{ED30D323-1D97-44BC-AF44-C33CEDD3D157}" type="presOf" srcId="{9EE30336-44FF-49A3-AA46-78AA3A618676}" destId="{9AE27CBB-2841-485A-8F09-53F59920C8C4}" srcOrd="0" destOrd="0" presId="urn:microsoft.com/office/officeart/2008/layout/IncreasingCircleProcess"/>
    <dgm:cxn modelId="{0AD6F262-86C8-42BA-8E7B-347B48B3527A}" type="presOf" srcId="{B8B5ED4C-1C35-4E36-A39E-2BF89A3AA194}" destId="{F8D94B3C-C0FA-46FF-B838-3882D7255CA1}" srcOrd="0" destOrd="0" presId="urn:microsoft.com/office/officeart/2008/layout/IncreasingCircleProcess"/>
    <dgm:cxn modelId="{F392EE46-F7F4-4924-B72A-10D2E1D1BFE4}" type="presOf" srcId="{D85C6E5E-C38E-4A9E-ABEE-97DC0203FBD8}" destId="{2C1E05DB-8799-423C-B68F-CAE23033C6DA}" srcOrd="0" destOrd="0" presId="urn:microsoft.com/office/officeart/2008/layout/IncreasingCircleProcess"/>
    <dgm:cxn modelId="{F8789368-A06A-4EF9-8D4D-4AA1D5D9FF16}" srcId="{572944D9-1532-48AD-BB63-BFD8ACD74E40}" destId="{D089C132-5710-45A7-A5D0-B3BD6BDD75B3}" srcOrd="0" destOrd="0" parTransId="{3EDDAB58-8F34-4713-98F0-784A509E6543}" sibTransId="{E64D39CC-849B-4F71-8B95-73076E0EC093}"/>
    <dgm:cxn modelId="{C0095E6C-0D67-47F0-8E0A-4879478EC03C}" srcId="{6AAED668-5E1C-4093-8D55-508407C03175}" destId="{572944D9-1532-48AD-BB63-BFD8ACD74E40}" srcOrd="0" destOrd="0" parTransId="{616AA41D-76BE-4864-ABAF-F24C2776BE62}" sibTransId="{AC0BDFE1-4A68-4E17-9BC0-973611D72309}"/>
    <dgm:cxn modelId="{C3BF184E-93E9-4690-B6A6-272A34CEA4AE}" type="presOf" srcId="{D089C132-5710-45A7-A5D0-B3BD6BDD75B3}" destId="{20554D1E-92E9-4042-A143-CE45A567ECC7}" srcOrd="0" destOrd="0" presId="urn:microsoft.com/office/officeart/2008/layout/IncreasingCircleProcess"/>
    <dgm:cxn modelId="{448D9E7E-2E47-4F99-9129-3AAB43361236}" srcId="{6AAED668-5E1C-4093-8D55-508407C03175}" destId="{B8B5ED4C-1C35-4E36-A39E-2BF89A3AA194}" srcOrd="2" destOrd="0" parTransId="{72798123-4801-4371-9C6C-7709F18A7B98}" sibTransId="{D147020B-08E2-4060-A4BD-BCB2633A2CC0}"/>
    <dgm:cxn modelId="{8FE50D83-9541-405F-AAD2-D0B8854AEB58}" type="presOf" srcId="{31A26969-77AD-422C-8A00-232BFA6AE021}" destId="{EF4334A8-625B-45D8-A9F9-80A1D990D770}" srcOrd="0" destOrd="0" presId="urn:microsoft.com/office/officeart/2008/layout/IncreasingCircleProcess"/>
    <dgm:cxn modelId="{9FE16AA1-5BA5-43C6-A53A-4CBDDD9C2696}" type="presOf" srcId="{572944D9-1532-48AD-BB63-BFD8ACD74E40}" destId="{284D370A-27E9-42CE-88B9-EA6FC7E28BEA}" srcOrd="0" destOrd="0" presId="urn:microsoft.com/office/officeart/2008/layout/IncreasingCircleProcess"/>
    <dgm:cxn modelId="{7621B4B8-A512-4302-9963-EE742D4965B1}" srcId="{6AAED668-5E1C-4093-8D55-508407C03175}" destId="{31A26969-77AD-422C-8A00-232BFA6AE021}" srcOrd="1" destOrd="0" parTransId="{067F9BA0-384D-4768-941B-815169463BE3}" sibTransId="{6AED35A8-48AC-4766-9CC4-69894BD6E419}"/>
    <dgm:cxn modelId="{909473CB-81C0-46E2-AFDD-84F45781E920}" srcId="{B8B5ED4C-1C35-4E36-A39E-2BF89A3AA194}" destId="{D85C6E5E-C38E-4A9E-ABEE-97DC0203FBD8}" srcOrd="0" destOrd="0" parTransId="{69282AEA-F357-4D69-8F90-D92A2B3ED32C}" sibTransId="{09EC5447-0801-4970-B23F-BF50B1741880}"/>
    <dgm:cxn modelId="{A592C9D6-7ADD-45B2-B2B0-862983E4A231}" type="presOf" srcId="{6AAED668-5E1C-4093-8D55-508407C03175}" destId="{22C955D0-F298-47C6-8E75-998EC583AB7B}" srcOrd="0" destOrd="0" presId="urn:microsoft.com/office/officeart/2008/layout/IncreasingCircleProcess"/>
    <dgm:cxn modelId="{C9A374EE-76B2-455F-976F-BC0FB97F5B66}" srcId="{31A26969-77AD-422C-8A00-232BFA6AE021}" destId="{9EE30336-44FF-49A3-AA46-78AA3A618676}" srcOrd="0" destOrd="0" parTransId="{EB435F91-232A-4512-A605-736B8B0538FF}" sibTransId="{7534A85E-FD3F-4974-995B-B22ADF1FC225}"/>
    <dgm:cxn modelId="{C012CA8A-3D17-43C9-A939-8F719B614144}" type="presParOf" srcId="{22C955D0-F298-47C6-8E75-998EC583AB7B}" destId="{796398CB-705D-4896-A694-A11B01B1AB52}" srcOrd="0" destOrd="0" presId="urn:microsoft.com/office/officeart/2008/layout/IncreasingCircleProcess"/>
    <dgm:cxn modelId="{3B27412C-5F6F-49B9-966E-EBA3D87A3212}" type="presParOf" srcId="{796398CB-705D-4896-A694-A11B01B1AB52}" destId="{BA292B10-CF3A-42BA-B27A-EC6C0FC113FB}" srcOrd="0" destOrd="0" presId="urn:microsoft.com/office/officeart/2008/layout/IncreasingCircleProcess"/>
    <dgm:cxn modelId="{A5C110A9-D158-49E8-9DC6-5C0A9366CE42}" type="presParOf" srcId="{796398CB-705D-4896-A694-A11B01B1AB52}" destId="{7A68EC78-C710-4ADE-BA33-7E2D06FA1E69}" srcOrd="1" destOrd="0" presId="urn:microsoft.com/office/officeart/2008/layout/IncreasingCircleProcess"/>
    <dgm:cxn modelId="{5176C1F0-387C-4EC6-A99B-BB43751391E1}" type="presParOf" srcId="{796398CB-705D-4896-A694-A11B01B1AB52}" destId="{20554D1E-92E9-4042-A143-CE45A567ECC7}" srcOrd="2" destOrd="0" presId="urn:microsoft.com/office/officeart/2008/layout/IncreasingCircleProcess"/>
    <dgm:cxn modelId="{883C985B-24BB-453F-BF20-E776AA313527}" type="presParOf" srcId="{796398CB-705D-4896-A694-A11B01B1AB52}" destId="{284D370A-27E9-42CE-88B9-EA6FC7E28BEA}" srcOrd="3" destOrd="0" presId="urn:microsoft.com/office/officeart/2008/layout/IncreasingCircleProcess"/>
    <dgm:cxn modelId="{86C9AAD0-6419-4F9F-8882-ACF6C64FEE90}" type="presParOf" srcId="{22C955D0-F298-47C6-8E75-998EC583AB7B}" destId="{00F63C7F-9780-4F90-8955-8B475A5CCF57}" srcOrd="1" destOrd="0" presId="urn:microsoft.com/office/officeart/2008/layout/IncreasingCircleProcess"/>
    <dgm:cxn modelId="{6C97D46C-7776-4ADC-BDFF-A08934709506}" type="presParOf" srcId="{22C955D0-F298-47C6-8E75-998EC583AB7B}" destId="{2B2CC28E-6D70-477D-B69A-2BBA92939FF2}" srcOrd="2" destOrd="0" presId="urn:microsoft.com/office/officeart/2008/layout/IncreasingCircleProcess"/>
    <dgm:cxn modelId="{187946D2-CF3A-4A9A-A6CE-4AE888CEB9FA}" type="presParOf" srcId="{2B2CC28E-6D70-477D-B69A-2BBA92939FF2}" destId="{02BCB6ED-A9FF-4906-B715-09B78B5AAC64}" srcOrd="0" destOrd="0" presId="urn:microsoft.com/office/officeart/2008/layout/IncreasingCircleProcess"/>
    <dgm:cxn modelId="{03AFB233-291C-47A9-BE60-66C769F5F67C}" type="presParOf" srcId="{2B2CC28E-6D70-477D-B69A-2BBA92939FF2}" destId="{A2D07CAE-E94F-4F8C-83D8-108342688986}" srcOrd="1" destOrd="0" presId="urn:microsoft.com/office/officeart/2008/layout/IncreasingCircleProcess"/>
    <dgm:cxn modelId="{0649D5C7-6433-4C79-9362-FD026D855B69}" type="presParOf" srcId="{2B2CC28E-6D70-477D-B69A-2BBA92939FF2}" destId="{9AE27CBB-2841-485A-8F09-53F59920C8C4}" srcOrd="2" destOrd="0" presId="urn:microsoft.com/office/officeart/2008/layout/IncreasingCircleProcess"/>
    <dgm:cxn modelId="{98B31FBE-730C-4925-99A3-F6F932840D7E}" type="presParOf" srcId="{2B2CC28E-6D70-477D-B69A-2BBA92939FF2}" destId="{EF4334A8-625B-45D8-A9F9-80A1D990D770}" srcOrd="3" destOrd="0" presId="urn:microsoft.com/office/officeart/2008/layout/IncreasingCircleProcess"/>
    <dgm:cxn modelId="{C14EB586-B9F9-4690-9789-178D8780E420}" type="presParOf" srcId="{22C955D0-F298-47C6-8E75-998EC583AB7B}" destId="{AB1D7879-0841-4F5E-9EF2-37387AB90EA3}" srcOrd="3" destOrd="0" presId="urn:microsoft.com/office/officeart/2008/layout/IncreasingCircleProcess"/>
    <dgm:cxn modelId="{7F718ED2-2F1F-4EA0-BD8D-B2FDE5954E86}" type="presParOf" srcId="{22C955D0-F298-47C6-8E75-998EC583AB7B}" destId="{69A75181-F505-4659-AA36-4C357D7BAED6}" srcOrd="4" destOrd="0" presId="urn:microsoft.com/office/officeart/2008/layout/IncreasingCircleProcess"/>
    <dgm:cxn modelId="{AD5BA8C6-43D3-438E-9793-C1E28FAA285E}" type="presParOf" srcId="{69A75181-F505-4659-AA36-4C357D7BAED6}" destId="{8CA06B0C-236A-4BE8-8675-EBD79BF552B4}" srcOrd="0" destOrd="0" presId="urn:microsoft.com/office/officeart/2008/layout/IncreasingCircleProcess"/>
    <dgm:cxn modelId="{C3C4533A-2E18-4901-9BCB-6E62B65B0F2A}" type="presParOf" srcId="{69A75181-F505-4659-AA36-4C357D7BAED6}" destId="{7DD88D83-4A2E-4EE1-94C5-FEB92E11EE27}" srcOrd="1" destOrd="0" presId="urn:microsoft.com/office/officeart/2008/layout/IncreasingCircleProcess"/>
    <dgm:cxn modelId="{73BBA7DA-62AA-460E-BE03-3BC984017DFA}" type="presParOf" srcId="{69A75181-F505-4659-AA36-4C357D7BAED6}" destId="{2C1E05DB-8799-423C-B68F-CAE23033C6DA}" srcOrd="2" destOrd="0" presId="urn:microsoft.com/office/officeart/2008/layout/IncreasingCircleProcess"/>
    <dgm:cxn modelId="{97147D46-6FE0-446B-93B5-A043A90D9F4D}" type="presParOf" srcId="{69A75181-F505-4659-AA36-4C357D7BAED6}" destId="{F8D94B3C-C0FA-46FF-B838-3882D7255CA1}" srcOrd="3" destOrd="0" presId="urn:microsoft.com/office/officeart/2008/layout/IncreasingCircle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6378250-E9F2-4976-B1BF-4EC2F5E4C2E5}" type="doc">
      <dgm:prSet loTypeId="urn:microsoft.com/office/officeart/2005/8/layout/lProcess2" loCatId="list" qsTypeId="urn:microsoft.com/office/officeart/2005/8/quickstyle/simple3" qsCatId="simple" csTypeId="urn:microsoft.com/office/officeart/2005/8/colors/accent1_2" csCatId="accent1" phldr="1"/>
      <dgm:spPr/>
      <dgm:t>
        <a:bodyPr/>
        <a:lstStyle/>
        <a:p>
          <a:endParaRPr lang="fr-FR"/>
        </a:p>
      </dgm:t>
    </dgm:pt>
    <dgm:pt modelId="{FB9FBB23-7F05-4071-9548-2FCD9709CADF}">
      <dgm:prSet phldrT="[Texte]" phldr="0" custT="1"/>
      <dgm:spPr/>
      <dgm:t>
        <a:bodyPr/>
        <a:lstStyle/>
        <a:p>
          <a:r>
            <a:rPr lang="fr-CA" sz="3600" i="1" noProof="0"/>
            <a:t>Contraintes</a:t>
          </a:r>
        </a:p>
      </dgm:t>
    </dgm:pt>
    <dgm:pt modelId="{CD0E2320-2DD8-4BD1-A9BF-BE53E873B505}" type="parTrans" cxnId="{66D60FD0-F80A-474C-83ED-93BB28AFC494}">
      <dgm:prSet/>
      <dgm:spPr/>
      <dgm:t>
        <a:bodyPr/>
        <a:lstStyle/>
        <a:p>
          <a:endParaRPr lang="fr-FR"/>
        </a:p>
      </dgm:t>
    </dgm:pt>
    <dgm:pt modelId="{512EC171-3F95-405A-899D-9A433B2886B7}" type="sibTrans" cxnId="{66D60FD0-F80A-474C-83ED-93BB28AFC494}">
      <dgm:prSet/>
      <dgm:spPr/>
      <dgm:t>
        <a:bodyPr/>
        <a:lstStyle/>
        <a:p>
          <a:endParaRPr lang="fr-FR"/>
        </a:p>
      </dgm:t>
    </dgm:pt>
    <dgm:pt modelId="{56198977-8708-4B4E-97CE-5D888B2E8C50}">
      <dgm:prSet phldrT="[Texte]" phldr="0" custT="1"/>
      <dgm:spPr/>
      <dgm:t>
        <a:bodyPr/>
        <a:lstStyle/>
        <a:p>
          <a:r>
            <a:rPr lang="fr-CA" sz="1050" b="1" i="1" u="sng" noProof="0"/>
            <a:t>Délais</a:t>
          </a:r>
        </a:p>
      </dgm:t>
    </dgm:pt>
    <dgm:pt modelId="{FF41CCAD-E433-45C1-A728-CD5C58ED29C8}" type="parTrans" cxnId="{F92D78DC-DBFE-4478-AED2-74082640F743}">
      <dgm:prSet/>
      <dgm:spPr/>
      <dgm:t>
        <a:bodyPr/>
        <a:lstStyle/>
        <a:p>
          <a:endParaRPr lang="fr-FR"/>
        </a:p>
      </dgm:t>
    </dgm:pt>
    <dgm:pt modelId="{F1E0A0FF-6571-4DED-8B1A-B779E5F0B424}" type="sibTrans" cxnId="{F92D78DC-DBFE-4478-AED2-74082640F743}">
      <dgm:prSet/>
      <dgm:spPr/>
      <dgm:t>
        <a:bodyPr/>
        <a:lstStyle/>
        <a:p>
          <a:endParaRPr lang="fr-FR"/>
        </a:p>
      </dgm:t>
    </dgm:pt>
    <dgm:pt modelId="{9EC88378-892C-4596-8CBB-C91DC1B74EF8}">
      <dgm:prSet phldrT="[Texte]" phldr="0" custT="1"/>
      <dgm:spPr/>
      <dgm:t>
        <a:bodyPr/>
        <a:lstStyle/>
        <a:p>
          <a:r>
            <a:rPr lang="fr-CA" sz="1050" b="1" i="1" u="sng" noProof="0"/>
            <a:t>Plan de désuétude</a:t>
          </a:r>
        </a:p>
      </dgm:t>
    </dgm:pt>
    <dgm:pt modelId="{264685BB-7E70-4E72-B027-367C91787055}" type="parTrans" cxnId="{679CD776-3E8F-4417-8095-73CB259473E9}">
      <dgm:prSet/>
      <dgm:spPr/>
      <dgm:t>
        <a:bodyPr/>
        <a:lstStyle/>
        <a:p>
          <a:endParaRPr lang="fr-FR"/>
        </a:p>
      </dgm:t>
    </dgm:pt>
    <dgm:pt modelId="{7915EA01-8AD0-48DF-B8E0-E3BA44786626}" type="sibTrans" cxnId="{679CD776-3E8F-4417-8095-73CB259473E9}">
      <dgm:prSet/>
      <dgm:spPr/>
      <dgm:t>
        <a:bodyPr/>
        <a:lstStyle/>
        <a:p>
          <a:endParaRPr lang="fr-FR"/>
        </a:p>
      </dgm:t>
    </dgm:pt>
    <dgm:pt modelId="{7989E8ED-1613-40C9-9514-4CF9FDF12026}">
      <dgm:prSet phldrT="[Texte]" phldr="0" custT="1"/>
      <dgm:spPr/>
      <dgm:t>
        <a:bodyPr/>
        <a:lstStyle/>
        <a:p>
          <a:r>
            <a:rPr lang="fr-CA" sz="3600" i="1" noProof="0"/>
            <a:t>Dépendances</a:t>
          </a:r>
        </a:p>
      </dgm:t>
    </dgm:pt>
    <dgm:pt modelId="{8B17DC25-E663-40FE-A59E-1ABDBF56A47C}" type="parTrans" cxnId="{C5E325E1-E821-43C3-B4DA-653FC881462B}">
      <dgm:prSet/>
      <dgm:spPr/>
      <dgm:t>
        <a:bodyPr/>
        <a:lstStyle/>
        <a:p>
          <a:endParaRPr lang="fr-FR"/>
        </a:p>
      </dgm:t>
    </dgm:pt>
    <dgm:pt modelId="{7EED467D-E74C-4880-8B01-0EF9CEBAA620}" type="sibTrans" cxnId="{C5E325E1-E821-43C3-B4DA-653FC881462B}">
      <dgm:prSet/>
      <dgm:spPr/>
      <dgm:t>
        <a:bodyPr/>
        <a:lstStyle/>
        <a:p>
          <a:endParaRPr lang="fr-FR"/>
        </a:p>
      </dgm:t>
    </dgm:pt>
    <dgm:pt modelId="{08E030B4-79ED-4781-BF76-E2C6B32B5C03}">
      <dgm:prSet phldrT="[Texte]" phldr="0" custT="1"/>
      <dgm:spPr/>
      <dgm:t>
        <a:bodyPr/>
        <a:lstStyle/>
        <a:p>
          <a:pPr>
            <a:spcAft>
              <a:spcPts val="0"/>
            </a:spcAft>
          </a:pPr>
          <a:r>
            <a:rPr lang="fr-CA" sz="1300" i="1" u="sng" kern="1200" noProof="0"/>
            <a:t>Projets </a:t>
          </a:r>
          <a:r>
            <a:rPr lang="fr-CA" sz="1400" i="1" u="sng" kern="1200" noProof="0"/>
            <a:t>partenaires e</a:t>
          </a:r>
          <a:r>
            <a:rPr lang="fr-CA" sz="1300" i="1" u="sng" kern="1200" noProof="0"/>
            <a:t>n cours</a:t>
          </a:r>
        </a:p>
      </dgm:t>
    </dgm:pt>
    <dgm:pt modelId="{8206CACC-6D8D-4DC0-827A-1B5487AD2B82}" type="parTrans" cxnId="{F78A1596-9540-458D-ACF3-74DF0561B1E1}">
      <dgm:prSet/>
      <dgm:spPr/>
      <dgm:t>
        <a:bodyPr/>
        <a:lstStyle/>
        <a:p>
          <a:endParaRPr lang="fr-FR"/>
        </a:p>
      </dgm:t>
    </dgm:pt>
    <dgm:pt modelId="{A91316A0-FA12-4863-9CFB-39AB7943D9CE}" type="sibTrans" cxnId="{F78A1596-9540-458D-ACF3-74DF0561B1E1}">
      <dgm:prSet/>
      <dgm:spPr/>
      <dgm:t>
        <a:bodyPr/>
        <a:lstStyle/>
        <a:p>
          <a:endParaRPr lang="fr-FR"/>
        </a:p>
      </dgm:t>
    </dgm:pt>
    <dgm:pt modelId="{3FF6D498-3361-4BE7-9F17-51F9322A70AC}">
      <dgm:prSet phldrT="[Texte]" phldr="0" custT="1"/>
      <dgm:spPr/>
      <dgm:t>
        <a:bodyPr/>
        <a:lstStyle/>
        <a:p>
          <a:pPr marL="0" algn="l">
            <a:spcAft>
              <a:spcPts val="0"/>
            </a:spcAft>
          </a:pPr>
          <a:r>
            <a:rPr lang="fr-CA" sz="1400" i="1" u="sng" noProof="0"/>
            <a:t>Transformation corporative</a:t>
          </a:r>
        </a:p>
      </dgm:t>
    </dgm:pt>
    <dgm:pt modelId="{BB0361BD-9344-4FD0-B68F-60BB99841111}" type="parTrans" cxnId="{FD085994-D529-4C44-B482-284C9512BE0A}">
      <dgm:prSet/>
      <dgm:spPr/>
      <dgm:t>
        <a:bodyPr/>
        <a:lstStyle/>
        <a:p>
          <a:endParaRPr lang="fr-FR"/>
        </a:p>
      </dgm:t>
    </dgm:pt>
    <dgm:pt modelId="{6BAAEBFC-F57C-4804-8482-78F406662DA3}" type="sibTrans" cxnId="{FD085994-D529-4C44-B482-284C9512BE0A}">
      <dgm:prSet/>
      <dgm:spPr/>
      <dgm:t>
        <a:bodyPr/>
        <a:lstStyle/>
        <a:p>
          <a:endParaRPr lang="fr-FR"/>
        </a:p>
      </dgm:t>
    </dgm:pt>
    <dgm:pt modelId="{2D6A0F9A-115C-4929-8320-82971493253B}">
      <dgm:prSet phldrT="[Texte]" phldr="0" custT="1"/>
      <dgm:spPr/>
      <dgm:t>
        <a:bodyPr/>
        <a:lstStyle/>
        <a:p>
          <a:r>
            <a:rPr lang="fr-CA" sz="1100" noProof="0"/>
            <a:t> </a:t>
          </a:r>
          <a:r>
            <a:rPr lang="fr-CA" sz="1050" noProof="0"/>
            <a:t>Décommissionnement de TRAX prévu pour Q3 2026 </a:t>
          </a:r>
          <a:r>
            <a:rPr lang="fr-CA" sz="800" noProof="0"/>
            <a:t>(fin de contrat Q2 2027)</a:t>
          </a:r>
          <a:endParaRPr lang="fr-CA" sz="1100" noProof="0"/>
        </a:p>
      </dgm:t>
    </dgm:pt>
    <dgm:pt modelId="{39526A2E-AEB4-4FFB-8EFD-1FD97245AD0F}" type="parTrans" cxnId="{0CB8B60B-C8E5-4B29-A717-487849291023}">
      <dgm:prSet/>
      <dgm:spPr/>
      <dgm:t>
        <a:bodyPr/>
        <a:lstStyle/>
        <a:p>
          <a:endParaRPr lang="fr-FR"/>
        </a:p>
      </dgm:t>
    </dgm:pt>
    <dgm:pt modelId="{CF599512-096F-4BAD-8E19-1906E54AB9D7}" type="sibTrans" cxnId="{0CB8B60B-C8E5-4B29-A717-487849291023}">
      <dgm:prSet/>
      <dgm:spPr/>
      <dgm:t>
        <a:bodyPr/>
        <a:lstStyle/>
        <a:p>
          <a:endParaRPr lang="fr-FR"/>
        </a:p>
      </dgm:t>
    </dgm:pt>
    <dgm:pt modelId="{FDCFDBCB-1723-4263-9E8D-4CDA08CC3464}">
      <dgm:prSet phldrT="[Texte]" phldr="0" custT="1"/>
      <dgm:spPr/>
      <dgm:t>
        <a:bodyPr/>
        <a:lstStyle/>
        <a:p>
          <a:r>
            <a:rPr lang="fr-CA" sz="1100" noProof="0"/>
            <a:t> </a:t>
          </a:r>
          <a:r>
            <a:rPr lang="fr-CA" sz="1050" noProof="0"/>
            <a:t>Arrivée de l’intégrateur en Q4 2025</a:t>
          </a:r>
          <a:endParaRPr lang="fr-CA" sz="1100" noProof="0"/>
        </a:p>
      </dgm:t>
    </dgm:pt>
    <dgm:pt modelId="{D084D51A-991E-4526-8F60-E5961EA65067}" type="parTrans" cxnId="{5DB3F213-DC11-48F9-BD63-55A10829F43B}">
      <dgm:prSet/>
      <dgm:spPr/>
      <dgm:t>
        <a:bodyPr/>
        <a:lstStyle/>
        <a:p>
          <a:endParaRPr lang="fr-FR"/>
        </a:p>
      </dgm:t>
    </dgm:pt>
    <dgm:pt modelId="{C7E51DE1-1FC3-4CCE-821C-EEB022487DE1}" type="sibTrans" cxnId="{5DB3F213-DC11-48F9-BD63-55A10829F43B}">
      <dgm:prSet/>
      <dgm:spPr/>
      <dgm:t>
        <a:bodyPr/>
        <a:lstStyle/>
        <a:p>
          <a:endParaRPr lang="fr-FR"/>
        </a:p>
      </dgm:t>
    </dgm:pt>
    <dgm:pt modelId="{A64D2028-6658-47D3-A1E8-4E67ADEEAF5C}">
      <dgm:prSet phldrT="[Texte]" phldr="0" custT="1"/>
      <dgm:spPr/>
      <dgm:t>
        <a:bodyPr/>
        <a:lstStyle/>
        <a:p>
          <a:r>
            <a:rPr lang="fr-CA" sz="1100" i="0" u="none" noProof="0"/>
            <a:t> </a:t>
          </a:r>
          <a:r>
            <a:rPr lang="fr-CA" sz="1050" i="0" u="none" noProof="0"/>
            <a:t>Désuétude du portail Opérations sur les chèques</a:t>
          </a:r>
          <a:endParaRPr lang="fr-CA" sz="1100" i="0" u="none" noProof="0"/>
        </a:p>
      </dgm:t>
    </dgm:pt>
    <dgm:pt modelId="{1FAFE969-64E4-4DB3-BDBA-C55891AF16FC}" type="parTrans" cxnId="{1C85D738-9EA1-449E-87DA-9B128424F494}">
      <dgm:prSet/>
      <dgm:spPr/>
      <dgm:t>
        <a:bodyPr/>
        <a:lstStyle/>
        <a:p>
          <a:endParaRPr lang="fr-FR"/>
        </a:p>
      </dgm:t>
    </dgm:pt>
    <dgm:pt modelId="{F20941E8-D948-402B-92DE-B1EFDBEB0239}" type="sibTrans" cxnId="{1C85D738-9EA1-449E-87DA-9B128424F494}">
      <dgm:prSet/>
      <dgm:spPr/>
      <dgm:t>
        <a:bodyPr/>
        <a:lstStyle/>
        <a:p>
          <a:endParaRPr lang="fr-FR"/>
        </a:p>
      </dgm:t>
    </dgm:pt>
    <dgm:pt modelId="{29521C41-582B-42C5-A488-DAC92D537D9B}">
      <dgm:prSet phldrT="[Texte]" phldr="0" custT="1"/>
      <dgm:spPr/>
      <dgm:t>
        <a:bodyPr/>
        <a:lstStyle/>
        <a:p>
          <a:r>
            <a:rPr lang="fr-CA" sz="1050" b="1" i="1" u="sng" noProof="0"/>
            <a:t>Montée en connaissance </a:t>
          </a:r>
        </a:p>
      </dgm:t>
    </dgm:pt>
    <dgm:pt modelId="{226DEAE1-3464-4ABE-9027-18FB078A12BD}" type="parTrans" cxnId="{E0ACDBC8-FA43-49F1-8424-D3D3E6168A28}">
      <dgm:prSet/>
      <dgm:spPr/>
      <dgm:t>
        <a:bodyPr/>
        <a:lstStyle/>
        <a:p>
          <a:endParaRPr lang="fr-FR"/>
        </a:p>
      </dgm:t>
    </dgm:pt>
    <dgm:pt modelId="{D64E6497-91BB-4891-A122-862F66CBF4E3}" type="sibTrans" cxnId="{E0ACDBC8-FA43-49F1-8424-D3D3E6168A28}">
      <dgm:prSet/>
      <dgm:spPr/>
      <dgm:t>
        <a:bodyPr/>
        <a:lstStyle/>
        <a:p>
          <a:endParaRPr lang="fr-FR"/>
        </a:p>
      </dgm:t>
    </dgm:pt>
    <dgm:pt modelId="{3C32C508-8C0B-4E2B-A7AF-2BDB94E10EA2}">
      <dgm:prSet phldrT="[Texte]" phldr="0" custT="1"/>
      <dgm:spPr/>
      <dgm:t>
        <a:bodyPr/>
        <a:lstStyle/>
        <a:p>
          <a:r>
            <a:rPr lang="fr-CA" sz="1050" i="0" u="none" noProof="0"/>
            <a:t> Définition de règles d’affaires sur un domaine peu ou pas maîtrisé (gestion de fraude et Analyse de frais bancaires)  </a:t>
          </a:r>
        </a:p>
      </dgm:t>
    </dgm:pt>
    <dgm:pt modelId="{F5D3B718-7BA1-4AEB-9E1F-B48B82BD4E94}" type="parTrans" cxnId="{2DDDB768-18F0-4CF2-8000-C8056A517E52}">
      <dgm:prSet/>
      <dgm:spPr/>
      <dgm:t>
        <a:bodyPr/>
        <a:lstStyle/>
        <a:p>
          <a:endParaRPr lang="fr-FR"/>
        </a:p>
      </dgm:t>
    </dgm:pt>
    <dgm:pt modelId="{9CCB0B1C-11E3-4901-B583-37E85B0C9D3A}" type="sibTrans" cxnId="{2DDDB768-18F0-4CF2-8000-C8056A517E52}">
      <dgm:prSet/>
      <dgm:spPr/>
      <dgm:t>
        <a:bodyPr/>
        <a:lstStyle/>
        <a:p>
          <a:endParaRPr lang="fr-FR"/>
        </a:p>
      </dgm:t>
    </dgm:pt>
    <dgm:pt modelId="{D26459A9-9755-4EB4-B90C-EEDA3007B6F0}">
      <dgm:prSet custT="1"/>
      <dgm:spPr/>
      <dgm:t>
        <a:bodyPr/>
        <a:lstStyle/>
        <a:p>
          <a:pPr>
            <a:spcAft>
              <a:spcPct val="15000"/>
            </a:spcAft>
          </a:pPr>
          <a:r>
            <a:rPr lang="fr-CA" sz="1100" kern="1200" noProof="0">
              <a:solidFill>
                <a:srgbClr val="003DA5"/>
              </a:solidFill>
              <a:latin typeface="Calibri" panose="020F0502020204030204"/>
              <a:ea typeface="+mn-ea"/>
              <a:cs typeface="+mn-cs"/>
            </a:rPr>
            <a:t> Projet </a:t>
          </a:r>
          <a:r>
            <a:rPr lang="fr-CA" sz="1100" i="1" kern="1200" noProof="0" err="1"/>
            <a:t>Modernia</a:t>
          </a:r>
          <a:r>
            <a:rPr lang="fr-CA" sz="1100" kern="1200" noProof="0"/>
            <a:t> (VI)</a:t>
          </a:r>
        </a:p>
      </dgm:t>
    </dgm:pt>
    <dgm:pt modelId="{A624CA3D-0393-4116-B657-3B794B6BD0C4}" type="parTrans" cxnId="{876FA11E-0E1F-4DEA-8916-0888E1744E1D}">
      <dgm:prSet/>
      <dgm:spPr/>
      <dgm:t>
        <a:bodyPr/>
        <a:lstStyle/>
        <a:p>
          <a:endParaRPr lang="fr-FR"/>
        </a:p>
      </dgm:t>
    </dgm:pt>
    <dgm:pt modelId="{C3447AAC-384F-47B4-80F5-28B7523DCD0B}" type="sibTrans" cxnId="{876FA11E-0E1F-4DEA-8916-0888E1744E1D}">
      <dgm:prSet/>
      <dgm:spPr/>
      <dgm:t>
        <a:bodyPr/>
        <a:lstStyle/>
        <a:p>
          <a:endParaRPr lang="fr-FR"/>
        </a:p>
      </dgm:t>
    </dgm:pt>
    <dgm:pt modelId="{2FD584B6-C82B-4CF5-A60B-52AA9ABC2052}">
      <dgm:prSet custT="1"/>
      <dgm:spPr/>
      <dgm:t>
        <a:bodyPr/>
        <a:lstStyle/>
        <a:p>
          <a:pPr>
            <a:spcAft>
              <a:spcPct val="15000"/>
            </a:spcAft>
          </a:pPr>
          <a:r>
            <a:rPr lang="fr-CA" sz="1100" kern="1200" noProof="0"/>
            <a:t> Projet </a:t>
          </a:r>
          <a:r>
            <a:rPr lang="fr-CA" sz="1100" i="1" kern="1200" noProof="0"/>
            <a:t>Retrait en ligne</a:t>
          </a:r>
          <a:r>
            <a:rPr lang="fr-CA" sz="1100" kern="1200" noProof="0"/>
            <a:t> (AC)</a:t>
          </a:r>
        </a:p>
      </dgm:t>
    </dgm:pt>
    <dgm:pt modelId="{8FF18FA7-F37C-4A13-B0E6-9F508FB850AC}" type="parTrans" cxnId="{5C0E7249-5BC1-4EB0-8989-722D1F6137C9}">
      <dgm:prSet/>
      <dgm:spPr/>
      <dgm:t>
        <a:bodyPr/>
        <a:lstStyle/>
        <a:p>
          <a:endParaRPr lang="fr-FR"/>
        </a:p>
      </dgm:t>
    </dgm:pt>
    <dgm:pt modelId="{FE860D7F-7DAA-4EAD-A8D6-7AD3760F7469}" type="sibTrans" cxnId="{5C0E7249-5BC1-4EB0-8989-722D1F6137C9}">
      <dgm:prSet/>
      <dgm:spPr/>
      <dgm:t>
        <a:bodyPr/>
        <a:lstStyle/>
        <a:p>
          <a:endParaRPr lang="fr-FR"/>
        </a:p>
      </dgm:t>
    </dgm:pt>
    <dgm:pt modelId="{48987B73-4DC3-49D6-8FAC-A4FF128B2FAC}">
      <dgm:prSet custT="1"/>
      <dgm:spPr/>
      <dgm:t>
        <a:bodyPr/>
        <a:lstStyle/>
        <a:p>
          <a:pPr marL="177800" indent="-177800">
            <a:spcAft>
              <a:spcPct val="15000"/>
            </a:spcAft>
          </a:pPr>
          <a:r>
            <a:rPr lang="fr-CA" sz="1100" i="0" u="none" noProof="0"/>
            <a:t>Projets Finance + qui servira d’intrant pour réviser le modèle opérationnel du CSP bancaire et ainsi l’offre de service</a:t>
          </a:r>
          <a:endParaRPr lang="fr-CA" sz="1200" noProof="0"/>
        </a:p>
      </dgm:t>
    </dgm:pt>
    <dgm:pt modelId="{8DB7B460-D8BB-446F-96BF-7155DC6BD9AE}" type="parTrans" cxnId="{7923BC0A-04E1-4D33-910A-181DA2182002}">
      <dgm:prSet/>
      <dgm:spPr/>
      <dgm:t>
        <a:bodyPr/>
        <a:lstStyle/>
        <a:p>
          <a:endParaRPr lang="fr-FR"/>
        </a:p>
      </dgm:t>
    </dgm:pt>
    <dgm:pt modelId="{755C86C7-7EE6-426B-A6A9-4CB5B5730A18}" type="sibTrans" cxnId="{7923BC0A-04E1-4D33-910A-181DA2182002}">
      <dgm:prSet/>
      <dgm:spPr/>
      <dgm:t>
        <a:bodyPr/>
        <a:lstStyle/>
        <a:p>
          <a:endParaRPr lang="fr-FR"/>
        </a:p>
      </dgm:t>
    </dgm:pt>
    <dgm:pt modelId="{305E09F4-DA75-49F8-8FE6-488B9D9DACEC}">
      <dgm:prSet custT="1"/>
      <dgm:spPr/>
      <dgm:t>
        <a:bodyPr/>
        <a:lstStyle/>
        <a:p>
          <a:pPr algn="l">
            <a:spcAft>
              <a:spcPts val="0"/>
            </a:spcAft>
          </a:pPr>
          <a:r>
            <a:rPr lang="fr-CA" sz="1400" i="1" u="sng" noProof="0"/>
            <a:t>Collaboration des fournisseurs</a:t>
          </a:r>
        </a:p>
      </dgm:t>
    </dgm:pt>
    <dgm:pt modelId="{A9F3CC6D-8013-4081-8711-03823D0ABF97}" type="parTrans" cxnId="{3EC2F1BD-6EA8-44C1-8596-99522B0D810C}">
      <dgm:prSet/>
      <dgm:spPr/>
      <dgm:t>
        <a:bodyPr/>
        <a:lstStyle/>
        <a:p>
          <a:endParaRPr lang="fr-FR"/>
        </a:p>
      </dgm:t>
    </dgm:pt>
    <dgm:pt modelId="{CEFF7AFE-5A85-4D9E-8C1E-020451615FB6}" type="sibTrans" cxnId="{3EC2F1BD-6EA8-44C1-8596-99522B0D810C}">
      <dgm:prSet/>
      <dgm:spPr/>
      <dgm:t>
        <a:bodyPr/>
        <a:lstStyle/>
        <a:p>
          <a:endParaRPr lang="fr-FR"/>
        </a:p>
      </dgm:t>
    </dgm:pt>
    <dgm:pt modelId="{3C0867D7-50FE-4989-A1BC-B1BB26D9C0AC}">
      <dgm:prSet custT="1"/>
      <dgm:spPr/>
      <dgm:t>
        <a:bodyPr/>
        <a:lstStyle/>
        <a:p>
          <a:pPr algn="l">
            <a:spcAft>
              <a:spcPct val="15000"/>
            </a:spcAft>
          </a:pPr>
          <a:r>
            <a:rPr lang="fr-CA" sz="1200" i="0" u="none" noProof="0"/>
            <a:t>Disponibilité des banques pour nous supporter dans l’intégration </a:t>
          </a:r>
          <a:r>
            <a:rPr lang="fr-CA" sz="900" i="0" u="none" noProof="0"/>
            <a:t>(dépendance technique et temporelle )</a:t>
          </a:r>
          <a:endParaRPr lang="fr-CA" sz="1200" i="0" u="none" noProof="0"/>
        </a:p>
      </dgm:t>
    </dgm:pt>
    <dgm:pt modelId="{FE226DCE-8463-4DE3-A53F-90BB76C94D7F}" type="parTrans" cxnId="{8D8DC36F-4E07-47A2-A819-974A4CEA700A}">
      <dgm:prSet/>
      <dgm:spPr/>
      <dgm:t>
        <a:bodyPr/>
        <a:lstStyle/>
        <a:p>
          <a:endParaRPr lang="fr-FR"/>
        </a:p>
      </dgm:t>
    </dgm:pt>
    <dgm:pt modelId="{F232EF70-7063-4228-BB94-A2978BE8EB14}" type="sibTrans" cxnId="{8D8DC36F-4E07-47A2-A819-974A4CEA700A}">
      <dgm:prSet/>
      <dgm:spPr/>
      <dgm:t>
        <a:bodyPr/>
        <a:lstStyle/>
        <a:p>
          <a:endParaRPr lang="fr-FR"/>
        </a:p>
      </dgm:t>
    </dgm:pt>
    <dgm:pt modelId="{0BDDD090-4FD6-485E-B6DD-C83BE3595D70}">
      <dgm:prSet phldrT="[Texte]" phldr="0" custT="1"/>
      <dgm:spPr/>
      <dgm:t>
        <a:bodyPr/>
        <a:lstStyle/>
        <a:p>
          <a:r>
            <a:rPr lang="fr-CA" sz="1050" b="1" i="1" u="sng" noProof="0"/>
            <a:t>Ressources</a:t>
          </a:r>
        </a:p>
      </dgm:t>
    </dgm:pt>
    <dgm:pt modelId="{4A7BA89F-50F5-4FBE-868C-27EAEB7D252F}" type="parTrans" cxnId="{1B091CC1-FF32-4872-A9F5-73DD8D5956F3}">
      <dgm:prSet/>
      <dgm:spPr/>
      <dgm:t>
        <a:bodyPr/>
        <a:lstStyle/>
        <a:p>
          <a:endParaRPr lang="fr-FR"/>
        </a:p>
      </dgm:t>
    </dgm:pt>
    <dgm:pt modelId="{2D0719AE-88A0-4CEB-972D-3E885E1907A1}" type="sibTrans" cxnId="{1B091CC1-FF32-4872-A9F5-73DD8D5956F3}">
      <dgm:prSet/>
      <dgm:spPr/>
      <dgm:t>
        <a:bodyPr/>
        <a:lstStyle/>
        <a:p>
          <a:endParaRPr lang="fr-FR"/>
        </a:p>
      </dgm:t>
    </dgm:pt>
    <dgm:pt modelId="{908AA048-D240-4640-B122-911E355FBAD3}">
      <dgm:prSet phldrT="[Texte]" phldr="0" custT="1"/>
      <dgm:spPr/>
      <dgm:t>
        <a:bodyPr/>
        <a:lstStyle/>
        <a:p>
          <a:r>
            <a:rPr lang="fr-CA" sz="1050" i="0" u="none" noProof="0"/>
            <a:t> Les mêmes ressources sont requises sur tous les sujets dans un délais très court</a:t>
          </a:r>
        </a:p>
      </dgm:t>
    </dgm:pt>
    <dgm:pt modelId="{410C7E6A-635D-40C2-93E5-DC1FF4F34A8F}" type="parTrans" cxnId="{6A49AF4A-F785-4EEF-BEAC-B52BDFA006D0}">
      <dgm:prSet/>
      <dgm:spPr/>
      <dgm:t>
        <a:bodyPr/>
        <a:lstStyle/>
        <a:p>
          <a:endParaRPr lang="fr-FR"/>
        </a:p>
      </dgm:t>
    </dgm:pt>
    <dgm:pt modelId="{6E340BE7-7A64-483A-9384-DFEBC270AE36}" type="sibTrans" cxnId="{6A49AF4A-F785-4EEF-BEAC-B52BDFA006D0}">
      <dgm:prSet/>
      <dgm:spPr/>
      <dgm:t>
        <a:bodyPr/>
        <a:lstStyle/>
        <a:p>
          <a:endParaRPr lang="fr-FR"/>
        </a:p>
      </dgm:t>
    </dgm:pt>
    <dgm:pt modelId="{AE92B48C-88FE-4258-8C30-F85E743B6169}">
      <dgm:prSet custT="1"/>
      <dgm:spPr/>
      <dgm:t>
        <a:bodyPr/>
        <a:lstStyle/>
        <a:p>
          <a:pPr marL="177800" indent="-177800">
            <a:spcAft>
              <a:spcPct val="15000"/>
            </a:spcAft>
          </a:pPr>
          <a:r>
            <a:rPr lang="fr-CA" sz="1100" i="0" u="none" noProof="0"/>
            <a:t>Recette d’intégration CFO de nouvelles filiales  </a:t>
          </a:r>
          <a:endParaRPr lang="fr-CA" sz="1200" noProof="0"/>
        </a:p>
      </dgm:t>
    </dgm:pt>
    <dgm:pt modelId="{E441474D-7490-4A81-AD2D-E2212A5B6A83}" type="parTrans" cxnId="{DEC74AB0-3126-4BE3-BCA6-2172C31A8D49}">
      <dgm:prSet/>
      <dgm:spPr/>
      <dgm:t>
        <a:bodyPr/>
        <a:lstStyle/>
        <a:p>
          <a:endParaRPr lang="fr-FR"/>
        </a:p>
      </dgm:t>
    </dgm:pt>
    <dgm:pt modelId="{7D72AC4A-8A33-40D6-A5FC-5296F54B1CE3}" type="sibTrans" cxnId="{DEC74AB0-3126-4BE3-BCA6-2172C31A8D49}">
      <dgm:prSet/>
      <dgm:spPr/>
      <dgm:t>
        <a:bodyPr/>
        <a:lstStyle/>
        <a:p>
          <a:endParaRPr lang="fr-FR"/>
        </a:p>
      </dgm:t>
    </dgm:pt>
    <dgm:pt modelId="{2E7FBE17-DD86-430B-8F94-3D1C22ECB2C6}">
      <dgm:prSet phldrT="[Texte]" phldr="0" custT="1"/>
      <dgm:spPr/>
      <dgm:t>
        <a:bodyPr/>
        <a:lstStyle/>
        <a:p>
          <a:r>
            <a:rPr lang="fr-CA" sz="1100" noProof="0"/>
            <a:t> Péremption des chèques en circulation 180j</a:t>
          </a:r>
        </a:p>
      </dgm:t>
    </dgm:pt>
    <dgm:pt modelId="{1ACCEE35-5A89-4456-A1BE-D0DD842E51B4}" type="parTrans" cxnId="{343A806D-808E-41BB-82DC-A7C5E129D842}">
      <dgm:prSet/>
      <dgm:spPr/>
      <dgm:t>
        <a:bodyPr/>
        <a:lstStyle/>
        <a:p>
          <a:endParaRPr lang="fr-FR"/>
        </a:p>
      </dgm:t>
    </dgm:pt>
    <dgm:pt modelId="{D14B0A9B-155E-4C4B-A91B-48B303AA8B21}" type="sibTrans" cxnId="{343A806D-808E-41BB-82DC-A7C5E129D842}">
      <dgm:prSet/>
      <dgm:spPr/>
      <dgm:t>
        <a:bodyPr/>
        <a:lstStyle/>
        <a:p>
          <a:endParaRPr lang="fr-FR"/>
        </a:p>
      </dgm:t>
    </dgm:pt>
    <dgm:pt modelId="{B4104B3A-CF80-4B90-BE90-2DB3D8480D98}">
      <dgm:prSet custT="1"/>
      <dgm:spPr/>
      <dgm:t>
        <a:bodyPr/>
        <a:lstStyle/>
        <a:p>
          <a:pPr marL="177800" indent="-177800">
            <a:spcAft>
              <a:spcPct val="15000"/>
            </a:spcAft>
          </a:pPr>
          <a:r>
            <a:rPr lang="fr-CA" sz="1100" noProof="0"/>
            <a:t>Positionnement corpo sur les coordonnées bancaires</a:t>
          </a:r>
        </a:p>
      </dgm:t>
    </dgm:pt>
    <dgm:pt modelId="{FD1D58B1-33C3-4C95-A79A-1BFE7201600D}" type="parTrans" cxnId="{58EEDD11-56AE-4068-B46E-DBD4FD02A8BE}">
      <dgm:prSet/>
      <dgm:spPr/>
      <dgm:t>
        <a:bodyPr/>
        <a:lstStyle/>
        <a:p>
          <a:endParaRPr lang="fr-FR"/>
        </a:p>
      </dgm:t>
    </dgm:pt>
    <dgm:pt modelId="{B6777491-A952-48B2-B3E3-54E057596B05}" type="sibTrans" cxnId="{58EEDD11-56AE-4068-B46E-DBD4FD02A8BE}">
      <dgm:prSet/>
      <dgm:spPr/>
      <dgm:t>
        <a:bodyPr/>
        <a:lstStyle/>
        <a:p>
          <a:endParaRPr lang="fr-FR"/>
        </a:p>
      </dgm:t>
    </dgm:pt>
    <dgm:pt modelId="{AD372ECF-E72D-4A5E-A546-16BBE6DCBC46}" type="pres">
      <dgm:prSet presAssocID="{36378250-E9F2-4976-B1BF-4EC2F5E4C2E5}" presName="theList" presStyleCnt="0">
        <dgm:presLayoutVars>
          <dgm:dir/>
          <dgm:animLvl val="lvl"/>
          <dgm:resizeHandles val="exact"/>
        </dgm:presLayoutVars>
      </dgm:prSet>
      <dgm:spPr/>
    </dgm:pt>
    <dgm:pt modelId="{A282B3B9-8339-4E5F-8ECA-23AD335B2962}" type="pres">
      <dgm:prSet presAssocID="{FB9FBB23-7F05-4071-9548-2FCD9709CADF}" presName="compNode" presStyleCnt="0"/>
      <dgm:spPr/>
    </dgm:pt>
    <dgm:pt modelId="{B543E709-25C8-45CD-8391-FEC2E5447483}" type="pres">
      <dgm:prSet presAssocID="{FB9FBB23-7F05-4071-9548-2FCD9709CADF}" presName="aNode" presStyleLbl="bgShp" presStyleIdx="0" presStyleCnt="2" custLinFactNeighborY="168"/>
      <dgm:spPr/>
    </dgm:pt>
    <dgm:pt modelId="{2657C591-29F4-480D-929F-E32715C99320}" type="pres">
      <dgm:prSet presAssocID="{FB9FBB23-7F05-4071-9548-2FCD9709CADF}" presName="textNode" presStyleLbl="bgShp" presStyleIdx="0" presStyleCnt="2"/>
      <dgm:spPr/>
    </dgm:pt>
    <dgm:pt modelId="{689514F7-0659-46FD-96A9-05A8F34E79DA}" type="pres">
      <dgm:prSet presAssocID="{FB9FBB23-7F05-4071-9548-2FCD9709CADF}" presName="compChildNode" presStyleCnt="0"/>
      <dgm:spPr/>
    </dgm:pt>
    <dgm:pt modelId="{5A27771A-6748-4F5E-A511-01FDFC49B11E}" type="pres">
      <dgm:prSet presAssocID="{FB9FBB23-7F05-4071-9548-2FCD9709CADF}" presName="theInnerList" presStyleCnt="0"/>
      <dgm:spPr/>
    </dgm:pt>
    <dgm:pt modelId="{9C1F1937-2B3F-4647-AB06-AFF4EB2028F3}" type="pres">
      <dgm:prSet presAssocID="{56198977-8708-4B4E-97CE-5D888B2E8C50}" presName="childNode" presStyleLbl="node1" presStyleIdx="0" presStyleCnt="7" custScaleY="177461">
        <dgm:presLayoutVars>
          <dgm:bulletEnabled val="1"/>
        </dgm:presLayoutVars>
      </dgm:prSet>
      <dgm:spPr/>
    </dgm:pt>
    <dgm:pt modelId="{5FA0EB63-F322-45D0-9401-B1C95360EDFB}" type="pres">
      <dgm:prSet presAssocID="{56198977-8708-4B4E-97CE-5D888B2E8C50}" presName="aSpace2" presStyleCnt="0"/>
      <dgm:spPr/>
    </dgm:pt>
    <dgm:pt modelId="{1B8986F3-E8BA-4E42-88D7-8558E072219B}" type="pres">
      <dgm:prSet presAssocID="{9EC88378-892C-4596-8CBB-C91DC1B74EF8}" presName="childNode" presStyleLbl="node1" presStyleIdx="1" presStyleCnt="7" custScaleY="106725">
        <dgm:presLayoutVars>
          <dgm:bulletEnabled val="1"/>
        </dgm:presLayoutVars>
      </dgm:prSet>
      <dgm:spPr/>
    </dgm:pt>
    <dgm:pt modelId="{6B8FD08C-1480-416A-B7D7-90585D4E0943}" type="pres">
      <dgm:prSet presAssocID="{9EC88378-892C-4596-8CBB-C91DC1B74EF8}" presName="aSpace2" presStyleCnt="0"/>
      <dgm:spPr/>
    </dgm:pt>
    <dgm:pt modelId="{6FF6D24A-49A2-4A8F-8BD9-F79DC92507DE}" type="pres">
      <dgm:prSet presAssocID="{0BDDD090-4FD6-485E-B6DD-C83BE3595D70}" presName="childNode" presStyleLbl="node1" presStyleIdx="2" presStyleCnt="7">
        <dgm:presLayoutVars>
          <dgm:bulletEnabled val="1"/>
        </dgm:presLayoutVars>
      </dgm:prSet>
      <dgm:spPr/>
    </dgm:pt>
    <dgm:pt modelId="{3CE0FC68-8E56-4D83-9D27-C69E6C84F77E}" type="pres">
      <dgm:prSet presAssocID="{0BDDD090-4FD6-485E-B6DD-C83BE3595D70}" presName="aSpace2" presStyleCnt="0"/>
      <dgm:spPr/>
    </dgm:pt>
    <dgm:pt modelId="{DB1E0AAA-00EF-47CD-8993-3A7DA558A214}" type="pres">
      <dgm:prSet presAssocID="{29521C41-582B-42C5-A488-DAC92D537D9B}" presName="childNode" presStyleLbl="node1" presStyleIdx="3" presStyleCnt="7" custScaleY="127468">
        <dgm:presLayoutVars>
          <dgm:bulletEnabled val="1"/>
        </dgm:presLayoutVars>
      </dgm:prSet>
      <dgm:spPr/>
    </dgm:pt>
    <dgm:pt modelId="{BF8A7300-6349-4524-A8BE-ED7F738DCA0A}" type="pres">
      <dgm:prSet presAssocID="{FB9FBB23-7F05-4071-9548-2FCD9709CADF}" presName="aSpace" presStyleCnt="0"/>
      <dgm:spPr/>
    </dgm:pt>
    <dgm:pt modelId="{15CA8B54-A770-4A51-9C0B-D4A5D1C8A38A}" type="pres">
      <dgm:prSet presAssocID="{7989E8ED-1613-40C9-9514-4CF9FDF12026}" presName="compNode" presStyleCnt="0"/>
      <dgm:spPr/>
    </dgm:pt>
    <dgm:pt modelId="{918FE070-B45F-4AF3-AEE8-EBCADC6067DB}" type="pres">
      <dgm:prSet presAssocID="{7989E8ED-1613-40C9-9514-4CF9FDF12026}" presName="aNode" presStyleLbl="bgShp" presStyleIdx="1" presStyleCnt="2"/>
      <dgm:spPr/>
    </dgm:pt>
    <dgm:pt modelId="{A0AF23DD-2FC6-4DA8-99DE-2E08FAB8CCEB}" type="pres">
      <dgm:prSet presAssocID="{7989E8ED-1613-40C9-9514-4CF9FDF12026}" presName="textNode" presStyleLbl="bgShp" presStyleIdx="1" presStyleCnt="2"/>
      <dgm:spPr/>
    </dgm:pt>
    <dgm:pt modelId="{8FED6777-910E-4BE0-9D99-5916E859C9AF}" type="pres">
      <dgm:prSet presAssocID="{7989E8ED-1613-40C9-9514-4CF9FDF12026}" presName="compChildNode" presStyleCnt="0"/>
      <dgm:spPr/>
    </dgm:pt>
    <dgm:pt modelId="{32F3A947-DB01-4890-8137-079E45541A60}" type="pres">
      <dgm:prSet presAssocID="{7989E8ED-1613-40C9-9514-4CF9FDF12026}" presName="theInnerList" presStyleCnt="0"/>
      <dgm:spPr/>
    </dgm:pt>
    <dgm:pt modelId="{86883B21-5ED8-481D-B9B2-213122371768}" type="pres">
      <dgm:prSet presAssocID="{08E030B4-79ED-4781-BF76-E2C6B32B5C03}" presName="childNode" presStyleLbl="node1" presStyleIdx="4" presStyleCnt="7" custScaleY="119107">
        <dgm:presLayoutVars>
          <dgm:bulletEnabled val="1"/>
        </dgm:presLayoutVars>
      </dgm:prSet>
      <dgm:spPr/>
    </dgm:pt>
    <dgm:pt modelId="{D4EFE73E-6C42-4DD8-A4F8-82927657D31F}" type="pres">
      <dgm:prSet presAssocID="{08E030B4-79ED-4781-BF76-E2C6B32B5C03}" presName="aSpace2" presStyleCnt="0"/>
      <dgm:spPr/>
    </dgm:pt>
    <dgm:pt modelId="{52DBB6E5-2034-4591-9E09-CE6978EB23A2}" type="pres">
      <dgm:prSet presAssocID="{3FF6D498-3361-4BE7-9F17-51F9322A70AC}" presName="childNode" presStyleLbl="node1" presStyleIdx="5" presStyleCnt="7" custScaleY="255366" custLinFactNeighborX="-786">
        <dgm:presLayoutVars>
          <dgm:bulletEnabled val="1"/>
        </dgm:presLayoutVars>
      </dgm:prSet>
      <dgm:spPr/>
    </dgm:pt>
    <dgm:pt modelId="{435A42DB-5B2A-4346-88C3-2D451F137440}" type="pres">
      <dgm:prSet presAssocID="{3FF6D498-3361-4BE7-9F17-51F9322A70AC}" presName="aSpace2" presStyleCnt="0"/>
      <dgm:spPr/>
    </dgm:pt>
    <dgm:pt modelId="{4A0C77F8-7F63-4DBA-9BB0-54899E4C7012}" type="pres">
      <dgm:prSet presAssocID="{305E09F4-DA75-49F8-8FE6-488B9D9DACEC}" presName="childNode" presStyleLbl="node1" presStyleIdx="6" presStyleCnt="7" custScaleY="145276">
        <dgm:presLayoutVars>
          <dgm:bulletEnabled val="1"/>
        </dgm:presLayoutVars>
      </dgm:prSet>
      <dgm:spPr/>
    </dgm:pt>
  </dgm:ptLst>
  <dgm:cxnLst>
    <dgm:cxn modelId="{2723F101-8BE9-4345-82B5-EAE5403C30A6}" type="presOf" srcId="{AE92B48C-88FE-4258-8C30-F85E743B6169}" destId="{52DBB6E5-2034-4591-9E09-CE6978EB23A2}" srcOrd="0" destOrd="2" presId="urn:microsoft.com/office/officeart/2005/8/layout/lProcess2"/>
    <dgm:cxn modelId="{49A52E09-1AF5-48A1-909A-BA38B6D3CAEF}" type="presOf" srcId="{A64D2028-6658-47D3-A1E8-4E67ADEEAF5C}" destId="{1B8986F3-E8BA-4E42-88D7-8558E072219B}" srcOrd="0" destOrd="1" presId="urn:microsoft.com/office/officeart/2005/8/layout/lProcess2"/>
    <dgm:cxn modelId="{7923BC0A-04E1-4D33-910A-181DA2182002}" srcId="{3FF6D498-3361-4BE7-9F17-51F9322A70AC}" destId="{48987B73-4DC3-49D6-8FAC-A4FF128B2FAC}" srcOrd="0" destOrd="0" parTransId="{8DB7B460-D8BB-446F-96BF-7155DC6BD9AE}" sibTransId="{755C86C7-7EE6-426B-A6A9-4CB5B5730A18}"/>
    <dgm:cxn modelId="{0CB8B60B-C8E5-4B29-A717-487849291023}" srcId="{56198977-8708-4B4E-97CE-5D888B2E8C50}" destId="{2D6A0F9A-115C-4929-8320-82971493253B}" srcOrd="0" destOrd="0" parTransId="{39526A2E-AEB4-4FFB-8EFD-1FD97245AD0F}" sibTransId="{CF599512-096F-4BAD-8E19-1906E54AB9D7}"/>
    <dgm:cxn modelId="{58EEDD11-56AE-4068-B46E-DBD4FD02A8BE}" srcId="{3FF6D498-3361-4BE7-9F17-51F9322A70AC}" destId="{B4104B3A-CF80-4B90-BE90-2DB3D8480D98}" srcOrd="2" destOrd="0" parTransId="{FD1D58B1-33C3-4C95-A79A-1BFE7201600D}" sibTransId="{B6777491-A952-48B2-B3E3-54E057596B05}"/>
    <dgm:cxn modelId="{5DB3F213-DC11-48F9-BD63-55A10829F43B}" srcId="{56198977-8708-4B4E-97CE-5D888B2E8C50}" destId="{FDCFDBCB-1723-4263-9E8D-4CDA08CC3464}" srcOrd="1" destOrd="0" parTransId="{D084D51A-991E-4526-8F60-E5961EA65067}" sibTransId="{C7E51DE1-1FC3-4CCE-821C-EEB022487DE1}"/>
    <dgm:cxn modelId="{E5C2D314-44E0-48BE-B467-6EAAD111A27D}" type="presOf" srcId="{B4104B3A-CF80-4B90-BE90-2DB3D8480D98}" destId="{52DBB6E5-2034-4591-9E09-CE6978EB23A2}" srcOrd="0" destOrd="3" presId="urn:microsoft.com/office/officeart/2005/8/layout/lProcess2"/>
    <dgm:cxn modelId="{11710717-4004-428F-AC38-C5E158DC7AE3}" type="presOf" srcId="{3FF6D498-3361-4BE7-9F17-51F9322A70AC}" destId="{52DBB6E5-2034-4591-9E09-CE6978EB23A2}" srcOrd="0" destOrd="0" presId="urn:microsoft.com/office/officeart/2005/8/layout/lProcess2"/>
    <dgm:cxn modelId="{B995161A-B354-46A9-9DA1-15D37057801B}" type="presOf" srcId="{305E09F4-DA75-49F8-8FE6-488B9D9DACEC}" destId="{4A0C77F8-7F63-4DBA-9BB0-54899E4C7012}" srcOrd="0" destOrd="0" presId="urn:microsoft.com/office/officeart/2005/8/layout/lProcess2"/>
    <dgm:cxn modelId="{876FA11E-0E1F-4DEA-8916-0888E1744E1D}" srcId="{08E030B4-79ED-4781-BF76-E2C6B32B5C03}" destId="{D26459A9-9755-4EB4-B90C-EEDA3007B6F0}" srcOrd="0" destOrd="0" parTransId="{A624CA3D-0393-4116-B657-3B794B6BD0C4}" sibTransId="{C3447AAC-384F-47B4-80F5-28B7523DCD0B}"/>
    <dgm:cxn modelId="{03206F1F-18FF-4690-93ED-5B707F879AB8}" type="presOf" srcId="{FB9FBB23-7F05-4071-9548-2FCD9709CADF}" destId="{2657C591-29F4-480D-929F-E32715C99320}" srcOrd="1" destOrd="0" presId="urn:microsoft.com/office/officeart/2005/8/layout/lProcess2"/>
    <dgm:cxn modelId="{2E1DF62F-D5F2-4F3D-B9F5-50CFEB7ED24B}" type="presOf" srcId="{908AA048-D240-4640-B122-911E355FBAD3}" destId="{6FF6D24A-49A2-4A8F-8BD9-F79DC92507DE}" srcOrd="0" destOrd="1" presId="urn:microsoft.com/office/officeart/2005/8/layout/lProcess2"/>
    <dgm:cxn modelId="{1C85D738-9EA1-449E-87DA-9B128424F494}" srcId="{9EC88378-892C-4596-8CBB-C91DC1B74EF8}" destId="{A64D2028-6658-47D3-A1E8-4E67ADEEAF5C}" srcOrd="0" destOrd="0" parTransId="{1FAFE969-64E4-4DB3-BDBA-C55891AF16FC}" sibTransId="{F20941E8-D948-402B-92DE-B1EFDBEB0239}"/>
    <dgm:cxn modelId="{BD8D1742-91F2-448C-90F4-85464627A8D3}" type="presOf" srcId="{29521C41-582B-42C5-A488-DAC92D537D9B}" destId="{DB1E0AAA-00EF-47CD-8993-3A7DA558A214}" srcOrd="0" destOrd="0" presId="urn:microsoft.com/office/officeart/2005/8/layout/lProcess2"/>
    <dgm:cxn modelId="{EAC25B62-6C4C-4934-AD5D-2EB27616561D}" type="presOf" srcId="{08E030B4-79ED-4781-BF76-E2C6B32B5C03}" destId="{86883B21-5ED8-481D-B9B2-213122371768}" srcOrd="0" destOrd="0" presId="urn:microsoft.com/office/officeart/2005/8/layout/lProcess2"/>
    <dgm:cxn modelId="{2DDDB768-18F0-4CF2-8000-C8056A517E52}" srcId="{29521C41-582B-42C5-A488-DAC92D537D9B}" destId="{3C32C508-8C0B-4E2B-A7AF-2BDB94E10EA2}" srcOrd="0" destOrd="0" parTransId="{F5D3B718-7BA1-4AEB-9E1F-B48B82BD4E94}" sibTransId="{9CCB0B1C-11E3-4901-B583-37E85B0C9D3A}"/>
    <dgm:cxn modelId="{5C0E7249-5BC1-4EB0-8989-722D1F6137C9}" srcId="{08E030B4-79ED-4781-BF76-E2C6B32B5C03}" destId="{2FD584B6-C82B-4CF5-A60B-52AA9ABC2052}" srcOrd="1" destOrd="0" parTransId="{8FF18FA7-F37C-4A13-B0E6-9F508FB850AC}" sibTransId="{FE860D7F-7DAA-4EAD-A8D6-7AD3760F7469}"/>
    <dgm:cxn modelId="{6A49AF4A-F785-4EEF-BEAC-B52BDFA006D0}" srcId="{0BDDD090-4FD6-485E-B6DD-C83BE3595D70}" destId="{908AA048-D240-4640-B122-911E355FBAD3}" srcOrd="0" destOrd="0" parTransId="{410C7E6A-635D-40C2-93E5-DC1FF4F34A8F}" sibTransId="{6E340BE7-7A64-483A-9384-DFEBC270AE36}"/>
    <dgm:cxn modelId="{343A806D-808E-41BB-82DC-A7C5E129D842}" srcId="{56198977-8708-4B4E-97CE-5D888B2E8C50}" destId="{2E7FBE17-DD86-430B-8F94-3D1C22ECB2C6}" srcOrd="2" destOrd="0" parTransId="{1ACCEE35-5A89-4456-A1BE-D0DD842E51B4}" sibTransId="{D14B0A9B-155E-4C4B-A91B-48B303AA8B21}"/>
    <dgm:cxn modelId="{235AED4E-88E2-4B37-B950-5A9461D80684}" type="presOf" srcId="{2D6A0F9A-115C-4929-8320-82971493253B}" destId="{9C1F1937-2B3F-4647-AB06-AFF4EB2028F3}" srcOrd="0" destOrd="1" presId="urn:microsoft.com/office/officeart/2005/8/layout/lProcess2"/>
    <dgm:cxn modelId="{8D8DC36F-4E07-47A2-A819-974A4CEA700A}" srcId="{305E09F4-DA75-49F8-8FE6-488B9D9DACEC}" destId="{3C0867D7-50FE-4989-A1BC-B1BB26D9C0AC}" srcOrd="0" destOrd="0" parTransId="{FE226DCE-8463-4DE3-A53F-90BB76C94D7F}" sibTransId="{F232EF70-7063-4228-BB94-A2978BE8EB14}"/>
    <dgm:cxn modelId="{1401F172-4FCD-4BDD-B659-9F7275620448}" type="presOf" srcId="{2E7FBE17-DD86-430B-8F94-3D1C22ECB2C6}" destId="{9C1F1937-2B3F-4647-AB06-AFF4EB2028F3}" srcOrd="0" destOrd="3" presId="urn:microsoft.com/office/officeart/2005/8/layout/lProcess2"/>
    <dgm:cxn modelId="{679CD776-3E8F-4417-8095-73CB259473E9}" srcId="{FB9FBB23-7F05-4071-9548-2FCD9709CADF}" destId="{9EC88378-892C-4596-8CBB-C91DC1B74EF8}" srcOrd="1" destOrd="0" parTransId="{264685BB-7E70-4E72-B027-367C91787055}" sibTransId="{7915EA01-8AD0-48DF-B8E0-E3BA44786626}"/>
    <dgm:cxn modelId="{FC132981-4D06-4C0B-80D9-05035448CA5C}" type="presOf" srcId="{FB9FBB23-7F05-4071-9548-2FCD9709CADF}" destId="{B543E709-25C8-45CD-8391-FEC2E5447483}" srcOrd="0" destOrd="0" presId="urn:microsoft.com/office/officeart/2005/8/layout/lProcess2"/>
    <dgm:cxn modelId="{AD0DE38C-F2E0-401F-BFAA-BBAC8CA2C005}" type="presOf" srcId="{56198977-8708-4B4E-97CE-5D888B2E8C50}" destId="{9C1F1937-2B3F-4647-AB06-AFF4EB2028F3}" srcOrd="0" destOrd="0" presId="urn:microsoft.com/office/officeart/2005/8/layout/lProcess2"/>
    <dgm:cxn modelId="{445D058F-C8B2-4B4C-B8A3-5A188963C1FE}" type="presOf" srcId="{D26459A9-9755-4EB4-B90C-EEDA3007B6F0}" destId="{86883B21-5ED8-481D-B9B2-213122371768}" srcOrd="0" destOrd="1" presId="urn:microsoft.com/office/officeart/2005/8/layout/lProcess2"/>
    <dgm:cxn modelId="{9B039D92-DF55-40E7-BFAA-E540E2ABDAA6}" type="presOf" srcId="{0BDDD090-4FD6-485E-B6DD-C83BE3595D70}" destId="{6FF6D24A-49A2-4A8F-8BD9-F79DC92507DE}" srcOrd="0" destOrd="0" presId="urn:microsoft.com/office/officeart/2005/8/layout/lProcess2"/>
    <dgm:cxn modelId="{FD085994-D529-4C44-B482-284C9512BE0A}" srcId="{7989E8ED-1613-40C9-9514-4CF9FDF12026}" destId="{3FF6D498-3361-4BE7-9F17-51F9322A70AC}" srcOrd="1" destOrd="0" parTransId="{BB0361BD-9344-4FD0-B68F-60BB99841111}" sibTransId="{6BAAEBFC-F57C-4804-8482-78F406662DA3}"/>
    <dgm:cxn modelId="{20BEF994-1F6B-4B25-8FA6-E843CE95A139}" type="presOf" srcId="{36378250-E9F2-4976-B1BF-4EC2F5E4C2E5}" destId="{AD372ECF-E72D-4A5E-A546-16BBE6DCBC46}" srcOrd="0" destOrd="0" presId="urn:microsoft.com/office/officeart/2005/8/layout/lProcess2"/>
    <dgm:cxn modelId="{F78A1596-9540-458D-ACF3-74DF0561B1E1}" srcId="{7989E8ED-1613-40C9-9514-4CF9FDF12026}" destId="{08E030B4-79ED-4781-BF76-E2C6B32B5C03}" srcOrd="0" destOrd="0" parTransId="{8206CACC-6D8D-4DC0-827A-1B5487AD2B82}" sibTransId="{A91316A0-FA12-4863-9CFB-39AB7943D9CE}"/>
    <dgm:cxn modelId="{CD5F16A8-9B52-4C5C-BE84-7516168757F7}" type="presOf" srcId="{48987B73-4DC3-49D6-8FAC-A4FF128B2FAC}" destId="{52DBB6E5-2034-4591-9E09-CE6978EB23A2}" srcOrd="0" destOrd="1" presId="urn:microsoft.com/office/officeart/2005/8/layout/lProcess2"/>
    <dgm:cxn modelId="{D0D653AB-F5A7-4C23-BB58-D56A0A8C46B6}" type="presOf" srcId="{FDCFDBCB-1723-4263-9E8D-4CDA08CC3464}" destId="{9C1F1937-2B3F-4647-AB06-AFF4EB2028F3}" srcOrd="0" destOrd="2" presId="urn:microsoft.com/office/officeart/2005/8/layout/lProcess2"/>
    <dgm:cxn modelId="{DEC74AB0-3126-4BE3-BCA6-2172C31A8D49}" srcId="{3FF6D498-3361-4BE7-9F17-51F9322A70AC}" destId="{AE92B48C-88FE-4258-8C30-F85E743B6169}" srcOrd="1" destOrd="0" parTransId="{E441474D-7490-4A81-AD2D-E2212A5B6A83}" sibTransId="{7D72AC4A-8A33-40D6-A5FC-5296F54B1CE3}"/>
    <dgm:cxn modelId="{3EC2F1BD-6EA8-44C1-8596-99522B0D810C}" srcId="{7989E8ED-1613-40C9-9514-4CF9FDF12026}" destId="{305E09F4-DA75-49F8-8FE6-488B9D9DACEC}" srcOrd="2" destOrd="0" parTransId="{A9F3CC6D-8013-4081-8711-03823D0ABF97}" sibTransId="{CEFF7AFE-5A85-4D9E-8C1E-020451615FB6}"/>
    <dgm:cxn modelId="{1B091CC1-FF32-4872-A9F5-73DD8D5956F3}" srcId="{FB9FBB23-7F05-4071-9548-2FCD9709CADF}" destId="{0BDDD090-4FD6-485E-B6DD-C83BE3595D70}" srcOrd="2" destOrd="0" parTransId="{4A7BA89F-50F5-4FBE-868C-27EAEB7D252F}" sibTransId="{2D0719AE-88A0-4CEB-972D-3E885E1907A1}"/>
    <dgm:cxn modelId="{06B852C2-4423-41B3-850D-C68182A355B0}" type="presOf" srcId="{2FD584B6-C82B-4CF5-A60B-52AA9ABC2052}" destId="{86883B21-5ED8-481D-B9B2-213122371768}" srcOrd="0" destOrd="2" presId="urn:microsoft.com/office/officeart/2005/8/layout/lProcess2"/>
    <dgm:cxn modelId="{E0ACDBC8-FA43-49F1-8424-D3D3E6168A28}" srcId="{FB9FBB23-7F05-4071-9548-2FCD9709CADF}" destId="{29521C41-582B-42C5-A488-DAC92D537D9B}" srcOrd="3" destOrd="0" parTransId="{226DEAE1-3464-4ABE-9027-18FB078A12BD}" sibTransId="{D64E6497-91BB-4891-A122-862F66CBF4E3}"/>
    <dgm:cxn modelId="{167771CB-FC11-496D-B49D-54624C7F397C}" type="presOf" srcId="{3C0867D7-50FE-4989-A1BC-B1BB26D9C0AC}" destId="{4A0C77F8-7F63-4DBA-9BB0-54899E4C7012}" srcOrd="0" destOrd="1" presId="urn:microsoft.com/office/officeart/2005/8/layout/lProcess2"/>
    <dgm:cxn modelId="{0F644FCD-9FD0-4C84-99C3-F26F5F870FF9}" type="presOf" srcId="{7989E8ED-1613-40C9-9514-4CF9FDF12026}" destId="{A0AF23DD-2FC6-4DA8-99DE-2E08FAB8CCEB}" srcOrd="1" destOrd="0" presId="urn:microsoft.com/office/officeart/2005/8/layout/lProcess2"/>
    <dgm:cxn modelId="{66D60FD0-F80A-474C-83ED-93BB28AFC494}" srcId="{36378250-E9F2-4976-B1BF-4EC2F5E4C2E5}" destId="{FB9FBB23-7F05-4071-9548-2FCD9709CADF}" srcOrd="0" destOrd="0" parTransId="{CD0E2320-2DD8-4BD1-A9BF-BE53E873B505}" sibTransId="{512EC171-3F95-405A-899D-9A433B2886B7}"/>
    <dgm:cxn modelId="{8F7AD2D3-E4BA-4B32-B27C-7F2E586B6414}" type="presOf" srcId="{9EC88378-892C-4596-8CBB-C91DC1B74EF8}" destId="{1B8986F3-E8BA-4E42-88D7-8558E072219B}" srcOrd="0" destOrd="0" presId="urn:microsoft.com/office/officeart/2005/8/layout/lProcess2"/>
    <dgm:cxn modelId="{F92D78DC-DBFE-4478-AED2-74082640F743}" srcId="{FB9FBB23-7F05-4071-9548-2FCD9709CADF}" destId="{56198977-8708-4B4E-97CE-5D888B2E8C50}" srcOrd="0" destOrd="0" parTransId="{FF41CCAD-E433-45C1-A728-CD5C58ED29C8}" sibTransId="{F1E0A0FF-6571-4DED-8B1A-B779E5F0B424}"/>
    <dgm:cxn modelId="{C5E325E1-E821-43C3-B4DA-653FC881462B}" srcId="{36378250-E9F2-4976-B1BF-4EC2F5E4C2E5}" destId="{7989E8ED-1613-40C9-9514-4CF9FDF12026}" srcOrd="1" destOrd="0" parTransId="{8B17DC25-E663-40FE-A59E-1ABDBF56A47C}" sibTransId="{7EED467D-E74C-4880-8B01-0EF9CEBAA620}"/>
    <dgm:cxn modelId="{A7D87FE3-CEF5-4533-9E0E-086D26996774}" type="presOf" srcId="{7989E8ED-1613-40C9-9514-4CF9FDF12026}" destId="{918FE070-B45F-4AF3-AEE8-EBCADC6067DB}" srcOrd="0" destOrd="0" presId="urn:microsoft.com/office/officeart/2005/8/layout/lProcess2"/>
    <dgm:cxn modelId="{91D6A9E4-A16E-4C7F-92EF-117EFB8474DD}" type="presOf" srcId="{3C32C508-8C0B-4E2B-A7AF-2BDB94E10EA2}" destId="{DB1E0AAA-00EF-47CD-8993-3A7DA558A214}" srcOrd="0" destOrd="1" presId="urn:microsoft.com/office/officeart/2005/8/layout/lProcess2"/>
    <dgm:cxn modelId="{822CC032-F6B6-4812-B558-1F0F5182580A}" type="presParOf" srcId="{AD372ECF-E72D-4A5E-A546-16BBE6DCBC46}" destId="{A282B3B9-8339-4E5F-8ECA-23AD335B2962}" srcOrd="0" destOrd="0" presId="urn:microsoft.com/office/officeart/2005/8/layout/lProcess2"/>
    <dgm:cxn modelId="{D577FA38-F36C-4A5F-B396-19523288D25C}" type="presParOf" srcId="{A282B3B9-8339-4E5F-8ECA-23AD335B2962}" destId="{B543E709-25C8-45CD-8391-FEC2E5447483}" srcOrd="0" destOrd="0" presId="urn:microsoft.com/office/officeart/2005/8/layout/lProcess2"/>
    <dgm:cxn modelId="{E13C271E-EAF1-436E-B5FC-673991347CF0}" type="presParOf" srcId="{A282B3B9-8339-4E5F-8ECA-23AD335B2962}" destId="{2657C591-29F4-480D-929F-E32715C99320}" srcOrd="1" destOrd="0" presId="urn:microsoft.com/office/officeart/2005/8/layout/lProcess2"/>
    <dgm:cxn modelId="{8F45CEBD-D9E5-4C53-84E2-3600E603D91D}" type="presParOf" srcId="{A282B3B9-8339-4E5F-8ECA-23AD335B2962}" destId="{689514F7-0659-46FD-96A9-05A8F34E79DA}" srcOrd="2" destOrd="0" presId="urn:microsoft.com/office/officeart/2005/8/layout/lProcess2"/>
    <dgm:cxn modelId="{6D9F5AEB-3B90-4D12-9579-EF9CF52E3F29}" type="presParOf" srcId="{689514F7-0659-46FD-96A9-05A8F34E79DA}" destId="{5A27771A-6748-4F5E-A511-01FDFC49B11E}" srcOrd="0" destOrd="0" presId="urn:microsoft.com/office/officeart/2005/8/layout/lProcess2"/>
    <dgm:cxn modelId="{6D458B47-9964-45E2-A457-23B57669099B}" type="presParOf" srcId="{5A27771A-6748-4F5E-A511-01FDFC49B11E}" destId="{9C1F1937-2B3F-4647-AB06-AFF4EB2028F3}" srcOrd="0" destOrd="0" presId="urn:microsoft.com/office/officeart/2005/8/layout/lProcess2"/>
    <dgm:cxn modelId="{B7813EBA-558B-4CDE-8553-DDCC6075D166}" type="presParOf" srcId="{5A27771A-6748-4F5E-A511-01FDFC49B11E}" destId="{5FA0EB63-F322-45D0-9401-B1C95360EDFB}" srcOrd="1" destOrd="0" presId="urn:microsoft.com/office/officeart/2005/8/layout/lProcess2"/>
    <dgm:cxn modelId="{E0B45AEA-6A91-49B6-8736-108993F7F6ED}" type="presParOf" srcId="{5A27771A-6748-4F5E-A511-01FDFC49B11E}" destId="{1B8986F3-E8BA-4E42-88D7-8558E072219B}" srcOrd="2" destOrd="0" presId="urn:microsoft.com/office/officeart/2005/8/layout/lProcess2"/>
    <dgm:cxn modelId="{972FFF11-B7E9-47F8-9AEB-0120CD303CE7}" type="presParOf" srcId="{5A27771A-6748-4F5E-A511-01FDFC49B11E}" destId="{6B8FD08C-1480-416A-B7D7-90585D4E0943}" srcOrd="3" destOrd="0" presId="urn:microsoft.com/office/officeart/2005/8/layout/lProcess2"/>
    <dgm:cxn modelId="{0D36DB60-EED8-4C0D-9D7F-ECF752ABE7C3}" type="presParOf" srcId="{5A27771A-6748-4F5E-A511-01FDFC49B11E}" destId="{6FF6D24A-49A2-4A8F-8BD9-F79DC92507DE}" srcOrd="4" destOrd="0" presId="urn:microsoft.com/office/officeart/2005/8/layout/lProcess2"/>
    <dgm:cxn modelId="{3B6EE491-1040-473E-AB67-F9ED45246095}" type="presParOf" srcId="{5A27771A-6748-4F5E-A511-01FDFC49B11E}" destId="{3CE0FC68-8E56-4D83-9D27-C69E6C84F77E}" srcOrd="5" destOrd="0" presId="urn:microsoft.com/office/officeart/2005/8/layout/lProcess2"/>
    <dgm:cxn modelId="{252165F4-0C04-422B-B027-FC1E690F3EAC}" type="presParOf" srcId="{5A27771A-6748-4F5E-A511-01FDFC49B11E}" destId="{DB1E0AAA-00EF-47CD-8993-3A7DA558A214}" srcOrd="6" destOrd="0" presId="urn:microsoft.com/office/officeart/2005/8/layout/lProcess2"/>
    <dgm:cxn modelId="{C4913E93-20CB-4E65-82DC-7C4E5D9217F4}" type="presParOf" srcId="{AD372ECF-E72D-4A5E-A546-16BBE6DCBC46}" destId="{BF8A7300-6349-4524-A8BE-ED7F738DCA0A}" srcOrd="1" destOrd="0" presId="urn:microsoft.com/office/officeart/2005/8/layout/lProcess2"/>
    <dgm:cxn modelId="{3B410441-8669-4C27-86A2-2DD1DE4AAB5A}" type="presParOf" srcId="{AD372ECF-E72D-4A5E-A546-16BBE6DCBC46}" destId="{15CA8B54-A770-4A51-9C0B-D4A5D1C8A38A}" srcOrd="2" destOrd="0" presId="urn:microsoft.com/office/officeart/2005/8/layout/lProcess2"/>
    <dgm:cxn modelId="{FC83DFDE-9B06-4BDC-A661-86AE5E7FEA59}" type="presParOf" srcId="{15CA8B54-A770-4A51-9C0B-D4A5D1C8A38A}" destId="{918FE070-B45F-4AF3-AEE8-EBCADC6067DB}" srcOrd="0" destOrd="0" presId="urn:microsoft.com/office/officeart/2005/8/layout/lProcess2"/>
    <dgm:cxn modelId="{9C5B90AA-1204-4A3B-95D7-46C2CC224AEE}" type="presParOf" srcId="{15CA8B54-A770-4A51-9C0B-D4A5D1C8A38A}" destId="{A0AF23DD-2FC6-4DA8-99DE-2E08FAB8CCEB}" srcOrd="1" destOrd="0" presId="urn:microsoft.com/office/officeart/2005/8/layout/lProcess2"/>
    <dgm:cxn modelId="{B4D43630-D16E-4666-A657-31F6EE7213FE}" type="presParOf" srcId="{15CA8B54-A770-4A51-9C0B-D4A5D1C8A38A}" destId="{8FED6777-910E-4BE0-9D99-5916E859C9AF}" srcOrd="2" destOrd="0" presId="urn:microsoft.com/office/officeart/2005/8/layout/lProcess2"/>
    <dgm:cxn modelId="{D2C8F6C1-0528-4E68-B050-8C3D46F171B1}" type="presParOf" srcId="{8FED6777-910E-4BE0-9D99-5916E859C9AF}" destId="{32F3A947-DB01-4890-8137-079E45541A60}" srcOrd="0" destOrd="0" presId="urn:microsoft.com/office/officeart/2005/8/layout/lProcess2"/>
    <dgm:cxn modelId="{F6EDEF5B-2138-4D3A-8698-0AF7C787AF7C}" type="presParOf" srcId="{32F3A947-DB01-4890-8137-079E45541A60}" destId="{86883B21-5ED8-481D-B9B2-213122371768}" srcOrd="0" destOrd="0" presId="urn:microsoft.com/office/officeart/2005/8/layout/lProcess2"/>
    <dgm:cxn modelId="{95D73E60-3458-4ED6-B3F4-5EE1AD0029EA}" type="presParOf" srcId="{32F3A947-DB01-4890-8137-079E45541A60}" destId="{D4EFE73E-6C42-4DD8-A4F8-82927657D31F}" srcOrd="1" destOrd="0" presId="urn:microsoft.com/office/officeart/2005/8/layout/lProcess2"/>
    <dgm:cxn modelId="{323B34E6-4152-4E19-B494-A0911A82D901}" type="presParOf" srcId="{32F3A947-DB01-4890-8137-079E45541A60}" destId="{52DBB6E5-2034-4591-9E09-CE6978EB23A2}" srcOrd="2" destOrd="0" presId="urn:microsoft.com/office/officeart/2005/8/layout/lProcess2"/>
    <dgm:cxn modelId="{E1BB9D84-954F-415A-B367-90D306205C16}" type="presParOf" srcId="{32F3A947-DB01-4890-8137-079E45541A60}" destId="{435A42DB-5B2A-4346-88C3-2D451F137440}" srcOrd="3" destOrd="0" presId="urn:microsoft.com/office/officeart/2005/8/layout/lProcess2"/>
    <dgm:cxn modelId="{E01F43DD-CCE3-4AFA-8010-822A6A18F38F}" type="presParOf" srcId="{32F3A947-DB01-4890-8137-079E45541A60}" destId="{4A0C77F8-7F63-4DBA-9BB0-54899E4C7012}" srcOrd="4"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7E5819B-62B7-4558-8629-6251F6B353F8}" type="doc">
      <dgm:prSet loTypeId="urn:microsoft.com/office/officeart/2005/8/layout/arrow2" loCatId="process" qsTypeId="urn:microsoft.com/office/officeart/2005/8/quickstyle/3d1" qsCatId="3D" csTypeId="urn:microsoft.com/office/officeart/2005/8/colors/accent1_2" csCatId="accent1" phldr="1"/>
      <dgm:spPr/>
      <dgm:t>
        <a:bodyPr/>
        <a:lstStyle/>
        <a:p>
          <a:endParaRPr lang="fr-FR"/>
        </a:p>
      </dgm:t>
    </dgm:pt>
    <dgm:pt modelId="{447E3A2B-AF65-4077-87C4-56523FCE1B71}">
      <dgm:prSet phldrT="[Texte]" phldr="0" custT="1"/>
      <dgm:spPr/>
      <dgm:t>
        <a:bodyPr/>
        <a:lstStyle/>
        <a:p>
          <a:r>
            <a:rPr lang="fr-FR" sz="1400"/>
            <a:t>Appuis fort de la direction &amp; du sponsor</a:t>
          </a:r>
        </a:p>
      </dgm:t>
    </dgm:pt>
    <dgm:pt modelId="{B858BA89-E39B-40AA-A8B3-F21DB6EEB7B8}" type="parTrans" cxnId="{6A89CB6A-436B-4BA8-8080-A3895A395267}">
      <dgm:prSet/>
      <dgm:spPr/>
      <dgm:t>
        <a:bodyPr/>
        <a:lstStyle/>
        <a:p>
          <a:endParaRPr lang="fr-FR"/>
        </a:p>
      </dgm:t>
    </dgm:pt>
    <dgm:pt modelId="{8280F36C-6085-45DE-9F00-6849A01C8554}" type="sibTrans" cxnId="{6A89CB6A-436B-4BA8-8080-A3895A395267}">
      <dgm:prSet/>
      <dgm:spPr/>
      <dgm:t>
        <a:bodyPr/>
        <a:lstStyle/>
        <a:p>
          <a:endParaRPr lang="fr-FR"/>
        </a:p>
      </dgm:t>
    </dgm:pt>
    <dgm:pt modelId="{CEED4D4C-C577-49F5-84D0-55C6EAC831FD}">
      <dgm:prSet phldrT="[Texte]" phldr="0" custT="1"/>
      <dgm:spPr/>
      <dgm:t>
        <a:bodyPr/>
        <a:lstStyle/>
        <a:p>
          <a:pPr algn="l"/>
          <a:r>
            <a:rPr lang="fr-FR" sz="1400"/>
            <a:t>Alignement corporatif à l’utilisation des outils du bancaires par tous les partenaires</a:t>
          </a:r>
        </a:p>
      </dgm:t>
    </dgm:pt>
    <dgm:pt modelId="{BF63D278-4325-4029-9973-F4BA12ACB449}" type="parTrans" cxnId="{D0A12CBA-202F-4A72-AC8E-43917D5BE72E}">
      <dgm:prSet/>
      <dgm:spPr/>
      <dgm:t>
        <a:bodyPr/>
        <a:lstStyle/>
        <a:p>
          <a:endParaRPr lang="fr-FR"/>
        </a:p>
      </dgm:t>
    </dgm:pt>
    <dgm:pt modelId="{3E00EBF2-93CC-48B5-9FEC-4365D3250502}" type="sibTrans" cxnId="{D0A12CBA-202F-4A72-AC8E-43917D5BE72E}">
      <dgm:prSet/>
      <dgm:spPr/>
      <dgm:t>
        <a:bodyPr/>
        <a:lstStyle/>
        <a:p>
          <a:endParaRPr lang="fr-FR"/>
        </a:p>
      </dgm:t>
    </dgm:pt>
    <dgm:pt modelId="{ABE6A0D3-8CD7-4F27-B2DF-7E96AE9C4F16}">
      <dgm:prSet phldrT="[Texte]" phldr="0" custT="1"/>
      <dgm:spPr/>
      <dgm:t>
        <a:bodyPr/>
        <a:lstStyle/>
        <a:p>
          <a:r>
            <a:rPr lang="fr-FR" sz="1400"/>
            <a:t>Message aligné entre Bancaire &amp; Tréso</a:t>
          </a:r>
        </a:p>
      </dgm:t>
    </dgm:pt>
    <dgm:pt modelId="{F6A25272-ED33-445C-82E1-BE2FAED0C90B}" type="parTrans" cxnId="{8A9F56D0-E0F1-43B1-BD37-5B91038C52CF}">
      <dgm:prSet/>
      <dgm:spPr/>
      <dgm:t>
        <a:bodyPr/>
        <a:lstStyle/>
        <a:p>
          <a:endParaRPr lang="fr-FR"/>
        </a:p>
      </dgm:t>
    </dgm:pt>
    <dgm:pt modelId="{0D07B94D-1F10-438A-B017-8950CDE7BAF2}" type="sibTrans" cxnId="{8A9F56D0-E0F1-43B1-BD37-5B91038C52CF}">
      <dgm:prSet/>
      <dgm:spPr/>
      <dgm:t>
        <a:bodyPr/>
        <a:lstStyle/>
        <a:p>
          <a:endParaRPr lang="fr-FR"/>
        </a:p>
      </dgm:t>
    </dgm:pt>
    <dgm:pt modelId="{6FAC001B-BABD-42D4-9BE3-2A352F5AE6EC}">
      <dgm:prSet phldrT="[Texte]" phldr="0" custT="1"/>
      <dgm:spPr/>
      <dgm:t>
        <a:bodyPr/>
        <a:lstStyle/>
        <a:p>
          <a:r>
            <a:rPr lang="fr-FR" sz="1400"/>
            <a:t>Une adoption de la solution par les utilisateurs (GDC)</a:t>
          </a:r>
        </a:p>
      </dgm:t>
    </dgm:pt>
    <dgm:pt modelId="{59585B3B-7D5D-4833-96B6-67389D4EB5BB}" type="parTrans" cxnId="{E968D4A1-4FB6-4C2D-9AFE-4AA77BD183DE}">
      <dgm:prSet/>
      <dgm:spPr/>
      <dgm:t>
        <a:bodyPr/>
        <a:lstStyle/>
        <a:p>
          <a:endParaRPr lang="fr-FR"/>
        </a:p>
      </dgm:t>
    </dgm:pt>
    <dgm:pt modelId="{C7FF2DDE-8934-46DF-B9D3-CB9FA925F993}" type="sibTrans" cxnId="{E968D4A1-4FB6-4C2D-9AFE-4AA77BD183DE}">
      <dgm:prSet/>
      <dgm:spPr/>
      <dgm:t>
        <a:bodyPr/>
        <a:lstStyle/>
        <a:p>
          <a:endParaRPr lang="fr-FR"/>
        </a:p>
      </dgm:t>
    </dgm:pt>
    <dgm:pt modelId="{4386E0D5-56B7-4F44-81D4-18AE0F19C072}" type="pres">
      <dgm:prSet presAssocID="{D7E5819B-62B7-4558-8629-6251F6B353F8}" presName="arrowDiagram" presStyleCnt="0">
        <dgm:presLayoutVars>
          <dgm:chMax val="5"/>
          <dgm:dir/>
          <dgm:resizeHandles val="exact"/>
        </dgm:presLayoutVars>
      </dgm:prSet>
      <dgm:spPr/>
    </dgm:pt>
    <dgm:pt modelId="{8A1B6C82-F35A-4212-BDC9-9FECF6D79E2C}" type="pres">
      <dgm:prSet presAssocID="{D7E5819B-62B7-4558-8629-6251F6B353F8}" presName="arrow" presStyleLbl="bgShp" presStyleIdx="0" presStyleCnt="1"/>
      <dgm:spPr/>
    </dgm:pt>
    <dgm:pt modelId="{88A8BB85-66A9-44F0-8E22-B44606D06EDA}" type="pres">
      <dgm:prSet presAssocID="{D7E5819B-62B7-4558-8629-6251F6B353F8}" presName="arrowDiagram4" presStyleCnt="0"/>
      <dgm:spPr/>
    </dgm:pt>
    <dgm:pt modelId="{F61A4EEC-7473-4C6C-8824-35052B04CA0D}" type="pres">
      <dgm:prSet presAssocID="{447E3A2B-AF65-4077-87C4-56523FCE1B71}" presName="bullet4a" presStyleLbl="node1" presStyleIdx="0" presStyleCnt="4"/>
      <dgm:spPr/>
    </dgm:pt>
    <dgm:pt modelId="{4CD35C1D-49C4-49FF-88D9-575B102B7E1E}" type="pres">
      <dgm:prSet presAssocID="{447E3A2B-AF65-4077-87C4-56523FCE1B71}" presName="textBox4a" presStyleLbl="revTx" presStyleIdx="0" presStyleCnt="4" custScaleX="152577" custScaleY="76876" custLinFactNeighborX="15772" custLinFactNeighborY="0">
        <dgm:presLayoutVars>
          <dgm:bulletEnabled val="1"/>
        </dgm:presLayoutVars>
      </dgm:prSet>
      <dgm:spPr/>
    </dgm:pt>
    <dgm:pt modelId="{85752297-A7C5-4BDA-8EB9-9A5B681BC468}" type="pres">
      <dgm:prSet presAssocID="{CEED4D4C-C577-49F5-84D0-55C6EAC831FD}" presName="bullet4b" presStyleLbl="node1" presStyleIdx="1" presStyleCnt="4"/>
      <dgm:spPr/>
    </dgm:pt>
    <dgm:pt modelId="{9B200CB9-A6E8-4989-956F-7423D43869A3}" type="pres">
      <dgm:prSet presAssocID="{CEED4D4C-C577-49F5-84D0-55C6EAC831FD}" presName="textBox4b" presStyleLbl="revTx" presStyleIdx="1" presStyleCnt="4" custScaleX="171930" custScaleY="83561" custLinFactNeighborX="22091">
        <dgm:presLayoutVars>
          <dgm:bulletEnabled val="1"/>
        </dgm:presLayoutVars>
      </dgm:prSet>
      <dgm:spPr/>
    </dgm:pt>
    <dgm:pt modelId="{F8E671B0-70BB-4827-A3E6-CE2DDCCB4DD2}" type="pres">
      <dgm:prSet presAssocID="{ABE6A0D3-8CD7-4F27-B2DF-7E96AE9C4F16}" presName="bullet4c" presStyleLbl="node1" presStyleIdx="2" presStyleCnt="4"/>
      <dgm:spPr/>
    </dgm:pt>
    <dgm:pt modelId="{AD6C28C7-00DB-4674-A3D0-8C492F6A6B50}" type="pres">
      <dgm:prSet presAssocID="{ABE6A0D3-8CD7-4F27-B2DF-7E96AE9C4F16}" presName="textBox4c" presStyleLbl="revTx" presStyleIdx="2" presStyleCnt="4" custScaleX="122358" custScaleY="80498">
        <dgm:presLayoutVars>
          <dgm:bulletEnabled val="1"/>
        </dgm:presLayoutVars>
      </dgm:prSet>
      <dgm:spPr/>
    </dgm:pt>
    <dgm:pt modelId="{59F0E601-E9CD-4EBE-8714-069A2ED665A2}" type="pres">
      <dgm:prSet presAssocID="{6FAC001B-BABD-42D4-9BE3-2A352F5AE6EC}" presName="bullet4d" presStyleLbl="node1" presStyleIdx="3" presStyleCnt="4"/>
      <dgm:spPr/>
    </dgm:pt>
    <dgm:pt modelId="{F27416A0-F4D8-4D64-A535-0CD3F524409C}" type="pres">
      <dgm:prSet presAssocID="{6FAC001B-BABD-42D4-9BE3-2A352F5AE6EC}" presName="textBox4d" presStyleLbl="revTx" presStyleIdx="3" presStyleCnt="4" custScaleX="179876" custScaleY="87655" custLinFactNeighborX="19521" custLinFactNeighborY="2588">
        <dgm:presLayoutVars>
          <dgm:bulletEnabled val="1"/>
        </dgm:presLayoutVars>
      </dgm:prSet>
      <dgm:spPr/>
    </dgm:pt>
  </dgm:ptLst>
  <dgm:cxnLst>
    <dgm:cxn modelId="{6A89CB6A-436B-4BA8-8080-A3895A395267}" srcId="{D7E5819B-62B7-4558-8629-6251F6B353F8}" destId="{447E3A2B-AF65-4077-87C4-56523FCE1B71}" srcOrd="0" destOrd="0" parTransId="{B858BA89-E39B-40AA-A8B3-F21DB6EEB7B8}" sibTransId="{8280F36C-6085-45DE-9F00-6849A01C8554}"/>
    <dgm:cxn modelId="{83C80D77-BCA9-409A-904F-754446E089DF}" type="presOf" srcId="{CEED4D4C-C577-49F5-84D0-55C6EAC831FD}" destId="{9B200CB9-A6E8-4989-956F-7423D43869A3}" srcOrd="0" destOrd="0" presId="urn:microsoft.com/office/officeart/2005/8/layout/arrow2"/>
    <dgm:cxn modelId="{FDB1DF86-7154-4505-BFFE-BDE2375690FE}" type="presOf" srcId="{447E3A2B-AF65-4077-87C4-56523FCE1B71}" destId="{4CD35C1D-49C4-49FF-88D9-575B102B7E1E}" srcOrd="0" destOrd="0" presId="urn:microsoft.com/office/officeart/2005/8/layout/arrow2"/>
    <dgm:cxn modelId="{37F8169B-8BFD-4828-B5CB-C4DA87BA5CA4}" type="presOf" srcId="{6FAC001B-BABD-42D4-9BE3-2A352F5AE6EC}" destId="{F27416A0-F4D8-4D64-A535-0CD3F524409C}" srcOrd="0" destOrd="0" presId="urn:microsoft.com/office/officeart/2005/8/layout/arrow2"/>
    <dgm:cxn modelId="{E968D4A1-4FB6-4C2D-9AFE-4AA77BD183DE}" srcId="{D7E5819B-62B7-4558-8629-6251F6B353F8}" destId="{6FAC001B-BABD-42D4-9BE3-2A352F5AE6EC}" srcOrd="3" destOrd="0" parTransId="{59585B3B-7D5D-4833-96B6-67389D4EB5BB}" sibTransId="{C7FF2DDE-8934-46DF-B9D3-CB9FA925F993}"/>
    <dgm:cxn modelId="{9AE858B1-14A5-48CB-8147-4EAC98CB1458}" type="presOf" srcId="{ABE6A0D3-8CD7-4F27-B2DF-7E96AE9C4F16}" destId="{AD6C28C7-00DB-4674-A3D0-8C492F6A6B50}" srcOrd="0" destOrd="0" presId="urn:microsoft.com/office/officeart/2005/8/layout/arrow2"/>
    <dgm:cxn modelId="{D0A12CBA-202F-4A72-AC8E-43917D5BE72E}" srcId="{D7E5819B-62B7-4558-8629-6251F6B353F8}" destId="{CEED4D4C-C577-49F5-84D0-55C6EAC831FD}" srcOrd="1" destOrd="0" parTransId="{BF63D278-4325-4029-9973-F4BA12ACB449}" sibTransId="{3E00EBF2-93CC-48B5-9FEC-4365D3250502}"/>
    <dgm:cxn modelId="{8A9F56D0-E0F1-43B1-BD37-5B91038C52CF}" srcId="{D7E5819B-62B7-4558-8629-6251F6B353F8}" destId="{ABE6A0D3-8CD7-4F27-B2DF-7E96AE9C4F16}" srcOrd="2" destOrd="0" parTransId="{F6A25272-ED33-445C-82E1-BE2FAED0C90B}" sibTransId="{0D07B94D-1F10-438A-B017-8950CDE7BAF2}"/>
    <dgm:cxn modelId="{FEFB99F3-9D36-46BF-9290-F0BC2EE13D9D}" type="presOf" srcId="{D7E5819B-62B7-4558-8629-6251F6B353F8}" destId="{4386E0D5-56B7-4F44-81D4-18AE0F19C072}" srcOrd="0" destOrd="0" presId="urn:microsoft.com/office/officeart/2005/8/layout/arrow2"/>
    <dgm:cxn modelId="{8C8CF9F4-BF71-43C1-878A-C315348DF72D}" type="presParOf" srcId="{4386E0D5-56B7-4F44-81D4-18AE0F19C072}" destId="{8A1B6C82-F35A-4212-BDC9-9FECF6D79E2C}" srcOrd="0" destOrd="0" presId="urn:microsoft.com/office/officeart/2005/8/layout/arrow2"/>
    <dgm:cxn modelId="{B3560D11-AE30-45B4-BF93-0109FB58D4F5}" type="presParOf" srcId="{4386E0D5-56B7-4F44-81D4-18AE0F19C072}" destId="{88A8BB85-66A9-44F0-8E22-B44606D06EDA}" srcOrd="1" destOrd="0" presId="urn:microsoft.com/office/officeart/2005/8/layout/arrow2"/>
    <dgm:cxn modelId="{5286414A-C50E-4A91-89E0-919363EB82CB}" type="presParOf" srcId="{88A8BB85-66A9-44F0-8E22-B44606D06EDA}" destId="{F61A4EEC-7473-4C6C-8824-35052B04CA0D}" srcOrd="0" destOrd="0" presId="urn:microsoft.com/office/officeart/2005/8/layout/arrow2"/>
    <dgm:cxn modelId="{F130C897-77C5-4650-98A2-B12DD1990630}" type="presParOf" srcId="{88A8BB85-66A9-44F0-8E22-B44606D06EDA}" destId="{4CD35C1D-49C4-49FF-88D9-575B102B7E1E}" srcOrd="1" destOrd="0" presId="urn:microsoft.com/office/officeart/2005/8/layout/arrow2"/>
    <dgm:cxn modelId="{7E75A782-0998-4975-B3F8-3F7A759A164C}" type="presParOf" srcId="{88A8BB85-66A9-44F0-8E22-B44606D06EDA}" destId="{85752297-A7C5-4BDA-8EB9-9A5B681BC468}" srcOrd="2" destOrd="0" presId="urn:microsoft.com/office/officeart/2005/8/layout/arrow2"/>
    <dgm:cxn modelId="{5E2C1408-5858-4DAA-8322-50DFDAC8B79E}" type="presParOf" srcId="{88A8BB85-66A9-44F0-8E22-B44606D06EDA}" destId="{9B200CB9-A6E8-4989-956F-7423D43869A3}" srcOrd="3" destOrd="0" presId="urn:microsoft.com/office/officeart/2005/8/layout/arrow2"/>
    <dgm:cxn modelId="{4B0B3DAB-AB24-4C5C-9DA6-52DA33027F6A}" type="presParOf" srcId="{88A8BB85-66A9-44F0-8E22-B44606D06EDA}" destId="{F8E671B0-70BB-4827-A3E6-CE2DDCCB4DD2}" srcOrd="4" destOrd="0" presId="urn:microsoft.com/office/officeart/2005/8/layout/arrow2"/>
    <dgm:cxn modelId="{5E007F68-E481-4BAC-BBC0-3929E9A10275}" type="presParOf" srcId="{88A8BB85-66A9-44F0-8E22-B44606D06EDA}" destId="{AD6C28C7-00DB-4674-A3D0-8C492F6A6B50}" srcOrd="5" destOrd="0" presId="urn:microsoft.com/office/officeart/2005/8/layout/arrow2"/>
    <dgm:cxn modelId="{EC675327-C71F-47D7-8551-CBEFAF31450C}" type="presParOf" srcId="{88A8BB85-66A9-44F0-8E22-B44606D06EDA}" destId="{59F0E601-E9CD-4EBE-8714-069A2ED665A2}" srcOrd="6" destOrd="0" presId="urn:microsoft.com/office/officeart/2005/8/layout/arrow2"/>
    <dgm:cxn modelId="{91304E2F-21FE-454D-B452-D4C4CF641E5D}" type="presParOf" srcId="{88A8BB85-66A9-44F0-8E22-B44606D06EDA}" destId="{F27416A0-F4D8-4D64-A535-0CD3F524409C}" srcOrd="7" destOrd="0" presId="urn:microsoft.com/office/officeart/2005/8/layout/arrow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F00B900C-8EBB-442F-953D-5D5D2EC71288}" type="doc">
      <dgm:prSet loTypeId="urn:microsoft.com/office/officeart/2005/8/layout/chevron2" loCatId="list" qsTypeId="urn:microsoft.com/office/officeart/2005/8/quickstyle/simple3" qsCatId="simple" csTypeId="urn:microsoft.com/office/officeart/2005/8/colors/colorful3" csCatId="colorful" phldr="1"/>
      <dgm:spPr/>
      <dgm:t>
        <a:bodyPr/>
        <a:lstStyle/>
        <a:p>
          <a:endParaRPr lang="fr-FR"/>
        </a:p>
      </dgm:t>
    </dgm:pt>
    <dgm:pt modelId="{DDA07E2F-F250-4F18-B8C4-B6E195C6887E}">
      <dgm:prSet phldrT="[Texte]" phldr="0"/>
      <dgm:spPr/>
      <dgm:t>
        <a:bodyPr/>
        <a:lstStyle/>
        <a:p>
          <a:r>
            <a:rPr lang="fr-CA" noProof="0"/>
            <a:t>Release 1</a:t>
          </a:r>
        </a:p>
      </dgm:t>
    </dgm:pt>
    <dgm:pt modelId="{24E46EE2-BB50-4200-B0B1-D3C3D9C8A6EF}" type="parTrans" cxnId="{20461DBD-43A0-462B-AEA6-4B1EA0F2CB6E}">
      <dgm:prSet/>
      <dgm:spPr/>
      <dgm:t>
        <a:bodyPr/>
        <a:lstStyle/>
        <a:p>
          <a:endParaRPr lang="fr-FR"/>
        </a:p>
      </dgm:t>
    </dgm:pt>
    <dgm:pt modelId="{5FACA0E2-1A98-4226-B033-7D3AAC25F272}" type="sibTrans" cxnId="{20461DBD-43A0-462B-AEA6-4B1EA0F2CB6E}">
      <dgm:prSet/>
      <dgm:spPr/>
      <dgm:t>
        <a:bodyPr/>
        <a:lstStyle/>
        <a:p>
          <a:endParaRPr lang="fr-FR"/>
        </a:p>
      </dgm:t>
    </dgm:pt>
    <dgm:pt modelId="{BCE51CF3-52E7-48CB-B7AE-1D6430DF4318}">
      <dgm:prSet phldrT="[Texte]" phldr="0" custT="1"/>
      <dgm:spPr/>
      <dgm:t>
        <a:bodyPr/>
        <a:lstStyle/>
        <a:p>
          <a:pPr>
            <a:buFont typeface="Wingdings" panose="05000000000000000000" pitchFamily="2" charset="2"/>
            <a:buChar char="Ø"/>
          </a:pPr>
          <a:r>
            <a:rPr lang="fr-CA" sz="1100" kern="1200" noProof="0"/>
            <a:t> Implantation du module </a:t>
          </a:r>
          <a:r>
            <a:rPr lang="fr-CA" sz="1100" i="1" kern="1200" noProof="0"/>
            <a:t>Bank </a:t>
          </a:r>
          <a:r>
            <a:rPr lang="fr-CA" sz="1100" i="1" kern="1200" noProof="0" err="1"/>
            <a:t>Account</a:t>
          </a:r>
          <a:r>
            <a:rPr lang="fr-CA" sz="1100" i="1" kern="1200" noProof="0"/>
            <a:t> Management</a:t>
          </a:r>
          <a:r>
            <a:rPr lang="fr-CA" sz="1100" kern="1200" noProof="0"/>
            <a:t> [BAM]</a:t>
          </a:r>
        </a:p>
      </dgm:t>
    </dgm:pt>
    <dgm:pt modelId="{017CF590-41FC-48ED-AD24-1DB827975FAE}" type="parTrans" cxnId="{2E790D7A-CC4D-4136-B987-7550292E2793}">
      <dgm:prSet/>
      <dgm:spPr/>
      <dgm:t>
        <a:bodyPr/>
        <a:lstStyle/>
        <a:p>
          <a:endParaRPr lang="fr-FR"/>
        </a:p>
      </dgm:t>
    </dgm:pt>
    <dgm:pt modelId="{568A12BC-AB06-400F-BD8B-8BBA43D4C6D9}" type="sibTrans" cxnId="{2E790D7A-CC4D-4136-B987-7550292E2793}">
      <dgm:prSet/>
      <dgm:spPr/>
      <dgm:t>
        <a:bodyPr/>
        <a:lstStyle/>
        <a:p>
          <a:endParaRPr lang="fr-FR"/>
        </a:p>
      </dgm:t>
    </dgm:pt>
    <dgm:pt modelId="{CC5C52FF-211C-4BF1-ADEC-B1A051B9B657}">
      <dgm:prSet phldrT="[Texte]" phldr="0"/>
      <dgm:spPr/>
      <dgm:t>
        <a:bodyPr/>
        <a:lstStyle/>
        <a:p>
          <a:r>
            <a:rPr lang="fr-CA" noProof="0"/>
            <a:t>Release 2</a:t>
          </a:r>
        </a:p>
      </dgm:t>
    </dgm:pt>
    <dgm:pt modelId="{5DB01DDE-CED5-4297-82B9-A3F7601426DB}" type="parTrans" cxnId="{D9816A6A-C70D-4FC7-A1A1-8D8D93695492}">
      <dgm:prSet/>
      <dgm:spPr/>
      <dgm:t>
        <a:bodyPr/>
        <a:lstStyle/>
        <a:p>
          <a:endParaRPr lang="fr-FR"/>
        </a:p>
      </dgm:t>
    </dgm:pt>
    <dgm:pt modelId="{2FFF7B8F-27AD-4659-9BE6-F25203D27236}" type="sibTrans" cxnId="{D9816A6A-C70D-4FC7-A1A1-8D8D93695492}">
      <dgm:prSet/>
      <dgm:spPr/>
      <dgm:t>
        <a:bodyPr/>
        <a:lstStyle/>
        <a:p>
          <a:endParaRPr lang="fr-FR"/>
        </a:p>
      </dgm:t>
    </dgm:pt>
    <dgm:pt modelId="{39A9DF4B-7C6A-4CD6-BC4C-9DCC30F86D47}">
      <dgm:prSet phldrT="[Texte]" phldr="0" custT="1"/>
      <dgm:spPr/>
      <dgm:t>
        <a:bodyPr/>
        <a:lstStyle/>
        <a:p>
          <a:pPr>
            <a:buFont typeface="Wingdings" panose="05000000000000000000" pitchFamily="2" charset="2"/>
            <a:buChar char="Ø"/>
          </a:pPr>
          <a:r>
            <a:rPr lang="fr-CA" sz="1050" noProof="0"/>
            <a:t> Paiements automatiques (DD et DPA)</a:t>
          </a:r>
        </a:p>
      </dgm:t>
    </dgm:pt>
    <dgm:pt modelId="{C23E1799-3860-4DD7-A1C0-1F5EBC81FF67}" type="parTrans" cxnId="{0FAA80AE-DE16-44AD-BEF6-AC628E14D099}">
      <dgm:prSet/>
      <dgm:spPr/>
      <dgm:t>
        <a:bodyPr/>
        <a:lstStyle/>
        <a:p>
          <a:endParaRPr lang="fr-FR"/>
        </a:p>
      </dgm:t>
    </dgm:pt>
    <dgm:pt modelId="{56DEAA1F-6942-471C-B087-2FEE132B06D7}" type="sibTrans" cxnId="{0FAA80AE-DE16-44AD-BEF6-AC628E14D099}">
      <dgm:prSet/>
      <dgm:spPr/>
      <dgm:t>
        <a:bodyPr/>
        <a:lstStyle/>
        <a:p>
          <a:endParaRPr lang="fr-FR"/>
        </a:p>
      </dgm:t>
    </dgm:pt>
    <dgm:pt modelId="{680C2023-2359-467D-9F7E-315A1D4CCC4A}">
      <dgm:prSet phldrT="[Texte]" phldr="0"/>
      <dgm:spPr/>
      <dgm:t>
        <a:bodyPr/>
        <a:lstStyle/>
        <a:p>
          <a:r>
            <a:rPr lang="fr-CA" noProof="0"/>
            <a:t>Release 3</a:t>
          </a:r>
        </a:p>
      </dgm:t>
    </dgm:pt>
    <dgm:pt modelId="{9B8D6F44-AFD0-461C-81FF-68F20FE44BF2}" type="parTrans" cxnId="{B473D047-82A2-4F50-9289-EABFAB2BFD23}">
      <dgm:prSet/>
      <dgm:spPr/>
      <dgm:t>
        <a:bodyPr/>
        <a:lstStyle/>
        <a:p>
          <a:endParaRPr lang="fr-FR"/>
        </a:p>
      </dgm:t>
    </dgm:pt>
    <dgm:pt modelId="{0038E8FC-E57A-4589-B40C-C27DB7545CE5}" type="sibTrans" cxnId="{B473D047-82A2-4F50-9289-EABFAB2BFD23}">
      <dgm:prSet/>
      <dgm:spPr/>
      <dgm:t>
        <a:bodyPr/>
        <a:lstStyle/>
        <a:p>
          <a:endParaRPr lang="fr-FR"/>
        </a:p>
      </dgm:t>
    </dgm:pt>
    <dgm:pt modelId="{AE7A17DF-0878-4E1A-BBCA-1E2811802B09}">
      <dgm:prSet phldrT="[Texte]" phldr="0" custT="1"/>
      <dgm:spPr/>
      <dgm:t>
        <a:bodyPr/>
        <a:lstStyle/>
        <a:p>
          <a:pPr>
            <a:buFont typeface="Wingdings" panose="05000000000000000000" pitchFamily="2" charset="2"/>
            <a:buChar char="Ø"/>
          </a:pPr>
          <a:r>
            <a:rPr lang="fr-CA" sz="1100" noProof="0"/>
            <a:t> Paiements manuels et automatiques </a:t>
          </a:r>
          <a:r>
            <a:rPr lang="fr-CA" sz="1100" b="1" noProof="0"/>
            <a:t>chèques</a:t>
          </a:r>
          <a:r>
            <a:rPr lang="fr-CA" sz="1000" b="0" noProof="0"/>
            <a:t>*</a:t>
          </a:r>
          <a:endParaRPr lang="fr-CA" sz="1100" b="0" noProof="0"/>
        </a:p>
      </dgm:t>
    </dgm:pt>
    <dgm:pt modelId="{CAD12D70-254A-4822-80F5-20C029585919}" type="parTrans" cxnId="{D2C2CE70-BF12-44A9-8197-9C0C08A555D3}">
      <dgm:prSet/>
      <dgm:spPr/>
      <dgm:t>
        <a:bodyPr/>
        <a:lstStyle/>
        <a:p>
          <a:endParaRPr lang="fr-FR"/>
        </a:p>
      </dgm:t>
    </dgm:pt>
    <dgm:pt modelId="{385916DC-A70D-43E6-90E3-FA041EBE4395}" type="sibTrans" cxnId="{D2C2CE70-BF12-44A9-8197-9C0C08A555D3}">
      <dgm:prSet/>
      <dgm:spPr/>
      <dgm:t>
        <a:bodyPr/>
        <a:lstStyle/>
        <a:p>
          <a:endParaRPr lang="fr-FR"/>
        </a:p>
      </dgm:t>
    </dgm:pt>
    <dgm:pt modelId="{62A5B1A7-FCA6-483F-8C14-FFEE8BA6D2E4}">
      <dgm:prSet phldrT="[Texte]" phldr="0" custT="1"/>
      <dgm:spPr/>
      <dgm:t>
        <a:bodyPr/>
        <a:lstStyle/>
        <a:p>
          <a:pPr>
            <a:buFont typeface="Wingdings" panose="05000000000000000000" pitchFamily="2" charset="2"/>
            <a:buChar char="Ø"/>
          </a:pPr>
          <a:r>
            <a:rPr lang="fr-CA" sz="1100" kern="1200" noProof="0">
              <a:latin typeface="Calibri" panose="020F0502020204030204"/>
              <a:ea typeface="+mn-ea"/>
              <a:cs typeface="+mn-cs"/>
            </a:rPr>
            <a:t> </a:t>
          </a:r>
          <a:r>
            <a:rPr lang="fr-CA" sz="1100" kern="1200" noProof="0"/>
            <a:t>Implantation du module </a:t>
          </a:r>
          <a:r>
            <a:rPr lang="fr-CA" sz="1100" i="1" kern="1200" noProof="0">
              <a:latin typeface="Calibri" panose="020F0502020204030204"/>
              <a:ea typeface="+mn-ea"/>
              <a:cs typeface="+mn-cs"/>
            </a:rPr>
            <a:t>Bank </a:t>
          </a:r>
          <a:r>
            <a:rPr lang="fr-CA" sz="1100" i="1" kern="1200" noProof="0" err="1">
              <a:latin typeface="Calibri" panose="020F0502020204030204"/>
              <a:ea typeface="+mn-ea"/>
              <a:cs typeface="+mn-cs"/>
            </a:rPr>
            <a:t>Fees</a:t>
          </a:r>
          <a:r>
            <a:rPr lang="fr-CA" sz="1100" i="1" kern="1200" noProof="0">
              <a:latin typeface="Calibri" panose="020F0502020204030204"/>
              <a:ea typeface="+mn-ea"/>
              <a:cs typeface="+mn-cs"/>
            </a:rPr>
            <a:t> </a:t>
          </a:r>
          <a:r>
            <a:rPr lang="fr-CA" sz="1100" i="1" kern="1200" noProof="0" err="1">
              <a:latin typeface="Calibri" panose="020F0502020204030204"/>
              <a:ea typeface="+mn-ea"/>
              <a:cs typeface="+mn-cs"/>
            </a:rPr>
            <a:t>Analysis</a:t>
          </a:r>
          <a:r>
            <a:rPr lang="fr-CA" sz="1100" kern="1200" noProof="0">
              <a:latin typeface="Calibri" panose="020F0502020204030204"/>
              <a:ea typeface="+mn-ea"/>
              <a:cs typeface="+mn-cs"/>
            </a:rPr>
            <a:t> [BFA]</a:t>
          </a:r>
        </a:p>
      </dgm:t>
    </dgm:pt>
    <dgm:pt modelId="{8CF80716-0B2E-4162-BB68-92C25B71723F}" type="parTrans" cxnId="{13897B72-07CF-4882-9D87-0032CBCFB755}">
      <dgm:prSet/>
      <dgm:spPr/>
      <dgm:t>
        <a:bodyPr/>
        <a:lstStyle/>
        <a:p>
          <a:endParaRPr lang="fr-FR"/>
        </a:p>
      </dgm:t>
    </dgm:pt>
    <dgm:pt modelId="{312A7760-0AE9-4903-AA12-418E84AB9BAC}" type="sibTrans" cxnId="{13897B72-07CF-4882-9D87-0032CBCFB755}">
      <dgm:prSet/>
      <dgm:spPr/>
      <dgm:t>
        <a:bodyPr/>
        <a:lstStyle/>
        <a:p>
          <a:endParaRPr lang="fr-FR"/>
        </a:p>
      </dgm:t>
    </dgm:pt>
    <dgm:pt modelId="{6A400AD9-758F-4382-9451-0E2390DDE9F1}">
      <dgm:prSet phldrT="[Texte]" phldr="0"/>
      <dgm:spPr/>
      <dgm:t>
        <a:bodyPr/>
        <a:lstStyle/>
        <a:p>
          <a:r>
            <a:rPr lang="fr-CA" noProof="0"/>
            <a:t>Release 4</a:t>
          </a:r>
        </a:p>
      </dgm:t>
    </dgm:pt>
    <dgm:pt modelId="{CFAD79A7-F937-4636-B28F-330F87A6124F}" type="parTrans" cxnId="{02786DE8-CE85-4C3A-905F-E7AB7A44C326}">
      <dgm:prSet/>
      <dgm:spPr/>
      <dgm:t>
        <a:bodyPr/>
        <a:lstStyle/>
        <a:p>
          <a:endParaRPr lang="fr-FR"/>
        </a:p>
      </dgm:t>
    </dgm:pt>
    <dgm:pt modelId="{F535733D-7B08-4D58-9C08-1DC69450EED2}" type="sibTrans" cxnId="{02786DE8-CE85-4C3A-905F-E7AB7A44C326}">
      <dgm:prSet/>
      <dgm:spPr/>
      <dgm:t>
        <a:bodyPr/>
        <a:lstStyle/>
        <a:p>
          <a:endParaRPr lang="fr-FR"/>
        </a:p>
      </dgm:t>
    </dgm:pt>
    <dgm:pt modelId="{6F774691-A49B-48DB-ACAF-879573E6CCBB}">
      <dgm:prSet phldrT="[Texte]" phldr="0" custT="1"/>
      <dgm:spPr/>
      <dgm:t>
        <a:bodyPr/>
        <a:lstStyle/>
        <a:p>
          <a:pPr>
            <a:buFont typeface="Wingdings" panose="05000000000000000000" pitchFamily="2" charset="2"/>
            <a:buChar char="Ø"/>
          </a:pPr>
          <a:r>
            <a:rPr lang="fr-CA" sz="1050" noProof="0"/>
            <a:t> Offre de service du CSP bancaire</a:t>
          </a:r>
        </a:p>
      </dgm:t>
    </dgm:pt>
    <dgm:pt modelId="{E2FFA000-AA1F-47FD-8D60-E0DA067E6993}" type="parTrans" cxnId="{906A7B44-A914-4D1D-B7F1-7AB151006DA6}">
      <dgm:prSet/>
      <dgm:spPr/>
      <dgm:t>
        <a:bodyPr/>
        <a:lstStyle/>
        <a:p>
          <a:endParaRPr lang="fr-FR"/>
        </a:p>
      </dgm:t>
    </dgm:pt>
    <dgm:pt modelId="{8C4FEA8A-D6F6-49A7-9489-85BCCF7674AE}" type="sibTrans" cxnId="{906A7B44-A914-4D1D-B7F1-7AB151006DA6}">
      <dgm:prSet/>
      <dgm:spPr/>
      <dgm:t>
        <a:bodyPr/>
        <a:lstStyle/>
        <a:p>
          <a:endParaRPr lang="fr-FR"/>
        </a:p>
      </dgm:t>
    </dgm:pt>
    <dgm:pt modelId="{7D17E047-C931-49C7-88F6-7B1C050FDB10}">
      <dgm:prSet phldrT="[Texte]" phldr="0" custT="1"/>
      <dgm:spPr/>
      <dgm:t>
        <a:bodyPr/>
        <a:lstStyle/>
        <a:p>
          <a:pPr>
            <a:buFont typeface="Wingdings" panose="05000000000000000000" pitchFamily="2" charset="2"/>
            <a:buChar char="Ø"/>
          </a:pPr>
          <a:r>
            <a:rPr lang="fr-CA" sz="1050" noProof="0"/>
            <a:t> Comptabilisation</a:t>
          </a:r>
        </a:p>
      </dgm:t>
    </dgm:pt>
    <dgm:pt modelId="{F9994195-A5B6-4FD8-9520-52DEBB25ACDF}" type="parTrans" cxnId="{95397737-5319-4189-894A-BDD0E3B0A7F6}">
      <dgm:prSet/>
      <dgm:spPr/>
      <dgm:t>
        <a:bodyPr/>
        <a:lstStyle/>
        <a:p>
          <a:endParaRPr lang="fr-FR"/>
        </a:p>
      </dgm:t>
    </dgm:pt>
    <dgm:pt modelId="{C8836DE1-617C-4146-8193-B9CD5C5D2C45}" type="sibTrans" cxnId="{95397737-5319-4189-894A-BDD0E3B0A7F6}">
      <dgm:prSet/>
      <dgm:spPr/>
      <dgm:t>
        <a:bodyPr/>
        <a:lstStyle/>
        <a:p>
          <a:endParaRPr lang="fr-FR"/>
        </a:p>
      </dgm:t>
    </dgm:pt>
    <dgm:pt modelId="{2F593EC5-C5AA-44F7-8236-108962E6A8D6}">
      <dgm:prSet phldrT="[Texte]" phldr="0" custT="1"/>
      <dgm:spPr/>
      <dgm:t>
        <a:bodyPr/>
        <a:lstStyle/>
        <a:p>
          <a:pPr>
            <a:buFont typeface="Wingdings" panose="05000000000000000000" pitchFamily="2" charset="2"/>
            <a:buChar char="Ø"/>
          </a:pPr>
          <a:r>
            <a:rPr lang="fr-CA" sz="1050" noProof="0"/>
            <a:t> Conciliation bancaire et comptable</a:t>
          </a:r>
        </a:p>
      </dgm:t>
    </dgm:pt>
    <dgm:pt modelId="{60387911-4624-4C3F-AF04-9B833DEF6948}" type="parTrans" cxnId="{777F593D-B6E7-4D7D-8285-228F10D33E76}">
      <dgm:prSet/>
      <dgm:spPr/>
      <dgm:t>
        <a:bodyPr/>
        <a:lstStyle/>
        <a:p>
          <a:endParaRPr lang="fr-FR"/>
        </a:p>
      </dgm:t>
    </dgm:pt>
    <dgm:pt modelId="{75BDD2DA-6B80-4796-91ED-ABD1BA6E6CAC}" type="sibTrans" cxnId="{777F593D-B6E7-4D7D-8285-228F10D33E76}">
      <dgm:prSet/>
      <dgm:spPr/>
      <dgm:t>
        <a:bodyPr/>
        <a:lstStyle/>
        <a:p>
          <a:endParaRPr lang="fr-FR"/>
        </a:p>
      </dgm:t>
    </dgm:pt>
    <dgm:pt modelId="{646921EF-C968-4042-9AF5-AAD0F8333701}">
      <dgm:prSet phldrT="[Texte]" phldr="0" custT="1"/>
      <dgm:spPr/>
      <dgm:t>
        <a:bodyPr/>
        <a:lstStyle/>
        <a:p>
          <a:pPr>
            <a:buFont typeface="Wingdings" panose="05000000000000000000" pitchFamily="2" charset="2"/>
            <a:buChar char="Ø"/>
          </a:pPr>
          <a:r>
            <a:rPr lang="fr-CA" sz="1050" noProof="0"/>
            <a:t> Fraude informative et anomalies</a:t>
          </a:r>
        </a:p>
      </dgm:t>
    </dgm:pt>
    <dgm:pt modelId="{F6C174F7-A002-4AED-93E9-2F0C4266D237}" type="parTrans" cxnId="{D8662DD7-1588-431D-8189-4175CFD45AFB}">
      <dgm:prSet/>
      <dgm:spPr/>
      <dgm:t>
        <a:bodyPr/>
        <a:lstStyle/>
        <a:p>
          <a:endParaRPr lang="fr-FR"/>
        </a:p>
      </dgm:t>
    </dgm:pt>
    <dgm:pt modelId="{D36DA6F8-3EA0-4472-AAC5-1FDA65985159}" type="sibTrans" cxnId="{D8662DD7-1588-431D-8189-4175CFD45AFB}">
      <dgm:prSet/>
      <dgm:spPr/>
      <dgm:t>
        <a:bodyPr/>
        <a:lstStyle/>
        <a:p>
          <a:endParaRPr lang="fr-FR"/>
        </a:p>
      </dgm:t>
    </dgm:pt>
    <dgm:pt modelId="{B1F03C1E-E940-40B5-A41C-CF80FFB1EB1E}">
      <dgm:prSet phldrT="[Texte]" phldr="0" custT="1"/>
      <dgm:spPr/>
      <dgm:t>
        <a:bodyPr/>
        <a:lstStyle/>
        <a:p>
          <a:pPr>
            <a:buFont typeface="Wingdings" panose="05000000000000000000" pitchFamily="2" charset="2"/>
            <a:buChar char="Ø"/>
          </a:pPr>
          <a:r>
            <a:rPr lang="fr-CA" sz="1050" noProof="0"/>
            <a:t> Validation 360</a:t>
          </a:r>
        </a:p>
      </dgm:t>
    </dgm:pt>
    <dgm:pt modelId="{C7816C68-215E-4388-A90C-C20EA9621D5A}" type="parTrans" cxnId="{2237356B-1AC8-44DE-A75A-8D8FAE7EB553}">
      <dgm:prSet/>
      <dgm:spPr/>
      <dgm:t>
        <a:bodyPr/>
        <a:lstStyle/>
        <a:p>
          <a:endParaRPr lang="fr-FR"/>
        </a:p>
      </dgm:t>
    </dgm:pt>
    <dgm:pt modelId="{33B04385-8F30-4657-9795-363C00F10DF0}" type="sibTrans" cxnId="{2237356B-1AC8-44DE-A75A-8D8FAE7EB553}">
      <dgm:prSet/>
      <dgm:spPr/>
      <dgm:t>
        <a:bodyPr/>
        <a:lstStyle/>
        <a:p>
          <a:endParaRPr lang="fr-FR"/>
        </a:p>
      </dgm:t>
    </dgm:pt>
    <dgm:pt modelId="{495C7A3D-EAB1-4675-BDFA-BD12906E8B4C}">
      <dgm:prSet phldrT="[Texte]" phldr="0" custT="1"/>
      <dgm:spPr/>
      <dgm:t>
        <a:bodyPr/>
        <a:lstStyle/>
        <a:p>
          <a:pPr>
            <a:buFont typeface="Wingdings" panose="05000000000000000000" pitchFamily="2" charset="2"/>
            <a:buChar char="Ø"/>
          </a:pPr>
          <a:r>
            <a:rPr lang="fr-CA" sz="1050" noProof="0"/>
            <a:t> Processus affaires n’ayant pas d’impact sur la mise en place de </a:t>
          </a:r>
          <a:r>
            <a:rPr lang="fr-CA" sz="1050" noProof="0" err="1"/>
            <a:t>Kyriba</a:t>
          </a:r>
          <a:r>
            <a:rPr lang="fr-CA" sz="1050" noProof="0"/>
            <a:t> ni sur son opérationnalisation </a:t>
          </a:r>
        </a:p>
      </dgm:t>
    </dgm:pt>
    <dgm:pt modelId="{AF9069C7-5C19-4AFC-936E-B9053BDD31E8}" type="parTrans" cxnId="{13FD14A0-B550-44F0-B03D-5EABE2781A60}">
      <dgm:prSet/>
      <dgm:spPr/>
      <dgm:t>
        <a:bodyPr/>
        <a:lstStyle/>
        <a:p>
          <a:endParaRPr lang="fr-FR"/>
        </a:p>
      </dgm:t>
    </dgm:pt>
    <dgm:pt modelId="{DFD58112-3D6B-4D65-804C-06C34CFD214B}" type="sibTrans" cxnId="{13FD14A0-B550-44F0-B03D-5EABE2781A60}">
      <dgm:prSet/>
      <dgm:spPr/>
      <dgm:t>
        <a:bodyPr/>
        <a:lstStyle/>
        <a:p>
          <a:endParaRPr lang="fr-FR"/>
        </a:p>
      </dgm:t>
    </dgm:pt>
    <dgm:pt modelId="{FA3FD69F-21C8-48AA-8304-DB49C5CE330A}">
      <dgm:prSet phldrT="[Texte]" phldr="0" custT="1"/>
      <dgm:spPr/>
      <dgm:t>
        <a:bodyPr/>
        <a:lstStyle/>
        <a:p>
          <a:pPr>
            <a:buFont typeface="Wingdings" panose="05000000000000000000" pitchFamily="2" charset="2"/>
            <a:buChar char="Ø"/>
          </a:pPr>
          <a:r>
            <a:rPr lang="fr-CA" sz="1050" noProof="0"/>
            <a:t> Processus de conciliation</a:t>
          </a:r>
        </a:p>
      </dgm:t>
    </dgm:pt>
    <dgm:pt modelId="{EEE03D71-0F0D-4063-818B-6212278C67E5}" type="parTrans" cxnId="{A23AECE5-4C33-4BE2-AB75-510BC0FDECE8}">
      <dgm:prSet/>
      <dgm:spPr/>
      <dgm:t>
        <a:bodyPr/>
        <a:lstStyle/>
        <a:p>
          <a:endParaRPr lang="fr-FR"/>
        </a:p>
      </dgm:t>
    </dgm:pt>
    <dgm:pt modelId="{4BFBAF3D-70FA-453E-95B4-F46A095343A2}" type="sibTrans" cxnId="{A23AECE5-4C33-4BE2-AB75-510BC0FDECE8}">
      <dgm:prSet/>
      <dgm:spPr/>
      <dgm:t>
        <a:bodyPr/>
        <a:lstStyle/>
        <a:p>
          <a:endParaRPr lang="fr-FR"/>
        </a:p>
      </dgm:t>
    </dgm:pt>
    <dgm:pt modelId="{CCD69BA3-13D7-46EC-BFC3-9C3D75543224}">
      <dgm:prSet phldrT="[Texte]" phldr="0" custT="1"/>
      <dgm:spPr/>
      <dgm:t>
        <a:bodyPr/>
        <a:lstStyle/>
        <a:p>
          <a:pPr>
            <a:buFont typeface="Wingdings" panose="05000000000000000000" pitchFamily="2" charset="2"/>
            <a:buChar char="Ø"/>
          </a:pPr>
          <a:r>
            <a:rPr lang="fr-CA" sz="1050" noProof="0"/>
            <a:t> Processus de définition de stratégie BAM, BFA</a:t>
          </a:r>
        </a:p>
      </dgm:t>
    </dgm:pt>
    <dgm:pt modelId="{15327C23-45AB-4B38-939F-011E7C0B5C39}" type="parTrans" cxnId="{520F29B1-D1C2-456C-B2B9-A8544FAACFD8}">
      <dgm:prSet/>
      <dgm:spPr/>
      <dgm:t>
        <a:bodyPr/>
        <a:lstStyle/>
        <a:p>
          <a:endParaRPr lang="fr-FR"/>
        </a:p>
      </dgm:t>
    </dgm:pt>
    <dgm:pt modelId="{A8EB2E3F-6FB9-4CC0-BB6E-1F1F915E4A7E}" type="sibTrans" cxnId="{520F29B1-D1C2-456C-B2B9-A8544FAACFD8}">
      <dgm:prSet/>
      <dgm:spPr/>
      <dgm:t>
        <a:bodyPr/>
        <a:lstStyle/>
        <a:p>
          <a:endParaRPr lang="fr-FR"/>
        </a:p>
      </dgm:t>
    </dgm:pt>
    <dgm:pt modelId="{F1E8D99D-6A50-481D-867E-F7940C40BB42}">
      <dgm:prSet phldrT="[Texte]" phldr="0" custT="1"/>
      <dgm:spPr/>
      <dgm:t>
        <a:bodyPr/>
        <a:lstStyle/>
        <a:p>
          <a:pPr>
            <a:buFont typeface="Wingdings" panose="05000000000000000000" pitchFamily="2" charset="2"/>
            <a:buChar char="Ø"/>
          </a:pPr>
          <a:r>
            <a:rPr lang="fr-CA" sz="1050" noProof="0"/>
            <a:t> Rôles et responsabilités (RACI)</a:t>
          </a:r>
        </a:p>
      </dgm:t>
    </dgm:pt>
    <dgm:pt modelId="{5C921A62-71EB-4BA9-92F2-0BA15EEFBCD2}" type="parTrans" cxnId="{09F33A15-9E54-4937-A992-71ED9A98E510}">
      <dgm:prSet/>
      <dgm:spPr/>
      <dgm:t>
        <a:bodyPr/>
        <a:lstStyle/>
        <a:p>
          <a:endParaRPr lang="fr-FR"/>
        </a:p>
      </dgm:t>
    </dgm:pt>
    <dgm:pt modelId="{487DCA0E-2C43-4D3F-8EA7-13F8F1B48DAE}" type="sibTrans" cxnId="{09F33A15-9E54-4937-A992-71ED9A98E510}">
      <dgm:prSet/>
      <dgm:spPr/>
      <dgm:t>
        <a:bodyPr/>
        <a:lstStyle/>
        <a:p>
          <a:endParaRPr lang="fr-FR"/>
        </a:p>
      </dgm:t>
    </dgm:pt>
    <dgm:pt modelId="{98E60D06-C942-43F4-B746-EFD4DDAB37D4}">
      <dgm:prSet phldrT="[Texte]" phldr="0" custT="1"/>
      <dgm:spPr/>
      <dgm:t>
        <a:bodyPr/>
        <a:lstStyle/>
        <a:p>
          <a:pPr>
            <a:buFont typeface="Wingdings" panose="05000000000000000000" pitchFamily="2" charset="2"/>
            <a:buChar char="Ø"/>
          </a:pPr>
          <a:r>
            <a:rPr lang="fr-CA" sz="1050" noProof="0"/>
            <a:t> Gouvernance </a:t>
          </a:r>
        </a:p>
      </dgm:t>
    </dgm:pt>
    <dgm:pt modelId="{8663AB02-ABC8-4164-82CA-C12FB7D82B80}" type="parTrans" cxnId="{81D0FB34-EA67-4C9E-AF46-46B8B9C89E57}">
      <dgm:prSet/>
      <dgm:spPr/>
      <dgm:t>
        <a:bodyPr/>
        <a:lstStyle/>
        <a:p>
          <a:endParaRPr lang="fr-FR"/>
        </a:p>
      </dgm:t>
    </dgm:pt>
    <dgm:pt modelId="{EB911D7A-F309-484B-B9D2-E6511E531D0D}" type="sibTrans" cxnId="{81D0FB34-EA67-4C9E-AF46-46B8B9C89E57}">
      <dgm:prSet/>
      <dgm:spPr/>
      <dgm:t>
        <a:bodyPr/>
        <a:lstStyle/>
        <a:p>
          <a:endParaRPr lang="fr-FR"/>
        </a:p>
      </dgm:t>
    </dgm:pt>
    <dgm:pt modelId="{372DBC3F-5185-495B-916C-467A93383667}">
      <dgm:prSet phldrT="[Texte]" phldr="0" custT="1"/>
      <dgm:spPr/>
      <dgm:t>
        <a:bodyPr/>
        <a:lstStyle/>
        <a:p>
          <a:pPr>
            <a:buFont typeface="Wingdings" panose="05000000000000000000" pitchFamily="2" charset="2"/>
            <a:buChar char="Ø"/>
          </a:pPr>
          <a:r>
            <a:rPr lang="fr-CA" sz="1100" noProof="0"/>
            <a:t>Paiements manuels DD, DPA et Virement</a:t>
          </a:r>
        </a:p>
      </dgm:t>
    </dgm:pt>
    <dgm:pt modelId="{3750BAFF-1FCD-433B-AEBF-208415DF583C}" type="parTrans" cxnId="{58D96927-B641-4955-A87A-BC1EB2A19DD1}">
      <dgm:prSet/>
      <dgm:spPr/>
      <dgm:t>
        <a:bodyPr/>
        <a:lstStyle/>
        <a:p>
          <a:endParaRPr lang="fr-FR"/>
        </a:p>
      </dgm:t>
    </dgm:pt>
    <dgm:pt modelId="{A8D324C9-8D1C-4FE3-84C3-FF03A42AEBDC}" type="sibTrans" cxnId="{58D96927-B641-4955-A87A-BC1EB2A19DD1}">
      <dgm:prSet/>
      <dgm:spPr/>
      <dgm:t>
        <a:bodyPr/>
        <a:lstStyle/>
        <a:p>
          <a:endParaRPr lang="fr-FR"/>
        </a:p>
      </dgm:t>
    </dgm:pt>
    <dgm:pt modelId="{0B7DE250-80A5-4580-B83C-F12896585034}">
      <dgm:prSet phldrT="[Texte]" phldr="0" custT="1"/>
      <dgm:spPr/>
      <dgm:t>
        <a:bodyPr/>
        <a:lstStyle/>
        <a:p>
          <a:pPr>
            <a:buFont typeface="Wingdings" panose="05000000000000000000" pitchFamily="2" charset="2"/>
            <a:buChar char="Ø"/>
          </a:pPr>
          <a:r>
            <a:rPr lang="fr-CA" sz="1100" noProof="0"/>
            <a:t> Workflow d’approbation des paiements manuels</a:t>
          </a:r>
        </a:p>
      </dgm:t>
    </dgm:pt>
    <dgm:pt modelId="{EE747386-F689-4B1B-B363-C436DEFC432E}" type="parTrans" cxnId="{C708C204-154A-4338-A8C8-0044F87E07DD}">
      <dgm:prSet/>
      <dgm:spPr/>
      <dgm:t>
        <a:bodyPr/>
        <a:lstStyle/>
        <a:p>
          <a:endParaRPr lang="fr-FR"/>
        </a:p>
      </dgm:t>
    </dgm:pt>
    <dgm:pt modelId="{886A288D-65CB-402A-A05C-D669B17B8391}" type="sibTrans" cxnId="{C708C204-154A-4338-A8C8-0044F87E07DD}">
      <dgm:prSet/>
      <dgm:spPr/>
      <dgm:t>
        <a:bodyPr/>
        <a:lstStyle/>
        <a:p>
          <a:endParaRPr lang="fr-FR"/>
        </a:p>
      </dgm:t>
    </dgm:pt>
    <dgm:pt modelId="{D35509FD-21A8-46B8-BE92-B8A1434C0181}" type="pres">
      <dgm:prSet presAssocID="{F00B900C-8EBB-442F-953D-5D5D2EC71288}" presName="linearFlow" presStyleCnt="0">
        <dgm:presLayoutVars>
          <dgm:dir/>
          <dgm:animLvl val="lvl"/>
          <dgm:resizeHandles val="exact"/>
        </dgm:presLayoutVars>
      </dgm:prSet>
      <dgm:spPr/>
    </dgm:pt>
    <dgm:pt modelId="{DBB7D075-98A7-45BC-BE9D-339409601B96}" type="pres">
      <dgm:prSet presAssocID="{DDA07E2F-F250-4F18-B8C4-B6E195C6887E}" presName="composite" presStyleCnt="0"/>
      <dgm:spPr/>
    </dgm:pt>
    <dgm:pt modelId="{69CADC32-6B12-4784-A8D8-9514AC999C74}" type="pres">
      <dgm:prSet presAssocID="{DDA07E2F-F250-4F18-B8C4-B6E195C6887E}" presName="parentText" presStyleLbl="alignNode1" presStyleIdx="0" presStyleCnt="4">
        <dgm:presLayoutVars>
          <dgm:chMax val="1"/>
          <dgm:bulletEnabled val="1"/>
        </dgm:presLayoutVars>
      </dgm:prSet>
      <dgm:spPr/>
    </dgm:pt>
    <dgm:pt modelId="{DD326C67-DF5E-4C45-B341-E19129E7B72D}" type="pres">
      <dgm:prSet presAssocID="{DDA07E2F-F250-4F18-B8C4-B6E195C6887E}" presName="descendantText" presStyleLbl="alignAcc1" presStyleIdx="0" presStyleCnt="4">
        <dgm:presLayoutVars>
          <dgm:bulletEnabled val="1"/>
        </dgm:presLayoutVars>
      </dgm:prSet>
      <dgm:spPr/>
    </dgm:pt>
    <dgm:pt modelId="{EA0C087C-CFD3-438B-A357-B678BDE05ED6}" type="pres">
      <dgm:prSet presAssocID="{5FACA0E2-1A98-4226-B033-7D3AAC25F272}" presName="sp" presStyleCnt="0"/>
      <dgm:spPr/>
    </dgm:pt>
    <dgm:pt modelId="{B2D16764-F514-42E7-86D3-0D00E02B36D1}" type="pres">
      <dgm:prSet presAssocID="{CC5C52FF-211C-4BF1-ADEC-B1A051B9B657}" presName="composite" presStyleCnt="0"/>
      <dgm:spPr/>
    </dgm:pt>
    <dgm:pt modelId="{3B546F24-72E5-47A7-815C-64C59C1280C5}" type="pres">
      <dgm:prSet presAssocID="{CC5C52FF-211C-4BF1-ADEC-B1A051B9B657}" presName="parentText" presStyleLbl="alignNode1" presStyleIdx="1" presStyleCnt="4">
        <dgm:presLayoutVars>
          <dgm:chMax val="1"/>
          <dgm:bulletEnabled val="1"/>
        </dgm:presLayoutVars>
      </dgm:prSet>
      <dgm:spPr/>
    </dgm:pt>
    <dgm:pt modelId="{70F0BED2-70FB-449D-A024-735254AE5A4C}" type="pres">
      <dgm:prSet presAssocID="{CC5C52FF-211C-4BF1-ADEC-B1A051B9B657}" presName="descendantText" presStyleLbl="alignAcc1" presStyleIdx="1" presStyleCnt="4" custScaleY="120288">
        <dgm:presLayoutVars>
          <dgm:bulletEnabled val="1"/>
        </dgm:presLayoutVars>
      </dgm:prSet>
      <dgm:spPr/>
    </dgm:pt>
    <dgm:pt modelId="{3D12AB1A-9F05-458C-94F2-CEF153E0C73D}" type="pres">
      <dgm:prSet presAssocID="{2FFF7B8F-27AD-4659-9BE6-F25203D27236}" presName="sp" presStyleCnt="0"/>
      <dgm:spPr/>
    </dgm:pt>
    <dgm:pt modelId="{076B2E7F-16D0-4CB5-8C6E-E15BBBFF8B5C}" type="pres">
      <dgm:prSet presAssocID="{680C2023-2359-467D-9F7E-315A1D4CCC4A}" presName="composite" presStyleCnt="0"/>
      <dgm:spPr/>
    </dgm:pt>
    <dgm:pt modelId="{7F7B114C-F79D-4489-BC0E-7E7DA2B48017}" type="pres">
      <dgm:prSet presAssocID="{680C2023-2359-467D-9F7E-315A1D4CCC4A}" presName="parentText" presStyleLbl="alignNode1" presStyleIdx="2" presStyleCnt="4">
        <dgm:presLayoutVars>
          <dgm:chMax val="1"/>
          <dgm:bulletEnabled val="1"/>
        </dgm:presLayoutVars>
      </dgm:prSet>
      <dgm:spPr/>
    </dgm:pt>
    <dgm:pt modelId="{709CABA1-6D33-4C6A-96D7-1CF3D874566D}" type="pres">
      <dgm:prSet presAssocID="{680C2023-2359-467D-9F7E-315A1D4CCC4A}" presName="descendantText" presStyleLbl="alignAcc1" presStyleIdx="2" presStyleCnt="4">
        <dgm:presLayoutVars>
          <dgm:bulletEnabled val="1"/>
        </dgm:presLayoutVars>
      </dgm:prSet>
      <dgm:spPr/>
    </dgm:pt>
    <dgm:pt modelId="{8C7C119A-60CD-4100-A393-2F6D5FA9D2A4}" type="pres">
      <dgm:prSet presAssocID="{0038E8FC-E57A-4589-B40C-C27DB7545CE5}" presName="sp" presStyleCnt="0"/>
      <dgm:spPr/>
    </dgm:pt>
    <dgm:pt modelId="{D908C727-7A0D-4842-951C-23FD15CFA36A}" type="pres">
      <dgm:prSet presAssocID="{6A400AD9-758F-4382-9451-0E2390DDE9F1}" presName="composite" presStyleCnt="0"/>
      <dgm:spPr/>
    </dgm:pt>
    <dgm:pt modelId="{EBBF1C61-76CC-46C6-96E6-545E287A3EBB}" type="pres">
      <dgm:prSet presAssocID="{6A400AD9-758F-4382-9451-0E2390DDE9F1}" presName="parentText" presStyleLbl="alignNode1" presStyleIdx="3" presStyleCnt="4" custScaleY="123549">
        <dgm:presLayoutVars>
          <dgm:chMax val="1"/>
          <dgm:bulletEnabled val="1"/>
        </dgm:presLayoutVars>
      </dgm:prSet>
      <dgm:spPr/>
    </dgm:pt>
    <dgm:pt modelId="{71109FB2-6797-40A9-8D4F-A2120535830E}" type="pres">
      <dgm:prSet presAssocID="{6A400AD9-758F-4382-9451-0E2390DDE9F1}" presName="descendantText" presStyleLbl="alignAcc1" presStyleIdx="3" presStyleCnt="4" custScaleY="145594">
        <dgm:presLayoutVars>
          <dgm:bulletEnabled val="1"/>
        </dgm:presLayoutVars>
      </dgm:prSet>
      <dgm:spPr/>
    </dgm:pt>
  </dgm:ptLst>
  <dgm:cxnLst>
    <dgm:cxn modelId="{C708C204-154A-4338-A8C8-0044F87E07DD}" srcId="{680C2023-2359-467D-9F7E-315A1D4CCC4A}" destId="{0B7DE250-80A5-4580-B83C-F12896585034}" srcOrd="2" destOrd="0" parTransId="{EE747386-F689-4B1B-B363-C436DEFC432E}" sibTransId="{886A288D-65CB-402A-A05C-D669B17B8391}"/>
    <dgm:cxn modelId="{09F33A15-9E54-4937-A992-71ED9A98E510}" srcId="{6A400AD9-758F-4382-9451-0E2390DDE9F1}" destId="{F1E8D99D-6A50-481D-867E-F7940C40BB42}" srcOrd="2" destOrd="0" parTransId="{5C921A62-71EB-4BA9-92F2-0BA15EEFBCD2}" sibTransId="{487DCA0E-2C43-4D3F-8EA7-13F8F1B48DAE}"/>
    <dgm:cxn modelId="{58D96927-B641-4955-A87A-BC1EB2A19DD1}" srcId="{680C2023-2359-467D-9F7E-315A1D4CCC4A}" destId="{372DBC3F-5185-495B-916C-467A93383667}" srcOrd="1" destOrd="0" parTransId="{3750BAFF-1FCD-433B-AEBF-208415DF583C}" sibTransId="{A8D324C9-8D1C-4FE3-84C3-FF03A42AEBDC}"/>
    <dgm:cxn modelId="{7AE9312D-CCCA-4CCC-A752-F020C92FCA08}" type="presOf" srcId="{6F774691-A49B-48DB-ACAF-879573E6CCBB}" destId="{71109FB2-6797-40A9-8D4F-A2120535830E}" srcOrd="0" destOrd="0" presId="urn:microsoft.com/office/officeart/2005/8/layout/chevron2"/>
    <dgm:cxn modelId="{FEC20630-DE4D-4A04-AD9B-91619B0CEFEC}" type="presOf" srcId="{B1F03C1E-E940-40B5-A41C-CF80FFB1EB1E}" destId="{70F0BED2-70FB-449D-A024-735254AE5A4C}" srcOrd="0" destOrd="4" presId="urn:microsoft.com/office/officeart/2005/8/layout/chevron2"/>
    <dgm:cxn modelId="{B3E75232-492B-446C-AF8A-F1EB3B87AF02}" type="presOf" srcId="{39A9DF4B-7C6A-4CD6-BC4C-9DCC30F86D47}" destId="{70F0BED2-70FB-449D-A024-735254AE5A4C}" srcOrd="0" destOrd="0" presId="urn:microsoft.com/office/officeart/2005/8/layout/chevron2"/>
    <dgm:cxn modelId="{81D0FB34-EA67-4C9E-AF46-46B8B9C89E57}" srcId="{6A400AD9-758F-4382-9451-0E2390DDE9F1}" destId="{98E60D06-C942-43F4-B746-EFD4DDAB37D4}" srcOrd="3" destOrd="0" parTransId="{8663AB02-ABC8-4164-82CA-C12FB7D82B80}" sibTransId="{EB911D7A-F309-484B-B9D2-E6511E531D0D}"/>
    <dgm:cxn modelId="{95397737-5319-4189-894A-BDD0E3B0A7F6}" srcId="{CC5C52FF-211C-4BF1-ADEC-B1A051B9B657}" destId="{7D17E047-C931-49C7-88F6-7B1C050FDB10}" srcOrd="1" destOrd="0" parTransId="{F9994195-A5B6-4FD8-9520-52DEBB25ACDF}" sibTransId="{C8836DE1-617C-4146-8193-B9CD5C5D2C45}"/>
    <dgm:cxn modelId="{777F593D-B6E7-4D7D-8285-228F10D33E76}" srcId="{CC5C52FF-211C-4BF1-ADEC-B1A051B9B657}" destId="{2F593EC5-C5AA-44F7-8236-108962E6A8D6}" srcOrd="2" destOrd="0" parTransId="{60387911-4624-4C3F-AF04-9B833DEF6948}" sibTransId="{75BDD2DA-6B80-4796-91ED-ABD1BA6E6CAC}"/>
    <dgm:cxn modelId="{78573C61-B8DD-4760-88F8-3EC541C683E2}" type="presOf" srcId="{F1E8D99D-6A50-481D-867E-F7940C40BB42}" destId="{71109FB2-6797-40A9-8D4F-A2120535830E}" srcOrd="0" destOrd="4" presId="urn:microsoft.com/office/officeart/2005/8/layout/chevron2"/>
    <dgm:cxn modelId="{906A7B44-A914-4D1D-B7F1-7AB151006DA6}" srcId="{6A400AD9-758F-4382-9451-0E2390DDE9F1}" destId="{6F774691-A49B-48DB-ACAF-879573E6CCBB}" srcOrd="0" destOrd="0" parTransId="{E2FFA000-AA1F-47FD-8D60-E0DA067E6993}" sibTransId="{8C4FEA8A-D6F6-49A7-9489-85BCCF7674AE}"/>
    <dgm:cxn modelId="{B473D047-82A2-4F50-9289-EABFAB2BFD23}" srcId="{F00B900C-8EBB-442F-953D-5D5D2EC71288}" destId="{680C2023-2359-467D-9F7E-315A1D4CCC4A}" srcOrd="2" destOrd="0" parTransId="{9B8D6F44-AFD0-461C-81FF-68F20FE44BF2}" sibTransId="{0038E8FC-E57A-4589-B40C-C27DB7545CE5}"/>
    <dgm:cxn modelId="{E8A81E48-559F-472C-82B7-3AD01DA51300}" type="presOf" srcId="{372DBC3F-5185-495B-916C-467A93383667}" destId="{709CABA1-6D33-4C6A-96D7-1CF3D874566D}" srcOrd="0" destOrd="1" presId="urn:microsoft.com/office/officeart/2005/8/layout/chevron2"/>
    <dgm:cxn modelId="{D9816A6A-C70D-4FC7-A1A1-8D8D93695492}" srcId="{F00B900C-8EBB-442F-953D-5D5D2EC71288}" destId="{CC5C52FF-211C-4BF1-ADEC-B1A051B9B657}" srcOrd="1" destOrd="0" parTransId="{5DB01DDE-CED5-4297-82B9-A3F7601426DB}" sibTransId="{2FFF7B8F-27AD-4659-9BE6-F25203D27236}"/>
    <dgm:cxn modelId="{2237356B-1AC8-44DE-A75A-8D8FAE7EB553}" srcId="{CC5C52FF-211C-4BF1-ADEC-B1A051B9B657}" destId="{B1F03C1E-E940-40B5-A41C-CF80FFB1EB1E}" srcOrd="4" destOrd="0" parTransId="{C7816C68-215E-4388-A90C-C20EA9621D5A}" sibTransId="{33B04385-8F30-4657-9795-363C00F10DF0}"/>
    <dgm:cxn modelId="{BD7F0D4F-23F5-468F-BF3C-0DCC073C252F}" type="presOf" srcId="{2F593EC5-C5AA-44F7-8236-108962E6A8D6}" destId="{70F0BED2-70FB-449D-A024-735254AE5A4C}" srcOrd="0" destOrd="2" presId="urn:microsoft.com/office/officeart/2005/8/layout/chevron2"/>
    <dgm:cxn modelId="{D2C2CE70-BF12-44A9-8197-9C0C08A555D3}" srcId="{680C2023-2359-467D-9F7E-315A1D4CCC4A}" destId="{AE7A17DF-0878-4E1A-BBCA-1E2811802B09}" srcOrd="0" destOrd="0" parTransId="{CAD12D70-254A-4822-80F5-20C029585919}" sibTransId="{385916DC-A70D-43E6-90E3-FA041EBE4395}"/>
    <dgm:cxn modelId="{0CA22072-3008-4792-8154-E1BD2832980D}" type="presOf" srcId="{CC5C52FF-211C-4BF1-ADEC-B1A051B9B657}" destId="{3B546F24-72E5-47A7-815C-64C59C1280C5}" srcOrd="0" destOrd="0" presId="urn:microsoft.com/office/officeart/2005/8/layout/chevron2"/>
    <dgm:cxn modelId="{13897B72-07CF-4882-9D87-0032CBCFB755}" srcId="{DDA07E2F-F250-4F18-B8C4-B6E195C6887E}" destId="{62A5B1A7-FCA6-483F-8C14-FFEE8BA6D2E4}" srcOrd="1" destOrd="0" parTransId="{8CF80716-0B2E-4162-BB68-92C25B71723F}" sibTransId="{312A7760-0AE9-4903-AA12-418E84AB9BAC}"/>
    <dgm:cxn modelId="{A7543855-E1CE-4825-A124-37FAB90327C7}" type="presOf" srcId="{495C7A3D-EAB1-4675-BDFA-BD12906E8B4C}" destId="{71109FB2-6797-40A9-8D4F-A2120535830E}" srcOrd="0" destOrd="1" presId="urn:microsoft.com/office/officeart/2005/8/layout/chevron2"/>
    <dgm:cxn modelId="{AB949958-80BA-4ABC-BD6C-49198E6ED586}" type="presOf" srcId="{BCE51CF3-52E7-48CB-B7AE-1D6430DF4318}" destId="{DD326C67-DF5E-4C45-B341-E19129E7B72D}" srcOrd="0" destOrd="0" presId="urn:microsoft.com/office/officeart/2005/8/layout/chevron2"/>
    <dgm:cxn modelId="{28D7F078-37E8-4076-9B2B-5269898D0535}" type="presOf" srcId="{DDA07E2F-F250-4F18-B8C4-B6E195C6887E}" destId="{69CADC32-6B12-4784-A8D8-9514AC999C74}" srcOrd="0" destOrd="0" presId="urn:microsoft.com/office/officeart/2005/8/layout/chevron2"/>
    <dgm:cxn modelId="{2E790D7A-CC4D-4136-B987-7550292E2793}" srcId="{DDA07E2F-F250-4F18-B8C4-B6E195C6887E}" destId="{BCE51CF3-52E7-48CB-B7AE-1D6430DF4318}" srcOrd="0" destOrd="0" parTransId="{017CF590-41FC-48ED-AD24-1DB827975FAE}" sibTransId="{568A12BC-AB06-400F-BD8B-8BBA43D4C6D9}"/>
    <dgm:cxn modelId="{48588686-C324-4C91-9491-6130CBC0242A}" type="presOf" srcId="{7D17E047-C931-49C7-88F6-7B1C050FDB10}" destId="{70F0BED2-70FB-449D-A024-735254AE5A4C}" srcOrd="0" destOrd="1" presId="urn:microsoft.com/office/officeart/2005/8/layout/chevron2"/>
    <dgm:cxn modelId="{350A1E92-B168-4321-8A06-84E003B2DCA2}" type="presOf" srcId="{0B7DE250-80A5-4580-B83C-F12896585034}" destId="{709CABA1-6D33-4C6A-96D7-1CF3D874566D}" srcOrd="0" destOrd="2" presId="urn:microsoft.com/office/officeart/2005/8/layout/chevron2"/>
    <dgm:cxn modelId="{59DC9D94-E014-4390-8397-26A900B0ACE4}" type="presOf" srcId="{646921EF-C968-4042-9AF5-AAD0F8333701}" destId="{70F0BED2-70FB-449D-A024-735254AE5A4C}" srcOrd="0" destOrd="3" presId="urn:microsoft.com/office/officeart/2005/8/layout/chevron2"/>
    <dgm:cxn modelId="{13FD14A0-B550-44F0-B03D-5EABE2781A60}" srcId="{6A400AD9-758F-4382-9451-0E2390DDE9F1}" destId="{495C7A3D-EAB1-4675-BDFA-BD12906E8B4C}" srcOrd="1" destOrd="0" parTransId="{AF9069C7-5C19-4AFC-936E-B9053BDD31E8}" sibTransId="{DFD58112-3D6B-4D65-804C-06C34CFD214B}"/>
    <dgm:cxn modelId="{0FAA80AE-DE16-44AD-BEF6-AC628E14D099}" srcId="{CC5C52FF-211C-4BF1-ADEC-B1A051B9B657}" destId="{39A9DF4B-7C6A-4CD6-BC4C-9DCC30F86D47}" srcOrd="0" destOrd="0" parTransId="{C23E1799-3860-4DD7-A1C0-1F5EBC81FF67}" sibTransId="{56DEAA1F-6942-471C-B087-2FEE132B06D7}"/>
    <dgm:cxn modelId="{04A894B0-575E-4044-83EB-C876D2A03332}" type="presOf" srcId="{F00B900C-8EBB-442F-953D-5D5D2EC71288}" destId="{D35509FD-21A8-46B8-BE92-B8A1434C0181}" srcOrd="0" destOrd="0" presId="urn:microsoft.com/office/officeart/2005/8/layout/chevron2"/>
    <dgm:cxn modelId="{520F29B1-D1C2-456C-B2B9-A8544FAACFD8}" srcId="{495C7A3D-EAB1-4675-BDFA-BD12906E8B4C}" destId="{CCD69BA3-13D7-46EC-BFC3-9C3D75543224}" srcOrd="1" destOrd="0" parTransId="{15327C23-45AB-4B38-939F-011E7C0B5C39}" sibTransId="{A8EB2E3F-6FB9-4CC0-BB6E-1F1F915E4A7E}"/>
    <dgm:cxn modelId="{310693B1-40E5-49A2-873A-3833B8AE67B6}" type="presOf" srcId="{AE7A17DF-0878-4E1A-BBCA-1E2811802B09}" destId="{709CABA1-6D33-4C6A-96D7-1CF3D874566D}" srcOrd="0" destOrd="0" presId="urn:microsoft.com/office/officeart/2005/8/layout/chevron2"/>
    <dgm:cxn modelId="{85EC9AB4-007C-42AB-90F8-634263BF2F0E}" type="presOf" srcId="{FA3FD69F-21C8-48AA-8304-DB49C5CE330A}" destId="{71109FB2-6797-40A9-8D4F-A2120535830E}" srcOrd="0" destOrd="2" presId="urn:microsoft.com/office/officeart/2005/8/layout/chevron2"/>
    <dgm:cxn modelId="{20461DBD-43A0-462B-AEA6-4B1EA0F2CB6E}" srcId="{F00B900C-8EBB-442F-953D-5D5D2EC71288}" destId="{DDA07E2F-F250-4F18-B8C4-B6E195C6887E}" srcOrd="0" destOrd="0" parTransId="{24E46EE2-BB50-4200-B0B1-D3C3D9C8A6EF}" sibTransId="{5FACA0E2-1A98-4226-B033-7D3AAC25F272}"/>
    <dgm:cxn modelId="{34DA6FC0-2E7F-482B-8F59-8416275C3CA1}" type="presOf" srcId="{62A5B1A7-FCA6-483F-8C14-FFEE8BA6D2E4}" destId="{DD326C67-DF5E-4C45-B341-E19129E7B72D}" srcOrd="0" destOrd="1" presId="urn:microsoft.com/office/officeart/2005/8/layout/chevron2"/>
    <dgm:cxn modelId="{08249AC1-84A4-44A9-9C34-5E1A5E142BCA}" type="presOf" srcId="{680C2023-2359-467D-9F7E-315A1D4CCC4A}" destId="{7F7B114C-F79D-4489-BC0E-7E7DA2B48017}" srcOrd="0" destOrd="0" presId="urn:microsoft.com/office/officeart/2005/8/layout/chevron2"/>
    <dgm:cxn modelId="{0D9281CA-614D-4897-AE7C-24208E8F7423}" type="presOf" srcId="{98E60D06-C942-43F4-B746-EFD4DDAB37D4}" destId="{71109FB2-6797-40A9-8D4F-A2120535830E}" srcOrd="0" destOrd="5" presId="urn:microsoft.com/office/officeart/2005/8/layout/chevron2"/>
    <dgm:cxn modelId="{D8662DD7-1588-431D-8189-4175CFD45AFB}" srcId="{CC5C52FF-211C-4BF1-ADEC-B1A051B9B657}" destId="{646921EF-C968-4042-9AF5-AAD0F8333701}" srcOrd="3" destOrd="0" parTransId="{F6C174F7-A002-4AED-93E9-2F0C4266D237}" sibTransId="{D36DA6F8-3EA0-4472-AAC5-1FDA65985159}"/>
    <dgm:cxn modelId="{578E2AE5-7A8B-4918-AD54-E10C08E422BD}" type="presOf" srcId="{6A400AD9-758F-4382-9451-0E2390DDE9F1}" destId="{EBBF1C61-76CC-46C6-96E6-545E287A3EBB}" srcOrd="0" destOrd="0" presId="urn:microsoft.com/office/officeart/2005/8/layout/chevron2"/>
    <dgm:cxn modelId="{A23AECE5-4C33-4BE2-AB75-510BC0FDECE8}" srcId="{495C7A3D-EAB1-4675-BDFA-BD12906E8B4C}" destId="{FA3FD69F-21C8-48AA-8304-DB49C5CE330A}" srcOrd="0" destOrd="0" parTransId="{EEE03D71-0F0D-4063-818B-6212278C67E5}" sibTransId="{4BFBAF3D-70FA-453E-95B4-F46A095343A2}"/>
    <dgm:cxn modelId="{02786DE8-CE85-4C3A-905F-E7AB7A44C326}" srcId="{F00B900C-8EBB-442F-953D-5D5D2EC71288}" destId="{6A400AD9-758F-4382-9451-0E2390DDE9F1}" srcOrd="3" destOrd="0" parTransId="{CFAD79A7-F937-4636-B28F-330F87A6124F}" sibTransId="{F535733D-7B08-4D58-9C08-1DC69450EED2}"/>
    <dgm:cxn modelId="{72DFF9EB-3D48-4CB2-8A23-57B4C80ED394}" type="presOf" srcId="{CCD69BA3-13D7-46EC-BFC3-9C3D75543224}" destId="{71109FB2-6797-40A9-8D4F-A2120535830E}" srcOrd="0" destOrd="3" presId="urn:microsoft.com/office/officeart/2005/8/layout/chevron2"/>
    <dgm:cxn modelId="{7F948135-7EDB-4732-A684-6B977D2BC066}" type="presParOf" srcId="{D35509FD-21A8-46B8-BE92-B8A1434C0181}" destId="{DBB7D075-98A7-45BC-BE9D-339409601B96}" srcOrd="0" destOrd="0" presId="urn:microsoft.com/office/officeart/2005/8/layout/chevron2"/>
    <dgm:cxn modelId="{77F3DF7F-874D-42F6-8534-180723739ADB}" type="presParOf" srcId="{DBB7D075-98A7-45BC-BE9D-339409601B96}" destId="{69CADC32-6B12-4784-A8D8-9514AC999C74}" srcOrd="0" destOrd="0" presId="urn:microsoft.com/office/officeart/2005/8/layout/chevron2"/>
    <dgm:cxn modelId="{0EA61ED3-6E23-488F-B590-B854CD6292A2}" type="presParOf" srcId="{DBB7D075-98A7-45BC-BE9D-339409601B96}" destId="{DD326C67-DF5E-4C45-B341-E19129E7B72D}" srcOrd="1" destOrd="0" presId="urn:microsoft.com/office/officeart/2005/8/layout/chevron2"/>
    <dgm:cxn modelId="{8A52C29E-9715-4655-8CF9-CFB5EA749337}" type="presParOf" srcId="{D35509FD-21A8-46B8-BE92-B8A1434C0181}" destId="{EA0C087C-CFD3-438B-A357-B678BDE05ED6}" srcOrd="1" destOrd="0" presId="urn:microsoft.com/office/officeart/2005/8/layout/chevron2"/>
    <dgm:cxn modelId="{72B97B15-0A46-4572-9876-7EDC98898C26}" type="presParOf" srcId="{D35509FD-21A8-46B8-BE92-B8A1434C0181}" destId="{B2D16764-F514-42E7-86D3-0D00E02B36D1}" srcOrd="2" destOrd="0" presId="urn:microsoft.com/office/officeart/2005/8/layout/chevron2"/>
    <dgm:cxn modelId="{D846C01E-D812-40A8-9379-B182DB8D3F90}" type="presParOf" srcId="{B2D16764-F514-42E7-86D3-0D00E02B36D1}" destId="{3B546F24-72E5-47A7-815C-64C59C1280C5}" srcOrd="0" destOrd="0" presId="urn:microsoft.com/office/officeart/2005/8/layout/chevron2"/>
    <dgm:cxn modelId="{6790664F-A86C-4C67-8774-C19489F31EB1}" type="presParOf" srcId="{B2D16764-F514-42E7-86D3-0D00E02B36D1}" destId="{70F0BED2-70FB-449D-A024-735254AE5A4C}" srcOrd="1" destOrd="0" presId="urn:microsoft.com/office/officeart/2005/8/layout/chevron2"/>
    <dgm:cxn modelId="{8C09F5A9-6413-4F50-BA72-484A0AA3D5FA}" type="presParOf" srcId="{D35509FD-21A8-46B8-BE92-B8A1434C0181}" destId="{3D12AB1A-9F05-458C-94F2-CEF153E0C73D}" srcOrd="3" destOrd="0" presId="urn:microsoft.com/office/officeart/2005/8/layout/chevron2"/>
    <dgm:cxn modelId="{A2B49B0A-E52D-4CEE-BA1B-CED4A36AC78B}" type="presParOf" srcId="{D35509FD-21A8-46B8-BE92-B8A1434C0181}" destId="{076B2E7F-16D0-4CB5-8C6E-E15BBBFF8B5C}" srcOrd="4" destOrd="0" presId="urn:microsoft.com/office/officeart/2005/8/layout/chevron2"/>
    <dgm:cxn modelId="{FAE3C036-DFF2-4A0C-9E06-C9B47CAA0F13}" type="presParOf" srcId="{076B2E7F-16D0-4CB5-8C6E-E15BBBFF8B5C}" destId="{7F7B114C-F79D-4489-BC0E-7E7DA2B48017}" srcOrd="0" destOrd="0" presId="urn:microsoft.com/office/officeart/2005/8/layout/chevron2"/>
    <dgm:cxn modelId="{5A7ADD2B-8B4C-4160-804B-F72E7F7A8D3D}" type="presParOf" srcId="{076B2E7F-16D0-4CB5-8C6E-E15BBBFF8B5C}" destId="{709CABA1-6D33-4C6A-96D7-1CF3D874566D}" srcOrd="1" destOrd="0" presId="urn:microsoft.com/office/officeart/2005/8/layout/chevron2"/>
    <dgm:cxn modelId="{85107629-0476-48F4-90B9-4A3BD5BE6D5E}" type="presParOf" srcId="{D35509FD-21A8-46B8-BE92-B8A1434C0181}" destId="{8C7C119A-60CD-4100-A393-2F6D5FA9D2A4}" srcOrd="5" destOrd="0" presId="urn:microsoft.com/office/officeart/2005/8/layout/chevron2"/>
    <dgm:cxn modelId="{471F8706-AFDC-4179-804F-9A46FD31FE74}" type="presParOf" srcId="{D35509FD-21A8-46B8-BE92-B8A1434C0181}" destId="{D908C727-7A0D-4842-951C-23FD15CFA36A}" srcOrd="6" destOrd="0" presId="urn:microsoft.com/office/officeart/2005/8/layout/chevron2"/>
    <dgm:cxn modelId="{2C1C61BD-D60A-4B68-BB44-9945D338C30C}" type="presParOf" srcId="{D908C727-7A0D-4842-951C-23FD15CFA36A}" destId="{EBBF1C61-76CC-46C6-96E6-545E287A3EBB}" srcOrd="0" destOrd="0" presId="urn:microsoft.com/office/officeart/2005/8/layout/chevron2"/>
    <dgm:cxn modelId="{35D1E25E-68DB-47CD-9B74-01F3C4CE578F}" type="presParOf" srcId="{D908C727-7A0D-4842-951C-23FD15CFA36A}" destId="{71109FB2-6797-40A9-8D4F-A2120535830E}" srcOrd="1" destOrd="0" presId="urn:microsoft.com/office/officeart/2005/8/layout/chevro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5651FA1F-EAF0-4DC6-81B0-0C18D7284AAD}" type="doc">
      <dgm:prSet loTypeId="urn:microsoft.com/office/officeart/2005/8/layout/hList6" loCatId="list" qsTypeId="urn:microsoft.com/office/officeart/2005/8/quickstyle/simple1" qsCatId="simple" csTypeId="urn:microsoft.com/office/officeart/2005/8/colors/accent1_2" csCatId="accent1" phldr="1"/>
      <dgm:spPr/>
      <dgm:t>
        <a:bodyPr/>
        <a:lstStyle/>
        <a:p>
          <a:endParaRPr lang="fr-CA"/>
        </a:p>
      </dgm:t>
    </dgm:pt>
    <dgm:pt modelId="{3B26B332-4BA4-44FE-8B95-689AD4D849F5}">
      <dgm:prSet phldrT="[Texte]" custT="1"/>
      <dgm:spPr/>
      <dgm:t>
        <a:bodyPr/>
        <a:lstStyle/>
        <a:p>
          <a:r>
            <a:rPr lang="fr-CA" sz="2000">
              <a:solidFill>
                <a:schemeClr val="tx1"/>
              </a:solidFill>
            </a:rPr>
            <a:t>Internes</a:t>
          </a:r>
        </a:p>
      </dgm:t>
    </dgm:pt>
    <dgm:pt modelId="{4F0CEA35-1A23-4CA6-90D4-46C9623DA3CD}" type="parTrans" cxnId="{33AAFF08-C96E-4228-8F79-B6DA378C1CB5}">
      <dgm:prSet/>
      <dgm:spPr/>
      <dgm:t>
        <a:bodyPr/>
        <a:lstStyle/>
        <a:p>
          <a:endParaRPr lang="fr-CA"/>
        </a:p>
      </dgm:t>
    </dgm:pt>
    <dgm:pt modelId="{35AA35D6-34FE-403B-90DE-16D87ACA2495}" type="sibTrans" cxnId="{33AAFF08-C96E-4228-8F79-B6DA378C1CB5}">
      <dgm:prSet/>
      <dgm:spPr/>
      <dgm:t>
        <a:bodyPr/>
        <a:lstStyle/>
        <a:p>
          <a:endParaRPr lang="fr-CA"/>
        </a:p>
      </dgm:t>
    </dgm:pt>
    <dgm:pt modelId="{D2EC6A10-E1D1-4088-A265-575A9CFCF063}">
      <dgm:prSet phldrT="[Texte]" custT="1"/>
      <dgm:spPr/>
      <dgm:t>
        <a:bodyPr/>
        <a:lstStyle/>
        <a:p>
          <a:r>
            <a:rPr lang="fr-CA" sz="1600" i="1" u="sng"/>
            <a:t>Équipes CFO : </a:t>
          </a:r>
        </a:p>
      </dgm:t>
    </dgm:pt>
    <dgm:pt modelId="{589F2B01-125F-48EA-9D7D-73D635F1BC28}" type="parTrans" cxnId="{2F12ECCA-5141-4C5D-96F1-2FB6C4737226}">
      <dgm:prSet/>
      <dgm:spPr/>
      <dgm:t>
        <a:bodyPr/>
        <a:lstStyle/>
        <a:p>
          <a:endParaRPr lang="fr-CA"/>
        </a:p>
      </dgm:t>
    </dgm:pt>
    <dgm:pt modelId="{EC3E59DA-00B8-4EBA-A393-F2B8F7C98645}" type="sibTrans" cxnId="{2F12ECCA-5141-4C5D-96F1-2FB6C4737226}">
      <dgm:prSet/>
      <dgm:spPr/>
      <dgm:t>
        <a:bodyPr/>
        <a:lstStyle/>
        <a:p>
          <a:endParaRPr lang="fr-CA"/>
        </a:p>
      </dgm:t>
    </dgm:pt>
    <dgm:pt modelId="{954F4C09-052D-47D6-835E-19AF135D3A47}">
      <dgm:prSet phldrT="[Texte]"/>
      <dgm:spPr/>
      <dgm:t>
        <a:bodyPr/>
        <a:lstStyle/>
        <a:p>
          <a:r>
            <a:rPr lang="fr-CA" sz="1500" i="1" u="sng"/>
            <a:t>Partenaires :</a:t>
          </a:r>
        </a:p>
      </dgm:t>
    </dgm:pt>
    <dgm:pt modelId="{0C5333A0-7311-42D9-970A-B913C6B69358}" type="parTrans" cxnId="{EDD945FB-376D-4C43-A3F6-555993A3C368}">
      <dgm:prSet/>
      <dgm:spPr/>
      <dgm:t>
        <a:bodyPr/>
        <a:lstStyle/>
        <a:p>
          <a:endParaRPr lang="fr-CA"/>
        </a:p>
      </dgm:t>
    </dgm:pt>
    <dgm:pt modelId="{4816FBB6-6F57-4548-808C-A0C15437D775}" type="sibTrans" cxnId="{EDD945FB-376D-4C43-A3F6-555993A3C368}">
      <dgm:prSet/>
      <dgm:spPr/>
      <dgm:t>
        <a:bodyPr/>
        <a:lstStyle/>
        <a:p>
          <a:endParaRPr lang="fr-CA"/>
        </a:p>
      </dgm:t>
    </dgm:pt>
    <dgm:pt modelId="{AF83604D-D56C-48DB-AB6E-EE4CB717D2A7}">
      <dgm:prSet phldrT="[Texte]" custT="1"/>
      <dgm:spPr/>
      <dgm:t>
        <a:bodyPr/>
        <a:lstStyle/>
        <a:p>
          <a:pPr marL="0" lvl="0" indent="0" algn="l" defTabSz="889000">
            <a:lnSpc>
              <a:spcPct val="90000"/>
            </a:lnSpc>
            <a:spcBef>
              <a:spcPct val="0"/>
            </a:spcBef>
            <a:spcAft>
              <a:spcPct val="35000"/>
            </a:spcAft>
            <a:buNone/>
          </a:pPr>
          <a:r>
            <a:rPr lang="fr-CA" sz="2000" kern="1200">
              <a:solidFill>
                <a:srgbClr val="003DA5"/>
              </a:solidFill>
              <a:latin typeface="Calibri" panose="020F0502020204030204"/>
              <a:ea typeface="+mn-ea"/>
              <a:cs typeface="+mn-cs"/>
            </a:rPr>
            <a:t>Externes</a:t>
          </a:r>
        </a:p>
      </dgm:t>
    </dgm:pt>
    <dgm:pt modelId="{22051F4A-5D5F-4FCF-A9A7-7C833D92BA7C}" type="parTrans" cxnId="{CE3327A7-F1B7-4B82-9DA2-F5605C68642D}">
      <dgm:prSet/>
      <dgm:spPr/>
      <dgm:t>
        <a:bodyPr/>
        <a:lstStyle/>
        <a:p>
          <a:endParaRPr lang="fr-CA"/>
        </a:p>
      </dgm:t>
    </dgm:pt>
    <dgm:pt modelId="{05305B08-3F35-4A14-B8E4-BF615E8D1BC7}" type="sibTrans" cxnId="{CE3327A7-F1B7-4B82-9DA2-F5605C68642D}">
      <dgm:prSet/>
      <dgm:spPr/>
      <dgm:t>
        <a:bodyPr/>
        <a:lstStyle/>
        <a:p>
          <a:endParaRPr lang="fr-CA"/>
        </a:p>
      </dgm:t>
    </dgm:pt>
    <dgm:pt modelId="{A5079E32-7638-4E71-92D0-D844A78E2080}">
      <dgm:prSet phldrT="[Texte]" phldr="0"/>
      <dgm:spPr/>
      <dgm:t>
        <a:bodyPr/>
        <a:lstStyle/>
        <a:p>
          <a:pPr marL="114300" lvl="1" indent="0" algn="l" defTabSz="666750">
            <a:lnSpc>
              <a:spcPct val="90000"/>
            </a:lnSpc>
            <a:spcBef>
              <a:spcPct val="0"/>
            </a:spcBef>
            <a:spcAft>
              <a:spcPct val="15000"/>
            </a:spcAft>
          </a:pPr>
          <a:r>
            <a:rPr lang="fr-CA" sz="1500" i="0" u="none" kern="1200"/>
            <a:t> Banques</a:t>
          </a:r>
        </a:p>
      </dgm:t>
    </dgm:pt>
    <dgm:pt modelId="{C9EDD84C-17E7-43A5-9D5A-B33B11AD2550}" type="parTrans" cxnId="{14847A25-6D25-4B56-9E2F-270D4545F5BE}">
      <dgm:prSet/>
      <dgm:spPr/>
      <dgm:t>
        <a:bodyPr/>
        <a:lstStyle/>
        <a:p>
          <a:endParaRPr lang="fr-CA"/>
        </a:p>
      </dgm:t>
    </dgm:pt>
    <dgm:pt modelId="{3614589A-64B9-48AC-B659-A77842E1FA54}" type="sibTrans" cxnId="{14847A25-6D25-4B56-9E2F-270D4545F5BE}">
      <dgm:prSet/>
      <dgm:spPr/>
      <dgm:t>
        <a:bodyPr/>
        <a:lstStyle/>
        <a:p>
          <a:endParaRPr lang="fr-CA"/>
        </a:p>
      </dgm:t>
    </dgm:pt>
    <dgm:pt modelId="{3C3F8650-DFB4-4392-A703-A2E2AA9A38D2}">
      <dgm:prSet phldrT="[Texte]" phldr="0"/>
      <dgm:spPr/>
      <dgm:t>
        <a:bodyPr/>
        <a:lstStyle/>
        <a:p>
          <a:pPr marL="114300" lvl="1" indent="0" algn="l" defTabSz="666750">
            <a:lnSpc>
              <a:spcPct val="90000"/>
            </a:lnSpc>
            <a:spcBef>
              <a:spcPct val="0"/>
            </a:spcBef>
            <a:spcAft>
              <a:spcPct val="15000"/>
            </a:spcAft>
          </a:pPr>
          <a:r>
            <a:rPr lang="fr-CA" sz="1500" kern="1200"/>
            <a:t> </a:t>
          </a:r>
          <a:r>
            <a:rPr lang="fr-CA" sz="1500" kern="1200" err="1"/>
            <a:t>HPXtram</a:t>
          </a:r>
          <a:endParaRPr lang="fr-CA" sz="1500" kern="1200"/>
        </a:p>
      </dgm:t>
    </dgm:pt>
    <dgm:pt modelId="{017313CA-AB9A-46FE-BDB9-E138545D99E0}" type="parTrans" cxnId="{4C3CFB80-0B39-409F-839C-3AE14EBADE7D}">
      <dgm:prSet/>
      <dgm:spPr/>
      <dgm:t>
        <a:bodyPr/>
        <a:lstStyle/>
        <a:p>
          <a:endParaRPr lang="fr-CA"/>
        </a:p>
      </dgm:t>
    </dgm:pt>
    <dgm:pt modelId="{8357F7FC-49E6-4477-93D4-7F8EEAF0881A}" type="sibTrans" cxnId="{4C3CFB80-0B39-409F-839C-3AE14EBADE7D}">
      <dgm:prSet/>
      <dgm:spPr/>
      <dgm:t>
        <a:bodyPr/>
        <a:lstStyle/>
        <a:p>
          <a:endParaRPr lang="fr-CA"/>
        </a:p>
      </dgm:t>
    </dgm:pt>
    <dgm:pt modelId="{8957BF05-D249-41CD-A534-5DD6E5639D99}">
      <dgm:prSet phldrT="[Texte]" custT="1"/>
      <dgm:spPr/>
      <dgm:t>
        <a:bodyPr/>
        <a:lstStyle/>
        <a:p>
          <a:r>
            <a:rPr lang="fr-CA" sz="2000">
              <a:solidFill>
                <a:schemeClr val="tx1"/>
              </a:solidFill>
            </a:rPr>
            <a:t>Stratégiques</a:t>
          </a:r>
        </a:p>
      </dgm:t>
    </dgm:pt>
    <dgm:pt modelId="{BC18247F-708B-4B4B-A3C4-4FE397D9713F}" type="parTrans" cxnId="{81229F89-2BEC-4C5C-91E1-DA16F82FE2A0}">
      <dgm:prSet/>
      <dgm:spPr/>
      <dgm:t>
        <a:bodyPr/>
        <a:lstStyle/>
        <a:p>
          <a:endParaRPr lang="fr-CA"/>
        </a:p>
      </dgm:t>
    </dgm:pt>
    <dgm:pt modelId="{9E2997B4-5F43-4E28-8344-A4BE896FB581}" type="sibTrans" cxnId="{81229F89-2BEC-4C5C-91E1-DA16F82FE2A0}">
      <dgm:prSet/>
      <dgm:spPr/>
      <dgm:t>
        <a:bodyPr/>
        <a:lstStyle/>
        <a:p>
          <a:endParaRPr lang="fr-CA"/>
        </a:p>
      </dgm:t>
    </dgm:pt>
    <dgm:pt modelId="{63B7533E-6503-4FCB-81AE-82EE06E0A576}">
      <dgm:prSet phldrT="[Texte]" phldr="0" custT="1"/>
      <dgm:spPr/>
      <dgm:t>
        <a:bodyPr/>
        <a:lstStyle/>
        <a:p>
          <a:r>
            <a:rPr lang="fr-CA" sz="1500"/>
            <a:t>Direction CFO</a:t>
          </a:r>
        </a:p>
      </dgm:t>
    </dgm:pt>
    <dgm:pt modelId="{B360A9AB-D3AF-499F-920B-38880BD8BA10}" type="parTrans" cxnId="{F20DCA7C-854C-44C1-AC47-1FA3C8DB159B}">
      <dgm:prSet/>
      <dgm:spPr/>
      <dgm:t>
        <a:bodyPr/>
        <a:lstStyle/>
        <a:p>
          <a:endParaRPr lang="fr-CA"/>
        </a:p>
      </dgm:t>
    </dgm:pt>
    <dgm:pt modelId="{6E4D2D7D-FE78-4177-B247-CE2087911471}" type="sibTrans" cxnId="{F20DCA7C-854C-44C1-AC47-1FA3C8DB159B}">
      <dgm:prSet/>
      <dgm:spPr/>
      <dgm:t>
        <a:bodyPr/>
        <a:lstStyle/>
        <a:p>
          <a:endParaRPr lang="fr-CA"/>
        </a:p>
      </dgm:t>
    </dgm:pt>
    <dgm:pt modelId="{582FB8F2-F0BE-464F-A442-50BCA1F89E85}">
      <dgm:prSet phldrT="[Texte]" custT="1"/>
      <dgm:spPr/>
      <dgm:t>
        <a:bodyPr/>
        <a:lstStyle/>
        <a:p>
          <a:r>
            <a:rPr lang="fr-CA" sz="2000">
              <a:solidFill>
                <a:schemeClr val="tx1"/>
              </a:solidFill>
            </a:rPr>
            <a:t>Tactiques</a:t>
          </a:r>
        </a:p>
      </dgm:t>
    </dgm:pt>
    <dgm:pt modelId="{D907B355-8240-4B64-A375-DC9B5AC30C0B}" type="parTrans" cxnId="{E8FBE301-FAB2-4D59-99EB-FD99D43513AB}">
      <dgm:prSet/>
      <dgm:spPr/>
      <dgm:t>
        <a:bodyPr/>
        <a:lstStyle/>
        <a:p>
          <a:endParaRPr lang="fr-CA"/>
        </a:p>
      </dgm:t>
    </dgm:pt>
    <dgm:pt modelId="{6150387D-F738-4C46-A0F0-173F5ECD0861}" type="sibTrans" cxnId="{E8FBE301-FAB2-4D59-99EB-FD99D43513AB}">
      <dgm:prSet/>
      <dgm:spPr/>
      <dgm:t>
        <a:bodyPr/>
        <a:lstStyle/>
        <a:p>
          <a:endParaRPr lang="fr-CA"/>
        </a:p>
      </dgm:t>
    </dgm:pt>
    <dgm:pt modelId="{CED4CCAF-E43C-4283-B869-7DD04E05A3C7}">
      <dgm:prSet phldrT="[Texte]" phldr="0" custT="1"/>
      <dgm:spPr/>
      <dgm:t>
        <a:bodyPr/>
        <a:lstStyle/>
        <a:p>
          <a:r>
            <a:rPr lang="fr-CA" sz="1500"/>
            <a:t>Directeur Trésorerie corporatif </a:t>
          </a:r>
          <a:r>
            <a:rPr lang="fr-CA" sz="1100"/>
            <a:t>(sponsor)</a:t>
          </a:r>
        </a:p>
      </dgm:t>
    </dgm:pt>
    <dgm:pt modelId="{F2398DC7-0D4A-4E3C-B03B-3EF17C6840F8}" type="parTrans" cxnId="{7037FEAE-D235-4900-9EC5-B37448A4EC38}">
      <dgm:prSet/>
      <dgm:spPr/>
      <dgm:t>
        <a:bodyPr/>
        <a:lstStyle/>
        <a:p>
          <a:endParaRPr lang="fr-CA"/>
        </a:p>
      </dgm:t>
    </dgm:pt>
    <dgm:pt modelId="{2683FF0A-D328-44C9-BA1C-CB471DBA201E}" type="sibTrans" cxnId="{7037FEAE-D235-4900-9EC5-B37448A4EC38}">
      <dgm:prSet/>
      <dgm:spPr/>
      <dgm:t>
        <a:bodyPr/>
        <a:lstStyle/>
        <a:p>
          <a:endParaRPr lang="fr-CA"/>
        </a:p>
      </dgm:t>
    </dgm:pt>
    <dgm:pt modelId="{4B030E0A-8078-4475-B0B0-66824FF7C8A6}">
      <dgm:prSet phldrT="[Texte]" custT="1"/>
      <dgm:spPr/>
      <dgm:t>
        <a:bodyPr/>
        <a:lstStyle/>
        <a:p>
          <a:r>
            <a:rPr lang="fr-CA" sz="1600">
              <a:solidFill>
                <a:schemeClr val="tx1"/>
              </a:solidFill>
            </a:rPr>
            <a:t>Opérationnelles</a:t>
          </a:r>
        </a:p>
      </dgm:t>
    </dgm:pt>
    <dgm:pt modelId="{2998D737-1934-48D4-8CDC-4DEA2926959B}" type="parTrans" cxnId="{D5448E9A-8A1A-4393-829A-B21291BBB31A}">
      <dgm:prSet/>
      <dgm:spPr/>
      <dgm:t>
        <a:bodyPr/>
        <a:lstStyle/>
        <a:p>
          <a:endParaRPr lang="fr-CA"/>
        </a:p>
      </dgm:t>
    </dgm:pt>
    <dgm:pt modelId="{C18FD9DB-4DD4-453B-9A54-B24D7F85461C}" type="sibTrans" cxnId="{D5448E9A-8A1A-4393-829A-B21291BBB31A}">
      <dgm:prSet/>
      <dgm:spPr/>
      <dgm:t>
        <a:bodyPr/>
        <a:lstStyle/>
        <a:p>
          <a:endParaRPr lang="fr-CA"/>
        </a:p>
      </dgm:t>
    </dgm:pt>
    <dgm:pt modelId="{05AB9B46-33C2-4386-8377-DA06723B1DFE}">
      <dgm:prSet phldrT="[Texte]"/>
      <dgm:spPr/>
      <dgm:t>
        <a:bodyPr/>
        <a:lstStyle/>
        <a:p>
          <a:endParaRPr lang="fr-CA" sz="1200"/>
        </a:p>
      </dgm:t>
    </dgm:pt>
    <dgm:pt modelId="{903D2F1D-D8FF-432E-95A4-65DF3311B3B8}" type="parTrans" cxnId="{61090C77-0FD1-48FF-AFF6-815433B9F188}">
      <dgm:prSet/>
      <dgm:spPr/>
      <dgm:t>
        <a:bodyPr/>
        <a:lstStyle/>
        <a:p>
          <a:endParaRPr lang="fr-CA"/>
        </a:p>
      </dgm:t>
    </dgm:pt>
    <dgm:pt modelId="{030D6CFB-5A30-4A18-9065-94084A691A8A}" type="sibTrans" cxnId="{61090C77-0FD1-48FF-AFF6-815433B9F188}">
      <dgm:prSet/>
      <dgm:spPr/>
      <dgm:t>
        <a:bodyPr/>
        <a:lstStyle/>
        <a:p>
          <a:endParaRPr lang="fr-CA"/>
        </a:p>
      </dgm:t>
    </dgm:pt>
    <dgm:pt modelId="{6D2C2996-1726-4569-A4CB-C49CA1850AD2}">
      <dgm:prSet phldrT="[Texte]" phldr="0" custT="1"/>
      <dgm:spPr/>
      <dgm:t>
        <a:bodyPr/>
        <a:lstStyle/>
        <a:p>
          <a:r>
            <a:rPr lang="fr-CA" sz="1500"/>
            <a:t>Service Courriel</a:t>
          </a:r>
        </a:p>
      </dgm:t>
    </dgm:pt>
    <dgm:pt modelId="{7B9F63EA-6F9D-4AD4-8F8F-6ED391C4F3B6}" type="parTrans" cxnId="{306A1F9C-7AA4-40FD-B844-74F796BBBF3A}">
      <dgm:prSet/>
      <dgm:spPr/>
      <dgm:t>
        <a:bodyPr/>
        <a:lstStyle/>
        <a:p>
          <a:endParaRPr lang="fr-CA"/>
        </a:p>
      </dgm:t>
    </dgm:pt>
    <dgm:pt modelId="{2FFD3B10-A1B3-4D30-B62D-5F69259FC49A}" type="sibTrans" cxnId="{306A1F9C-7AA4-40FD-B844-74F796BBBF3A}">
      <dgm:prSet/>
      <dgm:spPr/>
      <dgm:t>
        <a:bodyPr/>
        <a:lstStyle/>
        <a:p>
          <a:endParaRPr lang="fr-CA"/>
        </a:p>
      </dgm:t>
    </dgm:pt>
    <dgm:pt modelId="{C87A9889-8D3A-4979-97A4-6379C3FAD0A5}">
      <dgm:prSet phldrT="[Texte]"/>
      <dgm:spPr/>
      <dgm:t>
        <a:bodyPr/>
        <a:lstStyle/>
        <a:p>
          <a:endParaRPr lang="fr-CA" sz="1200"/>
        </a:p>
      </dgm:t>
    </dgm:pt>
    <dgm:pt modelId="{9CF91FB9-937D-4B64-88FD-B2E38DAB8C39}" type="parTrans" cxnId="{80E51E65-3072-486E-B27D-AC76F22198A4}">
      <dgm:prSet/>
      <dgm:spPr/>
      <dgm:t>
        <a:bodyPr/>
        <a:lstStyle/>
        <a:p>
          <a:endParaRPr lang="fr-CA"/>
        </a:p>
      </dgm:t>
    </dgm:pt>
    <dgm:pt modelId="{F4983F4E-2BED-4BD5-A585-ED8D89B7B0FA}" type="sibTrans" cxnId="{80E51E65-3072-486E-B27D-AC76F22198A4}">
      <dgm:prSet/>
      <dgm:spPr/>
      <dgm:t>
        <a:bodyPr/>
        <a:lstStyle/>
        <a:p>
          <a:endParaRPr lang="fr-CA"/>
        </a:p>
      </dgm:t>
    </dgm:pt>
    <dgm:pt modelId="{19CEA9F6-9A7E-4471-9012-603D8334B8AF}">
      <dgm:prSet phldrT="[Texte]" custT="1"/>
      <dgm:spPr/>
      <dgm:t>
        <a:bodyPr/>
        <a:lstStyle/>
        <a:p>
          <a:r>
            <a:rPr lang="fr-CA" sz="1100"/>
            <a:t> Équipe système </a:t>
          </a:r>
        </a:p>
      </dgm:t>
    </dgm:pt>
    <dgm:pt modelId="{147A87F9-0A0F-4296-A0F6-00DDE4579BB3}" type="parTrans" cxnId="{58B46147-91E2-4A0C-82AE-8104AEEC6AF3}">
      <dgm:prSet/>
      <dgm:spPr/>
      <dgm:t>
        <a:bodyPr/>
        <a:lstStyle/>
        <a:p>
          <a:endParaRPr lang="fr-FR"/>
        </a:p>
      </dgm:t>
    </dgm:pt>
    <dgm:pt modelId="{7E88E9D4-D4E6-4D14-90A8-3EF75F24DBCD}" type="sibTrans" cxnId="{58B46147-91E2-4A0C-82AE-8104AEEC6AF3}">
      <dgm:prSet/>
      <dgm:spPr/>
      <dgm:t>
        <a:bodyPr/>
        <a:lstStyle/>
        <a:p>
          <a:endParaRPr lang="fr-FR"/>
        </a:p>
      </dgm:t>
    </dgm:pt>
    <dgm:pt modelId="{92F55C23-91E9-423B-BA75-39C0A7493D2D}">
      <dgm:prSet phldrT="[Texte]" custT="1"/>
      <dgm:spPr/>
      <dgm:t>
        <a:bodyPr/>
        <a:lstStyle/>
        <a:p>
          <a:r>
            <a:rPr lang="fr-CA" sz="1100"/>
            <a:t> Trésorerie corpo</a:t>
          </a:r>
        </a:p>
      </dgm:t>
    </dgm:pt>
    <dgm:pt modelId="{36675B90-696E-4667-95A8-27A49227FF66}" type="parTrans" cxnId="{051A8F13-E9EE-4823-8DB3-C9667F8E3A5E}">
      <dgm:prSet/>
      <dgm:spPr/>
      <dgm:t>
        <a:bodyPr/>
        <a:lstStyle/>
        <a:p>
          <a:endParaRPr lang="fr-FR"/>
        </a:p>
      </dgm:t>
    </dgm:pt>
    <dgm:pt modelId="{51258E13-55E6-4BA1-8230-E519386DC17F}" type="sibTrans" cxnId="{051A8F13-E9EE-4823-8DB3-C9667F8E3A5E}">
      <dgm:prSet/>
      <dgm:spPr/>
      <dgm:t>
        <a:bodyPr/>
        <a:lstStyle/>
        <a:p>
          <a:endParaRPr lang="fr-FR"/>
        </a:p>
      </dgm:t>
    </dgm:pt>
    <dgm:pt modelId="{DA51E53E-AA17-4076-8268-6EBAF81E1732}">
      <dgm:prSet phldrT="[Texte]" custT="1"/>
      <dgm:spPr/>
      <dgm:t>
        <a:bodyPr/>
        <a:lstStyle/>
        <a:p>
          <a:r>
            <a:rPr lang="fr-CA" sz="1100"/>
            <a:t> Assurance VI</a:t>
          </a:r>
        </a:p>
      </dgm:t>
    </dgm:pt>
    <dgm:pt modelId="{13218570-C8DE-4B80-8732-0F3A3A888888}" type="parTrans" cxnId="{DF7BA33A-B3FB-4A96-9F8C-F0CA0212B316}">
      <dgm:prSet/>
      <dgm:spPr/>
      <dgm:t>
        <a:bodyPr/>
        <a:lstStyle/>
        <a:p>
          <a:endParaRPr lang="fr-FR"/>
        </a:p>
      </dgm:t>
    </dgm:pt>
    <dgm:pt modelId="{06B75B17-C50C-4EFF-B974-69BAE860985C}" type="sibTrans" cxnId="{DF7BA33A-B3FB-4A96-9F8C-F0CA0212B316}">
      <dgm:prSet/>
      <dgm:spPr/>
      <dgm:t>
        <a:bodyPr/>
        <a:lstStyle/>
        <a:p>
          <a:endParaRPr lang="fr-FR"/>
        </a:p>
      </dgm:t>
    </dgm:pt>
    <dgm:pt modelId="{E82DD91F-A592-4196-BBA0-2D626400AF01}">
      <dgm:prSet phldrT="[Texte]" custT="1"/>
      <dgm:spPr/>
      <dgm:t>
        <a:bodyPr/>
        <a:lstStyle/>
        <a:p>
          <a:r>
            <a:rPr lang="fr-CA" sz="1100"/>
            <a:t> Assurance collective</a:t>
          </a:r>
        </a:p>
      </dgm:t>
    </dgm:pt>
    <dgm:pt modelId="{1827F612-0E57-464D-B1A9-42137D6F2E47}" type="parTrans" cxnId="{245D8D81-F933-427A-90C4-A470C05CC454}">
      <dgm:prSet/>
      <dgm:spPr/>
      <dgm:t>
        <a:bodyPr/>
        <a:lstStyle/>
        <a:p>
          <a:endParaRPr lang="fr-FR"/>
        </a:p>
      </dgm:t>
    </dgm:pt>
    <dgm:pt modelId="{852DD613-5119-4BF9-8EE6-986C6FAF86ED}" type="sibTrans" cxnId="{245D8D81-F933-427A-90C4-A470C05CC454}">
      <dgm:prSet/>
      <dgm:spPr/>
      <dgm:t>
        <a:bodyPr/>
        <a:lstStyle/>
        <a:p>
          <a:endParaRPr lang="fr-FR"/>
        </a:p>
      </dgm:t>
    </dgm:pt>
    <dgm:pt modelId="{AADECB50-1056-4DFE-9AF1-8A3E2B78B3C2}">
      <dgm:prSet phldrT="[Texte]" custT="1"/>
      <dgm:spPr/>
      <dgm:t>
        <a:bodyPr/>
        <a:lstStyle/>
        <a:p>
          <a:r>
            <a:rPr lang="fr-CA" sz="1100"/>
            <a:t> Toutes les UA</a:t>
          </a:r>
          <a:r>
            <a:rPr lang="fr-CA" sz="900"/>
            <a:t>*</a:t>
          </a:r>
          <a:r>
            <a:rPr lang="fr-CA" sz="1100"/>
            <a:t> intégré à ERP cloud </a:t>
          </a:r>
          <a:r>
            <a:rPr lang="fr-CA" sz="900"/>
            <a:t>(pour chèques)</a:t>
          </a:r>
        </a:p>
      </dgm:t>
    </dgm:pt>
    <dgm:pt modelId="{2625750D-10A6-4072-851E-82848399043E}" type="parTrans" cxnId="{E25C9242-2C88-4C5B-A9FA-77136B289373}">
      <dgm:prSet/>
      <dgm:spPr/>
      <dgm:t>
        <a:bodyPr/>
        <a:lstStyle/>
        <a:p>
          <a:endParaRPr lang="fr-FR"/>
        </a:p>
      </dgm:t>
    </dgm:pt>
    <dgm:pt modelId="{6E6E0117-275F-4D54-984F-1AF29E36A90F}" type="sibTrans" cxnId="{E25C9242-2C88-4C5B-A9FA-77136B289373}">
      <dgm:prSet/>
      <dgm:spPr/>
      <dgm:t>
        <a:bodyPr/>
        <a:lstStyle/>
        <a:p>
          <a:endParaRPr lang="fr-FR"/>
        </a:p>
      </dgm:t>
    </dgm:pt>
    <dgm:pt modelId="{65A788C5-7F40-4BCA-92EE-CEAFD6CD547B}">
      <dgm:prSet phldrT="[Texte]" phldr="0"/>
      <dgm:spPr/>
      <dgm:t>
        <a:bodyPr/>
        <a:lstStyle/>
        <a:p>
          <a:pPr marL="114300" lvl="1" indent="0" algn="l" defTabSz="666750">
            <a:lnSpc>
              <a:spcPct val="90000"/>
            </a:lnSpc>
            <a:spcBef>
              <a:spcPct val="0"/>
            </a:spcBef>
            <a:spcAft>
              <a:spcPct val="15000"/>
            </a:spcAft>
          </a:pPr>
          <a:r>
            <a:rPr lang="fr-CA" sz="1500" kern="1200"/>
            <a:t> SOGICA</a:t>
          </a:r>
        </a:p>
      </dgm:t>
    </dgm:pt>
    <dgm:pt modelId="{8B0B17C0-1526-49E2-9BC6-33CA39C49FC3}" type="parTrans" cxnId="{81245240-2FAC-441F-BFB2-80AFD874E56D}">
      <dgm:prSet/>
      <dgm:spPr/>
      <dgm:t>
        <a:bodyPr/>
        <a:lstStyle/>
        <a:p>
          <a:endParaRPr lang="fr-FR"/>
        </a:p>
      </dgm:t>
    </dgm:pt>
    <dgm:pt modelId="{730F0E16-2AB9-441D-B543-DD90EBB5855C}" type="sibTrans" cxnId="{81245240-2FAC-441F-BFB2-80AFD874E56D}">
      <dgm:prSet/>
      <dgm:spPr/>
      <dgm:t>
        <a:bodyPr/>
        <a:lstStyle/>
        <a:p>
          <a:endParaRPr lang="fr-FR"/>
        </a:p>
      </dgm:t>
    </dgm:pt>
    <dgm:pt modelId="{5F66AEE7-2B83-4DD3-B541-F4BCBED480BC}">
      <dgm:prSet phldrT="[Texte]" phldr="0"/>
      <dgm:spPr/>
      <dgm:t>
        <a:bodyPr/>
        <a:lstStyle/>
        <a:p>
          <a:pPr marL="114300" lvl="1" indent="0" algn="l" defTabSz="666750">
            <a:lnSpc>
              <a:spcPct val="90000"/>
            </a:lnSpc>
            <a:spcBef>
              <a:spcPct val="0"/>
            </a:spcBef>
            <a:spcAft>
              <a:spcPct val="15000"/>
            </a:spcAft>
          </a:pPr>
          <a:endParaRPr lang="fr-CA" sz="1500" kern="1200"/>
        </a:p>
      </dgm:t>
    </dgm:pt>
    <dgm:pt modelId="{7124C273-C551-4684-B0FB-737766D0BAB8}" type="parTrans" cxnId="{FECF1F24-45E3-4AA9-A8F3-FBE122D774C0}">
      <dgm:prSet/>
      <dgm:spPr/>
      <dgm:t>
        <a:bodyPr/>
        <a:lstStyle/>
        <a:p>
          <a:endParaRPr lang="fr-FR"/>
        </a:p>
      </dgm:t>
    </dgm:pt>
    <dgm:pt modelId="{EF6D0DDC-2B1C-446F-BC1C-B4A07B619BC1}" type="sibTrans" cxnId="{FECF1F24-45E3-4AA9-A8F3-FBE122D774C0}">
      <dgm:prSet/>
      <dgm:spPr/>
      <dgm:t>
        <a:bodyPr/>
        <a:lstStyle/>
        <a:p>
          <a:endParaRPr lang="fr-FR"/>
        </a:p>
      </dgm:t>
    </dgm:pt>
    <dgm:pt modelId="{E5E0F9E7-0F19-4657-8AF3-BD7B99252CB4}">
      <dgm:prSet phldrT="[Texte]" custT="1"/>
      <dgm:spPr/>
      <dgm:t>
        <a:bodyPr/>
        <a:lstStyle/>
        <a:p>
          <a:endParaRPr lang="fr-CA" sz="1100"/>
        </a:p>
      </dgm:t>
    </dgm:pt>
    <dgm:pt modelId="{65DC21F9-D905-4B41-A93F-DEBEA31FCD57}" type="parTrans" cxnId="{4FB25407-41C3-4E26-B4C0-31126B42058E}">
      <dgm:prSet/>
      <dgm:spPr/>
      <dgm:t>
        <a:bodyPr/>
        <a:lstStyle/>
        <a:p>
          <a:endParaRPr lang="fr-FR"/>
        </a:p>
      </dgm:t>
    </dgm:pt>
    <dgm:pt modelId="{CACADD2F-55E0-4E12-AE42-A05AF342FA29}" type="sibTrans" cxnId="{4FB25407-41C3-4E26-B4C0-31126B42058E}">
      <dgm:prSet/>
      <dgm:spPr/>
      <dgm:t>
        <a:bodyPr/>
        <a:lstStyle/>
        <a:p>
          <a:endParaRPr lang="fr-FR"/>
        </a:p>
      </dgm:t>
    </dgm:pt>
    <dgm:pt modelId="{1B79004B-3F9D-4926-911E-080FB7BDAF43}">
      <dgm:prSet phldrT="[Texte]" phldr="0" custT="1"/>
      <dgm:spPr/>
      <dgm:t>
        <a:bodyPr/>
        <a:lstStyle/>
        <a:p>
          <a:r>
            <a:rPr lang="fr-CA" sz="1500"/>
            <a:t>Gestion des risques</a:t>
          </a:r>
        </a:p>
      </dgm:t>
    </dgm:pt>
    <dgm:pt modelId="{FB86F77C-1B61-4F3D-B113-68E53A91DB87}" type="parTrans" cxnId="{CAC22BB0-2F70-4B79-9174-1D858D6A78E6}">
      <dgm:prSet/>
      <dgm:spPr/>
      <dgm:t>
        <a:bodyPr/>
        <a:lstStyle/>
        <a:p>
          <a:endParaRPr lang="fr-FR"/>
        </a:p>
      </dgm:t>
    </dgm:pt>
    <dgm:pt modelId="{E3BF4B82-3B29-4670-ACCE-ECBB59F79A31}" type="sibTrans" cxnId="{CAC22BB0-2F70-4B79-9174-1D858D6A78E6}">
      <dgm:prSet/>
      <dgm:spPr/>
      <dgm:t>
        <a:bodyPr/>
        <a:lstStyle/>
        <a:p>
          <a:endParaRPr lang="fr-FR"/>
        </a:p>
      </dgm:t>
    </dgm:pt>
    <dgm:pt modelId="{477EA2BE-CFF9-406C-A9B5-53788348EC10}">
      <dgm:prSet phldrT="[Texte]" phldr="0" custT="1"/>
      <dgm:spPr/>
      <dgm:t>
        <a:bodyPr/>
        <a:lstStyle/>
        <a:p>
          <a:r>
            <a:rPr lang="fr-CA" sz="1500"/>
            <a:t>LBA </a:t>
          </a:r>
          <a:r>
            <a:rPr lang="fr-CA" sz="500"/>
            <a:t>(Lute anti-Blanchiment d’argent)</a:t>
          </a:r>
        </a:p>
      </dgm:t>
    </dgm:pt>
    <dgm:pt modelId="{D1D44779-6A76-482B-8A36-C7BC4A18038C}" type="parTrans" cxnId="{145712AB-3E62-4123-9C50-267F8A554F64}">
      <dgm:prSet/>
      <dgm:spPr/>
      <dgm:t>
        <a:bodyPr/>
        <a:lstStyle/>
        <a:p>
          <a:endParaRPr lang="fr-FR"/>
        </a:p>
      </dgm:t>
    </dgm:pt>
    <dgm:pt modelId="{41AB7513-5905-41E0-BD7E-89B41F0C3ABA}" type="sibTrans" cxnId="{145712AB-3E62-4123-9C50-267F8A554F64}">
      <dgm:prSet/>
      <dgm:spPr/>
      <dgm:t>
        <a:bodyPr/>
        <a:lstStyle/>
        <a:p>
          <a:endParaRPr lang="fr-FR"/>
        </a:p>
      </dgm:t>
    </dgm:pt>
    <dgm:pt modelId="{FA067CCF-88EA-4FEF-B770-86C68CBBD43C}">
      <dgm:prSet phldrT="[Texte]" phldr="0" custT="1"/>
      <dgm:spPr/>
      <dgm:t>
        <a:bodyPr/>
        <a:lstStyle/>
        <a:p>
          <a:r>
            <a:rPr lang="fr-CA" sz="1100"/>
            <a:t> Direction CSP bancaire</a:t>
          </a:r>
        </a:p>
      </dgm:t>
    </dgm:pt>
    <dgm:pt modelId="{C8F8A24C-417D-44D5-8113-EBF1E31406A1}" type="parTrans" cxnId="{71095930-DAC4-4ECA-89F2-A3B42EDB971C}">
      <dgm:prSet/>
      <dgm:spPr/>
      <dgm:t>
        <a:bodyPr/>
        <a:lstStyle/>
        <a:p>
          <a:endParaRPr lang="fr-FR"/>
        </a:p>
      </dgm:t>
    </dgm:pt>
    <dgm:pt modelId="{0D346FED-B3A9-4017-8CE1-71A20DAF0143}" type="sibTrans" cxnId="{71095930-DAC4-4ECA-89F2-A3B42EDB971C}">
      <dgm:prSet/>
      <dgm:spPr/>
      <dgm:t>
        <a:bodyPr/>
        <a:lstStyle/>
        <a:p>
          <a:endParaRPr lang="fr-FR"/>
        </a:p>
      </dgm:t>
    </dgm:pt>
    <dgm:pt modelId="{CE2B1049-54AA-4517-AA03-D4D1953D4FD3}">
      <dgm:prSet phldrT="[Texte]" phldr="0" custT="1"/>
      <dgm:spPr/>
      <dgm:t>
        <a:bodyPr/>
        <a:lstStyle/>
        <a:p>
          <a:r>
            <a:rPr lang="fr-CA" sz="1100"/>
            <a:t> Direction Évolution Intégration</a:t>
          </a:r>
        </a:p>
      </dgm:t>
    </dgm:pt>
    <dgm:pt modelId="{EC810F34-8567-42DA-9C34-9B44E953A287}" type="parTrans" cxnId="{34E9111C-F273-45D6-982E-AC0137A4E29C}">
      <dgm:prSet/>
      <dgm:spPr/>
      <dgm:t>
        <a:bodyPr/>
        <a:lstStyle/>
        <a:p>
          <a:endParaRPr lang="fr-FR"/>
        </a:p>
      </dgm:t>
    </dgm:pt>
    <dgm:pt modelId="{D08F94AE-1842-4F7B-8F28-2637897E44E6}" type="sibTrans" cxnId="{34E9111C-F273-45D6-982E-AC0137A4E29C}">
      <dgm:prSet/>
      <dgm:spPr/>
      <dgm:t>
        <a:bodyPr/>
        <a:lstStyle/>
        <a:p>
          <a:endParaRPr lang="fr-FR"/>
        </a:p>
      </dgm:t>
    </dgm:pt>
    <dgm:pt modelId="{B29B5F5C-B169-42F6-878C-F4AE1EF14BC0}">
      <dgm:prSet phldrT="[Texte]" phldr="0" custT="1"/>
      <dgm:spPr/>
      <dgm:t>
        <a:bodyPr/>
        <a:lstStyle/>
        <a:p>
          <a:r>
            <a:rPr lang="fr-CA" sz="1100"/>
            <a:t> Direction Comptabilité</a:t>
          </a:r>
        </a:p>
      </dgm:t>
    </dgm:pt>
    <dgm:pt modelId="{F1F34B7C-040A-4623-B2B1-1B0CD6C09D3C}" type="parTrans" cxnId="{7F102E3F-3429-4D79-A37A-C4DE3EA2ECA5}">
      <dgm:prSet/>
      <dgm:spPr/>
      <dgm:t>
        <a:bodyPr/>
        <a:lstStyle/>
        <a:p>
          <a:endParaRPr lang="fr-FR"/>
        </a:p>
      </dgm:t>
    </dgm:pt>
    <dgm:pt modelId="{06A6DFDF-5CB2-47D4-9626-CC49E3A47465}" type="sibTrans" cxnId="{7F102E3F-3429-4D79-A37A-C4DE3EA2ECA5}">
      <dgm:prSet/>
      <dgm:spPr/>
      <dgm:t>
        <a:bodyPr/>
        <a:lstStyle/>
        <a:p>
          <a:endParaRPr lang="fr-FR"/>
        </a:p>
      </dgm:t>
    </dgm:pt>
    <dgm:pt modelId="{0D89EC87-552C-4324-B540-F07D8C18396A}">
      <dgm:prSet phldrT="[Texte]" phldr="0" custT="1"/>
      <dgm:spPr/>
      <dgm:t>
        <a:bodyPr/>
        <a:lstStyle/>
        <a:p>
          <a:r>
            <a:rPr lang="fr-CA" sz="1100"/>
            <a:t> Direction Système</a:t>
          </a:r>
        </a:p>
      </dgm:t>
    </dgm:pt>
    <dgm:pt modelId="{7BD9B814-C69B-477D-8D46-26869D39CD7B}" type="parTrans" cxnId="{241AE4CF-F8F8-4A88-B089-4CA2AB6DECB4}">
      <dgm:prSet/>
      <dgm:spPr/>
      <dgm:t>
        <a:bodyPr/>
        <a:lstStyle/>
        <a:p>
          <a:endParaRPr lang="fr-FR"/>
        </a:p>
      </dgm:t>
    </dgm:pt>
    <dgm:pt modelId="{B48F8C04-84EB-483D-AD15-0A765CAA8F4D}" type="sibTrans" cxnId="{241AE4CF-F8F8-4A88-B089-4CA2AB6DECB4}">
      <dgm:prSet/>
      <dgm:spPr/>
      <dgm:t>
        <a:bodyPr/>
        <a:lstStyle/>
        <a:p>
          <a:endParaRPr lang="fr-FR"/>
        </a:p>
      </dgm:t>
    </dgm:pt>
    <dgm:pt modelId="{238F3B43-8C48-4A94-BDCA-0B68465F14BA}">
      <dgm:prSet phldrT="[Texte]" phldr="0" custT="1"/>
      <dgm:spPr/>
      <dgm:t>
        <a:bodyPr/>
        <a:lstStyle/>
        <a:p>
          <a:r>
            <a:rPr lang="fr-CA" sz="1100"/>
            <a:t> Direction Équipe Production</a:t>
          </a:r>
        </a:p>
      </dgm:t>
    </dgm:pt>
    <dgm:pt modelId="{A9EE6464-4EE4-4D65-8ECD-2A9C3BE21A3A}" type="parTrans" cxnId="{1906BF08-AB47-4834-8ADD-02B73D417161}">
      <dgm:prSet/>
      <dgm:spPr/>
      <dgm:t>
        <a:bodyPr/>
        <a:lstStyle/>
        <a:p>
          <a:endParaRPr lang="fr-FR"/>
        </a:p>
      </dgm:t>
    </dgm:pt>
    <dgm:pt modelId="{0A94562B-B64B-4C5C-9560-29518993CFA4}" type="sibTrans" cxnId="{1906BF08-AB47-4834-8ADD-02B73D417161}">
      <dgm:prSet/>
      <dgm:spPr/>
      <dgm:t>
        <a:bodyPr/>
        <a:lstStyle/>
        <a:p>
          <a:endParaRPr lang="fr-FR"/>
        </a:p>
      </dgm:t>
    </dgm:pt>
    <dgm:pt modelId="{7979FC13-9ECE-4FFB-ABE5-BE8964DBC1EF}">
      <dgm:prSet phldrT="[Texte]" phldr="0" custT="1"/>
      <dgm:spPr/>
      <dgm:t>
        <a:bodyPr/>
        <a:lstStyle/>
        <a:p>
          <a:r>
            <a:rPr lang="fr-CA" sz="1100"/>
            <a:t> ….</a:t>
          </a:r>
        </a:p>
      </dgm:t>
    </dgm:pt>
    <dgm:pt modelId="{68DA762C-BB9E-448D-B3E1-1D2B9352A46F}" type="parTrans" cxnId="{3FA948B9-4B9E-4346-9B38-AAE5DD3A2FFA}">
      <dgm:prSet/>
      <dgm:spPr/>
      <dgm:t>
        <a:bodyPr/>
        <a:lstStyle/>
        <a:p>
          <a:endParaRPr lang="fr-FR"/>
        </a:p>
      </dgm:t>
    </dgm:pt>
    <dgm:pt modelId="{32297FC8-920B-4E11-8BE5-D6A040D6E8D8}" type="sibTrans" cxnId="{3FA948B9-4B9E-4346-9B38-AAE5DD3A2FFA}">
      <dgm:prSet/>
      <dgm:spPr/>
      <dgm:t>
        <a:bodyPr/>
        <a:lstStyle/>
        <a:p>
          <a:endParaRPr lang="fr-FR"/>
        </a:p>
      </dgm:t>
    </dgm:pt>
    <dgm:pt modelId="{32C72DF3-3DD7-4B77-91FC-4413924DB77B}">
      <dgm:prSet phldrT="[Texte]" custT="1"/>
      <dgm:spPr/>
      <dgm:t>
        <a:bodyPr/>
        <a:lstStyle/>
        <a:p>
          <a:r>
            <a:rPr lang="fr-CA" sz="1100"/>
            <a:t> CSP Bancaire</a:t>
          </a:r>
        </a:p>
      </dgm:t>
    </dgm:pt>
    <dgm:pt modelId="{FB58CEDF-A4FD-499E-9ADA-0B332EFAA98C}" type="parTrans" cxnId="{E3C7D2CA-D4BC-4876-917D-29FEDC871CF3}">
      <dgm:prSet/>
      <dgm:spPr/>
      <dgm:t>
        <a:bodyPr/>
        <a:lstStyle/>
        <a:p>
          <a:endParaRPr lang="fr-FR"/>
        </a:p>
      </dgm:t>
    </dgm:pt>
    <dgm:pt modelId="{2A7C8BC3-3D74-4405-8389-D2026292F3AA}" type="sibTrans" cxnId="{E3C7D2CA-D4BC-4876-917D-29FEDC871CF3}">
      <dgm:prSet/>
      <dgm:spPr/>
      <dgm:t>
        <a:bodyPr/>
        <a:lstStyle/>
        <a:p>
          <a:endParaRPr lang="fr-FR"/>
        </a:p>
      </dgm:t>
    </dgm:pt>
    <dgm:pt modelId="{BEBEC226-B8DA-4A2A-AB2D-93EBB2CAB92E}" type="pres">
      <dgm:prSet presAssocID="{5651FA1F-EAF0-4DC6-81B0-0C18D7284AAD}" presName="Name0" presStyleCnt="0">
        <dgm:presLayoutVars>
          <dgm:dir/>
          <dgm:resizeHandles val="exact"/>
        </dgm:presLayoutVars>
      </dgm:prSet>
      <dgm:spPr/>
    </dgm:pt>
    <dgm:pt modelId="{7AD8B22D-0E75-44E3-817F-BAC42FA46774}" type="pres">
      <dgm:prSet presAssocID="{3B26B332-4BA4-44FE-8B95-689AD4D849F5}" presName="node" presStyleLbl="node1" presStyleIdx="0" presStyleCnt="5">
        <dgm:presLayoutVars>
          <dgm:bulletEnabled val="1"/>
        </dgm:presLayoutVars>
      </dgm:prSet>
      <dgm:spPr/>
    </dgm:pt>
    <dgm:pt modelId="{726D5BDF-1807-4047-9836-FADA8EF9705D}" type="pres">
      <dgm:prSet presAssocID="{35AA35D6-34FE-403B-90DE-16D87ACA2495}" presName="sibTrans" presStyleCnt="0"/>
      <dgm:spPr/>
    </dgm:pt>
    <dgm:pt modelId="{30A1E908-7E0F-4434-802D-D4CC7E1C94AC}" type="pres">
      <dgm:prSet presAssocID="{AF83604D-D56C-48DB-AB6E-EE4CB717D2A7}" presName="node" presStyleLbl="node1" presStyleIdx="1" presStyleCnt="5">
        <dgm:presLayoutVars>
          <dgm:bulletEnabled val="1"/>
        </dgm:presLayoutVars>
      </dgm:prSet>
      <dgm:spPr/>
    </dgm:pt>
    <dgm:pt modelId="{556F26F8-67ED-46BA-9707-9635C15BEF9D}" type="pres">
      <dgm:prSet presAssocID="{05305B08-3F35-4A14-B8E4-BF615E8D1BC7}" presName="sibTrans" presStyleCnt="0"/>
      <dgm:spPr/>
    </dgm:pt>
    <dgm:pt modelId="{2D47BFAD-88A5-40BF-B20F-7F87D1C4296C}" type="pres">
      <dgm:prSet presAssocID="{8957BF05-D249-41CD-A534-5DD6E5639D99}" presName="node" presStyleLbl="node1" presStyleIdx="2" presStyleCnt="5" custLinFactNeighborX="13479" custLinFactNeighborY="780">
        <dgm:presLayoutVars>
          <dgm:bulletEnabled val="1"/>
        </dgm:presLayoutVars>
      </dgm:prSet>
      <dgm:spPr/>
    </dgm:pt>
    <dgm:pt modelId="{D6998DB8-4D4C-4851-B889-C1E98E911747}" type="pres">
      <dgm:prSet presAssocID="{9E2997B4-5F43-4E28-8344-A4BE896FB581}" presName="sibTrans" presStyleCnt="0"/>
      <dgm:spPr/>
    </dgm:pt>
    <dgm:pt modelId="{4CBA82C0-AFC3-4C70-9A3B-56145C209E9B}" type="pres">
      <dgm:prSet presAssocID="{582FB8F2-F0BE-464F-A442-50BCA1F89E85}" presName="node" presStyleLbl="node1" presStyleIdx="3" presStyleCnt="5">
        <dgm:presLayoutVars>
          <dgm:bulletEnabled val="1"/>
        </dgm:presLayoutVars>
      </dgm:prSet>
      <dgm:spPr/>
    </dgm:pt>
    <dgm:pt modelId="{B61E9256-0815-4DDF-9254-23C79861204E}" type="pres">
      <dgm:prSet presAssocID="{6150387D-F738-4C46-A0F0-173F5ECD0861}" presName="sibTrans" presStyleCnt="0"/>
      <dgm:spPr/>
    </dgm:pt>
    <dgm:pt modelId="{4DD5854C-5F0F-42C7-8983-242E6E293A7B}" type="pres">
      <dgm:prSet presAssocID="{4B030E0A-8078-4475-B0B0-66824FF7C8A6}" presName="node" presStyleLbl="node1" presStyleIdx="4" presStyleCnt="5">
        <dgm:presLayoutVars>
          <dgm:bulletEnabled val="1"/>
        </dgm:presLayoutVars>
      </dgm:prSet>
      <dgm:spPr/>
    </dgm:pt>
  </dgm:ptLst>
  <dgm:cxnLst>
    <dgm:cxn modelId="{E2BF9000-512F-4CCA-9201-A5A4031040F0}" type="presOf" srcId="{DA51E53E-AA17-4076-8268-6EBAF81E1732}" destId="{7AD8B22D-0E75-44E3-817F-BAC42FA46774}" srcOrd="0" destOrd="7" presId="urn:microsoft.com/office/officeart/2005/8/layout/hList6"/>
    <dgm:cxn modelId="{E8FBE301-FAB2-4D59-99EB-FD99D43513AB}" srcId="{5651FA1F-EAF0-4DC6-81B0-0C18D7284AAD}" destId="{582FB8F2-F0BE-464F-A442-50BCA1F89E85}" srcOrd="3" destOrd="0" parTransId="{D907B355-8240-4B64-A375-DC9B5AC30C0B}" sibTransId="{6150387D-F738-4C46-A0F0-173F5ECD0861}"/>
    <dgm:cxn modelId="{762A3104-7232-47EB-89EB-C993296919EA}" type="presOf" srcId="{0D89EC87-552C-4324-B540-F07D8C18396A}" destId="{2D47BFAD-88A5-40BF-B20F-7F87D1C4296C}" srcOrd="0" destOrd="5" presId="urn:microsoft.com/office/officeart/2005/8/layout/hList6"/>
    <dgm:cxn modelId="{F8D76404-32A2-41FC-B20A-6CAB0B66746B}" type="presOf" srcId="{CE2B1049-54AA-4517-AA03-D4D1953D4FD3}" destId="{2D47BFAD-88A5-40BF-B20F-7F87D1C4296C}" srcOrd="0" destOrd="3" presId="urn:microsoft.com/office/officeart/2005/8/layout/hList6"/>
    <dgm:cxn modelId="{4FB25407-41C3-4E26-B4C0-31126B42058E}" srcId="{D2EC6A10-E1D1-4088-A265-575A9CFCF063}" destId="{E5E0F9E7-0F19-4657-8AF3-BD7B99252CB4}" srcOrd="3" destOrd="0" parTransId="{65DC21F9-D905-4B41-A93F-DEBEA31FCD57}" sibTransId="{CACADD2F-55E0-4E12-AE42-A05AF342FA29}"/>
    <dgm:cxn modelId="{1906BF08-AB47-4834-8ADD-02B73D417161}" srcId="{63B7533E-6503-4FCB-81AE-82EE06E0A576}" destId="{238F3B43-8C48-4A94-BDCA-0B68465F14BA}" srcOrd="4" destOrd="0" parTransId="{A9EE6464-4EE4-4D65-8ECD-2A9C3BE21A3A}" sibTransId="{0A94562B-B64B-4C5C-9560-29518993CFA4}"/>
    <dgm:cxn modelId="{33AAFF08-C96E-4228-8F79-B6DA378C1CB5}" srcId="{5651FA1F-EAF0-4DC6-81B0-0C18D7284AAD}" destId="{3B26B332-4BA4-44FE-8B95-689AD4D849F5}" srcOrd="0" destOrd="0" parTransId="{4F0CEA35-1A23-4CA6-90D4-46C9623DA3CD}" sibTransId="{35AA35D6-34FE-403B-90DE-16D87ACA2495}"/>
    <dgm:cxn modelId="{BF1BD40F-31D0-483E-9D05-66DFD685E5A2}" type="presOf" srcId="{4B030E0A-8078-4475-B0B0-66824FF7C8A6}" destId="{4DD5854C-5F0F-42C7-8983-242E6E293A7B}" srcOrd="0" destOrd="0" presId="urn:microsoft.com/office/officeart/2005/8/layout/hList6"/>
    <dgm:cxn modelId="{051A8F13-E9EE-4823-8DB3-C9667F8E3A5E}" srcId="{D2EC6A10-E1D1-4088-A265-575A9CFCF063}" destId="{92F55C23-91E9-423B-BA75-39C0A7493D2D}" srcOrd="1" destOrd="0" parTransId="{36675B90-696E-4667-95A8-27A49227FF66}" sibTransId="{51258E13-55E6-4BA1-8230-E519386DC17F}"/>
    <dgm:cxn modelId="{34E9111C-F273-45D6-982E-AC0137A4E29C}" srcId="{63B7533E-6503-4FCB-81AE-82EE06E0A576}" destId="{CE2B1049-54AA-4517-AA03-D4D1953D4FD3}" srcOrd="1" destOrd="0" parTransId="{EC810F34-8567-42DA-9C34-9B44E953A287}" sibTransId="{D08F94AE-1842-4F7B-8F28-2637897E44E6}"/>
    <dgm:cxn modelId="{4BDCFC1D-130C-4F4A-A796-B6CD22A6E6DB}" type="presOf" srcId="{5F66AEE7-2B83-4DD3-B541-F4BCBED480BC}" destId="{30A1E908-7E0F-4434-802D-D4CC7E1C94AC}" srcOrd="0" destOrd="4" presId="urn:microsoft.com/office/officeart/2005/8/layout/hList6"/>
    <dgm:cxn modelId="{FECF1F24-45E3-4AA9-A8F3-FBE122D774C0}" srcId="{AF83604D-D56C-48DB-AB6E-EE4CB717D2A7}" destId="{5F66AEE7-2B83-4DD3-B541-F4BCBED480BC}" srcOrd="3" destOrd="0" parTransId="{7124C273-C551-4684-B0FB-737766D0BAB8}" sibTransId="{EF6D0DDC-2B1C-446F-BC1C-B4A07B619BC1}"/>
    <dgm:cxn modelId="{14847A25-6D25-4B56-9E2F-270D4545F5BE}" srcId="{AF83604D-D56C-48DB-AB6E-EE4CB717D2A7}" destId="{A5079E32-7638-4E71-92D0-D844A78E2080}" srcOrd="0" destOrd="0" parTransId="{C9EDD84C-17E7-43A5-9D5A-B33B11AD2550}" sibTransId="{3614589A-64B9-48AC-B659-A77842E1FA54}"/>
    <dgm:cxn modelId="{71095930-DAC4-4ECA-89F2-A3B42EDB971C}" srcId="{63B7533E-6503-4FCB-81AE-82EE06E0A576}" destId="{FA067CCF-88EA-4FEF-B770-86C68CBBD43C}" srcOrd="0" destOrd="0" parTransId="{C8F8A24C-417D-44D5-8113-EBF1E31406A1}" sibTransId="{0D346FED-B3A9-4017-8CE1-71A20DAF0143}"/>
    <dgm:cxn modelId="{DB7DCF31-6309-4F94-8250-CC6AAF1243B6}" type="presOf" srcId="{3B26B332-4BA4-44FE-8B95-689AD4D849F5}" destId="{7AD8B22D-0E75-44E3-817F-BAC42FA46774}" srcOrd="0" destOrd="0" presId="urn:microsoft.com/office/officeart/2005/8/layout/hList6"/>
    <dgm:cxn modelId="{B73DE635-0F2A-44C3-A4F2-433DE78CC59C}" type="presOf" srcId="{E82DD91F-A592-4196-BBA0-2D626400AF01}" destId="{7AD8B22D-0E75-44E3-817F-BAC42FA46774}" srcOrd="0" destOrd="8" presId="urn:microsoft.com/office/officeart/2005/8/layout/hList6"/>
    <dgm:cxn modelId="{402C2F37-4418-469C-B7A9-5357099F9A5D}" type="presOf" srcId="{AF83604D-D56C-48DB-AB6E-EE4CB717D2A7}" destId="{30A1E908-7E0F-4434-802D-D4CC7E1C94AC}" srcOrd="0" destOrd="0" presId="urn:microsoft.com/office/officeart/2005/8/layout/hList6"/>
    <dgm:cxn modelId="{8EF1B537-649C-41E9-8E41-4A122072EE9B}" type="presOf" srcId="{C87A9889-8D3A-4979-97A4-6379C3FAD0A5}" destId="{4DD5854C-5F0F-42C7-8983-242E6E293A7B}" srcOrd="0" destOrd="4" presId="urn:microsoft.com/office/officeart/2005/8/layout/hList6"/>
    <dgm:cxn modelId="{DF7BA33A-B3FB-4A96-9F8C-F0CA0212B316}" srcId="{954F4C09-052D-47D6-835E-19AF135D3A47}" destId="{DA51E53E-AA17-4076-8268-6EBAF81E1732}" srcOrd="0" destOrd="0" parTransId="{13218570-C8DE-4B80-8732-0F3A3A888888}" sibTransId="{06B75B17-C50C-4EFF-B974-69BAE860985C}"/>
    <dgm:cxn modelId="{7F102E3F-3429-4D79-A37A-C4DE3EA2ECA5}" srcId="{63B7533E-6503-4FCB-81AE-82EE06E0A576}" destId="{B29B5F5C-B169-42F6-878C-F4AE1EF14BC0}" srcOrd="2" destOrd="0" parTransId="{F1F34B7C-040A-4623-B2B1-1B0CD6C09D3C}" sibTransId="{06A6DFDF-5CB2-47D4-9626-CC49E3A47465}"/>
    <dgm:cxn modelId="{81245240-2FAC-441F-BFB2-80AFD874E56D}" srcId="{AF83604D-D56C-48DB-AB6E-EE4CB717D2A7}" destId="{65A788C5-7F40-4BCA-92EE-CEAFD6CD547B}" srcOrd="2" destOrd="0" parTransId="{8B0B17C0-1526-49E2-9BC6-33CA39C49FC3}" sibTransId="{730F0E16-2AB9-441D-B543-DD90EBB5855C}"/>
    <dgm:cxn modelId="{21B5ED40-3399-4780-8C5E-EF6A91EF9E41}" type="presOf" srcId="{954F4C09-052D-47D6-835E-19AF135D3A47}" destId="{7AD8B22D-0E75-44E3-817F-BAC42FA46774}" srcOrd="0" destOrd="6" presId="urn:microsoft.com/office/officeart/2005/8/layout/hList6"/>
    <dgm:cxn modelId="{C642C15D-82A1-4FA4-B4AF-DCE9C734F581}" type="presOf" srcId="{7979FC13-9ECE-4FFB-ABE5-BE8964DBC1EF}" destId="{2D47BFAD-88A5-40BF-B20F-7F87D1C4296C}" srcOrd="0" destOrd="7" presId="urn:microsoft.com/office/officeart/2005/8/layout/hList6"/>
    <dgm:cxn modelId="{F6338E5E-2955-4334-937E-06F845F494CA}" type="presOf" srcId="{B29B5F5C-B169-42F6-878C-F4AE1EF14BC0}" destId="{2D47BFAD-88A5-40BF-B20F-7F87D1C4296C}" srcOrd="0" destOrd="4" presId="urn:microsoft.com/office/officeart/2005/8/layout/hList6"/>
    <dgm:cxn modelId="{06732760-B0C9-4185-BC62-BE05FB2945D9}" type="presOf" srcId="{477EA2BE-CFF9-406C-A9B5-53788348EC10}" destId="{4DD5854C-5F0F-42C7-8983-242E6E293A7B}" srcOrd="0" destOrd="3" presId="urn:microsoft.com/office/officeart/2005/8/layout/hList6"/>
    <dgm:cxn modelId="{E25C9242-2C88-4C5B-A9FA-77136B289373}" srcId="{954F4C09-052D-47D6-835E-19AF135D3A47}" destId="{AADECB50-1056-4DFE-9AF1-8A3E2B78B3C2}" srcOrd="2" destOrd="0" parTransId="{2625750D-10A6-4072-851E-82848399043E}" sibTransId="{6E6E0117-275F-4D54-984F-1AF29E36A90F}"/>
    <dgm:cxn modelId="{3E033B63-0490-44AA-AB00-99AD3AB0BCEC}" type="presOf" srcId="{5651FA1F-EAF0-4DC6-81B0-0C18D7284AAD}" destId="{BEBEC226-B8DA-4A2A-AB2D-93EBB2CAB92E}" srcOrd="0" destOrd="0" presId="urn:microsoft.com/office/officeart/2005/8/layout/hList6"/>
    <dgm:cxn modelId="{D8CD4943-AE68-4849-BAB0-CB1DDB0156BA}" type="presOf" srcId="{8957BF05-D249-41CD-A534-5DD6E5639D99}" destId="{2D47BFAD-88A5-40BF-B20F-7F87D1C4296C}" srcOrd="0" destOrd="0" presId="urn:microsoft.com/office/officeart/2005/8/layout/hList6"/>
    <dgm:cxn modelId="{80E51E65-3072-486E-B27D-AC76F22198A4}" srcId="{4B030E0A-8078-4475-B0B0-66824FF7C8A6}" destId="{C87A9889-8D3A-4979-97A4-6379C3FAD0A5}" srcOrd="3" destOrd="0" parTransId="{9CF91FB9-937D-4B64-88FD-B2E38DAB8C39}" sibTransId="{F4983F4E-2BED-4BD5-A585-ED8D89B7B0FA}"/>
    <dgm:cxn modelId="{58B46147-91E2-4A0C-82AE-8104AEEC6AF3}" srcId="{D2EC6A10-E1D1-4088-A265-575A9CFCF063}" destId="{19CEA9F6-9A7E-4471-9012-603D8334B8AF}" srcOrd="0" destOrd="0" parTransId="{147A87F9-0A0F-4296-A0F6-00DDE4579BB3}" sibTransId="{7E88E9D4-D4E6-4D14-90A8-3EF75F24DBCD}"/>
    <dgm:cxn modelId="{F5BE6648-C98F-452B-994C-95CB97B22C9B}" type="presOf" srcId="{A5079E32-7638-4E71-92D0-D844A78E2080}" destId="{30A1E908-7E0F-4434-802D-D4CC7E1C94AC}" srcOrd="0" destOrd="1" presId="urn:microsoft.com/office/officeart/2005/8/layout/hList6"/>
    <dgm:cxn modelId="{F302924C-81E2-4F36-AC4E-7B8AD53AAFD1}" type="presOf" srcId="{65A788C5-7F40-4BCA-92EE-CEAFD6CD547B}" destId="{30A1E908-7E0F-4434-802D-D4CC7E1C94AC}" srcOrd="0" destOrd="3" presId="urn:microsoft.com/office/officeart/2005/8/layout/hList6"/>
    <dgm:cxn modelId="{61090C77-0FD1-48FF-AFF6-815433B9F188}" srcId="{582FB8F2-F0BE-464F-A442-50BCA1F89E85}" destId="{05AB9B46-33C2-4386-8377-DA06723B1DFE}" srcOrd="1" destOrd="0" parTransId="{903D2F1D-D8FF-432E-95A4-65DF3311B3B8}" sibTransId="{030D6CFB-5A30-4A18-9065-94084A691A8A}"/>
    <dgm:cxn modelId="{F20DCA7C-854C-44C1-AC47-1FA3C8DB159B}" srcId="{8957BF05-D249-41CD-A534-5DD6E5639D99}" destId="{63B7533E-6503-4FCB-81AE-82EE06E0A576}" srcOrd="0" destOrd="0" parTransId="{B360A9AB-D3AF-499F-920B-38880BD8BA10}" sibTransId="{6E4D2D7D-FE78-4177-B247-CE2087911471}"/>
    <dgm:cxn modelId="{48070C7F-C1B2-4D54-A8BA-7B7217119E68}" type="presOf" srcId="{FA067CCF-88EA-4FEF-B770-86C68CBBD43C}" destId="{2D47BFAD-88A5-40BF-B20F-7F87D1C4296C}" srcOrd="0" destOrd="2" presId="urn:microsoft.com/office/officeart/2005/8/layout/hList6"/>
    <dgm:cxn modelId="{4C3CFB80-0B39-409F-839C-3AE14EBADE7D}" srcId="{AF83604D-D56C-48DB-AB6E-EE4CB717D2A7}" destId="{3C3F8650-DFB4-4392-A703-A2E2AA9A38D2}" srcOrd="1" destOrd="0" parTransId="{017313CA-AB9A-46FE-BDB9-E138545D99E0}" sibTransId="{8357F7FC-49E6-4477-93D4-7F8EEAF0881A}"/>
    <dgm:cxn modelId="{245D8D81-F933-427A-90C4-A470C05CC454}" srcId="{954F4C09-052D-47D6-835E-19AF135D3A47}" destId="{E82DD91F-A592-4196-BBA0-2D626400AF01}" srcOrd="1" destOrd="0" parTransId="{1827F612-0E57-464D-B1A9-42137D6F2E47}" sibTransId="{852DD613-5119-4BF9-8EE6-986C6FAF86ED}"/>
    <dgm:cxn modelId="{81229F89-2BEC-4C5C-91E1-DA16F82FE2A0}" srcId="{5651FA1F-EAF0-4DC6-81B0-0C18D7284AAD}" destId="{8957BF05-D249-41CD-A534-5DD6E5639D99}" srcOrd="2" destOrd="0" parTransId="{BC18247F-708B-4B4B-A3C4-4FE397D9713F}" sibTransId="{9E2997B4-5F43-4E28-8344-A4BE896FB581}"/>
    <dgm:cxn modelId="{F965A68E-D0B2-43CA-8D6C-28482765DD61}" type="presOf" srcId="{63B7533E-6503-4FCB-81AE-82EE06E0A576}" destId="{2D47BFAD-88A5-40BF-B20F-7F87D1C4296C}" srcOrd="0" destOrd="1" presId="urn:microsoft.com/office/officeart/2005/8/layout/hList6"/>
    <dgm:cxn modelId="{8F394990-8429-4F13-8DA2-042299626AE6}" type="presOf" srcId="{92F55C23-91E9-423B-BA75-39C0A7493D2D}" destId="{7AD8B22D-0E75-44E3-817F-BAC42FA46774}" srcOrd="0" destOrd="3" presId="urn:microsoft.com/office/officeart/2005/8/layout/hList6"/>
    <dgm:cxn modelId="{D5448E9A-8A1A-4393-829A-B21291BBB31A}" srcId="{5651FA1F-EAF0-4DC6-81B0-0C18D7284AAD}" destId="{4B030E0A-8078-4475-B0B0-66824FF7C8A6}" srcOrd="4" destOrd="0" parTransId="{2998D737-1934-48D4-8CDC-4DEA2926959B}" sibTransId="{C18FD9DB-4DD4-453B-9A54-B24D7F85461C}"/>
    <dgm:cxn modelId="{306A1F9C-7AA4-40FD-B844-74F796BBBF3A}" srcId="{4B030E0A-8078-4475-B0B0-66824FF7C8A6}" destId="{6D2C2996-1726-4569-A4CB-C49CA1850AD2}" srcOrd="0" destOrd="0" parTransId="{7B9F63EA-6F9D-4AD4-8F8F-6ED391C4F3B6}" sibTransId="{2FFD3B10-A1B3-4D30-B62D-5F69259FC49A}"/>
    <dgm:cxn modelId="{BBA1649C-1F52-4464-8D41-FAF8C0749AF6}" type="presOf" srcId="{1B79004B-3F9D-4926-911E-080FB7BDAF43}" destId="{4DD5854C-5F0F-42C7-8983-242E6E293A7B}" srcOrd="0" destOrd="2" presId="urn:microsoft.com/office/officeart/2005/8/layout/hList6"/>
    <dgm:cxn modelId="{CE3327A7-F1B7-4B82-9DA2-F5605C68642D}" srcId="{5651FA1F-EAF0-4DC6-81B0-0C18D7284AAD}" destId="{AF83604D-D56C-48DB-AB6E-EE4CB717D2A7}" srcOrd="1" destOrd="0" parTransId="{22051F4A-5D5F-4FCF-A9A7-7C833D92BA7C}" sibTransId="{05305B08-3F35-4A14-B8E4-BF615E8D1BC7}"/>
    <dgm:cxn modelId="{061BF9A8-83A0-4D47-881C-2087F3F38804}" type="presOf" srcId="{E5E0F9E7-0F19-4657-8AF3-BD7B99252CB4}" destId="{7AD8B22D-0E75-44E3-817F-BAC42FA46774}" srcOrd="0" destOrd="5" presId="urn:microsoft.com/office/officeart/2005/8/layout/hList6"/>
    <dgm:cxn modelId="{145712AB-3E62-4123-9C50-267F8A554F64}" srcId="{4B030E0A-8078-4475-B0B0-66824FF7C8A6}" destId="{477EA2BE-CFF9-406C-A9B5-53788348EC10}" srcOrd="2" destOrd="0" parTransId="{D1D44779-6A76-482B-8A36-C7BC4A18038C}" sibTransId="{41AB7513-5905-41E0-BD7E-89B41F0C3ABA}"/>
    <dgm:cxn modelId="{E3784CAB-AA9E-4844-9C51-25B187DBA56C}" type="presOf" srcId="{238F3B43-8C48-4A94-BDCA-0B68465F14BA}" destId="{2D47BFAD-88A5-40BF-B20F-7F87D1C4296C}" srcOrd="0" destOrd="6" presId="urn:microsoft.com/office/officeart/2005/8/layout/hList6"/>
    <dgm:cxn modelId="{7037FEAE-D235-4900-9EC5-B37448A4EC38}" srcId="{582FB8F2-F0BE-464F-A442-50BCA1F89E85}" destId="{CED4CCAF-E43C-4283-B869-7DD04E05A3C7}" srcOrd="0" destOrd="0" parTransId="{F2398DC7-0D4A-4E3C-B03B-3EF17C6840F8}" sibTransId="{2683FF0A-D328-44C9-BA1C-CB471DBA201E}"/>
    <dgm:cxn modelId="{CAC22BB0-2F70-4B79-9174-1D858D6A78E6}" srcId="{4B030E0A-8078-4475-B0B0-66824FF7C8A6}" destId="{1B79004B-3F9D-4926-911E-080FB7BDAF43}" srcOrd="1" destOrd="0" parTransId="{FB86F77C-1B61-4F3D-B113-68E53A91DB87}" sibTransId="{E3BF4B82-3B29-4670-ACCE-ECBB59F79A31}"/>
    <dgm:cxn modelId="{3FA948B9-4B9E-4346-9B38-AAE5DD3A2FFA}" srcId="{63B7533E-6503-4FCB-81AE-82EE06E0A576}" destId="{7979FC13-9ECE-4FFB-ABE5-BE8964DBC1EF}" srcOrd="5" destOrd="0" parTransId="{68DA762C-BB9E-448D-B3E1-1D2B9352A46F}" sibTransId="{32297FC8-920B-4E11-8BE5-D6A040D6E8D8}"/>
    <dgm:cxn modelId="{D778C8B9-BCC5-4BF6-8814-5E735BFB1251}" type="presOf" srcId="{32C72DF3-3DD7-4B77-91FC-4413924DB77B}" destId="{7AD8B22D-0E75-44E3-817F-BAC42FA46774}" srcOrd="0" destOrd="4" presId="urn:microsoft.com/office/officeart/2005/8/layout/hList6"/>
    <dgm:cxn modelId="{AA76DCBD-BE99-4834-A5B8-2E51EDAE8C5F}" type="presOf" srcId="{D2EC6A10-E1D1-4088-A265-575A9CFCF063}" destId="{7AD8B22D-0E75-44E3-817F-BAC42FA46774}" srcOrd="0" destOrd="1" presId="urn:microsoft.com/office/officeart/2005/8/layout/hList6"/>
    <dgm:cxn modelId="{2FFFC1C5-114B-4723-8B09-79E7FDAB78C5}" type="presOf" srcId="{CED4CCAF-E43C-4283-B869-7DD04E05A3C7}" destId="{4CBA82C0-AFC3-4C70-9A3B-56145C209E9B}" srcOrd="0" destOrd="1" presId="urn:microsoft.com/office/officeart/2005/8/layout/hList6"/>
    <dgm:cxn modelId="{E3C7D2CA-D4BC-4876-917D-29FEDC871CF3}" srcId="{D2EC6A10-E1D1-4088-A265-575A9CFCF063}" destId="{32C72DF3-3DD7-4B77-91FC-4413924DB77B}" srcOrd="2" destOrd="0" parTransId="{FB58CEDF-A4FD-499E-9ADA-0B332EFAA98C}" sibTransId="{2A7C8BC3-3D74-4405-8389-D2026292F3AA}"/>
    <dgm:cxn modelId="{2F12ECCA-5141-4C5D-96F1-2FB6C4737226}" srcId="{3B26B332-4BA4-44FE-8B95-689AD4D849F5}" destId="{D2EC6A10-E1D1-4088-A265-575A9CFCF063}" srcOrd="0" destOrd="0" parTransId="{589F2B01-125F-48EA-9D7D-73D635F1BC28}" sibTransId="{EC3E59DA-00B8-4EBA-A393-F2B8F7C98645}"/>
    <dgm:cxn modelId="{241AE4CF-F8F8-4A88-B089-4CA2AB6DECB4}" srcId="{63B7533E-6503-4FCB-81AE-82EE06E0A576}" destId="{0D89EC87-552C-4324-B540-F07D8C18396A}" srcOrd="3" destOrd="0" parTransId="{7BD9B814-C69B-477D-8D46-26869D39CD7B}" sibTransId="{B48F8C04-84EB-483D-AD15-0A765CAA8F4D}"/>
    <dgm:cxn modelId="{C86049E1-1CF4-4038-9B5D-2EBCF7B9CBFF}" type="presOf" srcId="{05AB9B46-33C2-4386-8377-DA06723B1DFE}" destId="{4CBA82C0-AFC3-4C70-9A3B-56145C209E9B}" srcOrd="0" destOrd="2" presId="urn:microsoft.com/office/officeart/2005/8/layout/hList6"/>
    <dgm:cxn modelId="{034DAFE1-460A-4481-9952-19A193BC89F3}" type="presOf" srcId="{582FB8F2-F0BE-464F-A442-50BCA1F89E85}" destId="{4CBA82C0-AFC3-4C70-9A3B-56145C209E9B}" srcOrd="0" destOrd="0" presId="urn:microsoft.com/office/officeart/2005/8/layout/hList6"/>
    <dgm:cxn modelId="{C2F73CEB-0144-4624-8F10-270E7CD1F560}" type="presOf" srcId="{6D2C2996-1726-4569-A4CB-C49CA1850AD2}" destId="{4DD5854C-5F0F-42C7-8983-242E6E293A7B}" srcOrd="0" destOrd="1" presId="urn:microsoft.com/office/officeart/2005/8/layout/hList6"/>
    <dgm:cxn modelId="{A0549EF9-C35B-4DBD-85E9-D208267F8548}" type="presOf" srcId="{AADECB50-1056-4DFE-9AF1-8A3E2B78B3C2}" destId="{7AD8B22D-0E75-44E3-817F-BAC42FA46774}" srcOrd="0" destOrd="9" presId="urn:microsoft.com/office/officeart/2005/8/layout/hList6"/>
    <dgm:cxn modelId="{734C25FA-999E-48C1-B8D9-9360EB3374A4}" type="presOf" srcId="{3C3F8650-DFB4-4392-A703-A2E2AA9A38D2}" destId="{30A1E908-7E0F-4434-802D-D4CC7E1C94AC}" srcOrd="0" destOrd="2" presId="urn:microsoft.com/office/officeart/2005/8/layout/hList6"/>
    <dgm:cxn modelId="{EDD945FB-376D-4C43-A3F6-555993A3C368}" srcId="{3B26B332-4BA4-44FE-8B95-689AD4D849F5}" destId="{954F4C09-052D-47D6-835E-19AF135D3A47}" srcOrd="1" destOrd="0" parTransId="{0C5333A0-7311-42D9-970A-B913C6B69358}" sibTransId="{4816FBB6-6F57-4548-808C-A0C15437D775}"/>
    <dgm:cxn modelId="{C8634AFB-CA07-4018-B46C-99661170BE0F}" type="presOf" srcId="{19CEA9F6-9A7E-4471-9012-603D8334B8AF}" destId="{7AD8B22D-0E75-44E3-817F-BAC42FA46774}" srcOrd="0" destOrd="2" presId="urn:microsoft.com/office/officeart/2005/8/layout/hList6"/>
    <dgm:cxn modelId="{11D69371-E023-4AFF-ADBF-069860411959}" type="presParOf" srcId="{BEBEC226-B8DA-4A2A-AB2D-93EBB2CAB92E}" destId="{7AD8B22D-0E75-44E3-817F-BAC42FA46774}" srcOrd="0" destOrd="0" presId="urn:microsoft.com/office/officeart/2005/8/layout/hList6"/>
    <dgm:cxn modelId="{3F1E9BD9-A157-4940-8D9C-B02B8BFA2A9F}" type="presParOf" srcId="{BEBEC226-B8DA-4A2A-AB2D-93EBB2CAB92E}" destId="{726D5BDF-1807-4047-9836-FADA8EF9705D}" srcOrd="1" destOrd="0" presId="urn:microsoft.com/office/officeart/2005/8/layout/hList6"/>
    <dgm:cxn modelId="{E951BE6E-5AB0-4B58-AB7C-1E7EFF4FC9ED}" type="presParOf" srcId="{BEBEC226-B8DA-4A2A-AB2D-93EBB2CAB92E}" destId="{30A1E908-7E0F-4434-802D-D4CC7E1C94AC}" srcOrd="2" destOrd="0" presId="urn:microsoft.com/office/officeart/2005/8/layout/hList6"/>
    <dgm:cxn modelId="{8B69DBBA-6D2F-4A64-A2FD-0AC1F636A2CF}" type="presParOf" srcId="{BEBEC226-B8DA-4A2A-AB2D-93EBB2CAB92E}" destId="{556F26F8-67ED-46BA-9707-9635C15BEF9D}" srcOrd="3" destOrd="0" presId="urn:microsoft.com/office/officeart/2005/8/layout/hList6"/>
    <dgm:cxn modelId="{DCA5B719-E562-4FA8-81EB-07BD8F7D5906}" type="presParOf" srcId="{BEBEC226-B8DA-4A2A-AB2D-93EBB2CAB92E}" destId="{2D47BFAD-88A5-40BF-B20F-7F87D1C4296C}" srcOrd="4" destOrd="0" presId="urn:microsoft.com/office/officeart/2005/8/layout/hList6"/>
    <dgm:cxn modelId="{F40259B9-B91F-4D9E-91A4-DF4B65AA054F}" type="presParOf" srcId="{BEBEC226-B8DA-4A2A-AB2D-93EBB2CAB92E}" destId="{D6998DB8-4D4C-4851-B889-C1E98E911747}" srcOrd="5" destOrd="0" presId="urn:microsoft.com/office/officeart/2005/8/layout/hList6"/>
    <dgm:cxn modelId="{FCCFF59E-5D65-4666-950E-A09E1A304FC5}" type="presParOf" srcId="{BEBEC226-B8DA-4A2A-AB2D-93EBB2CAB92E}" destId="{4CBA82C0-AFC3-4C70-9A3B-56145C209E9B}" srcOrd="6" destOrd="0" presId="urn:microsoft.com/office/officeart/2005/8/layout/hList6"/>
    <dgm:cxn modelId="{E45052E9-884A-4F01-A7FF-59C64FE56259}" type="presParOf" srcId="{BEBEC226-B8DA-4A2A-AB2D-93EBB2CAB92E}" destId="{B61E9256-0815-4DDF-9254-23C79861204E}" srcOrd="7" destOrd="0" presId="urn:microsoft.com/office/officeart/2005/8/layout/hList6"/>
    <dgm:cxn modelId="{D7364886-A0CD-450E-B2D1-6DAB13A8B702}" type="presParOf" srcId="{BEBEC226-B8DA-4A2A-AB2D-93EBB2CAB92E}" destId="{4DD5854C-5F0F-42C7-8983-242E6E293A7B}" srcOrd="8"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63488E7B-AD55-448A-B9FA-0B212C06C8C2}" type="doc">
      <dgm:prSet loTypeId="urn:microsoft.com/office/officeart/2005/8/layout/cycle5" loCatId="cycle" qsTypeId="urn:microsoft.com/office/officeart/2005/8/quickstyle/simple5" qsCatId="simple" csTypeId="urn:microsoft.com/office/officeart/2005/8/colors/colorful3" csCatId="colorful" phldr="1"/>
      <dgm:spPr/>
      <dgm:t>
        <a:bodyPr/>
        <a:lstStyle/>
        <a:p>
          <a:endParaRPr lang="fr-FR"/>
        </a:p>
      </dgm:t>
    </dgm:pt>
    <dgm:pt modelId="{B43AAA23-BD8D-4F8D-A66C-7F79091B8988}">
      <dgm:prSet phldrT="[Texte]" phldr="0"/>
      <dgm:spPr/>
      <dgm:t>
        <a:bodyPr/>
        <a:lstStyle/>
        <a:p>
          <a:r>
            <a:rPr lang="fr-FR">
              <a:solidFill>
                <a:srgbClr val="262626"/>
              </a:solidFill>
            </a:rPr>
            <a:t>1. Définition de la structure des comptes bancaires</a:t>
          </a:r>
        </a:p>
      </dgm:t>
    </dgm:pt>
    <dgm:pt modelId="{222C4308-D7E6-4C31-AF56-1D6D6E576072}" type="parTrans" cxnId="{F050E98E-0A67-4591-B1AD-BF83C06B6AC9}">
      <dgm:prSet/>
      <dgm:spPr/>
      <dgm:t>
        <a:bodyPr/>
        <a:lstStyle/>
        <a:p>
          <a:endParaRPr lang="fr-FR"/>
        </a:p>
      </dgm:t>
    </dgm:pt>
    <dgm:pt modelId="{66694446-8E6E-4D58-8C0D-F785BDDC9C88}" type="sibTrans" cxnId="{F050E98E-0A67-4591-B1AD-BF83C06B6AC9}">
      <dgm:prSet/>
      <dgm:spPr/>
      <dgm:t>
        <a:bodyPr/>
        <a:lstStyle/>
        <a:p>
          <a:endParaRPr lang="fr-FR"/>
        </a:p>
      </dgm:t>
    </dgm:pt>
    <dgm:pt modelId="{D5977B3C-50F4-48C9-AD2F-B05BDE034E0B}">
      <dgm:prSet phldrT="[Texte]" phldr="0"/>
      <dgm:spPr/>
      <dgm:t>
        <a:bodyPr/>
        <a:lstStyle/>
        <a:p>
          <a:r>
            <a:rPr lang="fr-FR">
              <a:solidFill>
                <a:srgbClr val="262626"/>
              </a:solidFill>
            </a:rPr>
            <a:t>2. Ouverture des comptes bancaires</a:t>
          </a:r>
        </a:p>
      </dgm:t>
    </dgm:pt>
    <dgm:pt modelId="{CDFDAF30-BFCF-4E51-9836-F2705C64A32F}" type="parTrans" cxnId="{9ED701C1-3495-4E50-8EC2-587388280F9B}">
      <dgm:prSet/>
      <dgm:spPr/>
      <dgm:t>
        <a:bodyPr/>
        <a:lstStyle/>
        <a:p>
          <a:endParaRPr lang="fr-FR"/>
        </a:p>
      </dgm:t>
    </dgm:pt>
    <dgm:pt modelId="{E4559207-7916-4666-9123-BC524EBB47DD}" type="sibTrans" cxnId="{9ED701C1-3495-4E50-8EC2-587388280F9B}">
      <dgm:prSet/>
      <dgm:spPr/>
      <dgm:t>
        <a:bodyPr/>
        <a:lstStyle/>
        <a:p>
          <a:endParaRPr lang="fr-FR"/>
        </a:p>
      </dgm:t>
    </dgm:pt>
    <dgm:pt modelId="{145E863F-8BE9-4CDA-8F73-6D86B4D37E80}">
      <dgm:prSet phldrT="[Texte]" phldr="0"/>
      <dgm:spPr/>
      <dgm:t>
        <a:bodyPr/>
        <a:lstStyle/>
        <a:p>
          <a:r>
            <a:rPr lang="fr-FR">
              <a:solidFill>
                <a:srgbClr val="262626"/>
              </a:solidFill>
            </a:rPr>
            <a:t>3. Maintenir les comptes bancaires</a:t>
          </a:r>
        </a:p>
      </dgm:t>
    </dgm:pt>
    <dgm:pt modelId="{EA8A5D96-C7B3-4256-B6C3-288E31C83095}" type="parTrans" cxnId="{A8C61AD8-530F-4CB1-9CD5-812F959C54CD}">
      <dgm:prSet/>
      <dgm:spPr/>
      <dgm:t>
        <a:bodyPr/>
        <a:lstStyle/>
        <a:p>
          <a:endParaRPr lang="fr-FR"/>
        </a:p>
      </dgm:t>
    </dgm:pt>
    <dgm:pt modelId="{DCC65B53-50AD-4641-A15A-0A5DB68F9C44}" type="sibTrans" cxnId="{A8C61AD8-530F-4CB1-9CD5-812F959C54CD}">
      <dgm:prSet/>
      <dgm:spPr/>
      <dgm:t>
        <a:bodyPr/>
        <a:lstStyle/>
        <a:p>
          <a:endParaRPr lang="fr-FR"/>
        </a:p>
      </dgm:t>
    </dgm:pt>
    <dgm:pt modelId="{8DC7B840-56BF-48B7-A27F-BA9D825F30AF}">
      <dgm:prSet phldrT="[Texte]" phldr="0"/>
      <dgm:spPr/>
      <dgm:t>
        <a:bodyPr/>
        <a:lstStyle/>
        <a:p>
          <a:r>
            <a:rPr lang="fr-FR">
              <a:solidFill>
                <a:srgbClr val="262626"/>
              </a:solidFill>
            </a:rPr>
            <a:t>4. Révision de la structure bancaire</a:t>
          </a:r>
        </a:p>
      </dgm:t>
    </dgm:pt>
    <dgm:pt modelId="{AE45CAFF-2ADF-44FE-B19D-87E31653FF77}" type="parTrans" cxnId="{046B58FA-8E2C-46F4-9A31-0B26645B6EBC}">
      <dgm:prSet/>
      <dgm:spPr/>
      <dgm:t>
        <a:bodyPr/>
        <a:lstStyle/>
        <a:p>
          <a:endParaRPr lang="fr-FR"/>
        </a:p>
      </dgm:t>
    </dgm:pt>
    <dgm:pt modelId="{1D186392-43F4-41C2-952A-AF580B455B6B}" type="sibTrans" cxnId="{046B58FA-8E2C-46F4-9A31-0B26645B6EBC}">
      <dgm:prSet/>
      <dgm:spPr/>
      <dgm:t>
        <a:bodyPr/>
        <a:lstStyle/>
        <a:p>
          <a:endParaRPr lang="fr-FR"/>
        </a:p>
      </dgm:t>
    </dgm:pt>
    <dgm:pt modelId="{72D81DD0-1504-46DE-AC87-868C55EA2689}" type="pres">
      <dgm:prSet presAssocID="{63488E7B-AD55-448A-B9FA-0B212C06C8C2}" presName="cycle" presStyleCnt="0">
        <dgm:presLayoutVars>
          <dgm:dir/>
          <dgm:resizeHandles val="exact"/>
        </dgm:presLayoutVars>
      </dgm:prSet>
      <dgm:spPr/>
    </dgm:pt>
    <dgm:pt modelId="{E315012A-C15F-45A4-B61B-299E70617D20}" type="pres">
      <dgm:prSet presAssocID="{B43AAA23-BD8D-4F8D-A66C-7F79091B8988}" presName="node" presStyleLbl="node1" presStyleIdx="0" presStyleCnt="4">
        <dgm:presLayoutVars>
          <dgm:bulletEnabled val="1"/>
        </dgm:presLayoutVars>
      </dgm:prSet>
      <dgm:spPr/>
    </dgm:pt>
    <dgm:pt modelId="{CF2E6717-A60B-4059-A843-00CB19672C25}" type="pres">
      <dgm:prSet presAssocID="{B43AAA23-BD8D-4F8D-A66C-7F79091B8988}" presName="spNode" presStyleCnt="0"/>
      <dgm:spPr/>
    </dgm:pt>
    <dgm:pt modelId="{A36EDB8F-BC99-42CD-A4BB-0FD4773A7EB1}" type="pres">
      <dgm:prSet presAssocID="{66694446-8E6E-4D58-8C0D-F785BDDC9C88}" presName="sibTrans" presStyleLbl="sibTrans1D1" presStyleIdx="0" presStyleCnt="4"/>
      <dgm:spPr/>
    </dgm:pt>
    <dgm:pt modelId="{37136822-311C-4BEB-B370-A9A9475B950F}" type="pres">
      <dgm:prSet presAssocID="{D5977B3C-50F4-48C9-AD2F-B05BDE034E0B}" presName="node" presStyleLbl="node1" presStyleIdx="1" presStyleCnt="4" custRadScaleRad="138982" custRadScaleInc="-41037">
        <dgm:presLayoutVars>
          <dgm:bulletEnabled val="1"/>
        </dgm:presLayoutVars>
      </dgm:prSet>
      <dgm:spPr/>
    </dgm:pt>
    <dgm:pt modelId="{A6384D7B-8519-4E49-96DD-409842AD588A}" type="pres">
      <dgm:prSet presAssocID="{D5977B3C-50F4-48C9-AD2F-B05BDE034E0B}" presName="spNode" presStyleCnt="0"/>
      <dgm:spPr/>
    </dgm:pt>
    <dgm:pt modelId="{C0DE0ABE-9330-4535-8200-55CAE6F03966}" type="pres">
      <dgm:prSet presAssocID="{E4559207-7916-4666-9123-BC524EBB47DD}" presName="sibTrans" presStyleLbl="sibTrans1D1" presStyleIdx="1" presStyleCnt="4"/>
      <dgm:spPr/>
    </dgm:pt>
    <dgm:pt modelId="{84F94F1F-FBB0-46A3-8C13-BCFB14A075CE}" type="pres">
      <dgm:prSet presAssocID="{145E863F-8BE9-4CDA-8F73-6D86B4D37E80}" presName="node" presStyleLbl="node1" presStyleIdx="2" presStyleCnt="4" custRadScaleRad="114591" custRadScaleInc="-125185">
        <dgm:presLayoutVars>
          <dgm:bulletEnabled val="1"/>
        </dgm:presLayoutVars>
      </dgm:prSet>
      <dgm:spPr/>
    </dgm:pt>
    <dgm:pt modelId="{3FEAA993-A139-4184-B3C2-1332A60E4E37}" type="pres">
      <dgm:prSet presAssocID="{145E863F-8BE9-4CDA-8F73-6D86B4D37E80}" presName="spNode" presStyleCnt="0"/>
      <dgm:spPr/>
    </dgm:pt>
    <dgm:pt modelId="{6CD160B2-9813-443C-A9E1-CABF7D6FCF0A}" type="pres">
      <dgm:prSet presAssocID="{DCC65B53-50AD-4641-A15A-0A5DB68F9C44}" presName="sibTrans" presStyleLbl="sibTrans1D1" presStyleIdx="2" presStyleCnt="4"/>
      <dgm:spPr/>
    </dgm:pt>
    <dgm:pt modelId="{B37BEAF3-8EC4-48E7-B529-FB249C935597}" type="pres">
      <dgm:prSet presAssocID="{8DC7B840-56BF-48B7-A27F-BA9D825F30AF}" presName="node" presStyleLbl="node1" presStyleIdx="3" presStyleCnt="4" custRadScaleRad="106064" custRadScaleInc="-87104">
        <dgm:presLayoutVars>
          <dgm:bulletEnabled val="1"/>
        </dgm:presLayoutVars>
      </dgm:prSet>
      <dgm:spPr/>
    </dgm:pt>
    <dgm:pt modelId="{F7801F3D-6DB8-4C09-B2EE-4C10C16E4B4F}" type="pres">
      <dgm:prSet presAssocID="{8DC7B840-56BF-48B7-A27F-BA9D825F30AF}" presName="spNode" presStyleCnt="0"/>
      <dgm:spPr/>
    </dgm:pt>
    <dgm:pt modelId="{125CFFA5-3731-4EEC-A557-87CC547671D4}" type="pres">
      <dgm:prSet presAssocID="{1D186392-43F4-41C2-952A-AF580B455B6B}" presName="sibTrans" presStyleLbl="sibTrans1D1" presStyleIdx="3" presStyleCnt="4"/>
      <dgm:spPr/>
    </dgm:pt>
  </dgm:ptLst>
  <dgm:cxnLst>
    <dgm:cxn modelId="{8F410700-19B8-4A07-84B4-DBBF320994AC}" type="presOf" srcId="{8DC7B840-56BF-48B7-A27F-BA9D825F30AF}" destId="{B37BEAF3-8EC4-48E7-B529-FB249C935597}" srcOrd="0" destOrd="0" presId="urn:microsoft.com/office/officeart/2005/8/layout/cycle5"/>
    <dgm:cxn modelId="{64D20509-1005-4F2C-B1A7-F8B18D1B0F8D}" type="presOf" srcId="{63488E7B-AD55-448A-B9FA-0B212C06C8C2}" destId="{72D81DD0-1504-46DE-AC87-868C55EA2689}" srcOrd="0" destOrd="0" presId="urn:microsoft.com/office/officeart/2005/8/layout/cycle5"/>
    <dgm:cxn modelId="{88349930-2C5B-4C54-9C3B-AA7D1FC1B90A}" type="presOf" srcId="{DCC65B53-50AD-4641-A15A-0A5DB68F9C44}" destId="{6CD160B2-9813-443C-A9E1-CABF7D6FCF0A}" srcOrd="0" destOrd="0" presId="urn:microsoft.com/office/officeart/2005/8/layout/cycle5"/>
    <dgm:cxn modelId="{E535E453-3164-4693-83E6-CF634CAA37F8}" type="presOf" srcId="{B43AAA23-BD8D-4F8D-A66C-7F79091B8988}" destId="{E315012A-C15F-45A4-B61B-299E70617D20}" srcOrd="0" destOrd="0" presId="urn:microsoft.com/office/officeart/2005/8/layout/cycle5"/>
    <dgm:cxn modelId="{D1069185-4353-4DF2-A99A-4CD815750EAD}" type="presOf" srcId="{D5977B3C-50F4-48C9-AD2F-B05BDE034E0B}" destId="{37136822-311C-4BEB-B370-A9A9475B950F}" srcOrd="0" destOrd="0" presId="urn:microsoft.com/office/officeart/2005/8/layout/cycle5"/>
    <dgm:cxn modelId="{F050E98E-0A67-4591-B1AD-BF83C06B6AC9}" srcId="{63488E7B-AD55-448A-B9FA-0B212C06C8C2}" destId="{B43AAA23-BD8D-4F8D-A66C-7F79091B8988}" srcOrd="0" destOrd="0" parTransId="{222C4308-D7E6-4C31-AF56-1D6D6E576072}" sibTransId="{66694446-8E6E-4D58-8C0D-F785BDDC9C88}"/>
    <dgm:cxn modelId="{6BFD919D-E6D4-49B6-9804-733DD48141C5}" type="presOf" srcId="{145E863F-8BE9-4CDA-8F73-6D86B4D37E80}" destId="{84F94F1F-FBB0-46A3-8C13-BCFB14A075CE}" srcOrd="0" destOrd="0" presId="urn:microsoft.com/office/officeart/2005/8/layout/cycle5"/>
    <dgm:cxn modelId="{A366FCB6-EBC0-4BD3-904F-AC45EA8ECAF1}" type="presOf" srcId="{1D186392-43F4-41C2-952A-AF580B455B6B}" destId="{125CFFA5-3731-4EEC-A557-87CC547671D4}" srcOrd="0" destOrd="0" presId="urn:microsoft.com/office/officeart/2005/8/layout/cycle5"/>
    <dgm:cxn modelId="{9ED701C1-3495-4E50-8EC2-587388280F9B}" srcId="{63488E7B-AD55-448A-B9FA-0B212C06C8C2}" destId="{D5977B3C-50F4-48C9-AD2F-B05BDE034E0B}" srcOrd="1" destOrd="0" parTransId="{CDFDAF30-BFCF-4E51-9836-F2705C64A32F}" sibTransId="{E4559207-7916-4666-9123-BC524EBB47DD}"/>
    <dgm:cxn modelId="{A8C61AD8-530F-4CB1-9CD5-812F959C54CD}" srcId="{63488E7B-AD55-448A-B9FA-0B212C06C8C2}" destId="{145E863F-8BE9-4CDA-8F73-6D86B4D37E80}" srcOrd="2" destOrd="0" parTransId="{EA8A5D96-C7B3-4256-B6C3-288E31C83095}" sibTransId="{DCC65B53-50AD-4641-A15A-0A5DB68F9C44}"/>
    <dgm:cxn modelId="{55C0BCEB-A5F6-4A0E-8DFD-8CE79349D687}" type="presOf" srcId="{E4559207-7916-4666-9123-BC524EBB47DD}" destId="{C0DE0ABE-9330-4535-8200-55CAE6F03966}" srcOrd="0" destOrd="0" presId="urn:microsoft.com/office/officeart/2005/8/layout/cycle5"/>
    <dgm:cxn modelId="{E48CB1F4-AE5C-4C39-85D9-50DA5E571F09}" type="presOf" srcId="{66694446-8E6E-4D58-8C0D-F785BDDC9C88}" destId="{A36EDB8F-BC99-42CD-A4BB-0FD4773A7EB1}" srcOrd="0" destOrd="0" presId="urn:microsoft.com/office/officeart/2005/8/layout/cycle5"/>
    <dgm:cxn modelId="{046B58FA-8E2C-46F4-9A31-0B26645B6EBC}" srcId="{63488E7B-AD55-448A-B9FA-0B212C06C8C2}" destId="{8DC7B840-56BF-48B7-A27F-BA9D825F30AF}" srcOrd="3" destOrd="0" parTransId="{AE45CAFF-2ADF-44FE-B19D-87E31653FF77}" sibTransId="{1D186392-43F4-41C2-952A-AF580B455B6B}"/>
    <dgm:cxn modelId="{5DE38E1E-2670-4356-92FD-A0CE48BDD98E}" type="presParOf" srcId="{72D81DD0-1504-46DE-AC87-868C55EA2689}" destId="{E315012A-C15F-45A4-B61B-299E70617D20}" srcOrd="0" destOrd="0" presId="urn:microsoft.com/office/officeart/2005/8/layout/cycle5"/>
    <dgm:cxn modelId="{01CEC2C3-3813-4C1B-88E2-EDE6D1DEAF21}" type="presParOf" srcId="{72D81DD0-1504-46DE-AC87-868C55EA2689}" destId="{CF2E6717-A60B-4059-A843-00CB19672C25}" srcOrd="1" destOrd="0" presId="urn:microsoft.com/office/officeart/2005/8/layout/cycle5"/>
    <dgm:cxn modelId="{DB971FB7-1F4E-41FE-94B0-121D7F85C487}" type="presParOf" srcId="{72D81DD0-1504-46DE-AC87-868C55EA2689}" destId="{A36EDB8F-BC99-42CD-A4BB-0FD4773A7EB1}" srcOrd="2" destOrd="0" presId="urn:microsoft.com/office/officeart/2005/8/layout/cycle5"/>
    <dgm:cxn modelId="{939FB5F7-FBDA-4106-BBB4-5D26B97A67E8}" type="presParOf" srcId="{72D81DD0-1504-46DE-AC87-868C55EA2689}" destId="{37136822-311C-4BEB-B370-A9A9475B950F}" srcOrd="3" destOrd="0" presId="urn:microsoft.com/office/officeart/2005/8/layout/cycle5"/>
    <dgm:cxn modelId="{763EE7BC-7544-4DAF-9F8C-8F81FCE9E9BE}" type="presParOf" srcId="{72D81DD0-1504-46DE-AC87-868C55EA2689}" destId="{A6384D7B-8519-4E49-96DD-409842AD588A}" srcOrd="4" destOrd="0" presId="urn:microsoft.com/office/officeart/2005/8/layout/cycle5"/>
    <dgm:cxn modelId="{8E281427-E82D-464B-AD83-FE44DD069230}" type="presParOf" srcId="{72D81DD0-1504-46DE-AC87-868C55EA2689}" destId="{C0DE0ABE-9330-4535-8200-55CAE6F03966}" srcOrd="5" destOrd="0" presId="urn:microsoft.com/office/officeart/2005/8/layout/cycle5"/>
    <dgm:cxn modelId="{D67A961E-3462-4D4C-8F95-0FBAEB4E8F43}" type="presParOf" srcId="{72D81DD0-1504-46DE-AC87-868C55EA2689}" destId="{84F94F1F-FBB0-46A3-8C13-BCFB14A075CE}" srcOrd="6" destOrd="0" presId="urn:microsoft.com/office/officeart/2005/8/layout/cycle5"/>
    <dgm:cxn modelId="{3892971E-ED36-439C-AFF2-D442571C2891}" type="presParOf" srcId="{72D81DD0-1504-46DE-AC87-868C55EA2689}" destId="{3FEAA993-A139-4184-B3C2-1332A60E4E37}" srcOrd="7" destOrd="0" presId="urn:microsoft.com/office/officeart/2005/8/layout/cycle5"/>
    <dgm:cxn modelId="{5361D328-DB68-43F7-AB45-A0288B194CAD}" type="presParOf" srcId="{72D81DD0-1504-46DE-AC87-868C55EA2689}" destId="{6CD160B2-9813-443C-A9E1-CABF7D6FCF0A}" srcOrd="8" destOrd="0" presId="urn:microsoft.com/office/officeart/2005/8/layout/cycle5"/>
    <dgm:cxn modelId="{47F4372A-AA93-4E19-93DB-6362E8DC99F0}" type="presParOf" srcId="{72D81DD0-1504-46DE-AC87-868C55EA2689}" destId="{B37BEAF3-8EC4-48E7-B529-FB249C935597}" srcOrd="9" destOrd="0" presId="urn:microsoft.com/office/officeart/2005/8/layout/cycle5"/>
    <dgm:cxn modelId="{9DE97FAB-82BB-4C5A-A0B4-77910C2A7E68}" type="presParOf" srcId="{72D81DD0-1504-46DE-AC87-868C55EA2689}" destId="{F7801F3D-6DB8-4C09-B2EE-4C10C16E4B4F}" srcOrd="10" destOrd="0" presId="urn:microsoft.com/office/officeart/2005/8/layout/cycle5"/>
    <dgm:cxn modelId="{42537ADB-B247-489C-AF8A-DBB2A4DD12B9}" type="presParOf" srcId="{72D81DD0-1504-46DE-AC87-868C55EA2689}" destId="{125CFFA5-3731-4EEC-A557-87CC547671D4}" srcOrd="11" destOrd="0" presId="urn:microsoft.com/office/officeart/2005/8/layout/cycle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63488E7B-AD55-448A-B9FA-0B212C06C8C2}" type="doc">
      <dgm:prSet loTypeId="urn:microsoft.com/office/officeart/2005/8/layout/cycle5" loCatId="cycle" qsTypeId="urn:microsoft.com/office/officeart/2005/8/quickstyle/simple5" qsCatId="simple" csTypeId="urn:microsoft.com/office/officeart/2005/8/colors/colorful3" csCatId="colorful" phldr="1"/>
      <dgm:spPr/>
      <dgm:t>
        <a:bodyPr/>
        <a:lstStyle/>
        <a:p>
          <a:endParaRPr lang="fr-FR"/>
        </a:p>
      </dgm:t>
    </dgm:pt>
    <dgm:pt modelId="{B43AAA23-BD8D-4F8D-A66C-7F79091B8988}">
      <dgm:prSet phldrT="[Texte]" phldr="0" custT="1"/>
      <dgm:spPr/>
      <dgm:t>
        <a:bodyPr/>
        <a:lstStyle/>
        <a:p>
          <a:r>
            <a:rPr lang="fr-FR" sz="1800">
              <a:solidFill>
                <a:srgbClr val="262626"/>
              </a:solidFill>
            </a:rPr>
            <a:t>1. Définition des lignes directrices </a:t>
          </a:r>
        </a:p>
      </dgm:t>
    </dgm:pt>
    <dgm:pt modelId="{222C4308-D7E6-4C31-AF56-1D6D6E576072}" type="parTrans" cxnId="{F050E98E-0A67-4591-B1AD-BF83C06B6AC9}">
      <dgm:prSet/>
      <dgm:spPr/>
      <dgm:t>
        <a:bodyPr/>
        <a:lstStyle/>
        <a:p>
          <a:endParaRPr lang="fr-FR"/>
        </a:p>
      </dgm:t>
    </dgm:pt>
    <dgm:pt modelId="{66694446-8E6E-4D58-8C0D-F785BDDC9C88}" type="sibTrans" cxnId="{F050E98E-0A67-4591-B1AD-BF83C06B6AC9}">
      <dgm:prSet/>
      <dgm:spPr/>
      <dgm:t>
        <a:bodyPr/>
        <a:lstStyle/>
        <a:p>
          <a:endParaRPr lang="fr-FR"/>
        </a:p>
      </dgm:t>
    </dgm:pt>
    <dgm:pt modelId="{D5977B3C-50F4-48C9-AD2F-B05BDE034E0B}">
      <dgm:prSet phldrT="[Texte]" phldr="0" custT="1"/>
      <dgm:spPr/>
      <dgm:t>
        <a:bodyPr/>
        <a:lstStyle/>
        <a:p>
          <a:r>
            <a:rPr lang="fr-FR" sz="1800">
              <a:solidFill>
                <a:srgbClr val="262626"/>
              </a:solidFill>
            </a:rPr>
            <a:t>2. Gérer les frais bancaires</a:t>
          </a:r>
          <a:endParaRPr lang="fr-FR" sz="2000">
            <a:solidFill>
              <a:srgbClr val="262626"/>
            </a:solidFill>
          </a:endParaRPr>
        </a:p>
      </dgm:t>
    </dgm:pt>
    <dgm:pt modelId="{CDFDAF30-BFCF-4E51-9836-F2705C64A32F}" type="parTrans" cxnId="{9ED701C1-3495-4E50-8EC2-587388280F9B}">
      <dgm:prSet/>
      <dgm:spPr/>
      <dgm:t>
        <a:bodyPr/>
        <a:lstStyle/>
        <a:p>
          <a:endParaRPr lang="fr-FR"/>
        </a:p>
      </dgm:t>
    </dgm:pt>
    <dgm:pt modelId="{E4559207-7916-4666-9123-BC524EBB47DD}" type="sibTrans" cxnId="{9ED701C1-3495-4E50-8EC2-587388280F9B}">
      <dgm:prSet/>
      <dgm:spPr/>
      <dgm:t>
        <a:bodyPr/>
        <a:lstStyle/>
        <a:p>
          <a:endParaRPr lang="fr-FR"/>
        </a:p>
      </dgm:t>
    </dgm:pt>
    <dgm:pt modelId="{145E863F-8BE9-4CDA-8F73-6D86B4D37E80}">
      <dgm:prSet phldrT="[Texte]" phldr="0" custT="1"/>
      <dgm:spPr/>
      <dgm:t>
        <a:bodyPr/>
        <a:lstStyle/>
        <a:p>
          <a:r>
            <a:rPr lang="fr-FR" sz="1800">
              <a:solidFill>
                <a:srgbClr val="262626"/>
              </a:solidFill>
            </a:rPr>
            <a:t>3. Négociation des frais bancaires</a:t>
          </a:r>
        </a:p>
      </dgm:t>
    </dgm:pt>
    <dgm:pt modelId="{EA8A5D96-C7B3-4256-B6C3-288E31C83095}" type="parTrans" cxnId="{A8C61AD8-530F-4CB1-9CD5-812F959C54CD}">
      <dgm:prSet/>
      <dgm:spPr/>
      <dgm:t>
        <a:bodyPr/>
        <a:lstStyle/>
        <a:p>
          <a:endParaRPr lang="fr-FR"/>
        </a:p>
      </dgm:t>
    </dgm:pt>
    <dgm:pt modelId="{DCC65B53-50AD-4641-A15A-0A5DB68F9C44}" type="sibTrans" cxnId="{A8C61AD8-530F-4CB1-9CD5-812F959C54CD}">
      <dgm:prSet/>
      <dgm:spPr/>
      <dgm:t>
        <a:bodyPr/>
        <a:lstStyle/>
        <a:p>
          <a:endParaRPr lang="fr-FR"/>
        </a:p>
      </dgm:t>
    </dgm:pt>
    <dgm:pt modelId="{72D81DD0-1504-46DE-AC87-868C55EA2689}" type="pres">
      <dgm:prSet presAssocID="{63488E7B-AD55-448A-B9FA-0B212C06C8C2}" presName="cycle" presStyleCnt="0">
        <dgm:presLayoutVars>
          <dgm:dir/>
          <dgm:resizeHandles val="exact"/>
        </dgm:presLayoutVars>
      </dgm:prSet>
      <dgm:spPr/>
    </dgm:pt>
    <dgm:pt modelId="{E315012A-C15F-45A4-B61B-299E70617D20}" type="pres">
      <dgm:prSet presAssocID="{B43AAA23-BD8D-4F8D-A66C-7F79091B8988}" presName="node" presStyleLbl="node1" presStyleIdx="0" presStyleCnt="3">
        <dgm:presLayoutVars>
          <dgm:bulletEnabled val="1"/>
        </dgm:presLayoutVars>
      </dgm:prSet>
      <dgm:spPr/>
    </dgm:pt>
    <dgm:pt modelId="{CF2E6717-A60B-4059-A843-00CB19672C25}" type="pres">
      <dgm:prSet presAssocID="{B43AAA23-BD8D-4F8D-A66C-7F79091B8988}" presName="spNode" presStyleCnt="0"/>
      <dgm:spPr/>
    </dgm:pt>
    <dgm:pt modelId="{A36EDB8F-BC99-42CD-A4BB-0FD4773A7EB1}" type="pres">
      <dgm:prSet presAssocID="{66694446-8E6E-4D58-8C0D-F785BDDC9C88}" presName="sibTrans" presStyleLbl="sibTrans1D1" presStyleIdx="0" presStyleCnt="3"/>
      <dgm:spPr/>
    </dgm:pt>
    <dgm:pt modelId="{37136822-311C-4BEB-B370-A9A9475B950F}" type="pres">
      <dgm:prSet presAssocID="{D5977B3C-50F4-48C9-AD2F-B05BDE034E0B}" presName="node" presStyleLbl="node1" presStyleIdx="1" presStyleCnt="3" custRadScaleRad="156552" custRadScaleInc="38720">
        <dgm:presLayoutVars>
          <dgm:bulletEnabled val="1"/>
        </dgm:presLayoutVars>
      </dgm:prSet>
      <dgm:spPr/>
    </dgm:pt>
    <dgm:pt modelId="{A6384D7B-8519-4E49-96DD-409842AD588A}" type="pres">
      <dgm:prSet presAssocID="{D5977B3C-50F4-48C9-AD2F-B05BDE034E0B}" presName="spNode" presStyleCnt="0"/>
      <dgm:spPr/>
    </dgm:pt>
    <dgm:pt modelId="{C0DE0ABE-9330-4535-8200-55CAE6F03966}" type="pres">
      <dgm:prSet presAssocID="{E4559207-7916-4666-9123-BC524EBB47DD}" presName="sibTrans" presStyleLbl="sibTrans1D1" presStyleIdx="1" presStyleCnt="3"/>
      <dgm:spPr/>
    </dgm:pt>
    <dgm:pt modelId="{84F94F1F-FBB0-46A3-8C13-BCFB14A075CE}" type="pres">
      <dgm:prSet presAssocID="{145E863F-8BE9-4CDA-8F73-6D86B4D37E80}" presName="node" presStyleLbl="node1" presStyleIdx="2" presStyleCnt="3" custRadScaleRad="117842" custRadScaleInc="50290">
        <dgm:presLayoutVars>
          <dgm:bulletEnabled val="1"/>
        </dgm:presLayoutVars>
      </dgm:prSet>
      <dgm:spPr/>
    </dgm:pt>
    <dgm:pt modelId="{3FEAA993-A139-4184-B3C2-1332A60E4E37}" type="pres">
      <dgm:prSet presAssocID="{145E863F-8BE9-4CDA-8F73-6D86B4D37E80}" presName="spNode" presStyleCnt="0"/>
      <dgm:spPr/>
    </dgm:pt>
    <dgm:pt modelId="{6CD160B2-9813-443C-A9E1-CABF7D6FCF0A}" type="pres">
      <dgm:prSet presAssocID="{DCC65B53-50AD-4641-A15A-0A5DB68F9C44}" presName="sibTrans" presStyleLbl="sibTrans1D1" presStyleIdx="2" presStyleCnt="3"/>
      <dgm:spPr/>
    </dgm:pt>
  </dgm:ptLst>
  <dgm:cxnLst>
    <dgm:cxn modelId="{64D20509-1005-4F2C-B1A7-F8B18D1B0F8D}" type="presOf" srcId="{63488E7B-AD55-448A-B9FA-0B212C06C8C2}" destId="{72D81DD0-1504-46DE-AC87-868C55EA2689}" srcOrd="0" destOrd="0" presId="urn:microsoft.com/office/officeart/2005/8/layout/cycle5"/>
    <dgm:cxn modelId="{88349930-2C5B-4C54-9C3B-AA7D1FC1B90A}" type="presOf" srcId="{DCC65B53-50AD-4641-A15A-0A5DB68F9C44}" destId="{6CD160B2-9813-443C-A9E1-CABF7D6FCF0A}" srcOrd="0" destOrd="0" presId="urn:microsoft.com/office/officeart/2005/8/layout/cycle5"/>
    <dgm:cxn modelId="{E535E453-3164-4693-83E6-CF634CAA37F8}" type="presOf" srcId="{B43AAA23-BD8D-4F8D-A66C-7F79091B8988}" destId="{E315012A-C15F-45A4-B61B-299E70617D20}" srcOrd="0" destOrd="0" presId="urn:microsoft.com/office/officeart/2005/8/layout/cycle5"/>
    <dgm:cxn modelId="{D1069185-4353-4DF2-A99A-4CD815750EAD}" type="presOf" srcId="{D5977B3C-50F4-48C9-AD2F-B05BDE034E0B}" destId="{37136822-311C-4BEB-B370-A9A9475B950F}" srcOrd="0" destOrd="0" presId="urn:microsoft.com/office/officeart/2005/8/layout/cycle5"/>
    <dgm:cxn modelId="{F050E98E-0A67-4591-B1AD-BF83C06B6AC9}" srcId="{63488E7B-AD55-448A-B9FA-0B212C06C8C2}" destId="{B43AAA23-BD8D-4F8D-A66C-7F79091B8988}" srcOrd="0" destOrd="0" parTransId="{222C4308-D7E6-4C31-AF56-1D6D6E576072}" sibTransId="{66694446-8E6E-4D58-8C0D-F785BDDC9C88}"/>
    <dgm:cxn modelId="{6BFD919D-E6D4-49B6-9804-733DD48141C5}" type="presOf" srcId="{145E863F-8BE9-4CDA-8F73-6D86B4D37E80}" destId="{84F94F1F-FBB0-46A3-8C13-BCFB14A075CE}" srcOrd="0" destOrd="0" presId="urn:microsoft.com/office/officeart/2005/8/layout/cycle5"/>
    <dgm:cxn modelId="{9ED701C1-3495-4E50-8EC2-587388280F9B}" srcId="{63488E7B-AD55-448A-B9FA-0B212C06C8C2}" destId="{D5977B3C-50F4-48C9-AD2F-B05BDE034E0B}" srcOrd="1" destOrd="0" parTransId="{CDFDAF30-BFCF-4E51-9836-F2705C64A32F}" sibTransId="{E4559207-7916-4666-9123-BC524EBB47DD}"/>
    <dgm:cxn modelId="{A8C61AD8-530F-4CB1-9CD5-812F959C54CD}" srcId="{63488E7B-AD55-448A-B9FA-0B212C06C8C2}" destId="{145E863F-8BE9-4CDA-8F73-6D86B4D37E80}" srcOrd="2" destOrd="0" parTransId="{EA8A5D96-C7B3-4256-B6C3-288E31C83095}" sibTransId="{DCC65B53-50AD-4641-A15A-0A5DB68F9C44}"/>
    <dgm:cxn modelId="{55C0BCEB-A5F6-4A0E-8DFD-8CE79349D687}" type="presOf" srcId="{E4559207-7916-4666-9123-BC524EBB47DD}" destId="{C0DE0ABE-9330-4535-8200-55CAE6F03966}" srcOrd="0" destOrd="0" presId="urn:microsoft.com/office/officeart/2005/8/layout/cycle5"/>
    <dgm:cxn modelId="{E48CB1F4-AE5C-4C39-85D9-50DA5E571F09}" type="presOf" srcId="{66694446-8E6E-4D58-8C0D-F785BDDC9C88}" destId="{A36EDB8F-BC99-42CD-A4BB-0FD4773A7EB1}" srcOrd="0" destOrd="0" presId="urn:microsoft.com/office/officeart/2005/8/layout/cycle5"/>
    <dgm:cxn modelId="{5DE38E1E-2670-4356-92FD-A0CE48BDD98E}" type="presParOf" srcId="{72D81DD0-1504-46DE-AC87-868C55EA2689}" destId="{E315012A-C15F-45A4-B61B-299E70617D20}" srcOrd="0" destOrd="0" presId="urn:microsoft.com/office/officeart/2005/8/layout/cycle5"/>
    <dgm:cxn modelId="{01CEC2C3-3813-4C1B-88E2-EDE6D1DEAF21}" type="presParOf" srcId="{72D81DD0-1504-46DE-AC87-868C55EA2689}" destId="{CF2E6717-A60B-4059-A843-00CB19672C25}" srcOrd="1" destOrd="0" presId="urn:microsoft.com/office/officeart/2005/8/layout/cycle5"/>
    <dgm:cxn modelId="{DB971FB7-1F4E-41FE-94B0-121D7F85C487}" type="presParOf" srcId="{72D81DD0-1504-46DE-AC87-868C55EA2689}" destId="{A36EDB8F-BC99-42CD-A4BB-0FD4773A7EB1}" srcOrd="2" destOrd="0" presId="urn:microsoft.com/office/officeart/2005/8/layout/cycle5"/>
    <dgm:cxn modelId="{939FB5F7-FBDA-4106-BBB4-5D26B97A67E8}" type="presParOf" srcId="{72D81DD0-1504-46DE-AC87-868C55EA2689}" destId="{37136822-311C-4BEB-B370-A9A9475B950F}" srcOrd="3" destOrd="0" presId="urn:microsoft.com/office/officeart/2005/8/layout/cycle5"/>
    <dgm:cxn modelId="{763EE7BC-7544-4DAF-9F8C-8F81FCE9E9BE}" type="presParOf" srcId="{72D81DD0-1504-46DE-AC87-868C55EA2689}" destId="{A6384D7B-8519-4E49-96DD-409842AD588A}" srcOrd="4" destOrd="0" presId="urn:microsoft.com/office/officeart/2005/8/layout/cycle5"/>
    <dgm:cxn modelId="{8E281427-E82D-464B-AD83-FE44DD069230}" type="presParOf" srcId="{72D81DD0-1504-46DE-AC87-868C55EA2689}" destId="{C0DE0ABE-9330-4535-8200-55CAE6F03966}" srcOrd="5" destOrd="0" presId="urn:microsoft.com/office/officeart/2005/8/layout/cycle5"/>
    <dgm:cxn modelId="{D67A961E-3462-4D4C-8F95-0FBAEB4E8F43}" type="presParOf" srcId="{72D81DD0-1504-46DE-AC87-868C55EA2689}" destId="{84F94F1F-FBB0-46A3-8C13-BCFB14A075CE}" srcOrd="6" destOrd="0" presId="urn:microsoft.com/office/officeart/2005/8/layout/cycle5"/>
    <dgm:cxn modelId="{3892971E-ED36-439C-AFF2-D442571C2891}" type="presParOf" srcId="{72D81DD0-1504-46DE-AC87-868C55EA2689}" destId="{3FEAA993-A139-4184-B3C2-1332A60E4E37}" srcOrd="7" destOrd="0" presId="urn:microsoft.com/office/officeart/2005/8/layout/cycle5"/>
    <dgm:cxn modelId="{5361D328-DB68-43F7-AB45-A0288B194CAD}" type="presParOf" srcId="{72D81DD0-1504-46DE-AC87-868C55EA2689}" destId="{6CD160B2-9813-443C-A9E1-CABF7D6FCF0A}" srcOrd="8" destOrd="0" presId="urn:microsoft.com/office/officeart/2005/8/layout/cycle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63488E7B-AD55-448A-B9FA-0B212C06C8C2}" type="doc">
      <dgm:prSet loTypeId="urn:microsoft.com/office/officeart/2005/8/layout/cycle5" loCatId="cycle" qsTypeId="urn:microsoft.com/office/officeart/2005/8/quickstyle/simple5" qsCatId="simple" csTypeId="urn:microsoft.com/office/officeart/2005/8/colors/colorful3" csCatId="colorful" phldr="1"/>
      <dgm:spPr/>
      <dgm:t>
        <a:bodyPr/>
        <a:lstStyle/>
        <a:p>
          <a:endParaRPr lang="fr-FR"/>
        </a:p>
      </dgm:t>
    </dgm:pt>
    <dgm:pt modelId="{B43AAA23-BD8D-4F8D-A66C-7F79091B8988}">
      <dgm:prSet phldrT="[Texte]" phldr="0" custT="1"/>
      <dgm:spPr/>
      <dgm:t>
        <a:bodyPr/>
        <a:lstStyle/>
        <a:p>
          <a:r>
            <a:rPr lang="fr-FR" sz="1600">
              <a:solidFill>
                <a:srgbClr val="262626"/>
              </a:solidFill>
            </a:rPr>
            <a:t>1. Émettre le paiement</a:t>
          </a:r>
          <a:r>
            <a:rPr lang="fr-FR" sz="1400">
              <a:solidFill>
                <a:srgbClr val="262626"/>
              </a:solidFill>
            </a:rPr>
            <a:t>*</a:t>
          </a:r>
          <a:endParaRPr lang="fr-FR" sz="1600">
            <a:solidFill>
              <a:srgbClr val="262626"/>
            </a:solidFill>
          </a:endParaRPr>
        </a:p>
      </dgm:t>
    </dgm:pt>
    <dgm:pt modelId="{222C4308-D7E6-4C31-AF56-1D6D6E576072}" type="parTrans" cxnId="{F050E98E-0A67-4591-B1AD-BF83C06B6AC9}">
      <dgm:prSet/>
      <dgm:spPr/>
      <dgm:t>
        <a:bodyPr/>
        <a:lstStyle/>
        <a:p>
          <a:endParaRPr lang="fr-FR"/>
        </a:p>
      </dgm:t>
    </dgm:pt>
    <dgm:pt modelId="{66694446-8E6E-4D58-8C0D-F785BDDC9C88}" type="sibTrans" cxnId="{F050E98E-0A67-4591-B1AD-BF83C06B6AC9}">
      <dgm:prSet/>
      <dgm:spPr/>
      <dgm:t>
        <a:bodyPr/>
        <a:lstStyle/>
        <a:p>
          <a:endParaRPr lang="fr-FR"/>
        </a:p>
      </dgm:t>
    </dgm:pt>
    <dgm:pt modelId="{D5977B3C-50F4-48C9-AD2F-B05BDE034E0B}">
      <dgm:prSet phldrT="[Texte]" phldr="0" custT="1"/>
      <dgm:spPr/>
      <dgm:t>
        <a:bodyPr/>
        <a:lstStyle/>
        <a:p>
          <a:r>
            <a:rPr lang="fr-FR" sz="1600">
              <a:solidFill>
                <a:srgbClr val="262626"/>
              </a:solidFill>
            </a:rPr>
            <a:t>2. Valider le paiement</a:t>
          </a:r>
          <a:r>
            <a:rPr lang="fr-FR" sz="1400">
              <a:solidFill>
                <a:srgbClr val="262626"/>
              </a:solidFill>
            </a:rPr>
            <a:t>*</a:t>
          </a:r>
          <a:endParaRPr lang="fr-FR" sz="2000">
            <a:solidFill>
              <a:srgbClr val="262626"/>
            </a:solidFill>
          </a:endParaRPr>
        </a:p>
      </dgm:t>
    </dgm:pt>
    <dgm:pt modelId="{CDFDAF30-BFCF-4E51-9836-F2705C64A32F}" type="parTrans" cxnId="{9ED701C1-3495-4E50-8EC2-587388280F9B}">
      <dgm:prSet/>
      <dgm:spPr/>
      <dgm:t>
        <a:bodyPr/>
        <a:lstStyle/>
        <a:p>
          <a:endParaRPr lang="fr-FR"/>
        </a:p>
      </dgm:t>
    </dgm:pt>
    <dgm:pt modelId="{E4559207-7916-4666-9123-BC524EBB47DD}" type="sibTrans" cxnId="{9ED701C1-3495-4E50-8EC2-587388280F9B}">
      <dgm:prSet/>
      <dgm:spPr/>
      <dgm:t>
        <a:bodyPr/>
        <a:lstStyle/>
        <a:p>
          <a:endParaRPr lang="fr-FR"/>
        </a:p>
      </dgm:t>
    </dgm:pt>
    <dgm:pt modelId="{145E863F-8BE9-4CDA-8F73-6D86B4D37E80}">
      <dgm:prSet phldrT="[Texte]" phldr="0" custT="1"/>
      <dgm:spPr/>
      <dgm:t>
        <a:bodyPr/>
        <a:lstStyle/>
        <a:p>
          <a:r>
            <a:rPr lang="fr-FR" sz="1600">
              <a:solidFill>
                <a:srgbClr val="262626"/>
              </a:solidFill>
            </a:rPr>
            <a:t>4. Comptabiliser</a:t>
          </a:r>
        </a:p>
      </dgm:t>
    </dgm:pt>
    <dgm:pt modelId="{EA8A5D96-C7B3-4256-B6C3-288E31C83095}" type="parTrans" cxnId="{A8C61AD8-530F-4CB1-9CD5-812F959C54CD}">
      <dgm:prSet/>
      <dgm:spPr/>
      <dgm:t>
        <a:bodyPr/>
        <a:lstStyle/>
        <a:p>
          <a:endParaRPr lang="fr-FR"/>
        </a:p>
      </dgm:t>
    </dgm:pt>
    <dgm:pt modelId="{DCC65B53-50AD-4641-A15A-0A5DB68F9C44}" type="sibTrans" cxnId="{A8C61AD8-530F-4CB1-9CD5-812F959C54CD}">
      <dgm:prSet/>
      <dgm:spPr/>
      <dgm:t>
        <a:bodyPr/>
        <a:lstStyle/>
        <a:p>
          <a:endParaRPr lang="fr-FR"/>
        </a:p>
      </dgm:t>
    </dgm:pt>
    <dgm:pt modelId="{2694BEBB-C20F-4735-ABAB-1E7EFACFC8A9}">
      <dgm:prSet phldrT="[Texte]" phldr="0" custT="1"/>
      <dgm:spPr/>
      <dgm:t>
        <a:bodyPr/>
        <a:lstStyle/>
        <a:p>
          <a:r>
            <a:rPr lang="fr-FR" sz="1600">
              <a:solidFill>
                <a:srgbClr val="262626"/>
              </a:solidFill>
            </a:rPr>
            <a:t>3. Opérer le paiement</a:t>
          </a:r>
          <a:r>
            <a:rPr lang="fr-FR" sz="1400">
              <a:solidFill>
                <a:srgbClr val="262626"/>
              </a:solidFill>
            </a:rPr>
            <a:t>*</a:t>
          </a:r>
          <a:endParaRPr lang="fr-FR" sz="1800">
            <a:solidFill>
              <a:srgbClr val="262626"/>
            </a:solidFill>
          </a:endParaRPr>
        </a:p>
      </dgm:t>
    </dgm:pt>
    <dgm:pt modelId="{CA899DAD-F737-4698-8CFB-D3E1DB9B7427}" type="parTrans" cxnId="{98CBA043-D589-4EE1-9CF1-202A0120DE2A}">
      <dgm:prSet/>
      <dgm:spPr/>
      <dgm:t>
        <a:bodyPr/>
        <a:lstStyle/>
        <a:p>
          <a:endParaRPr lang="fr-FR"/>
        </a:p>
      </dgm:t>
    </dgm:pt>
    <dgm:pt modelId="{79C134DC-CB16-4B2E-9A8D-10EA0C1D1390}" type="sibTrans" cxnId="{98CBA043-D589-4EE1-9CF1-202A0120DE2A}">
      <dgm:prSet/>
      <dgm:spPr/>
      <dgm:t>
        <a:bodyPr/>
        <a:lstStyle/>
        <a:p>
          <a:endParaRPr lang="fr-FR"/>
        </a:p>
      </dgm:t>
    </dgm:pt>
    <dgm:pt modelId="{FEE13CDA-F641-4A84-8A89-807097683A46}">
      <dgm:prSet phldrT="[Texte]" phldr="0" custT="1"/>
      <dgm:spPr/>
      <dgm:t>
        <a:bodyPr/>
        <a:lstStyle/>
        <a:p>
          <a:r>
            <a:rPr lang="fr-FR" sz="1600">
              <a:solidFill>
                <a:srgbClr val="262626"/>
              </a:solidFill>
            </a:rPr>
            <a:t>5. Concilier</a:t>
          </a:r>
        </a:p>
      </dgm:t>
    </dgm:pt>
    <dgm:pt modelId="{B77F88F0-05D2-4F12-B45F-39852633D479}" type="parTrans" cxnId="{BBDF1F02-287C-474B-96F0-5FE43644F8A7}">
      <dgm:prSet/>
      <dgm:spPr/>
      <dgm:t>
        <a:bodyPr/>
        <a:lstStyle/>
        <a:p>
          <a:endParaRPr lang="fr-FR"/>
        </a:p>
      </dgm:t>
    </dgm:pt>
    <dgm:pt modelId="{5A622D02-F6A7-41FE-899A-B756F9AC4591}" type="sibTrans" cxnId="{BBDF1F02-287C-474B-96F0-5FE43644F8A7}">
      <dgm:prSet/>
      <dgm:spPr/>
      <dgm:t>
        <a:bodyPr/>
        <a:lstStyle/>
        <a:p>
          <a:endParaRPr lang="fr-FR"/>
        </a:p>
      </dgm:t>
    </dgm:pt>
    <dgm:pt modelId="{72D81DD0-1504-46DE-AC87-868C55EA2689}" type="pres">
      <dgm:prSet presAssocID="{63488E7B-AD55-448A-B9FA-0B212C06C8C2}" presName="cycle" presStyleCnt="0">
        <dgm:presLayoutVars>
          <dgm:dir/>
          <dgm:resizeHandles val="exact"/>
        </dgm:presLayoutVars>
      </dgm:prSet>
      <dgm:spPr/>
    </dgm:pt>
    <dgm:pt modelId="{E315012A-C15F-45A4-B61B-299E70617D20}" type="pres">
      <dgm:prSet presAssocID="{B43AAA23-BD8D-4F8D-A66C-7F79091B8988}" presName="node" presStyleLbl="node1" presStyleIdx="0" presStyleCnt="5">
        <dgm:presLayoutVars>
          <dgm:bulletEnabled val="1"/>
        </dgm:presLayoutVars>
      </dgm:prSet>
      <dgm:spPr/>
    </dgm:pt>
    <dgm:pt modelId="{CF2E6717-A60B-4059-A843-00CB19672C25}" type="pres">
      <dgm:prSet presAssocID="{B43AAA23-BD8D-4F8D-A66C-7F79091B8988}" presName="spNode" presStyleCnt="0"/>
      <dgm:spPr/>
    </dgm:pt>
    <dgm:pt modelId="{A36EDB8F-BC99-42CD-A4BB-0FD4773A7EB1}" type="pres">
      <dgm:prSet presAssocID="{66694446-8E6E-4D58-8C0D-F785BDDC9C88}" presName="sibTrans" presStyleLbl="sibTrans1D1" presStyleIdx="0" presStyleCnt="5"/>
      <dgm:spPr/>
    </dgm:pt>
    <dgm:pt modelId="{37136822-311C-4BEB-B370-A9A9475B950F}" type="pres">
      <dgm:prSet presAssocID="{D5977B3C-50F4-48C9-AD2F-B05BDE034E0B}" presName="node" presStyleLbl="node1" presStyleIdx="1" presStyleCnt="5" custRadScaleRad="124662" custRadScaleInc="10970">
        <dgm:presLayoutVars>
          <dgm:bulletEnabled val="1"/>
        </dgm:presLayoutVars>
      </dgm:prSet>
      <dgm:spPr/>
    </dgm:pt>
    <dgm:pt modelId="{A6384D7B-8519-4E49-96DD-409842AD588A}" type="pres">
      <dgm:prSet presAssocID="{D5977B3C-50F4-48C9-AD2F-B05BDE034E0B}" presName="spNode" presStyleCnt="0"/>
      <dgm:spPr/>
    </dgm:pt>
    <dgm:pt modelId="{C0DE0ABE-9330-4535-8200-55CAE6F03966}" type="pres">
      <dgm:prSet presAssocID="{E4559207-7916-4666-9123-BC524EBB47DD}" presName="sibTrans" presStyleLbl="sibTrans1D1" presStyleIdx="1" presStyleCnt="5"/>
      <dgm:spPr/>
    </dgm:pt>
    <dgm:pt modelId="{3F5222D0-5EC4-4567-8360-BDA100300709}" type="pres">
      <dgm:prSet presAssocID="{2694BEBB-C20F-4735-ABAB-1E7EFACFC8A9}" presName="node" presStyleLbl="node1" presStyleIdx="2" presStyleCnt="5" custRadScaleRad="120596" custRadScaleInc="-54086">
        <dgm:presLayoutVars>
          <dgm:bulletEnabled val="1"/>
        </dgm:presLayoutVars>
      </dgm:prSet>
      <dgm:spPr/>
    </dgm:pt>
    <dgm:pt modelId="{F61BE75C-C8F1-4643-ACB1-8DB09152723F}" type="pres">
      <dgm:prSet presAssocID="{2694BEBB-C20F-4735-ABAB-1E7EFACFC8A9}" presName="spNode" presStyleCnt="0"/>
      <dgm:spPr/>
    </dgm:pt>
    <dgm:pt modelId="{4B0DB639-4095-43A3-8A5F-E43ABA2679F3}" type="pres">
      <dgm:prSet presAssocID="{79C134DC-CB16-4B2E-9A8D-10EA0C1D1390}" presName="sibTrans" presStyleLbl="sibTrans1D1" presStyleIdx="2" presStyleCnt="5"/>
      <dgm:spPr/>
    </dgm:pt>
    <dgm:pt modelId="{84F94F1F-FBB0-46A3-8C13-BCFB14A075CE}" type="pres">
      <dgm:prSet presAssocID="{145E863F-8BE9-4CDA-8F73-6D86B4D37E80}" presName="node" presStyleLbl="node1" presStyleIdx="3" presStyleCnt="5" custRadScaleRad="117842" custRadScaleInc="50290">
        <dgm:presLayoutVars>
          <dgm:bulletEnabled val="1"/>
        </dgm:presLayoutVars>
      </dgm:prSet>
      <dgm:spPr/>
    </dgm:pt>
    <dgm:pt modelId="{3FEAA993-A139-4184-B3C2-1332A60E4E37}" type="pres">
      <dgm:prSet presAssocID="{145E863F-8BE9-4CDA-8F73-6D86B4D37E80}" presName="spNode" presStyleCnt="0"/>
      <dgm:spPr/>
    </dgm:pt>
    <dgm:pt modelId="{6CD160B2-9813-443C-A9E1-CABF7D6FCF0A}" type="pres">
      <dgm:prSet presAssocID="{DCC65B53-50AD-4641-A15A-0A5DB68F9C44}" presName="sibTrans" presStyleLbl="sibTrans1D1" presStyleIdx="3" presStyleCnt="5"/>
      <dgm:spPr/>
    </dgm:pt>
    <dgm:pt modelId="{3D85B314-A1F1-4A18-855E-F12EDC34EC4B}" type="pres">
      <dgm:prSet presAssocID="{FEE13CDA-F641-4A84-8A89-807097683A46}" presName="node" presStyleLbl="node1" presStyleIdx="4" presStyleCnt="5">
        <dgm:presLayoutVars>
          <dgm:bulletEnabled val="1"/>
        </dgm:presLayoutVars>
      </dgm:prSet>
      <dgm:spPr/>
    </dgm:pt>
    <dgm:pt modelId="{C0F27187-17E3-4CAA-856D-8BFA4F12664E}" type="pres">
      <dgm:prSet presAssocID="{FEE13CDA-F641-4A84-8A89-807097683A46}" presName="spNode" presStyleCnt="0"/>
      <dgm:spPr/>
    </dgm:pt>
    <dgm:pt modelId="{D3ADD429-07A3-435C-AB9D-3618B974A6E2}" type="pres">
      <dgm:prSet presAssocID="{5A622D02-F6A7-41FE-899A-B756F9AC4591}" presName="sibTrans" presStyleLbl="sibTrans1D1" presStyleIdx="4" presStyleCnt="5"/>
      <dgm:spPr/>
    </dgm:pt>
  </dgm:ptLst>
  <dgm:cxnLst>
    <dgm:cxn modelId="{BBDF1F02-287C-474B-96F0-5FE43644F8A7}" srcId="{63488E7B-AD55-448A-B9FA-0B212C06C8C2}" destId="{FEE13CDA-F641-4A84-8A89-807097683A46}" srcOrd="4" destOrd="0" parTransId="{B77F88F0-05D2-4F12-B45F-39852633D479}" sibTransId="{5A622D02-F6A7-41FE-899A-B756F9AC4591}"/>
    <dgm:cxn modelId="{64D20509-1005-4F2C-B1A7-F8B18D1B0F8D}" type="presOf" srcId="{63488E7B-AD55-448A-B9FA-0B212C06C8C2}" destId="{72D81DD0-1504-46DE-AC87-868C55EA2689}" srcOrd="0" destOrd="0" presId="urn:microsoft.com/office/officeart/2005/8/layout/cycle5"/>
    <dgm:cxn modelId="{33ADE92C-C22D-4525-93DD-BA4245D604F2}" type="presOf" srcId="{2694BEBB-C20F-4735-ABAB-1E7EFACFC8A9}" destId="{3F5222D0-5EC4-4567-8360-BDA100300709}" srcOrd="0" destOrd="0" presId="urn:microsoft.com/office/officeart/2005/8/layout/cycle5"/>
    <dgm:cxn modelId="{88349930-2C5B-4C54-9C3B-AA7D1FC1B90A}" type="presOf" srcId="{DCC65B53-50AD-4641-A15A-0A5DB68F9C44}" destId="{6CD160B2-9813-443C-A9E1-CABF7D6FCF0A}" srcOrd="0" destOrd="0" presId="urn:microsoft.com/office/officeart/2005/8/layout/cycle5"/>
    <dgm:cxn modelId="{60C5275D-6E1D-4497-B79B-CB09C069365D}" type="presOf" srcId="{79C134DC-CB16-4B2E-9A8D-10EA0C1D1390}" destId="{4B0DB639-4095-43A3-8A5F-E43ABA2679F3}" srcOrd="0" destOrd="0" presId="urn:microsoft.com/office/officeart/2005/8/layout/cycle5"/>
    <dgm:cxn modelId="{98CBA043-D589-4EE1-9CF1-202A0120DE2A}" srcId="{63488E7B-AD55-448A-B9FA-0B212C06C8C2}" destId="{2694BEBB-C20F-4735-ABAB-1E7EFACFC8A9}" srcOrd="2" destOrd="0" parTransId="{CA899DAD-F737-4698-8CFB-D3E1DB9B7427}" sibTransId="{79C134DC-CB16-4B2E-9A8D-10EA0C1D1390}"/>
    <dgm:cxn modelId="{E535E453-3164-4693-83E6-CF634CAA37F8}" type="presOf" srcId="{B43AAA23-BD8D-4F8D-A66C-7F79091B8988}" destId="{E315012A-C15F-45A4-B61B-299E70617D20}" srcOrd="0" destOrd="0" presId="urn:microsoft.com/office/officeart/2005/8/layout/cycle5"/>
    <dgm:cxn modelId="{D1069185-4353-4DF2-A99A-4CD815750EAD}" type="presOf" srcId="{D5977B3C-50F4-48C9-AD2F-B05BDE034E0B}" destId="{37136822-311C-4BEB-B370-A9A9475B950F}" srcOrd="0" destOrd="0" presId="urn:microsoft.com/office/officeart/2005/8/layout/cycle5"/>
    <dgm:cxn modelId="{F050E98E-0A67-4591-B1AD-BF83C06B6AC9}" srcId="{63488E7B-AD55-448A-B9FA-0B212C06C8C2}" destId="{B43AAA23-BD8D-4F8D-A66C-7F79091B8988}" srcOrd="0" destOrd="0" parTransId="{222C4308-D7E6-4C31-AF56-1D6D6E576072}" sibTransId="{66694446-8E6E-4D58-8C0D-F785BDDC9C88}"/>
    <dgm:cxn modelId="{8226EC93-0C19-461D-9498-CE62D0285BC4}" type="presOf" srcId="{5A622D02-F6A7-41FE-899A-B756F9AC4591}" destId="{D3ADD429-07A3-435C-AB9D-3618B974A6E2}" srcOrd="0" destOrd="0" presId="urn:microsoft.com/office/officeart/2005/8/layout/cycle5"/>
    <dgm:cxn modelId="{6BFD919D-E6D4-49B6-9804-733DD48141C5}" type="presOf" srcId="{145E863F-8BE9-4CDA-8F73-6D86B4D37E80}" destId="{84F94F1F-FBB0-46A3-8C13-BCFB14A075CE}" srcOrd="0" destOrd="0" presId="urn:microsoft.com/office/officeart/2005/8/layout/cycle5"/>
    <dgm:cxn modelId="{C8FAE9BA-4E1B-414A-96D0-8E946FD56F79}" type="presOf" srcId="{FEE13CDA-F641-4A84-8A89-807097683A46}" destId="{3D85B314-A1F1-4A18-855E-F12EDC34EC4B}" srcOrd="0" destOrd="0" presId="urn:microsoft.com/office/officeart/2005/8/layout/cycle5"/>
    <dgm:cxn modelId="{9ED701C1-3495-4E50-8EC2-587388280F9B}" srcId="{63488E7B-AD55-448A-B9FA-0B212C06C8C2}" destId="{D5977B3C-50F4-48C9-AD2F-B05BDE034E0B}" srcOrd="1" destOrd="0" parTransId="{CDFDAF30-BFCF-4E51-9836-F2705C64A32F}" sibTransId="{E4559207-7916-4666-9123-BC524EBB47DD}"/>
    <dgm:cxn modelId="{A8C61AD8-530F-4CB1-9CD5-812F959C54CD}" srcId="{63488E7B-AD55-448A-B9FA-0B212C06C8C2}" destId="{145E863F-8BE9-4CDA-8F73-6D86B4D37E80}" srcOrd="3" destOrd="0" parTransId="{EA8A5D96-C7B3-4256-B6C3-288E31C83095}" sibTransId="{DCC65B53-50AD-4641-A15A-0A5DB68F9C44}"/>
    <dgm:cxn modelId="{55C0BCEB-A5F6-4A0E-8DFD-8CE79349D687}" type="presOf" srcId="{E4559207-7916-4666-9123-BC524EBB47DD}" destId="{C0DE0ABE-9330-4535-8200-55CAE6F03966}" srcOrd="0" destOrd="0" presId="urn:microsoft.com/office/officeart/2005/8/layout/cycle5"/>
    <dgm:cxn modelId="{E48CB1F4-AE5C-4C39-85D9-50DA5E571F09}" type="presOf" srcId="{66694446-8E6E-4D58-8C0D-F785BDDC9C88}" destId="{A36EDB8F-BC99-42CD-A4BB-0FD4773A7EB1}" srcOrd="0" destOrd="0" presId="urn:microsoft.com/office/officeart/2005/8/layout/cycle5"/>
    <dgm:cxn modelId="{5DE38E1E-2670-4356-92FD-A0CE48BDD98E}" type="presParOf" srcId="{72D81DD0-1504-46DE-AC87-868C55EA2689}" destId="{E315012A-C15F-45A4-B61B-299E70617D20}" srcOrd="0" destOrd="0" presId="urn:microsoft.com/office/officeart/2005/8/layout/cycle5"/>
    <dgm:cxn modelId="{01CEC2C3-3813-4C1B-88E2-EDE6D1DEAF21}" type="presParOf" srcId="{72D81DD0-1504-46DE-AC87-868C55EA2689}" destId="{CF2E6717-A60B-4059-A843-00CB19672C25}" srcOrd="1" destOrd="0" presId="urn:microsoft.com/office/officeart/2005/8/layout/cycle5"/>
    <dgm:cxn modelId="{DB971FB7-1F4E-41FE-94B0-121D7F85C487}" type="presParOf" srcId="{72D81DD0-1504-46DE-AC87-868C55EA2689}" destId="{A36EDB8F-BC99-42CD-A4BB-0FD4773A7EB1}" srcOrd="2" destOrd="0" presId="urn:microsoft.com/office/officeart/2005/8/layout/cycle5"/>
    <dgm:cxn modelId="{939FB5F7-FBDA-4106-BBB4-5D26B97A67E8}" type="presParOf" srcId="{72D81DD0-1504-46DE-AC87-868C55EA2689}" destId="{37136822-311C-4BEB-B370-A9A9475B950F}" srcOrd="3" destOrd="0" presId="urn:microsoft.com/office/officeart/2005/8/layout/cycle5"/>
    <dgm:cxn modelId="{763EE7BC-7544-4DAF-9F8C-8F81FCE9E9BE}" type="presParOf" srcId="{72D81DD0-1504-46DE-AC87-868C55EA2689}" destId="{A6384D7B-8519-4E49-96DD-409842AD588A}" srcOrd="4" destOrd="0" presId="urn:microsoft.com/office/officeart/2005/8/layout/cycle5"/>
    <dgm:cxn modelId="{8E281427-E82D-464B-AD83-FE44DD069230}" type="presParOf" srcId="{72D81DD0-1504-46DE-AC87-868C55EA2689}" destId="{C0DE0ABE-9330-4535-8200-55CAE6F03966}" srcOrd="5" destOrd="0" presId="urn:microsoft.com/office/officeart/2005/8/layout/cycle5"/>
    <dgm:cxn modelId="{3A7C357A-0EED-4981-A18A-85ED8D8D0B49}" type="presParOf" srcId="{72D81DD0-1504-46DE-AC87-868C55EA2689}" destId="{3F5222D0-5EC4-4567-8360-BDA100300709}" srcOrd="6" destOrd="0" presId="urn:microsoft.com/office/officeart/2005/8/layout/cycle5"/>
    <dgm:cxn modelId="{13C8DAA7-8776-4733-84CE-7B57BE65AEBF}" type="presParOf" srcId="{72D81DD0-1504-46DE-AC87-868C55EA2689}" destId="{F61BE75C-C8F1-4643-ACB1-8DB09152723F}" srcOrd="7" destOrd="0" presId="urn:microsoft.com/office/officeart/2005/8/layout/cycle5"/>
    <dgm:cxn modelId="{74F40EA0-1042-4ADB-A7BA-F032FCA30602}" type="presParOf" srcId="{72D81DD0-1504-46DE-AC87-868C55EA2689}" destId="{4B0DB639-4095-43A3-8A5F-E43ABA2679F3}" srcOrd="8" destOrd="0" presId="urn:microsoft.com/office/officeart/2005/8/layout/cycle5"/>
    <dgm:cxn modelId="{D67A961E-3462-4D4C-8F95-0FBAEB4E8F43}" type="presParOf" srcId="{72D81DD0-1504-46DE-AC87-868C55EA2689}" destId="{84F94F1F-FBB0-46A3-8C13-BCFB14A075CE}" srcOrd="9" destOrd="0" presId="urn:microsoft.com/office/officeart/2005/8/layout/cycle5"/>
    <dgm:cxn modelId="{3892971E-ED36-439C-AFF2-D442571C2891}" type="presParOf" srcId="{72D81DD0-1504-46DE-AC87-868C55EA2689}" destId="{3FEAA993-A139-4184-B3C2-1332A60E4E37}" srcOrd="10" destOrd="0" presId="urn:microsoft.com/office/officeart/2005/8/layout/cycle5"/>
    <dgm:cxn modelId="{5361D328-DB68-43F7-AB45-A0288B194CAD}" type="presParOf" srcId="{72D81DD0-1504-46DE-AC87-868C55EA2689}" destId="{6CD160B2-9813-443C-A9E1-CABF7D6FCF0A}" srcOrd="11" destOrd="0" presId="urn:microsoft.com/office/officeart/2005/8/layout/cycle5"/>
    <dgm:cxn modelId="{03B97365-0708-4A41-B4A2-9D270D28E5FD}" type="presParOf" srcId="{72D81DD0-1504-46DE-AC87-868C55EA2689}" destId="{3D85B314-A1F1-4A18-855E-F12EDC34EC4B}" srcOrd="12" destOrd="0" presId="urn:microsoft.com/office/officeart/2005/8/layout/cycle5"/>
    <dgm:cxn modelId="{C4567CFD-04DE-4D2C-94D1-E4316AD2B8FD}" type="presParOf" srcId="{72D81DD0-1504-46DE-AC87-868C55EA2689}" destId="{C0F27187-17E3-4CAA-856D-8BFA4F12664E}" srcOrd="13" destOrd="0" presId="urn:microsoft.com/office/officeart/2005/8/layout/cycle5"/>
    <dgm:cxn modelId="{E6CB2682-0B96-4626-9988-16E6F8F66121}" type="presParOf" srcId="{72D81DD0-1504-46DE-AC87-868C55EA2689}" destId="{D3ADD429-07A3-435C-AB9D-3618B974A6E2}" srcOrd="14" destOrd="0" presId="urn:microsoft.com/office/officeart/2005/8/layout/cycle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63488E7B-AD55-448A-B9FA-0B212C06C8C2}" type="doc">
      <dgm:prSet loTypeId="urn:microsoft.com/office/officeart/2005/8/layout/cycle5" loCatId="cycle" qsTypeId="urn:microsoft.com/office/officeart/2005/8/quickstyle/simple5" qsCatId="simple" csTypeId="urn:microsoft.com/office/officeart/2005/8/colors/colorful3" csCatId="colorful" phldr="1"/>
      <dgm:spPr/>
      <dgm:t>
        <a:bodyPr/>
        <a:lstStyle/>
        <a:p>
          <a:endParaRPr lang="fr-FR"/>
        </a:p>
      </dgm:t>
    </dgm:pt>
    <dgm:pt modelId="{B43AAA23-BD8D-4F8D-A66C-7F79091B8988}">
      <dgm:prSet phldrT="[Texte]" phldr="0" custT="1"/>
      <dgm:spPr/>
      <dgm:t>
        <a:bodyPr/>
        <a:lstStyle/>
        <a:p>
          <a:r>
            <a:rPr lang="fr-FR" sz="1800">
              <a:solidFill>
                <a:srgbClr val="262626"/>
              </a:solidFill>
            </a:rPr>
            <a:t>1. Réception des données</a:t>
          </a:r>
        </a:p>
      </dgm:t>
    </dgm:pt>
    <dgm:pt modelId="{222C4308-D7E6-4C31-AF56-1D6D6E576072}" type="parTrans" cxnId="{F050E98E-0A67-4591-B1AD-BF83C06B6AC9}">
      <dgm:prSet/>
      <dgm:spPr/>
      <dgm:t>
        <a:bodyPr/>
        <a:lstStyle/>
        <a:p>
          <a:endParaRPr lang="fr-FR"/>
        </a:p>
      </dgm:t>
    </dgm:pt>
    <dgm:pt modelId="{66694446-8E6E-4D58-8C0D-F785BDDC9C88}" type="sibTrans" cxnId="{F050E98E-0A67-4591-B1AD-BF83C06B6AC9}">
      <dgm:prSet/>
      <dgm:spPr/>
      <dgm:t>
        <a:bodyPr/>
        <a:lstStyle/>
        <a:p>
          <a:endParaRPr lang="fr-FR"/>
        </a:p>
      </dgm:t>
    </dgm:pt>
    <dgm:pt modelId="{D5977B3C-50F4-48C9-AD2F-B05BDE034E0B}">
      <dgm:prSet phldrT="[Texte]" phldr="0" custT="1"/>
      <dgm:spPr/>
      <dgm:t>
        <a:bodyPr/>
        <a:lstStyle/>
        <a:p>
          <a:r>
            <a:rPr lang="fr-FR" sz="1800">
              <a:solidFill>
                <a:srgbClr val="262626"/>
              </a:solidFill>
            </a:rPr>
            <a:t>2. Concilier les écritures bancaires</a:t>
          </a:r>
          <a:endParaRPr lang="fr-FR" sz="2000">
            <a:solidFill>
              <a:srgbClr val="262626"/>
            </a:solidFill>
          </a:endParaRPr>
        </a:p>
      </dgm:t>
    </dgm:pt>
    <dgm:pt modelId="{CDFDAF30-BFCF-4E51-9836-F2705C64A32F}" type="parTrans" cxnId="{9ED701C1-3495-4E50-8EC2-587388280F9B}">
      <dgm:prSet/>
      <dgm:spPr/>
      <dgm:t>
        <a:bodyPr/>
        <a:lstStyle/>
        <a:p>
          <a:endParaRPr lang="fr-FR"/>
        </a:p>
      </dgm:t>
    </dgm:pt>
    <dgm:pt modelId="{E4559207-7916-4666-9123-BC524EBB47DD}" type="sibTrans" cxnId="{9ED701C1-3495-4E50-8EC2-587388280F9B}">
      <dgm:prSet/>
      <dgm:spPr/>
      <dgm:t>
        <a:bodyPr/>
        <a:lstStyle/>
        <a:p>
          <a:endParaRPr lang="fr-FR"/>
        </a:p>
      </dgm:t>
    </dgm:pt>
    <dgm:pt modelId="{145E863F-8BE9-4CDA-8F73-6D86B4D37E80}">
      <dgm:prSet phldrT="[Texte]" phldr="0" custT="1"/>
      <dgm:spPr/>
      <dgm:t>
        <a:bodyPr/>
        <a:lstStyle/>
        <a:p>
          <a:r>
            <a:rPr lang="fr-FR" sz="1800">
              <a:solidFill>
                <a:srgbClr val="262626"/>
              </a:solidFill>
            </a:rPr>
            <a:t>3. Concilier les écritures comptables</a:t>
          </a:r>
        </a:p>
      </dgm:t>
    </dgm:pt>
    <dgm:pt modelId="{EA8A5D96-C7B3-4256-B6C3-288E31C83095}" type="parTrans" cxnId="{A8C61AD8-530F-4CB1-9CD5-812F959C54CD}">
      <dgm:prSet/>
      <dgm:spPr/>
      <dgm:t>
        <a:bodyPr/>
        <a:lstStyle/>
        <a:p>
          <a:endParaRPr lang="fr-FR"/>
        </a:p>
      </dgm:t>
    </dgm:pt>
    <dgm:pt modelId="{DCC65B53-50AD-4641-A15A-0A5DB68F9C44}" type="sibTrans" cxnId="{A8C61AD8-530F-4CB1-9CD5-812F959C54CD}">
      <dgm:prSet/>
      <dgm:spPr/>
      <dgm:t>
        <a:bodyPr/>
        <a:lstStyle/>
        <a:p>
          <a:endParaRPr lang="fr-FR"/>
        </a:p>
      </dgm:t>
    </dgm:pt>
    <dgm:pt modelId="{E23AE792-6935-4DBC-80B2-19375330211B}">
      <dgm:prSet phldrT="[Texte]" phldr="0" custT="1"/>
      <dgm:spPr/>
      <dgm:t>
        <a:bodyPr/>
        <a:lstStyle/>
        <a:p>
          <a:r>
            <a:rPr lang="fr-FR" sz="1800">
              <a:solidFill>
                <a:srgbClr val="262626"/>
              </a:solidFill>
            </a:rPr>
            <a:t>4. Consigner les données de conciliation </a:t>
          </a:r>
        </a:p>
      </dgm:t>
    </dgm:pt>
    <dgm:pt modelId="{45972C85-033A-4D38-B0FA-A5670C3201C5}" type="parTrans" cxnId="{B053AAB2-3B7B-4BBA-B78E-6A7266484114}">
      <dgm:prSet/>
      <dgm:spPr/>
      <dgm:t>
        <a:bodyPr/>
        <a:lstStyle/>
        <a:p>
          <a:endParaRPr lang="fr-FR"/>
        </a:p>
      </dgm:t>
    </dgm:pt>
    <dgm:pt modelId="{9D0C7059-3405-44A5-890F-9EDBCBB97480}" type="sibTrans" cxnId="{B053AAB2-3B7B-4BBA-B78E-6A7266484114}">
      <dgm:prSet/>
      <dgm:spPr/>
      <dgm:t>
        <a:bodyPr/>
        <a:lstStyle/>
        <a:p>
          <a:endParaRPr lang="fr-FR"/>
        </a:p>
      </dgm:t>
    </dgm:pt>
    <dgm:pt modelId="{72D81DD0-1504-46DE-AC87-868C55EA2689}" type="pres">
      <dgm:prSet presAssocID="{63488E7B-AD55-448A-B9FA-0B212C06C8C2}" presName="cycle" presStyleCnt="0">
        <dgm:presLayoutVars>
          <dgm:dir/>
          <dgm:resizeHandles val="exact"/>
        </dgm:presLayoutVars>
      </dgm:prSet>
      <dgm:spPr/>
    </dgm:pt>
    <dgm:pt modelId="{E315012A-C15F-45A4-B61B-299E70617D20}" type="pres">
      <dgm:prSet presAssocID="{B43AAA23-BD8D-4F8D-A66C-7F79091B8988}" presName="node" presStyleLbl="node1" presStyleIdx="0" presStyleCnt="4" custRadScaleRad="101892" custRadScaleInc="-36858">
        <dgm:presLayoutVars>
          <dgm:bulletEnabled val="1"/>
        </dgm:presLayoutVars>
      </dgm:prSet>
      <dgm:spPr/>
    </dgm:pt>
    <dgm:pt modelId="{CF2E6717-A60B-4059-A843-00CB19672C25}" type="pres">
      <dgm:prSet presAssocID="{B43AAA23-BD8D-4F8D-A66C-7F79091B8988}" presName="spNode" presStyleCnt="0"/>
      <dgm:spPr/>
    </dgm:pt>
    <dgm:pt modelId="{A36EDB8F-BC99-42CD-A4BB-0FD4773A7EB1}" type="pres">
      <dgm:prSet presAssocID="{66694446-8E6E-4D58-8C0D-F785BDDC9C88}" presName="sibTrans" presStyleLbl="sibTrans1D1" presStyleIdx="0" presStyleCnt="4"/>
      <dgm:spPr/>
    </dgm:pt>
    <dgm:pt modelId="{37136822-311C-4BEB-B370-A9A9475B950F}" type="pres">
      <dgm:prSet presAssocID="{D5977B3C-50F4-48C9-AD2F-B05BDE034E0B}" presName="node" presStyleLbl="node1" presStyleIdx="1" presStyleCnt="4" custRadScaleRad="88219" custRadScaleInc="27048">
        <dgm:presLayoutVars>
          <dgm:bulletEnabled val="1"/>
        </dgm:presLayoutVars>
      </dgm:prSet>
      <dgm:spPr/>
    </dgm:pt>
    <dgm:pt modelId="{A6384D7B-8519-4E49-96DD-409842AD588A}" type="pres">
      <dgm:prSet presAssocID="{D5977B3C-50F4-48C9-AD2F-B05BDE034E0B}" presName="spNode" presStyleCnt="0"/>
      <dgm:spPr/>
    </dgm:pt>
    <dgm:pt modelId="{C0DE0ABE-9330-4535-8200-55CAE6F03966}" type="pres">
      <dgm:prSet presAssocID="{E4559207-7916-4666-9123-BC524EBB47DD}" presName="sibTrans" presStyleLbl="sibTrans1D1" presStyleIdx="1" presStyleCnt="4"/>
      <dgm:spPr/>
    </dgm:pt>
    <dgm:pt modelId="{84F94F1F-FBB0-46A3-8C13-BCFB14A075CE}" type="pres">
      <dgm:prSet presAssocID="{145E863F-8BE9-4CDA-8F73-6D86B4D37E80}" presName="node" presStyleLbl="node1" presStyleIdx="2" presStyleCnt="4" custRadScaleRad="95235" custRadScaleInc="28479">
        <dgm:presLayoutVars>
          <dgm:bulletEnabled val="1"/>
        </dgm:presLayoutVars>
      </dgm:prSet>
      <dgm:spPr/>
    </dgm:pt>
    <dgm:pt modelId="{3FEAA993-A139-4184-B3C2-1332A60E4E37}" type="pres">
      <dgm:prSet presAssocID="{145E863F-8BE9-4CDA-8F73-6D86B4D37E80}" presName="spNode" presStyleCnt="0"/>
      <dgm:spPr/>
    </dgm:pt>
    <dgm:pt modelId="{6CD160B2-9813-443C-A9E1-CABF7D6FCF0A}" type="pres">
      <dgm:prSet presAssocID="{DCC65B53-50AD-4641-A15A-0A5DB68F9C44}" presName="sibTrans" presStyleLbl="sibTrans1D1" presStyleIdx="2" presStyleCnt="4"/>
      <dgm:spPr/>
    </dgm:pt>
    <dgm:pt modelId="{2A8B0A4C-7F67-4BC1-8FB7-AE6CB5BECE54}" type="pres">
      <dgm:prSet presAssocID="{E23AE792-6935-4DBC-80B2-19375330211B}" presName="node" presStyleLbl="node1" presStyleIdx="3" presStyleCnt="4" custRadScaleRad="123634" custRadScaleInc="9823">
        <dgm:presLayoutVars>
          <dgm:bulletEnabled val="1"/>
        </dgm:presLayoutVars>
      </dgm:prSet>
      <dgm:spPr/>
    </dgm:pt>
    <dgm:pt modelId="{D70D8537-CF4F-4826-928E-1B64F5FAA297}" type="pres">
      <dgm:prSet presAssocID="{E23AE792-6935-4DBC-80B2-19375330211B}" presName="spNode" presStyleCnt="0"/>
      <dgm:spPr/>
    </dgm:pt>
    <dgm:pt modelId="{885124BE-A25C-45DD-91FC-C290C47CF076}" type="pres">
      <dgm:prSet presAssocID="{9D0C7059-3405-44A5-890F-9EDBCBB97480}" presName="sibTrans" presStyleLbl="sibTrans1D1" presStyleIdx="3" presStyleCnt="4"/>
      <dgm:spPr/>
    </dgm:pt>
  </dgm:ptLst>
  <dgm:cxnLst>
    <dgm:cxn modelId="{64D20509-1005-4F2C-B1A7-F8B18D1B0F8D}" type="presOf" srcId="{63488E7B-AD55-448A-B9FA-0B212C06C8C2}" destId="{72D81DD0-1504-46DE-AC87-868C55EA2689}" srcOrd="0" destOrd="0" presId="urn:microsoft.com/office/officeart/2005/8/layout/cycle5"/>
    <dgm:cxn modelId="{88349930-2C5B-4C54-9C3B-AA7D1FC1B90A}" type="presOf" srcId="{DCC65B53-50AD-4641-A15A-0A5DB68F9C44}" destId="{6CD160B2-9813-443C-A9E1-CABF7D6FCF0A}" srcOrd="0" destOrd="0" presId="urn:microsoft.com/office/officeart/2005/8/layout/cycle5"/>
    <dgm:cxn modelId="{E535E453-3164-4693-83E6-CF634CAA37F8}" type="presOf" srcId="{B43AAA23-BD8D-4F8D-A66C-7F79091B8988}" destId="{E315012A-C15F-45A4-B61B-299E70617D20}" srcOrd="0" destOrd="0" presId="urn:microsoft.com/office/officeart/2005/8/layout/cycle5"/>
    <dgm:cxn modelId="{D1069185-4353-4DF2-A99A-4CD815750EAD}" type="presOf" srcId="{D5977B3C-50F4-48C9-AD2F-B05BDE034E0B}" destId="{37136822-311C-4BEB-B370-A9A9475B950F}" srcOrd="0" destOrd="0" presId="urn:microsoft.com/office/officeart/2005/8/layout/cycle5"/>
    <dgm:cxn modelId="{1E726086-479C-4435-A311-7461A311FF0A}" type="presOf" srcId="{9D0C7059-3405-44A5-890F-9EDBCBB97480}" destId="{885124BE-A25C-45DD-91FC-C290C47CF076}" srcOrd="0" destOrd="0" presId="urn:microsoft.com/office/officeart/2005/8/layout/cycle5"/>
    <dgm:cxn modelId="{0BC1A78C-70A1-403B-94D1-07FEB61CF318}" type="presOf" srcId="{E23AE792-6935-4DBC-80B2-19375330211B}" destId="{2A8B0A4C-7F67-4BC1-8FB7-AE6CB5BECE54}" srcOrd="0" destOrd="0" presId="urn:microsoft.com/office/officeart/2005/8/layout/cycle5"/>
    <dgm:cxn modelId="{F050E98E-0A67-4591-B1AD-BF83C06B6AC9}" srcId="{63488E7B-AD55-448A-B9FA-0B212C06C8C2}" destId="{B43AAA23-BD8D-4F8D-A66C-7F79091B8988}" srcOrd="0" destOrd="0" parTransId="{222C4308-D7E6-4C31-AF56-1D6D6E576072}" sibTransId="{66694446-8E6E-4D58-8C0D-F785BDDC9C88}"/>
    <dgm:cxn modelId="{6BFD919D-E6D4-49B6-9804-733DD48141C5}" type="presOf" srcId="{145E863F-8BE9-4CDA-8F73-6D86B4D37E80}" destId="{84F94F1F-FBB0-46A3-8C13-BCFB14A075CE}" srcOrd="0" destOrd="0" presId="urn:microsoft.com/office/officeart/2005/8/layout/cycle5"/>
    <dgm:cxn modelId="{B053AAB2-3B7B-4BBA-B78E-6A7266484114}" srcId="{63488E7B-AD55-448A-B9FA-0B212C06C8C2}" destId="{E23AE792-6935-4DBC-80B2-19375330211B}" srcOrd="3" destOrd="0" parTransId="{45972C85-033A-4D38-B0FA-A5670C3201C5}" sibTransId="{9D0C7059-3405-44A5-890F-9EDBCBB97480}"/>
    <dgm:cxn modelId="{9ED701C1-3495-4E50-8EC2-587388280F9B}" srcId="{63488E7B-AD55-448A-B9FA-0B212C06C8C2}" destId="{D5977B3C-50F4-48C9-AD2F-B05BDE034E0B}" srcOrd="1" destOrd="0" parTransId="{CDFDAF30-BFCF-4E51-9836-F2705C64A32F}" sibTransId="{E4559207-7916-4666-9123-BC524EBB47DD}"/>
    <dgm:cxn modelId="{A8C61AD8-530F-4CB1-9CD5-812F959C54CD}" srcId="{63488E7B-AD55-448A-B9FA-0B212C06C8C2}" destId="{145E863F-8BE9-4CDA-8F73-6D86B4D37E80}" srcOrd="2" destOrd="0" parTransId="{EA8A5D96-C7B3-4256-B6C3-288E31C83095}" sibTransId="{DCC65B53-50AD-4641-A15A-0A5DB68F9C44}"/>
    <dgm:cxn modelId="{55C0BCEB-A5F6-4A0E-8DFD-8CE79349D687}" type="presOf" srcId="{E4559207-7916-4666-9123-BC524EBB47DD}" destId="{C0DE0ABE-9330-4535-8200-55CAE6F03966}" srcOrd="0" destOrd="0" presId="urn:microsoft.com/office/officeart/2005/8/layout/cycle5"/>
    <dgm:cxn modelId="{E48CB1F4-AE5C-4C39-85D9-50DA5E571F09}" type="presOf" srcId="{66694446-8E6E-4D58-8C0D-F785BDDC9C88}" destId="{A36EDB8F-BC99-42CD-A4BB-0FD4773A7EB1}" srcOrd="0" destOrd="0" presId="urn:microsoft.com/office/officeart/2005/8/layout/cycle5"/>
    <dgm:cxn modelId="{5DE38E1E-2670-4356-92FD-A0CE48BDD98E}" type="presParOf" srcId="{72D81DD0-1504-46DE-AC87-868C55EA2689}" destId="{E315012A-C15F-45A4-B61B-299E70617D20}" srcOrd="0" destOrd="0" presId="urn:microsoft.com/office/officeart/2005/8/layout/cycle5"/>
    <dgm:cxn modelId="{01CEC2C3-3813-4C1B-88E2-EDE6D1DEAF21}" type="presParOf" srcId="{72D81DD0-1504-46DE-AC87-868C55EA2689}" destId="{CF2E6717-A60B-4059-A843-00CB19672C25}" srcOrd="1" destOrd="0" presId="urn:microsoft.com/office/officeart/2005/8/layout/cycle5"/>
    <dgm:cxn modelId="{DB971FB7-1F4E-41FE-94B0-121D7F85C487}" type="presParOf" srcId="{72D81DD0-1504-46DE-AC87-868C55EA2689}" destId="{A36EDB8F-BC99-42CD-A4BB-0FD4773A7EB1}" srcOrd="2" destOrd="0" presId="urn:microsoft.com/office/officeart/2005/8/layout/cycle5"/>
    <dgm:cxn modelId="{939FB5F7-FBDA-4106-BBB4-5D26B97A67E8}" type="presParOf" srcId="{72D81DD0-1504-46DE-AC87-868C55EA2689}" destId="{37136822-311C-4BEB-B370-A9A9475B950F}" srcOrd="3" destOrd="0" presId="urn:microsoft.com/office/officeart/2005/8/layout/cycle5"/>
    <dgm:cxn modelId="{763EE7BC-7544-4DAF-9F8C-8F81FCE9E9BE}" type="presParOf" srcId="{72D81DD0-1504-46DE-AC87-868C55EA2689}" destId="{A6384D7B-8519-4E49-96DD-409842AD588A}" srcOrd="4" destOrd="0" presId="urn:microsoft.com/office/officeart/2005/8/layout/cycle5"/>
    <dgm:cxn modelId="{8E281427-E82D-464B-AD83-FE44DD069230}" type="presParOf" srcId="{72D81DD0-1504-46DE-AC87-868C55EA2689}" destId="{C0DE0ABE-9330-4535-8200-55CAE6F03966}" srcOrd="5" destOrd="0" presId="urn:microsoft.com/office/officeart/2005/8/layout/cycle5"/>
    <dgm:cxn modelId="{D67A961E-3462-4D4C-8F95-0FBAEB4E8F43}" type="presParOf" srcId="{72D81DD0-1504-46DE-AC87-868C55EA2689}" destId="{84F94F1F-FBB0-46A3-8C13-BCFB14A075CE}" srcOrd="6" destOrd="0" presId="urn:microsoft.com/office/officeart/2005/8/layout/cycle5"/>
    <dgm:cxn modelId="{3892971E-ED36-439C-AFF2-D442571C2891}" type="presParOf" srcId="{72D81DD0-1504-46DE-AC87-868C55EA2689}" destId="{3FEAA993-A139-4184-B3C2-1332A60E4E37}" srcOrd="7" destOrd="0" presId="urn:microsoft.com/office/officeart/2005/8/layout/cycle5"/>
    <dgm:cxn modelId="{5361D328-DB68-43F7-AB45-A0288B194CAD}" type="presParOf" srcId="{72D81DD0-1504-46DE-AC87-868C55EA2689}" destId="{6CD160B2-9813-443C-A9E1-CABF7D6FCF0A}" srcOrd="8" destOrd="0" presId="urn:microsoft.com/office/officeart/2005/8/layout/cycle5"/>
    <dgm:cxn modelId="{99819E30-40EF-4A39-969C-DC121FE543B5}" type="presParOf" srcId="{72D81DD0-1504-46DE-AC87-868C55EA2689}" destId="{2A8B0A4C-7F67-4BC1-8FB7-AE6CB5BECE54}" srcOrd="9" destOrd="0" presId="urn:microsoft.com/office/officeart/2005/8/layout/cycle5"/>
    <dgm:cxn modelId="{3A974F10-5244-4E3A-8D45-BF3947A89652}" type="presParOf" srcId="{72D81DD0-1504-46DE-AC87-868C55EA2689}" destId="{D70D8537-CF4F-4826-928E-1B64F5FAA297}" srcOrd="10" destOrd="0" presId="urn:microsoft.com/office/officeart/2005/8/layout/cycle5"/>
    <dgm:cxn modelId="{41BDF6C0-6957-468C-9CEE-16F88CFB2801}" type="presParOf" srcId="{72D81DD0-1504-46DE-AC87-868C55EA2689}" destId="{885124BE-A25C-45DD-91FC-C290C47CF076}" srcOrd="11" destOrd="0" presId="urn:microsoft.com/office/officeart/2005/8/layout/cycle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63488E7B-AD55-448A-B9FA-0B212C06C8C2}" type="doc">
      <dgm:prSet loTypeId="urn:microsoft.com/office/officeart/2005/8/layout/cycle5" loCatId="cycle" qsTypeId="urn:microsoft.com/office/officeart/2005/8/quickstyle/simple5" qsCatId="simple" csTypeId="urn:microsoft.com/office/officeart/2005/8/colors/colorful3" csCatId="colorful" phldr="1"/>
      <dgm:spPr/>
      <dgm:t>
        <a:bodyPr/>
        <a:lstStyle/>
        <a:p>
          <a:endParaRPr lang="fr-FR"/>
        </a:p>
      </dgm:t>
    </dgm:pt>
    <dgm:pt modelId="{B43AAA23-BD8D-4F8D-A66C-7F79091B8988}">
      <dgm:prSet phldrT="[Texte]" phldr="0" custT="1"/>
      <dgm:spPr/>
      <dgm:t>
        <a:bodyPr/>
        <a:lstStyle/>
        <a:p>
          <a:r>
            <a:rPr lang="fr-FR" sz="1800">
              <a:solidFill>
                <a:srgbClr val="262626"/>
              </a:solidFill>
            </a:rPr>
            <a:t>1. Réviser la stratégie de détection de fraude </a:t>
          </a:r>
        </a:p>
      </dgm:t>
    </dgm:pt>
    <dgm:pt modelId="{222C4308-D7E6-4C31-AF56-1D6D6E576072}" type="parTrans" cxnId="{F050E98E-0A67-4591-B1AD-BF83C06B6AC9}">
      <dgm:prSet/>
      <dgm:spPr/>
      <dgm:t>
        <a:bodyPr/>
        <a:lstStyle/>
        <a:p>
          <a:endParaRPr lang="fr-FR"/>
        </a:p>
      </dgm:t>
    </dgm:pt>
    <dgm:pt modelId="{66694446-8E6E-4D58-8C0D-F785BDDC9C88}" type="sibTrans" cxnId="{F050E98E-0A67-4591-B1AD-BF83C06B6AC9}">
      <dgm:prSet/>
      <dgm:spPr/>
      <dgm:t>
        <a:bodyPr/>
        <a:lstStyle/>
        <a:p>
          <a:endParaRPr lang="fr-FR"/>
        </a:p>
      </dgm:t>
    </dgm:pt>
    <dgm:pt modelId="{D5977B3C-50F4-48C9-AD2F-B05BDE034E0B}">
      <dgm:prSet phldrT="[Texte]" phldr="0" custT="1"/>
      <dgm:spPr/>
      <dgm:t>
        <a:bodyPr/>
        <a:lstStyle/>
        <a:p>
          <a:r>
            <a:rPr lang="fr-FR" sz="1800">
              <a:solidFill>
                <a:srgbClr val="262626"/>
              </a:solidFill>
            </a:rPr>
            <a:t>3. Gérer les cas de fraude</a:t>
          </a:r>
          <a:endParaRPr lang="fr-FR" sz="2000">
            <a:solidFill>
              <a:srgbClr val="262626"/>
            </a:solidFill>
          </a:endParaRPr>
        </a:p>
      </dgm:t>
    </dgm:pt>
    <dgm:pt modelId="{CDFDAF30-BFCF-4E51-9836-F2705C64A32F}" type="parTrans" cxnId="{9ED701C1-3495-4E50-8EC2-587388280F9B}">
      <dgm:prSet/>
      <dgm:spPr/>
      <dgm:t>
        <a:bodyPr/>
        <a:lstStyle/>
        <a:p>
          <a:endParaRPr lang="fr-FR"/>
        </a:p>
      </dgm:t>
    </dgm:pt>
    <dgm:pt modelId="{E4559207-7916-4666-9123-BC524EBB47DD}" type="sibTrans" cxnId="{9ED701C1-3495-4E50-8EC2-587388280F9B}">
      <dgm:prSet/>
      <dgm:spPr/>
      <dgm:t>
        <a:bodyPr/>
        <a:lstStyle/>
        <a:p>
          <a:endParaRPr lang="fr-FR"/>
        </a:p>
      </dgm:t>
    </dgm:pt>
    <dgm:pt modelId="{145E863F-8BE9-4CDA-8F73-6D86B4D37E80}">
      <dgm:prSet phldrT="[Texte]" phldr="0" custT="1"/>
      <dgm:spPr/>
      <dgm:t>
        <a:bodyPr/>
        <a:lstStyle/>
        <a:p>
          <a:r>
            <a:rPr lang="fr-FR" sz="1800">
              <a:solidFill>
                <a:srgbClr val="262626"/>
              </a:solidFill>
            </a:rPr>
            <a:t>4. Analyser l’évolution des cas de fraude  </a:t>
          </a:r>
        </a:p>
      </dgm:t>
    </dgm:pt>
    <dgm:pt modelId="{EA8A5D96-C7B3-4256-B6C3-288E31C83095}" type="parTrans" cxnId="{A8C61AD8-530F-4CB1-9CD5-812F959C54CD}">
      <dgm:prSet/>
      <dgm:spPr/>
      <dgm:t>
        <a:bodyPr/>
        <a:lstStyle/>
        <a:p>
          <a:endParaRPr lang="fr-FR"/>
        </a:p>
      </dgm:t>
    </dgm:pt>
    <dgm:pt modelId="{DCC65B53-50AD-4641-A15A-0A5DB68F9C44}" type="sibTrans" cxnId="{A8C61AD8-530F-4CB1-9CD5-812F959C54CD}">
      <dgm:prSet/>
      <dgm:spPr/>
      <dgm:t>
        <a:bodyPr/>
        <a:lstStyle/>
        <a:p>
          <a:endParaRPr lang="fr-FR"/>
        </a:p>
      </dgm:t>
    </dgm:pt>
    <dgm:pt modelId="{13F5B464-5CD2-4554-8A8F-FF1F8273F4F5}">
      <dgm:prSet phldrT="[Texte]" phldr="0" custT="1"/>
      <dgm:spPr/>
      <dgm:t>
        <a:bodyPr/>
        <a:lstStyle/>
        <a:p>
          <a:r>
            <a:rPr lang="fr-FR" sz="1800">
              <a:solidFill>
                <a:srgbClr val="262626"/>
              </a:solidFill>
            </a:rPr>
            <a:t>2. Réviser les règles de détection de fraude</a:t>
          </a:r>
        </a:p>
      </dgm:t>
    </dgm:pt>
    <dgm:pt modelId="{1FBA160C-2818-43CA-B951-368D8AC5765C}" type="parTrans" cxnId="{F033DE45-1404-455A-8364-3EBCD4796ED7}">
      <dgm:prSet/>
      <dgm:spPr/>
      <dgm:t>
        <a:bodyPr/>
        <a:lstStyle/>
        <a:p>
          <a:endParaRPr lang="fr-FR"/>
        </a:p>
      </dgm:t>
    </dgm:pt>
    <dgm:pt modelId="{13F854CE-EEE7-41BE-AE8E-43AF6775D1C7}" type="sibTrans" cxnId="{F033DE45-1404-455A-8364-3EBCD4796ED7}">
      <dgm:prSet/>
      <dgm:spPr/>
      <dgm:t>
        <a:bodyPr/>
        <a:lstStyle/>
        <a:p>
          <a:endParaRPr lang="fr-FR"/>
        </a:p>
      </dgm:t>
    </dgm:pt>
    <dgm:pt modelId="{72D81DD0-1504-46DE-AC87-868C55EA2689}" type="pres">
      <dgm:prSet presAssocID="{63488E7B-AD55-448A-B9FA-0B212C06C8C2}" presName="cycle" presStyleCnt="0">
        <dgm:presLayoutVars>
          <dgm:dir/>
          <dgm:resizeHandles val="exact"/>
        </dgm:presLayoutVars>
      </dgm:prSet>
      <dgm:spPr/>
    </dgm:pt>
    <dgm:pt modelId="{E315012A-C15F-45A4-B61B-299E70617D20}" type="pres">
      <dgm:prSet presAssocID="{B43AAA23-BD8D-4F8D-A66C-7F79091B8988}" presName="node" presStyleLbl="node1" presStyleIdx="0" presStyleCnt="4">
        <dgm:presLayoutVars>
          <dgm:bulletEnabled val="1"/>
        </dgm:presLayoutVars>
      </dgm:prSet>
      <dgm:spPr/>
    </dgm:pt>
    <dgm:pt modelId="{CF2E6717-A60B-4059-A843-00CB19672C25}" type="pres">
      <dgm:prSet presAssocID="{B43AAA23-BD8D-4F8D-A66C-7F79091B8988}" presName="spNode" presStyleCnt="0"/>
      <dgm:spPr/>
    </dgm:pt>
    <dgm:pt modelId="{A36EDB8F-BC99-42CD-A4BB-0FD4773A7EB1}" type="pres">
      <dgm:prSet presAssocID="{66694446-8E6E-4D58-8C0D-F785BDDC9C88}" presName="sibTrans" presStyleLbl="sibTrans1D1" presStyleIdx="0" presStyleCnt="4"/>
      <dgm:spPr/>
    </dgm:pt>
    <dgm:pt modelId="{3C25043B-1B16-43F5-94B1-499F1E42A85C}" type="pres">
      <dgm:prSet presAssocID="{13F5B464-5CD2-4554-8A8F-FF1F8273F4F5}" presName="node" presStyleLbl="node1" presStyleIdx="1" presStyleCnt="4">
        <dgm:presLayoutVars>
          <dgm:bulletEnabled val="1"/>
        </dgm:presLayoutVars>
      </dgm:prSet>
      <dgm:spPr/>
    </dgm:pt>
    <dgm:pt modelId="{1FAF5C7A-CCAA-4A7E-8567-004313E59F5E}" type="pres">
      <dgm:prSet presAssocID="{13F5B464-5CD2-4554-8A8F-FF1F8273F4F5}" presName="spNode" presStyleCnt="0"/>
      <dgm:spPr/>
    </dgm:pt>
    <dgm:pt modelId="{87D78371-64DB-44B0-9496-10D31875CB99}" type="pres">
      <dgm:prSet presAssocID="{13F854CE-EEE7-41BE-AE8E-43AF6775D1C7}" presName="sibTrans" presStyleLbl="sibTrans1D1" presStyleIdx="1" presStyleCnt="4"/>
      <dgm:spPr/>
    </dgm:pt>
    <dgm:pt modelId="{37136822-311C-4BEB-B370-A9A9475B950F}" type="pres">
      <dgm:prSet presAssocID="{D5977B3C-50F4-48C9-AD2F-B05BDE034E0B}" presName="node" presStyleLbl="node1" presStyleIdx="2" presStyleCnt="4" custRadScaleRad="156552" custRadScaleInc="38720">
        <dgm:presLayoutVars>
          <dgm:bulletEnabled val="1"/>
        </dgm:presLayoutVars>
      </dgm:prSet>
      <dgm:spPr/>
    </dgm:pt>
    <dgm:pt modelId="{A6384D7B-8519-4E49-96DD-409842AD588A}" type="pres">
      <dgm:prSet presAssocID="{D5977B3C-50F4-48C9-AD2F-B05BDE034E0B}" presName="spNode" presStyleCnt="0"/>
      <dgm:spPr/>
    </dgm:pt>
    <dgm:pt modelId="{C0DE0ABE-9330-4535-8200-55CAE6F03966}" type="pres">
      <dgm:prSet presAssocID="{E4559207-7916-4666-9123-BC524EBB47DD}" presName="sibTrans" presStyleLbl="sibTrans1D1" presStyleIdx="2" presStyleCnt="4"/>
      <dgm:spPr/>
    </dgm:pt>
    <dgm:pt modelId="{84F94F1F-FBB0-46A3-8C13-BCFB14A075CE}" type="pres">
      <dgm:prSet presAssocID="{145E863F-8BE9-4CDA-8F73-6D86B4D37E80}" presName="node" presStyleLbl="node1" presStyleIdx="3" presStyleCnt="4" custRadScaleRad="117842" custRadScaleInc="50290">
        <dgm:presLayoutVars>
          <dgm:bulletEnabled val="1"/>
        </dgm:presLayoutVars>
      </dgm:prSet>
      <dgm:spPr/>
    </dgm:pt>
    <dgm:pt modelId="{3FEAA993-A139-4184-B3C2-1332A60E4E37}" type="pres">
      <dgm:prSet presAssocID="{145E863F-8BE9-4CDA-8F73-6D86B4D37E80}" presName="spNode" presStyleCnt="0"/>
      <dgm:spPr/>
    </dgm:pt>
    <dgm:pt modelId="{6CD160B2-9813-443C-A9E1-CABF7D6FCF0A}" type="pres">
      <dgm:prSet presAssocID="{DCC65B53-50AD-4641-A15A-0A5DB68F9C44}" presName="sibTrans" presStyleLbl="sibTrans1D1" presStyleIdx="3" presStyleCnt="4"/>
      <dgm:spPr/>
    </dgm:pt>
  </dgm:ptLst>
  <dgm:cxnLst>
    <dgm:cxn modelId="{64D20509-1005-4F2C-B1A7-F8B18D1B0F8D}" type="presOf" srcId="{63488E7B-AD55-448A-B9FA-0B212C06C8C2}" destId="{72D81DD0-1504-46DE-AC87-868C55EA2689}" srcOrd="0" destOrd="0" presId="urn:microsoft.com/office/officeart/2005/8/layout/cycle5"/>
    <dgm:cxn modelId="{88349930-2C5B-4C54-9C3B-AA7D1FC1B90A}" type="presOf" srcId="{DCC65B53-50AD-4641-A15A-0A5DB68F9C44}" destId="{6CD160B2-9813-443C-A9E1-CABF7D6FCF0A}" srcOrd="0" destOrd="0" presId="urn:microsoft.com/office/officeart/2005/8/layout/cycle5"/>
    <dgm:cxn modelId="{F033DE45-1404-455A-8364-3EBCD4796ED7}" srcId="{63488E7B-AD55-448A-B9FA-0B212C06C8C2}" destId="{13F5B464-5CD2-4554-8A8F-FF1F8273F4F5}" srcOrd="1" destOrd="0" parTransId="{1FBA160C-2818-43CA-B951-368D8AC5765C}" sibTransId="{13F854CE-EEE7-41BE-AE8E-43AF6775D1C7}"/>
    <dgm:cxn modelId="{E535E453-3164-4693-83E6-CF634CAA37F8}" type="presOf" srcId="{B43AAA23-BD8D-4F8D-A66C-7F79091B8988}" destId="{E315012A-C15F-45A4-B61B-299E70617D20}" srcOrd="0" destOrd="0" presId="urn:microsoft.com/office/officeart/2005/8/layout/cycle5"/>
    <dgm:cxn modelId="{D1069185-4353-4DF2-A99A-4CD815750EAD}" type="presOf" srcId="{D5977B3C-50F4-48C9-AD2F-B05BDE034E0B}" destId="{37136822-311C-4BEB-B370-A9A9475B950F}" srcOrd="0" destOrd="0" presId="urn:microsoft.com/office/officeart/2005/8/layout/cycle5"/>
    <dgm:cxn modelId="{A7C29386-AD51-48FF-A434-CB7B18403FC8}" type="presOf" srcId="{13F5B464-5CD2-4554-8A8F-FF1F8273F4F5}" destId="{3C25043B-1B16-43F5-94B1-499F1E42A85C}" srcOrd="0" destOrd="0" presId="urn:microsoft.com/office/officeart/2005/8/layout/cycle5"/>
    <dgm:cxn modelId="{F050E98E-0A67-4591-B1AD-BF83C06B6AC9}" srcId="{63488E7B-AD55-448A-B9FA-0B212C06C8C2}" destId="{B43AAA23-BD8D-4F8D-A66C-7F79091B8988}" srcOrd="0" destOrd="0" parTransId="{222C4308-D7E6-4C31-AF56-1D6D6E576072}" sibTransId="{66694446-8E6E-4D58-8C0D-F785BDDC9C88}"/>
    <dgm:cxn modelId="{6BFD919D-E6D4-49B6-9804-733DD48141C5}" type="presOf" srcId="{145E863F-8BE9-4CDA-8F73-6D86B4D37E80}" destId="{84F94F1F-FBB0-46A3-8C13-BCFB14A075CE}" srcOrd="0" destOrd="0" presId="urn:microsoft.com/office/officeart/2005/8/layout/cycle5"/>
    <dgm:cxn modelId="{9ED701C1-3495-4E50-8EC2-587388280F9B}" srcId="{63488E7B-AD55-448A-B9FA-0B212C06C8C2}" destId="{D5977B3C-50F4-48C9-AD2F-B05BDE034E0B}" srcOrd="2" destOrd="0" parTransId="{CDFDAF30-BFCF-4E51-9836-F2705C64A32F}" sibTransId="{E4559207-7916-4666-9123-BC524EBB47DD}"/>
    <dgm:cxn modelId="{A8C61AD8-530F-4CB1-9CD5-812F959C54CD}" srcId="{63488E7B-AD55-448A-B9FA-0B212C06C8C2}" destId="{145E863F-8BE9-4CDA-8F73-6D86B4D37E80}" srcOrd="3" destOrd="0" parTransId="{EA8A5D96-C7B3-4256-B6C3-288E31C83095}" sibTransId="{DCC65B53-50AD-4641-A15A-0A5DB68F9C44}"/>
    <dgm:cxn modelId="{892825D8-A13A-460C-B8DE-8E745C750DB4}" type="presOf" srcId="{13F854CE-EEE7-41BE-AE8E-43AF6775D1C7}" destId="{87D78371-64DB-44B0-9496-10D31875CB99}" srcOrd="0" destOrd="0" presId="urn:microsoft.com/office/officeart/2005/8/layout/cycle5"/>
    <dgm:cxn modelId="{55C0BCEB-A5F6-4A0E-8DFD-8CE79349D687}" type="presOf" srcId="{E4559207-7916-4666-9123-BC524EBB47DD}" destId="{C0DE0ABE-9330-4535-8200-55CAE6F03966}" srcOrd="0" destOrd="0" presId="urn:microsoft.com/office/officeart/2005/8/layout/cycle5"/>
    <dgm:cxn modelId="{E48CB1F4-AE5C-4C39-85D9-50DA5E571F09}" type="presOf" srcId="{66694446-8E6E-4D58-8C0D-F785BDDC9C88}" destId="{A36EDB8F-BC99-42CD-A4BB-0FD4773A7EB1}" srcOrd="0" destOrd="0" presId="urn:microsoft.com/office/officeart/2005/8/layout/cycle5"/>
    <dgm:cxn modelId="{5DE38E1E-2670-4356-92FD-A0CE48BDD98E}" type="presParOf" srcId="{72D81DD0-1504-46DE-AC87-868C55EA2689}" destId="{E315012A-C15F-45A4-B61B-299E70617D20}" srcOrd="0" destOrd="0" presId="urn:microsoft.com/office/officeart/2005/8/layout/cycle5"/>
    <dgm:cxn modelId="{01CEC2C3-3813-4C1B-88E2-EDE6D1DEAF21}" type="presParOf" srcId="{72D81DD0-1504-46DE-AC87-868C55EA2689}" destId="{CF2E6717-A60B-4059-A843-00CB19672C25}" srcOrd="1" destOrd="0" presId="urn:microsoft.com/office/officeart/2005/8/layout/cycle5"/>
    <dgm:cxn modelId="{DB971FB7-1F4E-41FE-94B0-121D7F85C487}" type="presParOf" srcId="{72D81DD0-1504-46DE-AC87-868C55EA2689}" destId="{A36EDB8F-BC99-42CD-A4BB-0FD4773A7EB1}" srcOrd="2" destOrd="0" presId="urn:microsoft.com/office/officeart/2005/8/layout/cycle5"/>
    <dgm:cxn modelId="{C6D703CD-E0CA-4AD5-91A7-5B85A8649D6F}" type="presParOf" srcId="{72D81DD0-1504-46DE-AC87-868C55EA2689}" destId="{3C25043B-1B16-43F5-94B1-499F1E42A85C}" srcOrd="3" destOrd="0" presId="urn:microsoft.com/office/officeart/2005/8/layout/cycle5"/>
    <dgm:cxn modelId="{CCEE07D5-4871-4EC9-9221-BF5595223EF3}" type="presParOf" srcId="{72D81DD0-1504-46DE-AC87-868C55EA2689}" destId="{1FAF5C7A-CCAA-4A7E-8567-004313E59F5E}" srcOrd="4" destOrd="0" presId="urn:microsoft.com/office/officeart/2005/8/layout/cycle5"/>
    <dgm:cxn modelId="{12ECC460-1D12-4613-9619-2D48BA20B0C7}" type="presParOf" srcId="{72D81DD0-1504-46DE-AC87-868C55EA2689}" destId="{87D78371-64DB-44B0-9496-10D31875CB99}" srcOrd="5" destOrd="0" presId="urn:microsoft.com/office/officeart/2005/8/layout/cycle5"/>
    <dgm:cxn modelId="{939FB5F7-FBDA-4106-BBB4-5D26B97A67E8}" type="presParOf" srcId="{72D81DD0-1504-46DE-AC87-868C55EA2689}" destId="{37136822-311C-4BEB-B370-A9A9475B950F}" srcOrd="6" destOrd="0" presId="urn:microsoft.com/office/officeart/2005/8/layout/cycle5"/>
    <dgm:cxn modelId="{763EE7BC-7544-4DAF-9F8C-8F81FCE9E9BE}" type="presParOf" srcId="{72D81DD0-1504-46DE-AC87-868C55EA2689}" destId="{A6384D7B-8519-4E49-96DD-409842AD588A}" srcOrd="7" destOrd="0" presId="urn:microsoft.com/office/officeart/2005/8/layout/cycle5"/>
    <dgm:cxn modelId="{8E281427-E82D-464B-AD83-FE44DD069230}" type="presParOf" srcId="{72D81DD0-1504-46DE-AC87-868C55EA2689}" destId="{C0DE0ABE-9330-4535-8200-55CAE6F03966}" srcOrd="8" destOrd="0" presId="urn:microsoft.com/office/officeart/2005/8/layout/cycle5"/>
    <dgm:cxn modelId="{D67A961E-3462-4D4C-8F95-0FBAEB4E8F43}" type="presParOf" srcId="{72D81DD0-1504-46DE-AC87-868C55EA2689}" destId="{84F94F1F-FBB0-46A3-8C13-BCFB14A075CE}" srcOrd="9" destOrd="0" presId="urn:microsoft.com/office/officeart/2005/8/layout/cycle5"/>
    <dgm:cxn modelId="{3892971E-ED36-439C-AFF2-D442571C2891}" type="presParOf" srcId="{72D81DD0-1504-46DE-AC87-868C55EA2689}" destId="{3FEAA993-A139-4184-B3C2-1332A60E4E37}" srcOrd="10" destOrd="0" presId="urn:microsoft.com/office/officeart/2005/8/layout/cycle5"/>
    <dgm:cxn modelId="{5361D328-DB68-43F7-AB45-A0288B194CAD}" type="presParOf" srcId="{72D81DD0-1504-46DE-AC87-868C55EA2689}" destId="{6CD160B2-9813-443C-A9E1-CABF7D6FCF0A}" srcOrd="11" destOrd="0" presId="urn:microsoft.com/office/officeart/2005/8/layout/cycle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7522E6-7FA8-4516-8C31-16F28780485D}">
      <dsp:nvSpPr>
        <dsp:cNvPr id="0" name=""/>
        <dsp:cNvSpPr/>
      </dsp:nvSpPr>
      <dsp:spPr>
        <a:xfrm>
          <a:off x="1009848" y="780454"/>
          <a:ext cx="1944290" cy="1944290"/>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fr-CA" sz="2500" kern="1200" noProof="0" err="1"/>
            <a:t>Corporate</a:t>
          </a:r>
          <a:r>
            <a:rPr lang="fr-CA" sz="2500" kern="1200" noProof="0"/>
            <a:t> </a:t>
          </a:r>
          <a:r>
            <a:rPr lang="fr-CA" sz="2500" kern="1200" noProof="0" err="1"/>
            <a:t>Treasury</a:t>
          </a:r>
          <a:r>
            <a:rPr lang="fr-CA" sz="2500" kern="1200" noProof="0"/>
            <a:t> program</a:t>
          </a:r>
        </a:p>
      </dsp:txBody>
      <dsp:txXfrm>
        <a:off x="1294583" y="1065189"/>
        <a:ext cx="1374820" cy="1374820"/>
      </dsp:txXfrm>
    </dsp:sp>
    <dsp:sp modelId="{3EDEA11B-F927-4E98-8695-D1950B6D2D9C}">
      <dsp:nvSpPr>
        <dsp:cNvPr id="0" name=""/>
        <dsp:cNvSpPr/>
      </dsp:nvSpPr>
      <dsp:spPr>
        <a:xfrm>
          <a:off x="1495921" y="347"/>
          <a:ext cx="972145" cy="972145"/>
        </a:xfrm>
        <a:prstGeom prst="ellipse">
          <a:avLst/>
        </a:prstGeom>
        <a:solidFill>
          <a:srgbClr val="B6B8DC">
            <a:alpha val="50000"/>
            <a:hueOff val="0"/>
            <a:satOff val="0"/>
            <a:lumOff val="0"/>
            <a:alphaOff val="0"/>
          </a:srgbClr>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fr-CA" sz="900" kern="1200" noProof="0">
              <a:solidFill>
                <a:srgbClr val="003DA5"/>
              </a:solidFill>
              <a:latin typeface="Calibri" panose="020F0502020204030204"/>
              <a:ea typeface="+mn-ea"/>
              <a:cs typeface="+mn-cs"/>
            </a:rPr>
            <a:t>WS1</a:t>
          </a:r>
          <a:r>
            <a:rPr lang="fr-CA" sz="900" kern="1200" noProof="0"/>
            <a:t> Capital </a:t>
          </a:r>
          <a:r>
            <a:rPr lang="fr-CA" sz="900" kern="1200" noProof="0" err="1"/>
            <a:t>Optimization</a:t>
          </a:r>
          <a:endParaRPr lang="fr-CA" sz="900" kern="1200" noProof="0"/>
        </a:p>
      </dsp:txBody>
      <dsp:txXfrm>
        <a:off x="1638288" y="142714"/>
        <a:ext cx="687411" cy="687411"/>
      </dsp:txXfrm>
    </dsp:sp>
    <dsp:sp modelId="{B89F19F7-BBAC-4CF6-B04E-05AB98CE8C14}">
      <dsp:nvSpPr>
        <dsp:cNvPr id="0" name=""/>
        <dsp:cNvSpPr/>
      </dsp:nvSpPr>
      <dsp:spPr>
        <a:xfrm>
          <a:off x="2762101" y="1266527"/>
          <a:ext cx="972145" cy="972145"/>
        </a:xfrm>
        <a:prstGeom prst="ellipse">
          <a:avLst/>
        </a:prstGeom>
        <a:solidFill>
          <a:srgbClr val="B6B8DC">
            <a:alpha val="50000"/>
            <a:hueOff val="0"/>
            <a:satOff val="0"/>
            <a:lumOff val="0"/>
            <a:alphaOff val="0"/>
          </a:srgbClr>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fr-CA" sz="900" kern="1200" noProof="0"/>
            <a:t>WS2 Inter </a:t>
          </a:r>
          <a:r>
            <a:rPr lang="fr-CA" sz="900" kern="1200" noProof="0" err="1"/>
            <a:t>Loans</a:t>
          </a:r>
          <a:r>
            <a:rPr lang="fr-CA" sz="900" kern="1200" noProof="0"/>
            <a:t> </a:t>
          </a:r>
          <a:r>
            <a:rPr lang="fr-CA" sz="900" kern="1200" noProof="0">
              <a:solidFill>
                <a:srgbClr val="003DA5"/>
              </a:solidFill>
              <a:latin typeface="Calibri" panose="020F0502020204030204"/>
              <a:ea typeface="+mn-ea"/>
              <a:cs typeface="+mn-cs"/>
            </a:rPr>
            <a:t>management</a:t>
          </a:r>
        </a:p>
      </dsp:txBody>
      <dsp:txXfrm>
        <a:off x="2904468" y="1408894"/>
        <a:ext cx="687411" cy="687411"/>
      </dsp:txXfrm>
    </dsp:sp>
    <dsp:sp modelId="{FA4287F6-0633-434F-B8CA-554493D84444}">
      <dsp:nvSpPr>
        <dsp:cNvPr id="0" name=""/>
        <dsp:cNvSpPr/>
      </dsp:nvSpPr>
      <dsp:spPr>
        <a:xfrm>
          <a:off x="1495921" y="2532707"/>
          <a:ext cx="972145" cy="972145"/>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fr-CA" sz="1100" kern="1200" noProof="0"/>
            <a:t>WS3 </a:t>
          </a:r>
          <a:r>
            <a:rPr lang="fr-CA" sz="1100" kern="1200" noProof="0" err="1"/>
            <a:t>Treasury</a:t>
          </a:r>
          <a:r>
            <a:rPr lang="fr-CA" sz="1100" kern="1200" noProof="0"/>
            <a:t> intelligence</a:t>
          </a:r>
        </a:p>
      </dsp:txBody>
      <dsp:txXfrm>
        <a:off x="1638288" y="2675074"/>
        <a:ext cx="687411" cy="687411"/>
      </dsp:txXfrm>
    </dsp:sp>
    <dsp:sp modelId="{DFF538C7-5CD9-46E0-B434-8E5BF83ACF99}">
      <dsp:nvSpPr>
        <dsp:cNvPr id="0" name=""/>
        <dsp:cNvSpPr/>
      </dsp:nvSpPr>
      <dsp:spPr>
        <a:xfrm>
          <a:off x="229741" y="1266527"/>
          <a:ext cx="972145" cy="972145"/>
        </a:xfrm>
        <a:prstGeom prst="ellipse">
          <a:avLst/>
        </a:prstGeom>
        <a:solidFill>
          <a:srgbClr val="B9DCD2">
            <a:lumMod val="75000"/>
            <a:alpha val="50000"/>
          </a:srgbClr>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fr-CA" sz="900" kern="1200" noProof="0">
              <a:solidFill>
                <a:srgbClr val="003DA5"/>
              </a:solidFill>
              <a:latin typeface="Calibri" panose="020F0502020204030204"/>
              <a:ea typeface="+mn-ea"/>
              <a:cs typeface="+mn-cs"/>
            </a:rPr>
            <a:t>WS4 Banking Infrastructure and </a:t>
          </a:r>
          <a:r>
            <a:rPr lang="fr-CA" sz="900" kern="1200" noProof="0" err="1">
              <a:solidFill>
                <a:srgbClr val="003DA5"/>
              </a:solidFill>
              <a:latin typeface="Calibri" panose="020F0502020204030204"/>
              <a:ea typeface="+mn-ea"/>
              <a:cs typeface="+mn-cs"/>
            </a:rPr>
            <a:t>governance</a:t>
          </a:r>
          <a:endParaRPr lang="fr-CA" sz="900" kern="1200" noProof="0">
            <a:solidFill>
              <a:srgbClr val="003DA5"/>
            </a:solidFill>
            <a:latin typeface="Calibri" panose="020F0502020204030204"/>
            <a:ea typeface="+mn-ea"/>
            <a:cs typeface="+mn-cs"/>
          </a:endParaRPr>
        </a:p>
      </dsp:txBody>
      <dsp:txXfrm>
        <a:off x="372108" y="1408894"/>
        <a:ext cx="687411" cy="68741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4F3ADA-E089-46D9-8AFB-208F48D68E6B}">
      <dsp:nvSpPr>
        <dsp:cNvPr id="0" name=""/>
        <dsp:cNvSpPr/>
      </dsp:nvSpPr>
      <dsp:spPr>
        <a:xfrm>
          <a:off x="1085272" y="0"/>
          <a:ext cx="1535545" cy="1535545"/>
        </a:xfrm>
        <a:prstGeom prst="triangle">
          <a:avLst/>
        </a:prstGeom>
        <a:solidFill>
          <a:schemeClr val="accent1">
            <a:shade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fr-CA" sz="1000" kern="1200" noProof="0"/>
            <a:t>Implémenter Hub trésorerie et BI analytique</a:t>
          </a:r>
        </a:p>
      </dsp:txBody>
      <dsp:txXfrm>
        <a:off x="1469158" y="767773"/>
        <a:ext cx="767773" cy="767772"/>
      </dsp:txXfrm>
    </dsp:sp>
    <dsp:sp modelId="{DD666EE7-ECD5-4B32-BB27-6CCCB9675AFE}">
      <dsp:nvSpPr>
        <dsp:cNvPr id="0" name=""/>
        <dsp:cNvSpPr/>
      </dsp:nvSpPr>
      <dsp:spPr>
        <a:xfrm>
          <a:off x="317499" y="1535545"/>
          <a:ext cx="1535545" cy="1535545"/>
        </a:xfrm>
        <a:prstGeom prst="triangle">
          <a:avLst/>
        </a:prstGeom>
        <a:solidFill>
          <a:schemeClr val="accent1">
            <a:shade val="50000"/>
            <a:hueOff val="6649"/>
            <a:satOff val="9675"/>
            <a:lumOff val="1581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fr-CA" sz="1000" kern="1200" noProof="0"/>
            <a:t>Gérer projections 30 jours</a:t>
          </a:r>
        </a:p>
      </dsp:txBody>
      <dsp:txXfrm>
        <a:off x="701385" y="2303318"/>
        <a:ext cx="767773" cy="767772"/>
      </dsp:txXfrm>
    </dsp:sp>
    <dsp:sp modelId="{5BC35718-D1C1-4C74-A08A-664ED617D14A}">
      <dsp:nvSpPr>
        <dsp:cNvPr id="0" name=""/>
        <dsp:cNvSpPr/>
      </dsp:nvSpPr>
      <dsp:spPr>
        <a:xfrm rot="10800000">
          <a:off x="1085272" y="1535545"/>
          <a:ext cx="1535545" cy="1535545"/>
        </a:xfrm>
        <a:prstGeom prst="triangle">
          <a:avLst/>
        </a:prstGeom>
        <a:solidFill>
          <a:schemeClr val="accent1">
            <a:shade val="50000"/>
            <a:hueOff val="13297"/>
            <a:satOff val="19349"/>
            <a:lumOff val="3163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fr-CA" sz="1000" kern="1200" noProof="0"/>
            <a:t>Gouvernance et politique de  trésorerie</a:t>
          </a:r>
        </a:p>
      </dsp:txBody>
      <dsp:txXfrm rot="10800000">
        <a:off x="1469158" y="1535545"/>
        <a:ext cx="767773" cy="767772"/>
      </dsp:txXfrm>
    </dsp:sp>
    <dsp:sp modelId="{417D2CCC-0869-47DC-9411-7205FA09A324}">
      <dsp:nvSpPr>
        <dsp:cNvPr id="0" name=""/>
        <dsp:cNvSpPr/>
      </dsp:nvSpPr>
      <dsp:spPr>
        <a:xfrm>
          <a:off x="1853045" y="1535545"/>
          <a:ext cx="1535545" cy="1535545"/>
        </a:xfrm>
        <a:prstGeom prst="triangle">
          <a:avLst/>
        </a:prstGeom>
        <a:solidFill>
          <a:schemeClr val="accent1">
            <a:shade val="50000"/>
            <a:hueOff val="6649"/>
            <a:satOff val="9675"/>
            <a:lumOff val="1581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fr-CA" sz="1000" kern="1200" noProof="0"/>
            <a:t>Obtenir visibilité des liquidités</a:t>
          </a:r>
        </a:p>
      </dsp:txBody>
      <dsp:txXfrm>
        <a:off x="2236931" y="2303318"/>
        <a:ext cx="767773" cy="76777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BFA474-941E-401F-8616-BCA3F10AA38D}">
      <dsp:nvSpPr>
        <dsp:cNvPr id="0" name=""/>
        <dsp:cNvSpPr/>
      </dsp:nvSpPr>
      <dsp:spPr>
        <a:xfrm>
          <a:off x="-3757367" y="-577166"/>
          <a:ext cx="4478558" cy="4478558"/>
        </a:xfrm>
        <a:prstGeom prst="blockArc">
          <a:avLst>
            <a:gd name="adj1" fmla="val 18900000"/>
            <a:gd name="adj2" fmla="val 2700000"/>
            <a:gd name="adj3" fmla="val 482"/>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352A2B6-DAA5-4313-97B6-C73E93FC20AE}">
      <dsp:nvSpPr>
        <dsp:cNvPr id="0" name=""/>
        <dsp:cNvSpPr/>
      </dsp:nvSpPr>
      <dsp:spPr>
        <a:xfrm>
          <a:off x="463774" y="332422"/>
          <a:ext cx="6789995" cy="66484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7721" tIns="50800" rIns="50800" bIns="50800" numCol="1" spcCol="1270" anchor="ctr" anchorCtr="0">
          <a:noAutofit/>
        </a:bodyPr>
        <a:lstStyle/>
        <a:p>
          <a:pPr marL="0" lvl="0" indent="0" algn="l" defTabSz="889000">
            <a:lnSpc>
              <a:spcPct val="90000"/>
            </a:lnSpc>
            <a:spcBef>
              <a:spcPct val="0"/>
            </a:spcBef>
            <a:spcAft>
              <a:spcPct val="35000"/>
            </a:spcAft>
            <a:buNone/>
          </a:pPr>
          <a:r>
            <a:rPr lang="fr-CA" sz="2000" b="0" kern="1200" noProof="0">
              <a:latin typeface="Calibri"/>
              <a:ea typeface="Calibri"/>
              <a:cs typeface="Calibri"/>
            </a:rPr>
            <a:t>Implémentation de la nouvelle solution bancaire à la CFO</a:t>
          </a:r>
          <a:endParaRPr lang="fr-CA" sz="2400" kern="1200" noProof="0"/>
        </a:p>
      </dsp:txBody>
      <dsp:txXfrm>
        <a:off x="463774" y="332422"/>
        <a:ext cx="6789995" cy="664845"/>
      </dsp:txXfrm>
    </dsp:sp>
    <dsp:sp modelId="{82E824E6-CD4C-4ED2-99DC-E3F2465D1A95}">
      <dsp:nvSpPr>
        <dsp:cNvPr id="0" name=""/>
        <dsp:cNvSpPr/>
      </dsp:nvSpPr>
      <dsp:spPr>
        <a:xfrm>
          <a:off x="48246" y="249316"/>
          <a:ext cx="831056" cy="831056"/>
        </a:xfrm>
        <a:prstGeom prst="ellipse">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sp>
    <dsp:sp modelId="{C7D95150-EBE4-4F6A-A891-67DF7ED27007}">
      <dsp:nvSpPr>
        <dsp:cNvPr id="0" name=""/>
        <dsp:cNvSpPr/>
      </dsp:nvSpPr>
      <dsp:spPr>
        <a:xfrm>
          <a:off x="705445" y="1329690"/>
          <a:ext cx="6548324" cy="66484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7721" tIns="50800" rIns="50800" bIns="50800" numCol="1" spcCol="1270" anchor="ctr" anchorCtr="0">
          <a:noAutofit/>
        </a:bodyPr>
        <a:lstStyle/>
        <a:p>
          <a:pPr marL="0" lvl="0" indent="0" algn="l" defTabSz="889000">
            <a:lnSpc>
              <a:spcPct val="90000"/>
            </a:lnSpc>
            <a:spcBef>
              <a:spcPct val="0"/>
            </a:spcBef>
            <a:spcAft>
              <a:spcPct val="35000"/>
            </a:spcAft>
            <a:buNone/>
          </a:pPr>
          <a:r>
            <a:rPr lang="fr-CA" sz="2000" b="0" kern="1200" noProof="0">
              <a:latin typeface="Calibri"/>
              <a:ea typeface="Calibri"/>
              <a:cs typeface="Calibri"/>
            </a:rPr>
            <a:t>Simplifier, automatiser et standardiser les processus d’affaires</a:t>
          </a:r>
          <a:endParaRPr lang="fr-CA" sz="2000" kern="1200" noProof="0"/>
        </a:p>
      </dsp:txBody>
      <dsp:txXfrm>
        <a:off x="705445" y="1329690"/>
        <a:ext cx="6548324" cy="664845"/>
      </dsp:txXfrm>
    </dsp:sp>
    <dsp:sp modelId="{82FF165D-7AA5-4159-9E15-8B1CCB552B19}">
      <dsp:nvSpPr>
        <dsp:cNvPr id="0" name=""/>
        <dsp:cNvSpPr/>
      </dsp:nvSpPr>
      <dsp:spPr>
        <a:xfrm>
          <a:off x="289917" y="1246584"/>
          <a:ext cx="831056" cy="831056"/>
        </a:xfrm>
        <a:prstGeom prst="ellipse">
          <a:avLst/>
        </a:prstGeom>
        <a:solidFill>
          <a:schemeClr val="lt1"/>
        </a:solidFill>
        <a:ln w="12700" cap="flat" cmpd="sng" algn="ctr">
          <a:solidFill>
            <a:schemeClr val="accent2"/>
          </a:solidFill>
          <a:prstDash val="solid"/>
          <a:miter lim="800000"/>
        </a:ln>
        <a:effectLst/>
      </dsp:spPr>
      <dsp:style>
        <a:lnRef idx="2">
          <a:schemeClr val="accent2"/>
        </a:lnRef>
        <a:fillRef idx="1">
          <a:schemeClr val="lt1"/>
        </a:fillRef>
        <a:effectRef idx="0">
          <a:schemeClr val="accent2"/>
        </a:effectRef>
        <a:fontRef idx="minor">
          <a:schemeClr val="dk1"/>
        </a:fontRef>
      </dsp:style>
    </dsp:sp>
    <dsp:sp modelId="{630BD8B6-BA8C-4C2E-ACC9-A9E688D76AAD}">
      <dsp:nvSpPr>
        <dsp:cNvPr id="0" name=""/>
        <dsp:cNvSpPr/>
      </dsp:nvSpPr>
      <dsp:spPr>
        <a:xfrm>
          <a:off x="463774" y="2326957"/>
          <a:ext cx="6789995" cy="66484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7721" tIns="50800" rIns="50800" bIns="50800" numCol="1" spcCol="1270" anchor="ctr" anchorCtr="0">
          <a:noAutofit/>
        </a:bodyPr>
        <a:lstStyle/>
        <a:p>
          <a:pPr marL="0" lvl="0" indent="0" algn="l" defTabSz="889000">
            <a:lnSpc>
              <a:spcPct val="90000"/>
            </a:lnSpc>
            <a:spcBef>
              <a:spcPct val="0"/>
            </a:spcBef>
            <a:spcAft>
              <a:spcPct val="35000"/>
            </a:spcAft>
            <a:buNone/>
          </a:pPr>
          <a:r>
            <a:rPr lang="fr-CA" sz="2000" b="0" kern="1200" noProof="0">
              <a:latin typeface="Calibri"/>
              <a:ea typeface="Calibri"/>
              <a:cs typeface="Calibri"/>
            </a:rPr>
            <a:t>Définir et diffuser le modèle opérationnel du </a:t>
          </a:r>
          <a:r>
            <a:rPr lang="fr-CA" sz="2000" kern="1200" noProof="0">
              <a:latin typeface="Calibri"/>
              <a:ea typeface="Calibri"/>
              <a:cs typeface="Calibri"/>
            </a:rPr>
            <a:t>CSP bancaire</a:t>
          </a:r>
          <a:endParaRPr lang="fr-CA" sz="2000" kern="1200" noProof="0"/>
        </a:p>
      </dsp:txBody>
      <dsp:txXfrm>
        <a:off x="463774" y="2326957"/>
        <a:ext cx="6789995" cy="664845"/>
      </dsp:txXfrm>
    </dsp:sp>
    <dsp:sp modelId="{1E4C697F-001A-4460-87B4-9AA55DE8A81E}">
      <dsp:nvSpPr>
        <dsp:cNvPr id="0" name=""/>
        <dsp:cNvSpPr/>
      </dsp:nvSpPr>
      <dsp:spPr>
        <a:xfrm>
          <a:off x="48246" y="2243851"/>
          <a:ext cx="831056" cy="831056"/>
        </a:xfrm>
        <a:prstGeom prst="ellipse">
          <a:avLst/>
        </a:prstGeom>
        <a:solidFill>
          <a:schemeClr val="lt1"/>
        </a:solidFill>
        <a:ln w="12700" cap="flat" cmpd="sng" algn="ctr">
          <a:solidFill>
            <a:schemeClr val="accent4"/>
          </a:solidFill>
          <a:prstDash val="solid"/>
          <a:miter lim="800000"/>
        </a:ln>
        <a:effectLst/>
      </dsp:spPr>
      <dsp:style>
        <a:lnRef idx="2">
          <a:schemeClr val="accent4"/>
        </a:lnRef>
        <a:fillRef idx="1">
          <a:schemeClr val="lt1"/>
        </a:fillRef>
        <a:effectRef idx="0">
          <a:schemeClr val="accent4"/>
        </a:effectRef>
        <a:fontRef idx="minor">
          <a:schemeClr val="dk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F013E1-18AE-4FE9-9044-703B8FFB844C}">
      <dsp:nvSpPr>
        <dsp:cNvPr id="0" name=""/>
        <dsp:cNvSpPr/>
      </dsp:nvSpPr>
      <dsp:spPr>
        <a:xfrm>
          <a:off x="3253085" y="2268"/>
          <a:ext cx="4885187" cy="2045096"/>
        </a:xfrm>
        <a:prstGeom prst="rightArrow">
          <a:avLst>
            <a:gd name="adj1" fmla="val 75000"/>
            <a:gd name="adj2" fmla="val 50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4445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3810" tIns="3810" rIns="3810" bIns="3810" numCol="1" spcCol="1270" anchor="t" anchorCtr="0">
          <a:noAutofit/>
        </a:bodyPr>
        <a:lstStyle/>
        <a:p>
          <a:pPr marL="268288" lvl="1" indent="-176213" algn="l" defTabSz="266700">
            <a:lnSpc>
              <a:spcPct val="90000"/>
            </a:lnSpc>
            <a:spcBef>
              <a:spcPct val="0"/>
            </a:spcBef>
            <a:spcAft>
              <a:spcPct val="15000"/>
            </a:spcAft>
            <a:buChar char="•"/>
          </a:pPr>
          <a:endParaRPr lang="fr-CA" sz="600" kern="1200" noProof="0"/>
        </a:p>
        <a:p>
          <a:pPr marL="268288" lvl="1" indent="-176213" algn="l" defTabSz="533400">
            <a:lnSpc>
              <a:spcPct val="90000"/>
            </a:lnSpc>
            <a:spcBef>
              <a:spcPct val="0"/>
            </a:spcBef>
            <a:spcAft>
              <a:spcPct val="15000"/>
            </a:spcAft>
            <a:buFont typeface="Wingdings" panose="05000000000000000000" pitchFamily="2" charset="2"/>
            <a:buChar char="Ø"/>
          </a:pPr>
          <a:r>
            <a:rPr lang="fr-CA" sz="1200" kern="1200" noProof="0"/>
            <a:t>Des </a:t>
          </a:r>
          <a:r>
            <a:rPr lang="fr-CA" sz="1200" kern="1200"/>
            <a:t>Économies générées par une optimisation des capacités liées a la structure bancaire :</a:t>
          </a:r>
          <a:r>
            <a:rPr lang="fr-CA" sz="1200" kern="1200" noProof="0"/>
            <a:t> </a:t>
          </a:r>
        </a:p>
        <a:p>
          <a:pPr marL="360363" lvl="2" indent="-92075" algn="l" defTabSz="533400">
            <a:lnSpc>
              <a:spcPct val="90000"/>
            </a:lnSpc>
            <a:spcBef>
              <a:spcPct val="0"/>
            </a:spcBef>
            <a:spcAft>
              <a:spcPct val="15000"/>
            </a:spcAft>
            <a:buFont typeface="Wingdings" panose="05000000000000000000" pitchFamily="2" charset="2"/>
            <a:buChar char="ü"/>
          </a:pPr>
          <a:r>
            <a:rPr lang="fr-CA" sz="1200" kern="1200" noProof="0"/>
            <a:t> Diminution des frais pour </a:t>
          </a:r>
          <a:r>
            <a:rPr lang="fr-CA" sz="1200" kern="1200" noProof="0" err="1"/>
            <a:t>iA</a:t>
          </a:r>
          <a:endParaRPr lang="fr-CA" sz="1200" kern="1200" noProof="0"/>
        </a:p>
        <a:p>
          <a:pPr marL="360363" lvl="2" indent="-92075" algn="l" defTabSz="533400">
            <a:lnSpc>
              <a:spcPct val="90000"/>
            </a:lnSpc>
            <a:spcBef>
              <a:spcPct val="0"/>
            </a:spcBef>
            <a:spcAft>
              <a:spcPct val="15000"/>
            </a:spcAft>
            <a:buFont typeface="Wingdings" panose="05000000000000000000" pitchFamily="2" charset="2"/>
            <a:buChar char="ü"/>
          </a:pPr>
          <a:r>
            <a:rPr lang="fr-CA" sz="1200" kern="1200" noProof="0"/>
            <a:t> Rationalisation de compte bancaires </a:t>
          </a:r>
        </a:p>
        <a:p>
          <a:pPr marL="268288" lvl="2" indent="-176213" algn="l" defTabSz="533400">
            <a:lnSpc>
              <a:spcPct val="90000"/>
            </a:lnSpc>
            <a:spcBef>
              <a:spcPct val="0"/>
            </a:spcBef>
            <a:spcAft>
              <a:spcPct val="15000"/>
            </a:spcAft>
            <a:buFont typeface="Wingdings" panose="05000000000000000000" pitchFamily="2" charset="2"/>
            <a:buChar char="Ø"/>
          </a:pPr>
          <a:r>
            <a:rPr lang="fr-CA" sz="1200" kern="1200" noProof="0"/>
            <a:t>Des économies générées par la simplification de l'écosystème bancaire</a:t>
          </a:r>
        </a:p>
        <a:p>
          <a:pPr marL="446088" lvl="2" indent="-177800" algn="l" defTabSz="533400">
            <a:lnSpc>
              <a:spcPct val="90000"/>
            </a:lnSpc>
            <a:spcBef>
              <a:spcPct val="0"/>
            </a:spcBef>
            <a:spcAft>
              <a:spcPct val="15000"/>
            </a:spcAft>
            <a:buFont typeface="Wingdings" panose="05000000000000000000" pitchFamily="2" charset="2"/>
            <a:buChar char="ü"/>
          </a:pPr>
          <a:r>
            <a:rPr lang="fr-CA" sz="1200" kern="1200" noProof="0"/>
            <a:t>Diminution des coûts de maintenance système </a:t>
          </a:r>
        </a:p>
      </dsp:txBody>
      <dsp:txXfrm>
        <a:off x="3253085" y="257905"/>
        <a:ext cx="4118276" cy="1533822"/>
      </dsp:txXfrm>
    </dsp:sp>
    <dsp:sp modelId="{5727A504-BE97-4202-8976-E7B85812E363}">
      <dsp:nvSpPr>
        <dsp:cNvPr id="0" name=""/>
        <dsp:cNvSpPr/>
      </dsp:nvSpPr>
      <dsp:spPr>
        <a:xfrm>
          <a:off x="3979" y="163650"/>
          <a:ext cx="3256791" cy="1722331"/>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37160" tIns="68580" rIns="137160" bIns="68580" numCol="1" spcCol="1270" anchor="ctr" anchorCtr="0">
          <a:noAutofit/>
        </a:bodyPr>
        <a:lstStyle/>
        <a:p>
          <a:pPr marL="0" lvl="0" indent="0" algn="ctr" defTabSz="1600200">
            <a:lnSpc>
              <a:spcPct val="90000"/>
            </a:lnSpc>
            <a:spcBef>
              <a:spcPct val="0"/>
            </a:spcBef>
            <a:spcAft>
              <a:spcPct val="35000"/>
            </a:spcAft>
            <a:buNone/>
          </a:pPr>
          <a:r>
            <a:rPr lang="fr-CA" sz="3600" kern="1200" noProof="0"/>
            <a:t>Bénéfices monétaires</a:t>
          </a:r>
        </a:p>
      </dsp:txBody>
      <dsp:txXfrm>
        <a:off x="88056" y="247727"/>
        <a:ext cx="3088637" cy="1554177"/>
      </dsp:txXfrm>
    </dsp:sp>
    <dsp:sp modelId="{ED3F4AA9-45DE-41BF-8F51-4871F5ABD331}">
      <dsp:nvSpPr>
        <dsp:cNvPr id="0" name=""/>
        <dsp:cNvSpPr/>
      </dsp:nvSpPr>
      <dsp:spPr>
        <a:xfrm>
          <a:off x="3246582" y="2219597"/>
          <a:ext cx="4900829" cy="2053690"/>
        </a:xfrm>
        <a:prstGeom prst="rightArrow">
          <a:avLst>
            <a:gd name="adj1" fmla="val 75000"/>
            <a:gd name="adj2" fmla="val 50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4445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540" tIns="2540" rIns="2540" bIns="2540" numCol="1" spcCol="1270" anchor="t" anchorCtr="0">
          <a:noAutofit/>
        </a:bodyPr>
        <a:lstStyle/>
        <a:p>
          <a:pPr marL="271463" lvl="1" indent="-185738" algn="l" defTabSz="177800">
            <a:lnSpc>
              <a:spcPct val="90000"/>
            </a:lnSpc>
            <a:spcBef>
              <a:spcPct val="0"/>
            </a:spcBef>
            <a:spcAft>
              <a:spcPct val="15000"/>
            </a:spcAft>
            <a:buFont typeface="Wingdings" panose="05000000000000000000" pitchFamily="2" charset="2"/>
            <a:buChar char="Ø"/>
          </a:pPr>
          <a:endParaRPr lang="fr-CA" sz="400" kern="1200" noProof="0">
            <a:solidFill>
              <a:srgbClr val="003DA5">
                <a:hueOff val="0"/>
                <a:satOff val="0"/>
                <a:lumOff val="0"/>
                <a:alphaOff val="0"/>
              </a:srgbClr>
            </a:solidFill>
            <a:latin typeface="Calibri" panose="020F0502020204030204"/>
            <a:ea typeface="+mn-ea"/>
            <a:cs typeface="+mn-cs"/>
          </a:endParaRPr>
        </a:p>
        <a:p>
          <a:pPr marL="271463" lvl="1" indent="-185738" algn="l" defTabSz="533400">
            <a:lnSpc>
              <a:spcPct val="90000"/>
            </a:lnSpc>
            <a:spcBef>
              <a:spcPct val="0"/>
            </a:spcBef>
            <a:spcAft>
              <a:spcPct val="15000"/>
            </a:spcAft>
            <a:buFont typeface="Wingdings" panose="05000000000000000000" pitchFamily="2" charset="2"/>
            <a:buChar char="Ø"/>
          </a:pPr>
          <a:r>
            <a:rPr lang="fr-CA" sz="1200" kern="1200" noProof="0">
              <a:solidFill>
                <a:srgbClr val="003DA5">
                  <a:hueOff val="0"/>
                  <a:satOff val="0"/>
                  <a:lumOff val="0"/>
                  <a:alphaOff val="0"/>
                </a:srgbClr>
              </a:solidFill>
              <a:latin typeface="+mn-lt"/>
              <a:ea typeface="+mn-ea"/>
              <a:cs typeface="+mn-cs"/>
            </a:rPr>
            <a:t>Automatisation des processus les plus énergivores</a:t>
          </a:r>
          <a:endParaRPr lang="fr-CA" sz="1200" kern="1200" noProof="0">
            <a:solidFill>
              <a:srgbClr val="003DA5">
                <a:hueOff val="0"/>
                <a:satOff val="0"/>
                <a:lumOff val="0"/>
                <a:alphaOff val="0"/>
              </a:srgbClr>
            </a:solidFill>
            <a:latin typeface="Calibri" panose="020F0502020204030204"/>
            <a:ea typeface="+mn-ea"/>
            <a:cs typeface="+mn-cs"/>
          </a:endParaRPr>
        </a:p>
        <a:p>
          <a:pPr marL="268288" lvl="1" indent="-176213" algn="l" defTabSz="533400">
            <a:lnSpc>
              <a:spcPct val="90000"/>
            </a:lnSpc>
            <a:spcBef>
              <a:spcPct val="0"/>
            </a:spcBef>
            <a:spcAft>
              <a:spcPct val="15000"/>
            </a:spcAft>
            <a:buFont typeface="Wingdings" panose="05000000000000000000" pitchFamily="2" charset="2"/>
            <a:buChar char="Ø"/>
          </a:pPr>
          <a:r>
            <a:rPr lang="fr-CA" sz="1200" kern="1200" noProof="0">
              <a:solidFill>
                <a:srgbClr val="003DA5">
                  <a:hueOff val="0"/>
                  <a:satOff val="0"/>
                  <a:lumOff val="0"/>
                  <a:alphaOff val="0"/>
                </a:srgbClr>
              </a:solidFill>
              <a:latin typeface="+mn-lt"/>
              <a:ea typeface="+mn-ea"/>
              <a:cs typeface="+mn-cs"/>
            </a:rPr>
            <a:t>Mise en place d’outils permettant une meilleure prise de décision </a:t>
          </a:r>
        </a:p>
        <a:p>
          <a:pPr marL="268288" lvl="1" indent="-176213" algn="l" defTabSz="533400">
            <a:lnSpc>
              <a:spcPct val="90000"/>
            </a:lnSpc>
            <a:spcBef>
              <a:spcPct val="0"/>
            </a:spcBef>
            <a:spcAft>
              <a:spcPct val="15000"/>
            </a:spcAft>
            <a:buFont typeface="Wingdings" panose="05000000000000000000" pitchFamily="2" charset="2"/>
            <a:buChar char="Ø"/>
          </a:pPr>
          <a:r>
            <a:rPr lang="fr-CA" sz="1200" kern="1200" noProof="0">
              <a:solidFill>
                <a:srgbClr val="003DA5">
                  <a:hueOff val="0"/>
                  <a:satOff val="0"/>
                  <a:lumOff val="0"/>
                  <a:alphaOff val="0"/>
                </a:srgbClr>
              </a:solidFill>
              <a:latin typeface="+mn-lt"/>
              <a:ea typeface="+mn-ea"/>
              <a:cs typeface="+mn-cs"/>
            </a:rPr>
            <a:t>Meilleure gestion des cas d’anomalies, d’erreur et de fraude</a:t>
          </a:r>
        </a:p>
        <a:p>
          <a:pPr marL="268288" lvl="1" indent="-176213" algn="l" defTabSz="533400">
            <a:lnSpc>
              <a:spcPct val="90000"/>
            </a:lnSpc>
            <a:spcBef>
              <a:spcPct val="0"/>
            </a:spcBef>
            <a:spcAft>
              <a:spcPct val="15000"/>
            </a:spcAft>
            <a:buFont typeface="Wingdings" panose="05000000000000000000" pitchFamily="2" charset="2"/>
            <a:buChar char="Ø"/>
          </a:pPr>
          <a:r>
            <a:rPr lang="fr-CA" sz="1200" kern="1200" noProof="0">
              <a:solidFill>
                <a:srgbClr val="003DA5">
                  <a:hueOff val="0"/>
                  <a:satOff val="0"/>
                  <a:lumOff val="0"/>
                  <a:alphaOff val="0"/>
                </a:srgbClr>
              </a:solidFill>
              <a:latin typeface="+mn-lt"/>
              <a:ea typeface="+mn-ea"/>
              <a:cs typeface="+mn-cs"/>
            </a:rPr>
            <a:t>Faciliter les futures intégrations de nouveaux services bancaires</a:t>
          </a:r>
        </a:p>
        <a:p>
          <a:pPr marL="268288" lvl="1" indent="-176213" algn="l" defTabSz="533400">
            <a:lnSpc>
              <a:spcPct val="90000"/>
            </a:lnSpc>
            <a:spcBef>
              <a:spcPct val="0"/>
            </a:spcBef>
            <a:spcAft>
              <a:spcPct val="15000"/>
            </a:spcAft>
            <a:buFont typeface="Wingdings" panose="05000000000000000000" pitchFamily="2" charset="2"/>
            <a:buChar char="Ø"/>
          </a:pPr>
          <a:r>
            <a:rPr lang="fr-CA" sz="1200" kern="1200" noProof="0">
              <a:solidFill>
                <a:srgbClr val="003DA5">
                  <a:hueOff val="0"/>
                  <a:satOff val="0"/>
                  <a:lumOff val="0"/>
                  <a:alphaOff val="0"/>
                </a:srgbClr>
              </a:solidFill>
              <a:latin typeface="+mn-lt"/>
              <a:ea typeface="+mn-ea"/>
              <a:cs typeface="+mn-cs"/>
            </a:rPr>
            <a:t>Simplification de l’écosystème bancaire</a:t>
          </a:r>
        </a:p>
      </dsp:txBody>
      <dsp:txXfrm>
        <a:off x="3246582" y="2476308"/>
        <a:ext cx="4130695" cy="1540268"/>
      </dsp:txXfrm>
    </dsp:sp>
    <dsp:sp modelId="{5A35D188-71CB-4F74-AA19-ED730D9AE94D}">
      <dsp:nvSpPr>
        <dsp:cNvPr id="0" name=""/>
        <dsp:cNvSpPr/>
      </dsp:nvSpPr>
      <dsp:spPr>
        <a:xfrm>
          <a:off x="2525" y="2385277"/>
          <a:ext cx="3244057" cy="1722331"/>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52400" tIns="76200" rIns="152400" bIns="76200" numCol="1" spcCol="1270" anchor="ctr" anchorCtr="0">
          <a:noAutofit/>
        </a:bodyPr>
        <a:lstStyle/>
        <a:p>
          <a:pPr marL="0" lvl="0" indent="0" algn="ctr" defTabSz="1778000">
            <a:lnSpc>
              <a:spcPct val="90000"/>
            </a:lnSpc>
            <a:spcBef>
              <a:spcPct val="0"/>
            </a:spcBef>
            <a:spcAft>
              <a:spcPct val="35000"/>
            </a:spcAft>
            <a:buNone/>
          </a:pPr>
          <a:r>
            <a:rPr lang="fr-CA" sz="4000" kern="1200" noProof="0"/>
            <a:t>Bénéfices autres</a:t>
          </a:r>
        </a:p>
      </dsp:txBody>
      <dsp:txXfrm>
        <a:off x="86602" y="2469354"/>
        <a:ext cx="3075903" cy="155417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AFC11C-CCC0-49EA-AF5A-90DA17BE8AD3}">
      <dsp:nvSpPr>
        <dsp:cNvPr id="0" name=""/>
        <dsp:cNvSpPr/>
      </dsp:nvSpPr>
      <dsp:spPr>
        <a:xfrm>
          <a:off x="0" y="334965"/>
          <a:ext cx="7243482" cy="1625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62175" tIns="249936" rIns="562175" bIns="85344" numCol="1" spcCol="1270" anchor="t" anchorCtr="0">
          <a:noAutofit/>
        </a:bodyPr>
        <a:lstStyle/>
        <a:p>
          <a:pPr marL="114300" lvl="1" indent="-114300" algn="l" defTabSz="533400">
            <a:lnSpc>
              <a:spcPct val="90000"/>
            </a:lnSpc>
            <a:spcBef>
              <a:spcPct val="0"/>
            </a:spcBef>
            <a:spcAft>
              <a:spcPct val="15000"/>
            </a:spcAft>
            <a:buFont typeface="Wingdings" panose="05000000000000000000" pitchFamily="2" charset="2"/>
            <a:buChar char="Ø"/>
          </a:pPr>
          <a:r>
            <a:rPr lang="fr-CA" sz="1200" kern="1200" noProof="0">
              <a:solidFill>
                <a:srgbClr val="003DA5"/>
              </a:solidFill>
              <a:ea typeface="Calibri"/>
              <a:cs typeface="Arial"/>
            </a:rPr>
            <a:t> Centraliser tout les paiements et perceptions, automatiques et manuels, précédemment dans Trax, Opérations sur les chèques ou sur le portail des </a:t>
          </a:r>
          <a:r>
            <a:rPr lang="fr-CA" sz="1200" kern="1200" noProof="0">
              <a:solidFill>
                <a:srgbClr val="003DA5"/>
              </a:solidFill>
              <a:latin typeface="Calibri Light" panose="020F0302020204030204"/>
              <a:ea typeface="Calibri"/>
              <a:cs typeface="Arial"/>
            </a:rPr>
            <a:t>institutions</a:t>
          </a:r>
          <a:r>
            <a:rPr lang="fr-CA" sz="1200" kern="1200" noProof="0">
              <a:solidFill>
                <a:srgbClr val="003DA5"/>
              </a:solidFill>
              <a:ea typeface="Calibri"/>
              <a:cs typeface="Arial"/>
            </a:rPr>
            <a:t> bancaires, dans le nouvel Hub de paiement Kyriba</a:t>
          </a:r>
          <a:endParaRPr lang="fr-CA" sz="1200" kern="1200" noProof="0"/>
        </a:p>
        <a:p>
          <a:pPr marL="114300" lvl="1" indent="-114300" algn="l" defTabSz="533400">
            <a:lnSpc>
              <a:spcPct val="90000"/>
            </a:lnSpc>
            <a:spcBef>
              <a:spcPct val="0"/>
            </a:spcBef>
            <a:spcAft>
              <a:spcPct val="15000"/>
            </a:spcAft>
            <a:buFont typeface="Wingdings" panose="05000000000000000000" pitchFamily="2" charset="2"/>
            <a:buChar char="Ø"/>
          </a:pPr>
          <a:r>
            <a:rPr lang="fr-CA" sz="1200" kern="1200" noProof="0">
              <a:solidFill>
                <a:srgbClr val="003DA5"/>
              </a:solidFill>
              <a:ea typeface="Calibri"/>
              <a:cs typeface="Arial"/>
            </a:rPr>
            <a:t> Centraliser la gestion de la structure de comptes bancaires dans Kyriba</a:t>
          </a:r>
          <a:endParaRPr lang="fr-CA" sz="1200" kern="1200" noProof="0"/>
        </a:p>
        <a:p>
          <a:pPr marL="114300" lvl="1" indent="-114300" algn="l" defTabSz="533400">
            <a:lnSpc>
              <a:spcPct val="90000"/>
            </a:lnSpc>
            <a:spcBef>
              <a:spcPct val="0"/>
            </a:spcBef>
            <a:spcAft>
              <a:spcPct val="15000"/>
            </a:spcAft>
            <a:buFont typeface="Wingdings" panose="05000000000000000000" pitchFamily="2" charset="2"/>
            <a:buChar char="Ø"/>
          </a:pPr>
          <a:r>
            <a:rPr lang="fr-CA" sz="1200" kern="1200" noProof="0"/>
            <a:t> Implanter le module d’analyse de frais bancaires</a:t>
          </a:r>
        </a:p>
        <a:p>
          <a:pPr marL="114300" lvl="1" indent="-114300" algn="l" defTabSz="533400">
            <a:lnSpc>
              <a:spcPct val="90000"/>
            </a:lnSpc>
            <a:spcBef>
              <a:spcPct val="0"/>
            </a:spcBef>
            <a:spcAft>
              <a:spcPct val="15000"/>
            </a:spcAft>
            <a:buFont typeface="Wingdings" panose="05000000000000000000" pitchFamily="2" charset="2"/>
            <a:buChar char="Ø"/>
          </a:pPr>
          <a:r>
            <a:rPr lang="fr-CA" sz="1200" kern="1200" noProof="0">
              <a:solidFill>
                <a:srgbClr val="003DA5"/>
              </a:solidFill>
              <a:ea typeface="Calibri"/>
              <a:cs typeface="Arial"/>
            </a:rPr>
            <a:t> Implanter le module de gestion des fraudes</a:t>
          </a:r>
        </a:p>
        <a:p>
          <a:pPr marL="114300" lvl="1" indent="-114300" algn="l" defTabSz="533400">
            <a:lnSpc>
              <a:spcPct val="90000"/>
            </a:lnSpc>
            <a:spcBef>
              <a:spcPct val="0"/>
            </a:spcBef>
            <a:spcAft>
              <a:spcPct val="15000"/>
            </a:spcAft>
            <a:buFont typeface="Wingdings" panose="05000000000000000000" pitchFamily="2" charset="2"/>
            <a:buChar char="Ø"/>
          </a:pPr>
          <a:r>
            <a:rPr lang="fr-CA" sz="1200" kern="1200" noProof="0">
              <a:solidFill>
                <a:srgbClr val="003DA5"/>
              </a:solidFill>
              <a:ea typeface="Calibri"/>
              <a:cs typeface="Arial"/>
            </a:rPr>
            <a:t> Programme de formation et Support aux partenaires</a:t>
          </a:r>
        </a:p>
      </dsp:txBody>
      <dsp:txXfrm>
        <a:off x="0" y="334965"/>
        <a:ext cx="7243482" cy="1625400"/>
      </dsp:txXfrm>
    </dsp:sp>
    <dsp:sp modelId="{0FD92C22-E23A-4765-9B49-13A67495EBAE}">
      <dsp:nvSpPr>
        <dsp:cNvPr id="0" name=""/>
        <dsp:cNvSpPr/>
      </dsp:nvSpPr>
      <dsp:spPr>
        <a:xfrm>
          <a:off x="362174" y="157845"/>
          <a:ext cx="5070437" cy="3542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1650" tIns="0" rIns="191650" bIns="0" numCol="1" spcCol="1270" anchor="ctr" anchorCtr="0">
          <a:noAutofit/>
        </a:bodyPr>
        <a:lstStyle/>
        <a:p>
          <a:pPr marL="0" lvl="0" indent="0" algn="l" defTabSz="533400">
            <a:lnSpc>
              <a:spcPct val="90000"/>
            </a:lnSpc>
            <a:spcBef>
              <a:spcPct val="0"/>
            </a:spcBef>
            <a:spcAft>
              <a:spcPct val="35000"/>
            </a:spcAft>
            <a:buNone/>
          </a:pPr>
          <a:r>
            <a:rPr lang="fr-CA" sz="1200" b="1" kern="1200" noProof="0">
              <a:solidFill>
                <a:schemeClr val="dk1"/>
              </a:solidFill>
              <a:ea typeface="+mn-ea"/>
              <a:cs typeface="+mn-cs"/>
            </a:rPr>
            <a:t>Objectif 1 – </a:t>
          </a:r>
          <a:r>
            <a:rPr lang="fr-CA" sz="1200" b="1" kern="1200" noProof="0">
              <a:solidFill>
                <a:srgbClr val="003DA5"/>
              </a:solidFill>
              <a:ea typeface="Calibri"/>
              <a:cs typeface="Arial"/>
            </a:rPr>
            <a:t>Implémentation d’un nouvel hub de paiement à la CFO</a:t>
          </a:r>
          <a:endParaRPr lang="fr-CA" sz="1200" kern="1200" noProof="0"/>
        </a:p>
      </dsp:txBody>
      <dsp:txXfrm>
        <a:off x="379467" y="175138"/>
        <a:ext cx="5035851" cy="319654"/>
      </dsp:txXfrm>
    </dsp:sp>
    <dsp:sp modelId="{6470E621-38A5-43E8-94CF-DD430514023A}">
      <dsp:nvSpPr>
        <dsp:cNvPr id="0" name=""/>
        <dsp:cNvSpPr/>
      </dsp:nvSpPr>
      <dsp:spPr>
        <a:xfrm>
          <a:off x="0" y="2202286"/>
          <a:ext cx="7243482" cy="9072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62175" tIns="249936" rIns="562175" bIns="85344" numCol="1" spcCol="1270" anchor="t" anchorCtr="0">
          <a:noAutofit/>
        </a:bodyPr>
        <a:lstStyle/>
        <a:p>
          <a:pPr marL="114300" lvl="1" indent="-114300" algn="l" defTabSz="533400">
            <a:lnSpc>
              <a:spcPct val="90000"/>
            </a:lnSpc>
            <a:spcBef>
              <a:spcPct val="0"/>
            </a:spcBef>
            <a:spcAft>
              <a:spcPct val="15000"/>
            </a:spcAft>
            <a:buFont typeface="Wingdings" panose="05000000000000000000" pitchFamily="2" charset="2"/>
            <a:buChar char="Ø"/>
          </a:pPr>
          <a:r>
            <a:rPr lang="fr-CA" sz="1200" kern="1200" noProof="0">
              <a:solidFill>
                <a:srgbClr val="003DA5"/>
              </a:solidFill>
              <a:latin typeface="Calibri" panose="020F0502020204030204"/>
              <a:ea typeface="Calibri"/>
              <a:cs typeface="Calibri"/>
            </a:rPr>
            <a:t> Analyser, adapter, optimiser et cartographier </a:t>
          </a:r>
          <a:r>
            <a:rPr lang="fr-CA" sz="1200" kern="1200" noProof="0">
              <a:solidFill>
                <a:srgbClr val="003DA5"/>
              </a:solidFill>
              <a:latin typeface="+mn-lt"/>
              <a:ea typeface="Calibri"/>
              <a:cs typeface="Calibri"/>
            </a:rPr>
            <a:t>les </a:t>
          </a:r>
          <a:r>
            <a:rPr lang="fr-CA" sz="1200" kern="1200" noProof="0">
              <a:solidFill>
                <a:srgbClr val="003DA5"/>
              </a:solidFill>
              <a:ea typeface="Calibri"/>
              <a:cs typeface="Calibri"/>
            </a:rPr>
            <a:t>processus d’affaires existants</a:t>
          </a:r>
          <a:endParaRPr lang="fr-CA" sz="1200" kern="1200" noProof="0"/>
        </a:p>
        <a:p>
          <a:pPr marL="114300" lvl="1" indent="-114300" algn="l" defTabSz="533400">
            <a:lnSpc>
              <a:spcPct val="90000"/>
            </a:lnSpc>
            <a:spcBef>
              <a:spcPct val="0"/>
            </a:spcBef>
            <a:spcAft>
              <a:spcPct val="15000"/>
            </a:spcAft>
            <a:buFont typeface="Wingdings" panose="05000000000000000000" pitchFamily="2" charset="2"/>
            <a:buChar char="Ø"/>
          </a:pPr>
          <a:r>
            <a:rPr lang="fr-CA" sz="1200" kern="1200" noProof="0">
              <a:solidFill>
                <a:srgbClr val="003DA5"/>
              </a:solidFill>
              <a:ea typeface="Calibri"/>
              <a:cs typeface="Calibri"/>
            </a:rPr>
            <a:t> Concevoir et cartographier les nouveaux processus d'affaires </a:t>
          </a:r>
        </a:p>
        <a:p>
          <a:pPr marL="114300" lvl="1" indent="-114300" algn="l" defTabSz="533400">
            <a:lnSpc>
              <a:spcPct val="90000"/>
            </a:lnSpc>
            <a:spcBef>
              <a:spcPct val="0"/>
            </a:spcBef>
            <a:spcAft>
              <a:spcPct val="15000"/>
            </a:spcAft>
            <a:buFont typeface="Wingdings" panose="05000000000000000000" pitchFamily="2" charset="2"/>
            <a:buChar char="Ø"/>
          </a:pPr>
          <a:r>
            <a:rPr lang="fr-CA" sz="1200" kern="1200" noProof="0">
              <a:solidFill>
                <a:srgbClr val="003DA5"/>
              </a:solidFill>
              <a:ea typeface="Calibri"/>
              <a:cs typeface="Calibri"/>
            </a:rPr>
            <a:t> Communiquer sur les processus d’affaires</a:t>
          </a:r>
        </a:p>
      </dsp:txBody>
      <dsp:txXfrm>
        <a:off x="0" y="2202286"/>
        <a:ext cx="7243482" cy="907200"/>
      </dsp:txXfrm>
    </dsp:sp>
    <dsp:sp modelId="{B754AB35-7F16-4E16-A9AB-30527984B7A7}">
      <dsp:nvSpPr>
        <dsp:cNvPr id="0" name=""/>
        <dsp:cNvSpPr/>
      </dsp:nvSpPr>
      <dsp:spPr>
        <a:xfrm>
          <a:off x="362174" y="2025166"/>
          <a:ext cx="5070437" cy="3542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1650" tIns="0" rIns="191650" bIns="0" numCol="1" spcCol="1270" anchor="ctr" anchorCtr="0">
          <a:noAutofit/>
        </a:bodyPr>
        <a:lstStyle/>
        <a:p>
          <a:pPr marL="0" lvl="0" indent="0" algn="l" defTabSz="533400">
            <a:lnSpc>
              <a:spcPct val="90000"/>
            </a:lnSpc>
            <a:spcBef>
              <a:spcPct val="0"/>
            </a:spcBef>
            <a:spcAft>
              <a:spcPct val="35000"/>
            </a:spcAft>
            <a:buNone/>
          </a:pPr>
          <a:r>
            <a:rPr lang="fr-CA" sz="1200" b="1" kern="1200" noProof="0">
              <a:solidFill>
                <a:schemeClr val="dk1"/>
              </a:solidFill>
              <a:ea typeface="+mn-ea"/>
              <a:cs typeface="+mn-cs"/>
            </a:rPr>
            <a:t>Objectif 2 - </a:t>
          </a:r>
          <a:r>
            <a:rPr lang="fr-CA" sz="1200" b="1" kern="1200" noProof="0">
              <a:solidFill>
                <a:srgbClr val="003DA5"/>
              </a:solidFill>
              <a:ea typeface="Calibri"/>
              <a:cs typeface="Arial"/>
            </a:rPr>
            <a:t>Simplifier, automatiser et standardiser les processus d’affaires</a:t>
          </a:r>
          <a:endParaRPr lang="fr-CA" sz="1200" kern="1200" noProof="0"/>
        </a:p>
      </dsp:txBody>
      <dsp:txXfrm>
        <a:off x="379467" y="2042459"/>
        <a:ext cx="5035851" cy="319654"/>
      </dsp:txXfrm>
    </dsp:sp>
    <dsp:sp modelId="{36BE6DCB-5421-4E89-951A-324604FBA78C}">
      <dsp:nvSpPr>
        <dsp:cNvPr id="0" name=""/>
        <dsp:cNvSpPr/>
      </dsp:nvSpPr>
      <dsp:spPr>
        <a:xfrm>
          <a:off x="0" y="3351406"/>
          <a:ext cx="7243482" cy="9072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62175" tIns="249936" rIns="562175" bIns="85344" numCol="1" spcCol="1270" anchor="t" anchorCtr="0">
          <a:noAutofit/>
        </a:bodyPr>
        <a:lstStyle/>
        <a:p>
          <a:pPr marL="114300" lvl="1" indent="-114300" algn="l" defTabSz="533400">
            <a:lnSpc>
              <a:spcPct val="90000"/>
            </a:lnSpc>
            <a:spcBef>
              <a:spcPct val="0"/>
            </a:spcBef>
            <a:spcAft>
              <a:spcPct val="15000"/>
            </a:spcAft>
            <a:buFont typeface="Wingdings" panose="05000000000000000000" pitchFamily="2" charset="2"/>
            <a:buChar char="Ø"/>
          </a:pPr>
          <a:r>
            <a:rPr lang="fr-CA" sz="1200" kern="1200" noProof="0">
              <a:solidFill>
                <a:srgbClr val="003DA5"/>
              </a:solidFill>
              <a:ea typeface="Calibri"/>
              <a:cs typeface="Arial"/>
            </a:rPr>
            <a:t> Définir le modèle d’affaires du CSP bancaire </a:t>
          </a:r>
          <a:endParaRPr lang="fr-CA" sz="1200" kern="1200" noProof="0"/>
        </a:p>
        <a:p>
          <a:pPr marL="114300" lvl="1" indent="-114300" algn="l" defTabSz="533400">
            <a:lnSpc>
              <a:spcPct val="90000"/>
            </a:lnSpc>
            <a:spcBef>
              <a:spcPct val="0"/>
            </a:spcBef>
            <a:spcAft>
              <a:spcPct val="15000"/>
            </a:spcAft>
            <a:buFont typeface="Wingdings" panose="05000000000000000000" pitchFamily="2" charset="2"/>
            <a:buChar char="Ø"/>
          </a:pPr>
          <a:r>
            <a:rPr lang="fr-CA" sz="1200" kern="1200" noProof="0">
              <a:solidFill>
                <a:srgbClr val="003DA5"/>
              </a:solidFill>
              <a:ea typeface="Calibri"/>
              <a:cs typeface="Arial"/>
            </a:rPr>
            <a:t> Diffuser le modèle opérationnel du CSP bancaire</a:t>
          </a:r>
        </a:p>
        <a:p>
          <a:pPr marL="114300" lvl="1" indent="-114300" algn="l" defTabSz="533400">
            <a:lnSpc>
              <a:spcPct val="90000"/>
            </a:lnSpc>
            <a:spcBef>
              <a:spcPct val="0"/>
            </a:spcBef>
            <a:spcAft>
              <a:spcPct val="15000"/>
            </a:spcAft>
            <a:buFont typeface="Wingdings" panose="05000000000000000000" pitchFamily="2" charset="2"/>
            <a:buChar char="Ø"/>
          </a:pPr>
          <a:r>
            <a:rPr lang="fr-CA" sz="1200" kern="1200" noProof="0">
              <a:solidFill>
                <a:srgbClr val="003DA5"/>
              </a:solidFill>
              <a:ea typeface="Calibri"/>
              <a:cs typeface="Arial"/>
            </a:rPr>
            <a:t> Définir les rôles et responsabilités CSP bancaires versus Trésorerie corporatif</a:t>
          </a:r>
        </a:p>
      </dsp:txBody>
      <dsp:txXfrm>
        <a:off x="0" y="3351406"/>
        <a:ext cx="7243482" cy="907200"/>
      </dsp:txXfrm>
    </dsp:sp>
    <dsp:sp modelId="{14FC512B-B444-4DD4-8666-B07D137398FE}">
      <dsp:nvSpPr>
        <dsp:cNvPr id="0" name=""/>
        <dsp:cNvSpPr/>
      </dsp:nvSpPr>
      <dsp:spPr>
        <a:xfrm>
          <a:off x="362174" y="3174286"/>
          <a:ext cx="5070437" cy="3542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1650" tIns="0" rIns="191650" bIns="0" numCol="1" spcCol="1270" anchor="ctr" anchorCtr="0">
          <a:noAutofit/>
        </a:bodyPr>
        <a:lstStyle/>
        <a:p>
          <a:pPr marL="0" lvl="0" indent="0" algn="l" defTabSz="533400">
            <a:lnSpc>
              <a:spcPct val="90000"/>
            </a:lnSpc>
            <a:spcBef>
              <a:spcPct val="0"/>
            </a:spcBef>
            <a:spcAft>
              <a:spcPct val="35000"/>
            </a:spcAft>
            <a:buNone/>
          </a:pPr>
          <a:r>
            <a:rPr lang="fr-CA" sz="1200" b="1" kern="1200" noProof="0">
              <a:solidFill>
                <a:schemeClr val="dk1"/>
              </a:solidFill>
              <a:ea typeface="+mn-ea"/>
              <a:cs typeface="+mn-cs"/>
            </a:rPr>
            <a:t>Objectif 3 - </a:t>
          </a:r>
          <a:r>
            <a:rPr lang="fr-CA" sz="1200" b="1" kern="1200" noProof="0">
              <a:solidFill>
                <a:srgbClr val="003DA5"/>
              </a:solidFill>
              <a:ea typeface="Calibri"/>
              <a:cs typeface="Arial"/>
            </a:rPr>
            <a:t>Définir et diffuser le modèle opérationnel du CSP bancaire</a:t>
          </a:r>
          <a:endParaRPr lang="fr-CA" sz="1200" kern="1200" noProof="0"/>
        </a:p>
      </dsp:txBody>
      <dsp:txXfrm>
        <a:off x="379467" y="3191579"/>
        <a:ext cx="5035851" cy="31965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292B10-CF3A-42BA-B27A-EC6C0FC113FB}">
      <dsp:nvSpPr>
        <dsp:cNvPr id="0" name=""/>
        <dsp:cNvSpPr/>
      </dsp:nvSpPr>
      <dsp:spPr>
        <a:xfrm>
          <a:off x="1746" y="0"/>
          <a:ext cx="471678" cy="471678"/>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A68EC78-C710-4ADE-BA33-7E2D06FA1E69}">
      <dsp:nvSpPr>
        <dsp:cNvPr id="0" name=""/>
        <dsp:cNvSpPr/>
      </dsp:nvSpPr>
      <dsp:spPr>
        <a:xfrm>
          <a:off x="48914" y="47167"/>
          <a:ext cx="377342" cy="377342"/>
        </a:xfrm>
        <a:prstGeom prst="chord">
          <a:avLst>
            <a:gd name="adj1" fmla="val 1168272"/>
            <a:gd name="adj2" fmla="val 9631728"/>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0554D1E-92E9-4042-A143-CE45A567ECC7}">
      <dsp:nvSpPr>
        <dsp:cNvPr id="0" name=""/>
        <dsp:cNvSpPr/>
      </dsp:nvSpPr>
      <dsp:spPr>
        <a:xfrm>
          <a:off x="571690" y="471678"/>
          <a:ext cx="1395380" cy="19849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940" tIns="27940" rIns="27940" bIns="27940" numCol="1" spcCol="1270" anchor="t" anchorCtr="0">
          <a:noAutofit/>
        </a:bodyPr>
        <a:lstStyle/>
        <a:p>
          <a:pPr marL="0" lvl="0" indent="0" algn="l" defTabSz="488950">
            <a:lnSpc>
              <a:spcPct val="90000"/>
            </a:lnSpc>
            <a:spcBef>
              <a:spcPct val="0"/>
            </a:spcBef>
            <a:spcAft>
              <a:spcPct val="35000"/>
            </a:spcAft>
            <a:buNone/>
          </a:pPr>
          <a:r>
            <a:rPr lang="fr-FR" sz="1100" kern="1200"/>
            <a:t>25 %</a:t>
          </a:r>
        </a:p>
      </dsp:txBody>
      <dsp:txXfrm>
        <a:off x="571690" y="471678"/>
        <a:ext cx="1395380" cy="1984978"/>
      </dsp:txXfrm>
    </dsp:sp>
    <dsp:sp modelId="{284D370A-27E9-42CE-88B9-EA6FC7E28BEA}">
      <dsp:nvSpPr>
        <dsp:cNvPr id="0" name=""/>
        <dsp:cNvSpPr/>
      </dsp:nvSpPr>
      <dsp:spPr>
        <a:xfrm>
          <a:off x="571690" y="0"/>
          <a:ext cx="1395380" cy="4716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0640" tIns="40640" rIns="40640" bIns="40640" numCol="1" spcCol="1270" anchor="b" anchorCtr="0">
          <a:noAutofit/>
        </a:bodyPr>
        <a:lstStyle/>
        <a:p>
          <a:pPr marL="0" lvl="0" indent="0" algn="l" defTabSz="711200">
            <a:lnSpc>
              <a:spcPct val="90000"/>
            </a:lnSpc>
            <a:spcBef>
              <a:spcPct val="0"/>
            </a:spcBef>
            <a:spcAft>
              <a:spcPct val="35000"/>
            </a:spcAft>
            <a:buNone/>
          </a:pPr>
          <a:r>
            <a:rPr lang="fr-FR" sz="1600" kern="1200"/>
            <a:t>Filiales</a:t>
          </a:r>
        </a:p>
      </dsp:txBody>
      <dsp:txXfrm>
        <a:off x="571690" y="0"/>
        <a:ext cx="1395380" cy="471678"/>
      </dsp:txXfrm>
    </dsp:sp>
    <dsp:sp modelId="{02BCB6ED-A9FF-4906-B715-09B78B5AAC64}">
      <dsp:nvSpPr>
        <dsp:cNvPr id="0" name=""/>
        <dsp:cNvSpPr/>
      </dsp:nvSpPr>
      <dsp:spPr>
        <a:xfrm>
          <a:off x="2065337" y="0"/>
          <a:ext cx="471678" cy="471678"/>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2D07CAE-E94F-4F8C-83D8-108342688986}">
      <dsp:nvSpPr>
        <dsp:cNvPr id="0" name=""/>
        <dsp:cNvSpPr/>
      </dsp:nvSpPr>
      <dsp:spPr>
        <a:xfrm>
          <a:off x="2112505" y="47167"/>
          <a:ext cx="377342" cy="377342"/>
        </a:xfrm>
        <a:prstGeom prst="chord">
          <a:avLst>
            <a:gd name="adj1" fmla="val 20431728"/>
            <a:gd name="adj2" fmla="val 11968272"/>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AE27CBB-2841-485A-8F09-53F59920C8C4}">
      <dsp:nvSpPr>
        <dsp:cNvPr id="0" name=""/>
        <dsp:cNvSpPr/>
      </dsp:nvSpPr>
      <dsp:spPr>
        <a:xfrm>
          <a:off x="2635281" y="471678"/>
          <a:ext cx="1395380" cy="19849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940" tIns="27940" rIns="27940" bIns="27940" numCol="1" spcCol="1270" anchor="t" anchorCtr="0">
          <a:noAutofit/>
        </a:bodyPr>
        <a:lstStyle/>
        <a:p>
          <a:pPr marL="0" lvl="0" indent="0" algn="l" defTabSz="488950">
            <a:lnSpc>
              <a:spcPct val="90000"/>
            </a:lnSpc>
            <a:spcBef>
              <a:spcPct val="0"/>
            </a:spcBef>
            <a:spcAft>
              <a:spcPct val="35000"/>
            </a:spcAft>
            <a:buNone/>
          </a:pPr>
          <a:r>
            <a:rPr lang="fr-FR" sz="1100" kern="1200"/>
            <a:t>100% </a:t>
          </a:r>
        </a:p>
      </dsp:txBody>
      <dsp:txXfrm>
        <a:off x="2635281" y="471678"/>
        <a:ext cx="1395380" cy="1984978"/>
      </dsp:txXfrm>
    </dsp:sp>
    <dsp:sp modelId="{EF4334A8-625B-45D8-A9F9-80A1D990D770}">
      <dsp:nvSpPr>
        <dsp:cNvPr id="0" name=""/>
        <dsp:cNvSpPr/>
      </dsp:nvSpPr>
      <dsp:spPr>
        <a:xfrm>
          <a:off x="2635281" y="0"/>
          <a:ext cx="1395380" cy="4716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0640" tIns="40640" rIns="40640" bIns="40640" numCol="1" spcCol="1270" anchor="b" anchorCtr="0">
          <a:noAutofit/>
        </a:bodyPr>
        <a:lstStyle/>
        <a:p>
          <a:pPr marL="0" lvl="0" indent="0" algn="l" defTabSz="711200">
            <a:lnSpc>
              <a:spcPct val="90000"/>
            </a:lnSpc>
            <a:spcBef>
              <a:spcPct val="0"/>
            </a:spcBef>
            <a:spcAft>
              <a:spcPct val="35000"/>
            </a:spcAft>
            <a:buNone/>
          </a:pPr>
          <a:r>
            <a:rPr lang="fr-FR" sz="1600" kern="1200"/>
            <a:t>Lignes d’affaires</a:t>
          </a:r>
        </a:p>
      </dsp:txBody>
      <dsp:txXfrm>
        <a:off x="2635281" y="0"/>
        <a:ext cx="1395380" cy="471678"/>
      </dsp:txXfrm>
    </dsp:sp>
    <dsp:sp modelId="{8CA06B0C-236A-4BE8-8675-EBD79BF552B4}">
      <dsp:nvSpPr>
        <dsp:cNvPr id="0" name=""/>
        <dsp:cNvSpPr/>
      </dsp:nvSpPr>
      <dsp:spPr>
        <a:xfrm>
          <a:off x="4128928" y="0"/>
          <a:ext cx="471678" cy="471678"/>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D88D83-4A2E-4EE1-94C5-FEB92E11EE27}">
      <dsp:nvSpPr>
        <dsp:cNvPr id="0" name=""/>
        <dsp:cNvSpPr/>
      </dsp:nvSpPr>
      <dsp:spPr>
        <a:xfrm>
          <a:off x="4176096" y="47167"/>
          <a:ext cx="377342" cy="377342"/>
        </a:xfrm>
        <a:prstGeom prst="chord">
          <a:avLst>
            <a:gd name="adj1" fmla="val 16200000"/>
            <a:gd name="adj2" fmla="val 16200000"/>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C1E05DB-8799-423C-B68F-CAE23033C6DA}">
      <dsp:nvSpPr>
        <dsp:cNvPr id="0" name=""/>
        <dsp:cNvSpPr/>
      </dsp:nvSpPr>
      <dsp:spPr>
        <a:xfrm>
          <a:off x="4698873" y="471678"/>
          <a:ext cx="1395380" cy="19849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940" tIns="27940" rIns="27940" bIns="27940" numCol="1" spcCol="1270" anchor="t" anchorCtr="0">
          <a:noAutofit/>
        </a:bodyPr>
        <a:lstStyle/>
        <a:p>
          <a:pPr marL="0" lvl="0" indent="0" algn="l" defTabSz="488950">
            <a:lnSpc>
              <a:spcPct val="90000"/>
            </a:lnSpc>
            <a:spcBef>
              <a:spcPct val="0"/>
            </a:spcBef>
            <a:spcAft>
              <a:spcPct val="35000"/>
            </a:spcAft>
            <a:buNone/>
          </a:pPr>
          <a:r>
            <a:rPr lang="fr-FR" sz="1100" kern="1200"/>
            <a:t>100 %</a:t>
          </a:r>
        </a:p>
      </dsp:txBody>
      <dsp:txXfrm>
        <a:off x="4698873" y="471678"/>
        <a:ext cx="1395380" cy="1984978"/>
      </dsp:txXfrm>
    </dsp:sp>
    <dsp:sp modelId="{F8D94B3C-C0FA-46FF-B838-3882D7255CA1}">
      <dsp:nvSpPr>
        <dsp:cNvPr id="0" name=""/>
        <dsp:cNvSpPr/>
      </dsp:nvSpPr>
      <dsp:spPr>
        <a:xfrm>
          <a:off x="4698873" y="0"/>
          <a:ext cx="1395380" cy="4716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0640" tIns="40640" rIns="40640" bIns="40640" numCol="1" spcCol="1270" anchor="b" anchorCtr="0">
          <a:noAutofit/>
        </a:bodyPr>
        <a:lstStyle/>
        <a:p>
          <a:pPr marL="0" lvl="0" indent="0" algn="l" defTabSz="711200">
            <a:lnSpc>
              <a:spcPct val="90000"/>
            </a:lnSpc>
            <a:spcBef>
              <a:spcPct val="0"/>
            </a:spcBef>
            <a:spcAft>
              <a:spcPct val="35000"/>
            </a:spcAft>
            <a:buNone/>
          </a:pPr>
          <a:r>
            <a:rPr lang="fr-FR" sz="1600" kern="1200"/>
            <a:t>Secteurs</a:t>
          </a:r>
        </a:p>
      </dsp:txBody>
      <dsp:txXfrm>
        <a:off x="4698873" y="0"/>
        <a:ext cx="1395380" cy="47167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43E709-25C8-45CD-8391-FEC2E5447483}">
      <dsp:nvSpPr>
        <dsp:cNvPr id="0" name=""/>
        <dsp:cNvSpPr/>
      </dsp:nvSpPr>
      <dsp:spPr>
        <a:xfrm>
          <a:off x="3600" y="0"/>
          <a:ext cx="3463419" cy="461272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1">
          <a:scrgbClr r="0" g="0" b="0"/>
        </a:effectRef>
        <a:fontRef idx="minor"/>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fr-CA" sz="3600" i="1" kern="1200" noProof="0"/>
            <a:t>Contraintes</a:t>
          </a:r>
        </a:p>
      </dsp:txBody>
      <dsp:txXfrm>
        <a:off x="3600" y="0"/>
        <a:ext cx="3463419" cy="1383816"/>
      </dsp:txXfrm>
    </dsp:sp>
    <dsp:sp modelId="{9C1F1937-2B3F-4647-AB06-AFF4EB2028F3}">
      <dsp:nvSpPr>
        <dsp:cNvPr id="0" name=""/>
        <dsp:cNvSpPr/>
      </dsp:nvSpPr>
      <dsp:spPr>
        <a:xfrm>
          <a:off x="349942" y="1384434"/>
          <a:ext cx="2770735" cy="953475"/>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7940" tIns="20955" rIns="27940" bIns="20955" numCol="1" spcCol="1270" anchor="t" anchorCtr="0">
          <a:noAutofit/>
        </a:bodyPr>
        <a:lstStyle/>
        <a:p>
          <a:pPr marL="0" lvl="0" indent="0" algn="l" defTabSz="466725">
            <a:lnSpc>
              <a:spcPct val="90000"/>
            </a:lnSpc>
            <a:spcBef>
              <a:spcPct val="0"/>
            </a:spcBef>
            <a:spcAft>
              <a:spcPct val="35000"/>
            </a:spcAft>
            <a:buNone/>
          </a:pPr>
          <a:r>
            <a:rPr lang="fr-CA" sz="1050" b="1" i="1" u="sng" kern="1200" noProof="0"/>
            <a:t>Délais</a:t>
          </a:r>
        </a:p>
        <a:p>
          <a:pPr marL="57150" lvl="1" indent="-57150" algn="l" defTabSz="488950">
            <a:lnSpc>
              <a:spcPct val="90000"/>
            </a:lnSpc>
            <a:spcBef>
              <a:spcPct val="0"/>
            </a:spcBef>
            <a:spcAft>
              <a:spcPct val="15000"/>
            </a:spcAft>
            <a:buChar char="•"/>
          </a:pPr>
          <a:r>
            <a:rPr lang="fr-CA" sz="1100" kern="1200" noProof="0"/>
            <a:t> </a:t>
          </a:r>
          <a:r>
            <a:rPr lang="fr-CA" sz="1050" kern="1200" noProof="0"/>
            <a:t>Décommissionnement de TRAX prévu pour Q3 2026 </a:t>
          </a:r>
          <a:r>
            <a:rPr lang="fr-CA" sz="800" kern="1200" noProof="0"/>
            <a:t>(fin de contrat Q2 2027)</a:t>
          </a:r>
          <a:endParaRPr lang="fr-CA" sz="1100" kern="1200" noProof="0"/>
        </a:p>
        <a:p>
          <a:pPr marL="57150" lvl="1" indent="-57150" algn="l" defTabSz="488950">
            <a:lnSpc>
              <a:spcPct val="90000"/>
            </a:lnSpc>
            <a:spcBef>
              <a:spcPct val="0"/>
            </a:spcBef>
            <a:spcAft>
              <a:spcPct val="15000"/>
            </a:spcAft>
            <a:buChar char="•"/>
          </a:pPr>
          <a:r>
            <a:rPr lang="fr-CA" sz="1100" kern="1200" noProof="0"/>
            <a:t> </a:t>
          </a:r>
          <a:r>
            <a:rPr lang="fr-CA" sz="1050" kern="1200" noProof="0"/>
            <a:t>Arrivée de l’intégrateur en Q4 2025</a:t>
          </a:r>
          <a:endParaRPr lang="fr-CA" sz="1100" kern="1200" noProof="0"/>
        </a:p>
        <a:p>
          <a:pPr marL="57150" lvl="1" indent="-57150" algn="l" defTabSz="488950">
            <a:lnSpc>
              <a:spcPct val="90000"/>
            </a:lnSpc>
            <a:spcBef>
              <a:spcPct val="0"/>
            </a:spcBef>
            <a:spcAft>
              <a:spcPct val="15000"/>
            </a:spcAft>
            <a:buChar char="•"/>
          </a:pPr>
          <a:r>
            <a:rPr lang="fr-CA" sz="1100" kern="1200" noProof="0"/>
            <a:t> Péremption des chèques en circulation 180j</a:t>
          </a:r>
        </a:p>
      </dsp:txBody>
      <dsp:txXfrm>
        <a:off x="377868" y="1412360"/>
        <a:ext cx="2714883" cy="897623"/>
      </dsp:txXfrm>
    </dsp:sp>
    <dsp:sp modelId="{1B8986F3-E8BA-4E42-88D7-8558E072219B}">
      <dsp:nvSpPr>
        <dsp:cNvPr id="0" name=""/>
        <dsp:cNvSpPr/>
      </dsp:nvSpPr>
      <dsp:spPr>
        <a:xfrm>
          <a:off x="349942" y="2420570"/>
          <a:ext cx="2770735" cy="573419"/>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7940" tIns="20955" rIns="27940" bIns="20955" numCol="1" spcCol="1270" anchor="t" anchorCtr="0">
          <a:noAutofit/>
        </a:bodyPr>
        <a:lstStyle/>
        <a:p>
          <a:pPr marL="0" lvl="0" indent="0" algn="l" defTabSz="466725">
            <a:lnSpc>
              <a:spcPct val="90000"/>
            </a:lnSpc>
            <a:spcBef>
              <a:spcPct val="0"/>
            </a:spcBef>
            <a:spcAft>
              <a:spcPct val="35000"/>
            </a:spcAft>
            <a:buNone/>
          </a:pPr>
          <a:r>
            <a:rPr lang="fr-CA" sz="1050" b="1" i="1" u="sng" kern="1200" noProof="0"/>
            <a:t>Plan de désuétude</a:t>
          </a:r>
        </a:p>
        <a:p>
          <a:pPr marL="57150" lvl="1" indent="-57150" algn="l" defTabSz="488950">
            <a:lnSpc>
              <a:spcPct val="90000"/>
            </a:lnSpc>
            <a:spcBef>
              <a:spcPct val="0"/>
            </a:spcBef>
            <a:spcAft>
              <a:spcPct val="15000"/>
            </a:spcAft>
            <a:buChar char="•"/>
          </a:pPr>
          <a:r>
            <a:rPr lang="fr-CA" sz="1100" i="0" u="none" kern="1200" noProof="0"/>
            <a:t> </a:t>
          </a:r>
          <a:r>
            <a:rPr lang="fr-CA" sz="1050" i="0" u="none" kern="1200" noProof="0"/>
            <a:t>Désuétude du portail Opérations sur les chèques</a:t>
          </a:r>
          <a:endParaRPr lang="fr-CA" sz="1100" i="0" u="none" kern="1200" noProof="0"/>
        </a:p>
      </dsp:txBody>
      <dsp:txXfrm>
        <a:off x="366737" y="2437365"/>
        <a:ext cx="2737145" cy="539829"/>
      </dsp:txXfrm>
    </dsp:sp>
    <dsp:sp modelId="{6FF6D24A-49A2-4A8F-8BD9-F79DC92507DE}">
      <dsp:nvSpPr>
        <dsp:cNvPr id="0" name=""/>
        <dsp:cNvSpPr/>
      </dsp:nvSpPr>
      <dsp:spPr>
        <a:xfrm>
          <a:off x="349942" y="3076649"/>
          <a:ext cx="2770735" cy="537287"/>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7940" tIns="20955" rIns="27940" bIns="20955" numCol="1" spcCol="1270" anchor="t" anchorCtr="0">
          <a:noAutofit/>
        </a:bodyPr>
        <a:lstStyle/>
        <a:p>
          <a:pPr marL="0" lvl="0" indent="0" algn="l" defTabSz="466725">
            <a:lnSpc>
              <a:spcPct val="90000"/>
            </a:lnSpc>
            <a:spcBef>
              <a:spcPct val="0"/>
            </a:spcBef>
            <a:spcAft>
              <a:spcPct val="35000"/>
            </a:spcAft>
            <a:buNone/>
          </a:pPr>
          <a:r>
            <a:rPr lang="fr-CA" sz="1050" b="1" i="1" u="sng" kern="1200" noProof="0"/>
            <a:t>Ressources</a:t>
          </a:r>
        </a:p>
        <a:p>
          <a:pPr marL="57150" lvl="1" indent="-57150" algn="l" defTabSz="466725">
            <a:lnSpc>
              <a:spcPct val="90000"/>
            </a:lnSpc>
            <a:spcBef>
              <a:spcPct val="0"/>
            </a:spcBef>
            <a:spcAft>
              <a:spcPct val="15000"/>
            </a:spcAft>
            <a:buChar char="•"/>
          </a:pPr>
          <a:r>
            <a:rPr lang="fr-CA" sz="1050" i="0" u="none" kern="1200" noProof="0"/>
            <a:t> Les mêmes ressources sont requises sur tous les sujets dans un délais très court</a:t>
          </a:r>
        </a:p>
      </dsp:txBody>
      <dsp:txXfrm>
        <a:off x="365679" y="3092386"/>
        <a:ext cx="2739261" cy="505813"/>
      </dsp:txXfrm>
    </dsp:sp>
    <dsp:sp modelId="{DB1E0AAA-00EF-47CD-8993-3A7DA558A214}">
      <dsp:nvSpPr>
        <dsp:cNvPr id="0" name=""/>
        <dsp:cNvSpPr/>
      </dsp:nvSpPr>
      <dsp:spPr>
        <a:xfrm>
          <a:off x="349942" y="3696596"/>
          <a:ext cx="2770735" cy="684869"/>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7940" tIns="20955" rIns="27940" bIns="20955" numCol="1" spcCol="1270" anchor="t" anchorCtr="0">
          <a:noAutofit/>
        </a:bodyPr>
        <a:lstStyle/>
        <a:p>
          <a:pPr marL="0" lvl="0" indent="0" algn="l" defTabSz="466725">
            <a:lnSpc>
              <a:spcPct val="90000"/>
            </a:lnSpc>
            <a:spcBef>
              <a:spcPct val="0"/>
            </a:spcBef>
            <a:spcAft>
              <a:spcPct val="35000"/>
            </a:spcAft>
            <a:buNone/>
          </a:pPr>
          <a:r>
            <a:rPr lang="fr-CA" sz="1050" b="1" i="1" u="sng" kern="1200" noProof="0"/>
            <a:t>Montée en connaissance </a:t>
          </a:r>
        </a:p>
        <a:p>
          <a:pPr marL="57150" lvl="1" indent="-57150" algn="l" defTabSz="466725">
            <a:lnSpc>
              <a:spcPct val="90000"/>
            </a:lnSpc>
            <a:spcBef>
              <a:spcPct val="0"/>
            </a:spcBef>
            <a:spcAft>
              <a:spcPct val="15000"/>
            </a:spcAft>
            <a:buChar char="•"/>
          </a:pPr>
          <a:r>
            <a:rPr lang="fr-CA" sz="1050" i="0" u="none" kern="1200" noProof="0"/>
            <a:t> Définition de règles d’affaires sur un domaine peu ou pas maîtrisé (gestion de fraude et Analyse de frais bancaires)  </a:t>
          </a:r>
        </a:p>
      </dsp:txBody>
      <dsp:txXfrm>
        <a:off x="370001" y="3716655"/>
        <a:ext cx="2730617" cy="644751"/>
      </dsp:txXfrm>
    </dsp:sp>
    <dsp:sp modelId="{918FE070-B45F-4AF3-AEE8-EBCADC6067DB}">
      <dsp:nvSpPr>
        <dsp:cNvPr id="0" name=""/>
        <dsp:cNvSpPr/>
      </dsp:nvSpPr>
      <dsp:spPr>
        <a:xfrm>
          <a:off x="3726776" y="0"/>
          <a:ext cx="3463419" cy="461272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1">
          <a:scrgbClr r="0" g="0" b="0"/>
        </a:effectRef>
        <a:fontRef idx="minor"/>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fr-CA" sz="3600" i="1" kern="1200" noProof="0"/>
            <a:t>Dépendances</a:t>
          </a:r>
        </a:p>
      </dsp:txBody>
      <dsp:txXfrm>
        <a:off x="3726776" y="0"/>
        <a:ext cx="3463419" cy="1383816"/>
      </dsp:txXfrm>
    </dsp:sp>
    <dsp:sp modelId="{86883B21-5ED8-481D-B9B2-213122371768}">
      <dsp:nvSpPr>
        <dsp:cNvPr id="0" name=""/>
        <dsp:cNvSpPr/>
      </dsp:nvSpPr>
      <dsp:spPr>
        <a:xfrm>
          <a:off x="4073118" y="1383869"/>
          <a:ext cx="2770735" cy="648665"/>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3020" tIns="24765" rIns="33020" bIns="24765" numCol="1" spcCol="1270" anchor="t" anchorCtr="0">
          <a:noAutofit/>
        </a:bodyPr>
        <a:lstStyle/>
        <a:p>
          <a:pPr marL="0" lvl="0" indent="0" algn="l" defTabSz="577850">
            <a:lnSpc>
              <a:spcPct val="90000"/>
            </a:lnSpc>
            <a:spcBef>
              <a:spcPct val="0"/>
            </a:spcBef>
            <a:spcAft>
              <a:spcPts val="0"/>
            </a:spcAft>
            <a:buNone/>
          </a:pPr>
          <a:r>
            <a:rPr lang="fr-CA" sz="1300" i="1" u="sng" kern="1200" noProof="0"/>
            <a:t>Projets </a:t>
          </a:r>
          <a:r>
            <a:rPr lang="fr-CA" sz="1400" i="1" u="sng" kern="1200" noProof="0"/>
            <a:t>partenaires e</a:t>
          </a:r>
          <a:r>
            <a:rPr lang="fr-CA" sz="1300" i="1" u="sng" kern="1200" noProof="0"/>
            <a:t>n cours</a:t>
          </a:r>
        </a:p>
        <a:p>
          <a:pPr marL="57150" lvl="1" indent="-57150" algn="l" defTabSz="488950">
            <a:lnSpc>
              <a:spcPct val="90000"/>
            </a:lnSpc>
            <a:spcBef>
              <a:spcPct val="0"/>
            </a:spcBef>
            <a:spcAft>
              <a:spcPct val="15000"/>
            </a:spcAft>
            <a:buChar char="•"/>
          </a:pPr>
          <a:r>
            <a:rPr lang="fr-CA" sz="1100" kern="1200" noProof="0">
              <a:solidFill>
                <a:srgbClr val="003DA5"/>
              </a:solidFill>
              <a:latin typeface="Calibri" panose="020F0502020204030204"/>
              <a:ea typeface="+mn-ea"/>
              <a:cs typeface="+mn-cs"/>
            </a:rPr>
            <a:t> Projet </a:t>
          </a:r>
          <a:r>
            <a:rPr lang="fr-CA" sz="1100" i="1" kern="1200" noProof="0" err="1"/>
            <a:t>Modernia</a:t>
          </a:r>
          <a:r>
            <a:rPr lang="fr-CA" sz="1100" kern="1200" noProof="0"/>
            <a:t> (VI)</a:t>
          </a:r>
        </a:p>
        <a:p>
          <a:pPr marL="57150" lvl="1" indent="-57150" algn="l" defTabSz="488950">
            <a:lnSpc>
              <a:spcPct val="90000"/>
            </a:lnSpc>
            <a:spcBef>
              <a:spcPct val="0"/>
            </a:spcBef>
            <a:spcAft>
              <a:spcPct val="15000"/>
            </a:spcAft>
            <a:buChar char="•"/>
          </a:pPr>
          <a:r>
            <a:rPr lang="fr-CA" sz="1100" kern="1200" noProof="0"/>
            <a:t> Projet </a:t>
          </a:r>
          <a:r>
            <a:rPr lang="fr-CA" sz="1100" i="1" kern="1200" noProof="0"/>
            <a:t>Retrait en ligne</a:t>
          </a:r>
          <a:r>
            <a:rPr lang="fr-CA" sz="1100" kern="1200" noProof="0"/>
            <a:t> (AC)</a:t>
          </a:r>
        </a:p>
      </dsp:txBody>
      <dsp:txXfrm>
        <a:off x="4092117" y="1402868"/>
        <a:ext cx="2732737" cy="610667"/>
      </dsp:txXfrm>
    </dsp:sp>
    <dsp:sp modelId="{52DBB6E5-2034-4591-9E09-CE6978EB23A2}">
      <dsp:nvSpPr>
        <dsp:cNvPr id="0" name=""/>
        <dsp:cNvSpPr/>
      </dsp:nvSpPr>
      <dsp:spPr>
        <a:xfrm>
          <a:off x="4051340" y="2116320"/>
          <a:ext cx="2770735" cy="1390742"/>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5560" tIns="26670" rIns="35560" bIns="26670" numCol="1" spcCol="1270" anchor="t" anchorCtr="0">
          <a:noAutofit/>
        </a:bodyPr>
        <a:lstStyle/>
        <a:p>
          <a:pPr marL="0" lvl="0" indent="0" algn="l" defTabSz="622300">
            <a:lnSpc>
              <a:spcPct val="90000"/>
            </a:lnSpc>
            <a:spcBef>
              <a:spcPct val="0"/>
            </a:spcBef>
            <a:spcAft>
              <a:spcPts val="0"/>
            </a:spcAft>
            <a:buNone/>
          </a:pPr>
          <a:r>
            <a:rPr lang="fr-CA" sz="1400" i="1" u="sng" kern="1200" noProof="0"/>
            <a:t>Transformation corporative</a:t>
          </a:r>
        </a:p>
        <a:p>
          <a:pPr marL="177800" lvl="1" indent="-177800" algn="l" defTabSz="488950">
            <a:lnSpc>
              <a:spcPct val="90000"/>
            </a:lnSpc>
            <a:spcBef>
              <a:spcPct val="0"/>
            </a:spcBef>
            <a:spcAft>
              <a:spcPct val="15000"/>
            </a:spcAft>
            <a:buChar char="•"/>
          </a:pPr>
          <a:r>
            <a:rPr lang="fr-CA" sz="1100" i="0" u="none" kern="1200" noProof="0"/>
            <a:t>Projets Finance + qui servira d’intrant pour réviser le modèle opérationnel du CSP bancaire et ainsi l’offre de service</a:t>
          </a:r>
          <a:endParaRPr lang="fr-CA" sz="1200" kern="1200" noProof="0"/>
        </a:p>
        <a:p>
          <a:pPr marL="177800" lvl="1" indent="-177800" algn="l" defTabSz="488950">
            <a:lnSpc>
              <a:spcPct val="90000"/>
            </a:lnSpc>
            <a:spcBef>
              <a:spcPct val="0"/>
            </a:spcBef>
            <a:spcAft>
              <a:spcPct val="15000"/>
            </a:spcAft>
            <a:buChar char="•"/>
          </a:pPr>
          <a:r>
            <a:rPr lang="fr-CA" sz="1100" i="0" u="none" kern="1200" noProof="0"/>
            <a:t>Recette d’intégration CFO de nouvelles filiales  </a:t>
          </a:r>
          <a:endParaRPr lang="fr-CA" sz="1200" kern="1200" noProof="0"/>
        </a:p>
        <a:p>
          <a:pPr marL="177800" lvl="1" indent="-177800" algn="l" defTabSz="488950">
            <a:lnSpc>
              <a:spcPct val="90000"/>
            </a:lnSpc>
            <a:spcBef>
              <a:spcPct val="0"/>
            </a:spcBef>
            <a:spcAft>
              <a:spcPct val="15000"/>
            </a:spcAft>
            <a:buChar char="•"/>
          </a:pPr>
          <a:r>
            <a:rPr lang="fr-CA" sz="1100" kern="1200" noProof="0"/>
            <a:t>Positionnement corpo sur les coordonnées bancaires</a:t>
          </a:r>
        </a:p>
      </dsp:txBody>
      <dsp:txXfrm>
        <a:off x="4092073" y="2157053"/>
        <a:ext cx="2689269" cy="1309276"/>
      </dsp:txXfrm>
    </dsp:sp>
    <dsp:sp modelId="{4A0C77F8-7F63-4DBA-9BB0-54899E4C7012}">
      <dsp:nvSpPr>
        <dsp:cNvPr id="0" name=""/>
        <dsp:cNvSpPr/>
      </dsp:nvSpPr>
      <dsp:spPr>
        <a:xfrm>
          <a:off x="4073118" y="3590848"/>
          <a:ext cx="2770735" cy="791183"/>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5560" tIns="26670" rIns="35560" bIns="26670" numCol="1" spcCol="1270" anchor="t" anchorCtr="0">
          <a:noAutofit/>
        </a:bodyPr>
        <a:lstStyle/>
        <a:p>
          <a:pPr marL="0" lvl="0" indent="0" algn="l" defTabSz="622300">
            <a:lnSpc>
              <a:spcPct val="90000"/>
            </a:lnSpc>
            <a:spcBef>
              <a:spcPct val="0"/>
            </a:spcBef>
            <a:spcAft>
              <a:spcPts val="0"/>
            </a:spcAft>
            <a:buNone/>
          </a:pPr>
          <a:r>
            <a:rPr lang="fr-CA" sz="1400" i="1" u="sng" kern="1200" noProof="0"/>
            <a:t>Collaboration des fournisseurs</a:t>
          </a:r>
        </a:p>
        <a:p>
          <a:pPr marL="114300" lvl="1" indent="-114300" algn="l" defTabSz="533400">
            <a:lnSpc>
              <a:spcPct val="90000"/>
            </a:lnSpc>
            <a:spcBef>
              <a:spcPct val="0"/>
            </a:spcBef>
            <a:spcAft>
              <a:spcPct val="15000"/>
            </a:spcAft>
            <a:buChar char="•"/>
          </a:pPr>
          <a:r>
            <a:rPr lang="fr-CA" sz="1200" i="0" u="none" kern="1200" noProof="0"/>
            <a:t>Disponibilité des banques pour nous supporter dans l’intégration </a:t>
          </a:r>
          <a:r>
            <a:rPr lang="fr-CA" sz="900" i="0" u="none" kern="1200" noProof="0"/>
            <a:t>(dépendance technique et temporelle )</a:t>
          </a:r>
          <a:endParaRPr lang="fr-CA" sz="1200" i="0" u="none" kern="1200" noProof="0"/>
        </a:p>
      </dsp:txBody>
      <dsp:txXfrm>
        <a:off x="4096291" y="3614021"/>
        <a:ext cx="2724389" cy="74483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1B6C82-F35A-4212-BDC9-9FECF6D79E2C}">
      <dsp:nvSpPr>
        <dsp:cNvPr id="0" name=""/>
        <dsp:cNvSpPr/>
      </dsp:nvSpPr>
      <dsp:spPr>
        <a:xfrm>
          <a:off x="882284" y="0"/>
          <a:ext cx="7183120" cy="4489450"/>
        </a:xfrm>
        <a:prstGeom prst="swooshArrow">
          <a:avLst>
            <a:gd name="adj1" fmla="val 25000"/>
            <a:gd name="adj2" fmla="val 25000"/>
          </a:avLst>
        </a:prstGeom>
        <a:gradFill rotWithShape="0">
          <a:gsLst>
            <a:gs pos="0">
              <a:schemeClr val="accent1">
                <a:tint val="40000"/>
                <a:hueOff val="0"/>
                <a:satOff val="0"/>
                <a:lumOff val="0"/>
                <a:alphaOff val="0"/>
                <a:satMod val="103000"/>
                <a:lumMod val="102000"/>
                <a:tint val="94000"/>
              </a:schemeClr>
            </a:gs>
            <a:gs pos="50000">
              <a:schemeClr val="accent1">
                <a:tint val="40000"/>
                <a:hueOff val="0"/>
                <a:satOff val="0"/>
                <a:lumOff val="0"/>
                <a:alphaOff val="0"/>
                <a:satMod val="110000"/>
                <a:lumMod val="100000"/>
                <a:shade val="100000"/>
              </a:schemeClr>
            </a:gs>
            <a:gs pos="100000">
              <a:schemeClr val="accent1">
                <a:tint val="40000"/>
                <a:hueOff val="0"/>
                <a:satOff val="0"/>
                <a:lumOff val="0"/>
                <a:alphaOff val="0"/>
                <a:lumMod val="99000"/>
                <a:satMod val="120000"/>
                <a:shade val="78000"/>
              </a:schemeClr>
            </a:gs>
          </a:gsLst>
          <a:lin ang="5400000" scaled="0"/>
        </a:grad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sp>
    <dsp:sp modelId="{F61A4EEC-7473-4C6C-8824-35052B04CA0D}">
      <dsp:nvSpPr>
        <dsp:cNvPr id="0" name=""/>
        <dsp:cNvSpPr/>
      </dsp:nvSpPr>
      <dsp:spPr>
        <a:xfrm>
          <a:off x="1589821" y="3338355"/>
          <a:ext cx="165211" cy="165211"/>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4CD35C1D-49C4-49FF-88D9-575B102B7E1E}">
      <dsp:nvSpPr>
        <dsp:cNvPr id="0" name=""/>
        <dsp:cNvSpPr/>
      </dsp:nvSpPr>
      <dsp:spPr>
        <a:xfrm>
          <a:off x="1543251" y="3544499"/>
          <a:ext cx="1874123" cy="8214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542" tIns="0" rIns="0" bIns="0" numCol="1" spcCol="1270" anchor="t" anchorCtr="0">
          <a:noAutofit/>
        </a:bodyPr>
        <a:lstStyle/>
        <a:p>
          <a:pPr marL="0" lvl="0" indent="0" algn="l" defTabSz="622300">
            <a:lnSpc>
              <a:spcPct val="90000"/>
            </a:lnSpc>
            <a:spcBef>
              <a:spcPct val="0"/>
            </a:spcBef>
            <a:spcAft>
              <a:spcPct val="35000"/>
            </a:spcAft>
            <a:buNone/>
          </a:pPr>
          <a:r>
            <a:rPr lang="fr-FR" sz="1400" kern="1200"/>
            <a:t>Appuis fort de la direction &amp; du sponsor</a:t>
          </a:r>
        </a:p>
      </dsp:txBody>
      <dsp:txXfrm>
        <a:off x="1543251" y="3544499"/>
        <a:ext cx="1874123" cy="821411"/>
      </dsp:txXfrm>
    </dsp:sp>
    <dsp:sp modelId="{85752297-A7C5-4BDA-8EB9-9A5B681BC468}">
      <dsp:nvSpPr>
        <dsp:cNvPr id="0" name=""/>
        <dsp:cNvSpPr/>
      </dsp:nvSpPr>
      <dsp:spPr>
        <a:xfrm>
          <a:off x="2757078" y="2294108"/>
          <a:ext cx="287324" cy="287324"/>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9B200CB9-A6E8-4989-956F-7423D43869A3}">
      <dsp:nvSpPr>
        <dsp:cNvPr id="0" name=""/>
        <dsp:cNvSpPr/>
      </dsp:nvSpPr>
      <dsp:spPr>
        <a:xfrm>
          <a:off x="2691457" y="2606409"/>
          <a:ext cx="2593487" cy="17144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247" tIns="0" rIns="0" bIns="0" numCol="1" spcCol="1270" anchor="t" anchorCtr="0">
          <a:noAutofit/>
        </a:bodyPr>
        <a:lstStyle/>
        <a:p>
          <a:pPr marL="0" lvl="0" indent="0" algn="l" defTabSz="622300">
            <a:lnSpc>
              <a:spcPct val="90000"/>
            </a:lnSpc>
            <a:spcBef>
              <a:spcPct val="0"/>
            </a:spcBef>
            <a:spcAft>
              <a:spcPct val="35000"/>
            </a:spcAft>
            <a:buNone/>
          </a:pPr>
          <a:r>
            <a:rPr lang="fr-FR" sz="1400" kern="1200"/>
            <a:t>Alignement corporatif à l’utilisation des outils du bancaires par tous les partenaires</a:t>
          </a:r>
        </a:p>
      </dsp:txBody>
      <dsp:txXfrm>
        <a:off x="2691457" y="2606409"/>
        <a:ext cx="2593487" cy="1714403"/>
      </dsp:txXfrm>
    </dsp:sp>
    <dsp:sp modelId="{F8E671B0-70BB-4827-A3E6-CE2DDCCB4DD2}">
      <dsp:nvSpPr>
        <dsp:cNvPr id="0" name=""/>
        <dsp:cNvSpPr/>
      </dsp:nvSpPr>
      <dsp:spPr>
        <a:xfrm>
          <a:off x="4247575" y="1524617"/>
          <a:ext cx="380705" cy="380705"/>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AD6C28C7-00DB-4674-A3D0-8C492F6A6B50}">
      <dsp:nvSpPr>
        <dsp:cNvPr id="0" name=""/>
        <dsp:cNvSpPr/>
      </dsp:nvSpPr>
      <dsp:spPr>
        <a:xfrm>
          <a:off x="4269298" y="1985509"/>
          <a:ext cx="1845715" cy="2233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1728" tIns="0" rIns="0" bIns="0" numCol="1" spcCol="1270" anchor="t" anchorCtr="0">
          <a:noAutofit/>
        </a:bodyPr>
        <a:lstStyle/>
        <a:p>
          <a:pPr marL="0" lvl="0" indent="0" algn="l" defTabSz="622300">
            <a:lnSpc>
              <a:spcPct val="90000"/>
            </a:lnSpc>
            <a:spcBef>
              <a:spcPct val="0"/>
            </a:spcBef>
            <a:spcAft>
              <a:spcPct val="35000"/>
            </a:spcAft>
            <a:buNone/>
          </a:pPr>
          <a:r>
            <a:rPr lang="fr-FR" sz="1400" kern="1200"/>
            <a:t>Message aligné entre Bancaire &amp; Tréso</a:t>
          </a:r>
        </a:p>
      </dsp:txBody>
      <dsp:txXfrm>
        <a:off x="4269298" y="1985509"/>
        <a:ext cx="1845715" cy="2233400"/>
      </dsp:txXfrm>
    </dsp:sp>
    <dsp:sp modelId="{59F0E601-E9CD-4EBE-8714-069A2ED665A2}">
      <dsp:nvSpPr>
        <dsp:cNvPr id="0" name=""/>
        <dsp:cNvSpPr/>
      </dsp:nvSpPr>
      <dsp:spPr>
        <a:xfrm>
          <a:off x="5870961" y="1015513"/>
          <a:ext cx="510001" cy="510001"/>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F27416A0-F4D8-4D64-A535-0CD3F524409C}">
      <dsp:nvSpPr>
        <dsp:cNvPr id="0" name=""/>
        <dsp:cNvSpPr/>
      </dsp:nvSpPr>
      <dsp:spPr>
        <a:xfrm>
          <a:off x="5817980" y="1552509"/>
          <a:ext cx="2713348" cy="28215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0239" tIns="0" rIns="0" bIns="0" numCol="1" spcCol="1270" anchor="t" anchorCtr="0">
          <a:noAutofit/>
        </a:bodyPr>
        <a:lstStyle/>
        <a:p>
          <a:pPr marL="0" lvl="0" indent="0" algn="l" defTabSz="622300">
            <a:lnSpc>
              <a:spcPct val="90000"/>
            </a:lnSpc>
            <a:spcBef>
              <a:spcPct val="0"/>
            </a:spcBef>
            <a:spcAft>
              <a:spcPct val="35000"/>
            </a:spcAft>
            <a:buNone/>
          </a:pPr>
          <a:r>
            <a:rPr lang="fr-FR" sz="1400" kern="1200"/>
            <a:t>Une adoption de la solution par les utilisateurs (GDC)</a:t>
          </a:r>
        </a:p>
      </dsp:txBody>
      <dsp:txXfrm>
        <a:off x="5817980" y="1552509"/>
        <a:ext cx="2713348" cy="2821558"/>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CADC32-6B12-4784-A8D8-9514AC999C74}">
      <dsp:nvSpPr>
        <dsp:cNvPr id="0" name=""/>
        <dsp:cNvSpPr/>
      </dsp:nvSpPr>
      <dsp:spPr>
        <a:xfrm rot="5400000">
          <a:off x="-170012" y="176798"/>
          <a:ext cx="1133418" cy="793392"/>
        </a:xfrm>
        <a:prstGeom prst="chevron">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fr-CA" sz="1500" kern="1200" noProof="0"/>
            <a:t>Release 1</a:t>
          </a:r>
        </a:p>
      </dsp:txBody>
      <dsp:txXfrm rot="-5400000">
        <a:off x="1" y="403481"/>
        <a:ext cx="793392" cy="340026"/>
      </dsp:txXfrm>
    </dsp:sp>
    <dsp:sp modelId="{DD326C67-DF5E-4C45-B341-E19129E7B72D}">
      <dsp:nvSpPr>
        <dsp:cNvPr id="0" name=""/>
        <dsp:cNvSpPr/>
      </dsp:nvSpPr>
      <dsp:spPr>
        <a:xfrm rot="5400000">
          <a:off x="3725972" y="-2925794"/>
          <a:ext cx="736722" cy="6601882"/>
        </a:xfrm>
        <a:prstGeom prst="round2Same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8232" tIns="6985" rIns="6985" bIns="6985" numCol="1" spcCol="1270" anchor="ctr" anchorCtr="0">
          <a:noAutofit/>
        </a:bodyPr>
        <a:lstStyle/>
        <a:p>
          <a:pPr marL="57150" lvl="1" indent="-57150" algn="l" defTabSz="488950">
            <a:lnSpc>
              <a:spcPct val="90000"/>
            </a:lnSpc>
            <a:spcBef>
              <a:spcPct val="0"/>
            </a:spcBef>
            <a:spcAft>
              <a:spcPct val="15000"/>
            </a:spcAft>
            <a:buFont typeface="Wingdings" panose="05000000000000000000" pitchFamily="2" charset="2"/>
            <a:buChar char="Ø"/>
          </a:pPr>
          <a:r>
            <a:rPr lang="fr-CA" sz="1100" kern="1200" noProof="0"/>
            <a:t> Implantation du module </a:t>
          </a:r>
          <a:r>
            <a:rPr lang="fr-CA" sz="1100" i="1" kern="1200" noProof="0"/>
            <a:t>Bank </a:t>
          </a:r>
          <a:r>
            <a:rPr lang="fr-CA" sz="1100" i="1" kern="1200" noProof="0" err="1"/>
            <a:t>Account</a:t>
          </a:r>
          <a:r>
            <a:rPr lang="fr-CA" sz="1100" i="1" kern="1200" noProof="0"/>
            <a:t> Management</a:t>
          </a:r>
          <a:r>
            <a:rPr lang="fr-CA" sz="1100" kern="1200" noProof="0"/>
            <a:t> [BAM]</a:t>
          </a:r>
        </a:p>
        <a:p>
          <a:pPr marL="57150" lvl="1" indent="-57150" algn="l" defTabSz="488950">
            <a:lnSpc>
              <a:spcPct val="90000"/>
            </a:lnSpc>
            <a:spcBef>
              <a:spcPct val="0"/>
            </a:spcBef>
            <a:spcAft>
              <a:spcPct val="15000"/>
            </a:spcAft>
            <a:buFont typeface="Wingdings" panose="05000000000000000000" pitchFamily="2" charset="2"/>
            <a:buChar char="Ø"/>
          </a:pPr>
          <a:r>
            <a:rPr lang="fr-CA" sz="1100" kern="1200" noProof="0">
              <a:latin typeface="Calibri" panose="020F0502020204030204"/>
              <a:ea typeface="+mn-ea"/>
              <a:cs typeface="+mn-cs"/>
            </a:rPr>
            <a:t> </a:t>
          </a:r>
          <a:r>
            <a:rPr lang="fr-CA" sz="1100" kern="1200" noProof="0"/>
            <a:t>Implantation du module </a:t>
          </a:r>
          <a:r>
            <a:rPr lang="fr-CA" sz="1100" i="1" kern="1200" noProof="0">
              <a:latin typeface="Calibri" panose="020F0502020204030204"/>
              <a:ea typeface="+mn-ea"/>
              <a:cs typeface="+mn-cs"/>
            </a:rPr>
            <a:t>Bank </a:t>
          </a:r>
          <a:r>
            <a:rPr lang="fr-CA" sz="1100" i="1" kern="1200" noProof="0" err="1">
              <a:latin typeface="Calibri" panose="020F0502020204030204"/>
              <a:ea typeface="+mn-ea"/>
              <a:cs typeface="+mn-cs"/>
            </a:rPr>
            <a:t>Fees</a:t>
          </a:r>
          <a:r>
            <a:rPr lang="fr-CA" sz="1100" i="1" kern="1200" noProof="0">
              <a:latin typeface="Calibri" panose="020F0502020204030204"/>
              <a:ea typeface="+mn-ea"/>
              <a:cs typeface="+mn-cs"/>
            </a:rPr>
            <a:t> </a:t>
          </a:r>
          <a:r>
            <a:rPr lang="fr-CA" sz="1100" i="1" kern="1200" noProof="0" err="1">
              <a:latin typeface="Calibri" panose="020F0502020204030204"/>
              <a:ea typeface="+mn-ea"/>
              <a:cs typeface="+mn-cs"/>
            </a:rPr>
            <a:t>Analysis</a:t>
          </a:r>
          <a:r>
            <a:rPr lang="fr-CA" sz="1100" kern="1200" noProof="0">
              <a:latin typeface="Calibri" panose="020F0502020204030204"/>
              <a:ea typeface="+mn-ea"/>
              <a:cs typeface="+mn-cs"/>
            </a:rPr>
            <a:t> [BFA]</a:t>
          </a:r>
        </a:p>
      </dsp:txBody>
      <dsp:txXfrm rot="-5400000">
        <a:off x="793392" y="42750"/>
        <a:ext cx="6565918" cy="664794"/>
      </dsp:txXfrm>
    </dsp:sp>
    <dsp:sp modelId="{3B546F24-72E5-47A7-815C-64C59C1280C5}">
      <dsp:nvSpPr>
        <dsp:cNvPr id="0" name=""/>
        <dsp:cNvSpPr/>
      </dsp:nvSpPr>
      <dsp:spPr>
        <a:xfrm rot="5400000">
          <a:off x="-170012" y="1250638"/>
          <a:ext cx="1133418" cy="793392"/>
        </a:xfrm>
        <a:prstGeom prst="chevron">
          <a:avLst/>
        </a:prstGeom>
        <a:gradFill rotWithShape="0">
          <a:gsLst>
            <a:gs pos="0">
              <a:schemeClr val="accent3">
                <a:hueOff val="2160863"/>
                <a:satOff val="-11203"/>
                <a:lumOff val="1046"/>
                <a:alphaOff val="0"/>
                <a:lumMod val="110000"/>
                <a:satMod val="105000"/>
                <a:tint val="67000"/>
              </a:schemeClr>
            </a:gs>
            <a:gs pos="50000">
              <a:schemeClr val="accent3">
                <a:hueOff val="2160863"/>
                <a:satOff val="-11203"/>
                <a:lumOff val="1046"/>
                <a:alphaOff val="0"/>
                <a:lumMod val="105000"/>
                <a:satMod val="103000"/>
                <a:tint val="73000"/>
              </a:schemeClr>
            </a:gs>
            <a:gs pos="100000">
              <a:schemeClr val="accent3">
                <a:hueOff val="2160863"/>
                <a:satOff val="-11203"/>
                <a:lumOff val="1046"/>
                <a:alphaOff val="0"/>
                <a:lumMod val="105000"/>
                <a:satMod val="109000"/>
                <a:tint val="81000"/>
              </a:schemeClr>
            </a:gs>
          </a:gsLst>
          <a:lin ang="5400000" scaled="0"/>
        </a:gradFill>
        <a:ln w="6350" cap="flat" cmpd="sng" algn="ctr">
          <a:solidFill>
            <a:schemeClr val="accent3">
              <a:hueOff val="2160863"/>
              <a:satOff val="-11203"/>
              <a:lumOff val="1046"/>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fr-CA" sz="1500" kern="1200" noProof="0"/>
            <a:t>Release 2</a:t>
          </a:r>
        </a:p>
      </dsp:txBody>
      <dsp:txXfrm rot="-5400000">
        <a:off x="1" y="1477321"/>
        <a:ext cx="793392" cy="340026"/>
      </dsp:txXfrm>
    </dsp:sp>
    <dsp:sp modelId="{70F0BED2-70FB-449D-A024-735254AE5A4C}">
      <dsp:nvSpPr>
        <dsp:cNvPr id="0" name=""/>
        <dsp:cNvSpPr/>
      </dsp:nvSpPr>
      <dsp:spPr>
        <a:xfrm rot="5400000">
          <a:off x="3651239" y="-1851954"/>
          <a:ext cx="886188" cy="6601882"/>
        </a:xfrm>
        <a:prstGeom prst="round2SameRect">
          <a:avLst/>
        </a:prstGeom>
        <a:solidFill>
          <a:schemeClr val="lt1">
            <a:alpha val="90000"/>
            <a:hueOff val="0"/>
            <a:satOff val="0"/>
            <a:lumOff val="0"/>
            <a:alphaOff val="0"/>
          </a:schemeClr>
        </a:solidFill>
        <a:ln w="6350" cap="flat" cmpd="sng" algn="ctr">
          <a:solidFill>
            <a:schemeClr val="accent3">
              <a:hueOff val="2160863"/>
              <a:satOff val="-11203"/>
              <a:lumOff val="1046"/>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8232" tIns="6985" rIns="6985" bIns="6985" numCol="1" spcCol="1270" anchor="ctr" anchorCtr="0">
          <a:noAutofit/>
        </a:bodyPr>
        <a:lstStyle/>
        <a:p>
          <a:pPr marL="57150" lvl="1" indent="-57150" algn="l" defTabSz="466725">
            <a:lnSpc>
              <a:spcPct val="90000"/>
            </a:lnSpc>
            <a:spcBef>
              <a:spcPct val="0"/>
            </a:spcBef>
            <a:spcAft>
              <a:spcPct val="15000"/>
            </a:spcAft>
            <a:buFont typeface="Wingdings" panose="05000000000000000000" pitchFamily="2" charset="2"/>
            <a:buChar char="Ø"/>
          </a:pPr>
          <a:r>
            <a:rPr lang="fr-CA" sz="1050" kern="1200" noProof="0"/>
            <a:t> Paiements automatiques (DD et DPA)</a:t>
          </a:r>
        </a:p>
        <a:p>
          <a:pPr marL="57150" lvl="1" indent="-57150" algn="l" defTabSz="466725">
            <a:lnSpc>
              <a:spcPct val="90000"/>
            </a:lnSpc>
            <a:spcBef>
              <a:spcPct val="0"/>
            </a:spcBef>
            <a:spcAft>
              <a:spcPct val="15000"/>
            </a:spcAft>
            <a:buFont typeface="Wingdings" panose="05000000000000000000" pitchFamily="2" charset="2"/>
            <a:buChar char="Ø"/>
          </a:pPr>
          <a:r>
            <a:rPr lang="fr-CA" sz="1050" kern="1200" noProof="0"/>
            <a:t> Comptabilisation</a:t>
          </a:r>
        </a:p>
        <a:p>
          <a:pPr marL="57150" lvl="1" indent="-57150" algn="l" defTabSz="466725">
            <a:lnSpc>
              <a:spcPct val="90000"/>
            </a:lnSpc>
            <a:spcBef>
              <a:spcPct val="0"/>
            </a:spcBef>
            <a:spcAft>
              <a:spcPct val="15000"/>
            </a:spcAft>
            <a:buFont typeface="Wingdings" panose="05000000000000000000" pitchFamily="2" charset="2"/>
            <a:buChar char="Ø"/>
          </a:pPr>
          <a:r>
            <a:rPr lang="fr-CA" sz="1050" kern="1200" noProof="0"/>
            <a:t> Conciliation bancaire et comptable</a:t>
          </a:r>
        </a:p>
        <a:p>
          <a:pPr marL="57150" lvl="1" indent="-57150" algn="l" defTabSz="466725">
            <a:lnSpc>
              <a:spcPct val="90000"/>
            </a:lnSpc>
            <a:spcBef>
              <a:spcPct val="0"/>
            </a:spcBef>
            <a:spcAft>
              <a:spcPct val="15000"/>
            </a:spcAft>
            <a:buFont typeface="Wingdings" panose="05000000000000000000" pitchFamily="2" charset="2"/>
            <a:buChar char="Ø"/>
          </a:pPr>
          <a:r>
            <a:rPr lang="fr-CA" sz="1050" kern="1200" noProof="0"/>
            <a:t> Fraude informative et anomalies</a:t>
          </a:r>
        </a:p>
        <a:p>
          <a:pPr marL="57150" lvl="1" indent="-57150" algn="l" defTabSz="466725">
            <a:lnSpc>
              <a:spcPct val="90000"/>
            </a:lnSpc>
            <a:spcBef>
              <a:spcPct val="0"/>
            </a:spcBef>
            <a:spcAft>
              <a:spcPct val="15000"/>
            </a:spcAft>
            <a:buFont typeface="Wingdings" panose="05000000000000000000" pitchFamily="2" charset="2"/>
            <a:buChar char="Ø"/>
          </a:pPr>
          <a:r>
            <a:rPr lang="fr-CA" sz="1050" kern="1200" noProof="0"/>
            <a:t> Validation 360</a:t>
          </a:r>
        </a:p>
      </dsp:txBody>
      <dsp:txXfrm rot="-5400000">
        <a:off x="793392" y="1049153"/>
        <a:ext cx="6558622" cy="799668"/>
      </dsp:txXfrm>
    </dsp:sp>
    <dsp:sp modelId="{7F7B114C-F79D-4489-BC0E-7E7DA2B48017}">
      <dsp:nvSpPr>
        <dsp:cNvPr id="0" name=""/>
        <dsp:cNvSpPr/>
      </dsp:nvSpPr>
      <dsp:spPr>
        <a:xfrm rot="5400000">
          <a:off x="-170012" y="2249744"/>
          <a:ext cx="1133418" cy="793392"/>
        </a:xfrm>
        <a:prstGeom prst="chevron">
          <a:avLst/>
        </a:prstGeom>
        <a:gradFill rotWithShape="0">
          <a:gsLst>
            <a:gs pos="0">
              <a:schemeClr val="accent3">
                <a:hueOff val="4321726"/>
                <a:satOff val="-22406"/>
                <a:lumOff val="2092"/>
                <a:alphaOff val="0"/>
                <a:lumMod val="110000"/>
                <a:satMod val="105000"/>
                <a:tint val="67000"/>
              </a:schemeClr>
            </a:gs>
            <a:gs pos="50000">
              <a:schemeClr val="accent3">
                <a:hueOff val="4321726"/>
                <a:satOff val="-22406"/>
                <a:lumOff val="2092"/>
                <a:alphaOff val="0"/>
                <a:lumMod val="105000"/>
                <a:satMod val="103000"/>
                <a:tint val="73000"/>
              </a:schemeClr>
            </a:gs>
            <a:gs pos="100000">
              <a:schemeClr val="accent3">
                <a:hueOff val="4321726"/>
                <a:satOff val="-22406"/>
                <a:lumOff val="2092"/>
                <a:alphaOff val="0"/>
                <a:lumMod val="105000"/>
                <a:satMod val="109000"/>
                <a:tint val="81000"/>
              </a:schemeClr>
            </a:gs>
          </a:gsLst>
          <a:lin ang="5400000" scaled="0"/>
        </a:gradFill>
        <a:ln w="6350" cap="flat" cmpd="sng" algn="ctr">
          <a:solidFill>
            <a:schemeClr val="accent3">
              <a:hueOff val="4321726"/>
              <a:satOff val="-22406"/>
              <a:lumOff val="2092"/>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fr-CA" sz="1500" kern="1200" noProof="0"/>
            <a:t>Release 3</a:t>
          </a:r>
        </a:p>
      </dsp:txBody>
      <dsp:txXfrm rot="-5400000">
        <a:off x="1" y="2476427"/>
        <a:ext cx="793392" cy="340026"/>
      </dsp:txXfrm>
    </dsp:sp>
    <dsp:sp modelId="{709CABA1-6D33-4C6A-96D7-1CF3D874566D}">
      <dsp:nvSpPr>
        <dsp:cNvPr id="0" name=""/>
        <dsp:cNvSpPr/>
      </dsp:nvSpPr>
      <dsp:spPr>
        <a:xfrm rot="5400000">
          <a:off x="3725972" y="-852847"/>
          <a:ext cx="736722" cy="6601882"/>
        </a:xfrm>
        <a:prstGeom prst="round2SameRect">
          <a:avLst/>
        </a:prstGeom>
        <a:solidFill>
          <a:schemeClr val="lt1">
            <a:alpha val="90000"/>
            <a:hueOff val="0"/>
            <a:satOff val="0"/>
            <a:lumOff val="0"/>
            <a:alphaOff val="0"/>
          </a:schemeClr>
        </a:solidFill>
        <a:ln w="6350" cap="flat" cmpd="sng" algn="ctr">
          <a:solidFill>
            <a:schemeClr val="accent3">
              <a:hueOff val="4321726"/>
              <a:satOff val="-22406"/>
              <a:lumOff val="2092"/>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8232" tIns="6985" rIns="6985" bIns="6985" numCol="1" spcCol="1270" anchor="ctr" anchorCtr="0">
          <a:noAutofit/>
        </a:bodyPr>
        <a:lstStyle/>
        <a:p>
          <a:pPr marL="57150" lvl="1" indent="-57150" algn="l" defTabSz="488950">
            <a:lnSpc>
              <a:spcPct val="90000"/>
            </a:lnSpc>
            <a:spcBef>
              <a:spcPct val="0"/>
            </a:spcBef>
            <a:spcAft>
              <a:spcPct val="15000"/>
            </a:spcAft>
            <a:buFont typeface="Wingdings" panose="05000000000000000000" pitchFamily="2" charset="2"/>
            <a:buChar char="Ø"/>
          </a:pPr>
          <a:r>
            <a:rPr lang="fr-CA" sz="1100" kern="1200" noProof="0"/>
            <a:t> Paiements manuels et automatiques </a:t>
          </a:r>
          <a:r>
            <a:rPr lang="fr-CA" sz="1100" b="1" kern="1200" noProof="0"/>
            <a:t>chèques</a:t>
          </a:r>
          <a:r>
            <a:rPr lang="fr-CA" sz="1000" b="0" kern="1200" noProof="0"/>
            <a:t>*</a:t>
          </a:r>
          <a:endParaRPr lang="fr-CA" sz="1100" b="0" kern="1200" noProof="0"/>
        </a:p>
        <a:p>
          <a:pPr marL="57150" lvl="1" indent="-57150" algn="l" defTabSz="488950">
            <a:lnSpc>
              <a:spcPct val="90000"/>
            </a:lnSpc>
            <a:spcBef>
              <a:spcPct val="0"/>
            </a:spcBef>
            <a:spcAft>
              <a:spcPct val="15000"/>
            </a:spcAft>
            <a:buFont typeface="Wingdings" panose="05000000000000000000" pitchFamily="2" charset="2"/>
            <a:buChar char="Ø"/>
          </a:pPr>
          <a:r>
            <a:rPr lang="fr-CA" sz="1100" kern="1200" noProof="0"/>
            <a:t>Paiements manuels DD, DPA et Virement</a:t>
          </a:r>
        </a:p>
        <a:p>
          <a:pPr marL="57150" lvl="1" indent="-57150" algn="l" defTabSz="488950">
            <a:lnSpc>
              <a:spcPct val="90000"/>
            </a:lnSpc>
            <a:spcBef>
              <a:spcPct val="0"/>
            </a:spcBef>
            <a:spcAft>
              <a:spcPct val="15000"/>
            </a:spcAft>
            <a:buFont typeface="Wingdings" panose="05000000000000000000" pitchFamily="2" charset="2"/>
            <a:buChar char="Ø"/>
          </a:pPr>
          <a:r>
            <a:rPr lang="fr-CA" sz="1100" kern="1200" noProof="0"/>
            <a:t> Workflow d’approbation des paiements manuels</a:t>
          </a:r>
        </a:p>
      </dsp:txBody>
      <dsp:txXfrm rot="-5400000">
        <a:off x="793392" y="2115697"/>
        <a:ext cx="6565918" cy="664794"/>
      </dsp:txXfrm>
    </dsp:sp>
    <dsp:sp modelId="{EBBF1C61-76CC-46C6-96E6-545E287A3EBB}">
      <dsp:nvSpPr>
        <dsp:cNvPr id="0" name=""/>
        <dsp:cNvSpPr/>
      </dsp:nvSpPr>
      <dsp:spPr>
        <a:xfrm rot="5400000">
          <a:off x="-303467" y="3416802"/>
          <a:ext cx="1400327" cy="793392"/>
        </a:xfrm>
        <a:prstGeom prst="chevron">
          <a:avLst/>
        </a:prstGeom>
        <a:gradFill rotWithShape="0">
          <a:gsLst>
            <a:gs pos="0">
              <a:schemeClr val="accent3">
                <a:hueOff val="6482589"/>
                <a:satOff val="-33609"/>
                <a:lumOff val="3138"/>
                <a:alphaOff val="0"/>
                <a:lumMod val="110000"/>
                <a:satMod val="105000"/>
                <a:tint val="67000"/>
              </a:schemeClr>
            </a:gs>
            <a:gs pos="50000">
              <a:schemeClr val="accent3">
                <a:hueOff val="6482589"/>
                <a:satOff val="-33609"/>
                <a:lumOff val="3138"/>
                <a:alphaOff val="0"/>
                <a:lumMod val="105000"/>
                <a:satMod val="103000"/>
                <a:tint val="73000"/>
              </a:schemeClr>
            </a:gs>
            <a:gs pos="100000">
              <a:schemeClr val="accent3">
                <a:hueOff val="6482589"/>
                <a:satOff val="-33609"/>
                <a:lumOff val="3138"/>
                <a:alphaOff val="0"/>
                <a:lumMod val="105000"/>
                <a:satMod val="109000"/>
                <a:tint val="81000"/>
              </a:schemeClr>
            </a:gs>
          </a:gsLst>
          <a:lin ang="5400000" scaled="0"/>
        </a:gradFill>
        <a:ln w="6350" cap="flat" cmpd="sng" algn="ctr">
          <a:solidFill>
            <a:schemeClr val="accent3">
              <a:hueOff val="6482589"/>
              <a:satOff val="-33609"/>
              <a:lumOff val="3138"/>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fr-CA" sz="1500" kern="1200" noProof="0"/>
            <a:t>Release 4</a:t>
          </a:r>
        </a:p>
      </dsp:txBody>
      <dsp:txXfrm rot="-5400000">
        <a:off x="1" y="3510030"/>
        <a:ext cx="793392" cy="606935"/>
      </dsp:txXfrm>
    </dsp:sp>
    <dsp:sp modelId="{71109FB2-6797-40A9-8D4F-A2120535830E}">
      <dsp:nvSpPr>
        <dsp:cNvPr id="0" name=""/>
        <dsp:cNvSpPr/>
      </dsp:nvSpPr>
      <dsp:spPr>
        <a:xfrm rot="5400000">
          <a:off x="3558022" y="314209"/>
          <a:ext cx="1072623" cy="6601882"/>
        </a:xfrm>
        <a:prstGeom prst="round2SameRect">
          <a:avLst/>
        </a:prstGeom>
        <a:solidFill>
          <a:schemeClr val="lt1">
            <a:alpha val="90000"/>
            <a:hueOff val="0"/>
            <a:satOff val="0"/>
            <a:lumOff val="0"/>
            <a:alphaOff val="0"/>
          </a:schemeClr>
        </a:solidFill>
        <a:ln w="6350" cap="flat" cmpd="sng" algn="ctr">
          <a:solidFill>
            <a:schemeClr val="accent3">
              <a:hueOff val="6482589"/>
              <a:satOff val="-33609"/>
              <a:lumOff val="313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8232" tIns="6985" rIns="6985" bIns="6985" numCol="1" spcCol="1270" anchor="ctr" anchorCtr="0">
          <a:noAutofit/>
        </a:bodyPr>
        <a:lstStyle/>
        <a:p>
          <a:pPr marL="57150" lvl="1" indent="-57150" algn="l" defTabSz="466725">
            <a:lnSpc>
              <a:spcPct val="90000"/>
            </a:lnSpc>
            <a:spcBef>
              <a:spcPct val="0"/>
            </a:spcBef>
            <a:spcAft>
              <a:spcPct val="15000"/>
            </a:spcAft>
            <a:buFont typeface="Wingdings" panose="05000000000000000000" pitchFamily="2" charset="2"/>
            <a:buChar char="Ø"/>
          </a:pPr>
          <a:r>
            <a:rPr lang="fr-CA" sz="1050" kern="1200" noProof="0"/>
            <a:t> Offre de service du CSP bancaire</a:t>
          </a:r>
        </a:p>
        <a:p>
          <a:pPr marL="57150" lvl="1" indent="-57150" algn="l" defTabSz="466725">
            <a:lnSpc>
              <a:spcPct val="90000"/>
            </a:lnSpc>
            <a:spcBef>
              <a:spcPct val="0"/>
            </a:spcBef>
            <a:spcAft>
              <a:spcPct val="15000"/>
            </a:spcAft>
            <a:buFont typeface="Wingdings" panose="05000000000000000000" pitchFamily="2" charset="2"/>
            <a:buChar char="Ø"/>
          </a:pPr>
          <a:r>
            <a:rPr lang="fr-CA" sz="1050" kern="1200" noProof="0"/>
            <a:t> Processus affaires n’ayant pas d’impact sur la mise en place de </a:t>
          </a:r>
          <a:r>
            <a:rPr lang="fr-CA" sz="1050" kern="1200" noProof="0" err="1"/>
            <a:t>Kyriba</a:t>
          </a:r>
          <a:r>
            <a:rPr lang="fr-CA" sz="1050" kern="1200" noProof="0"/>
            <a:t> ni sur son opérationnalisation </a:t>
          </a:r>
        </a:p>
        <a:p>
          <a:pPr marL="114300" lvl="2" indent="-57150" algn="l" defTabSz="466725">
            <a:lnSpc>
              <a:spcPct val="90000"/>
            </a:lnSpc>
            <a:spcBef>
              <a:spcPct val="0"/>
            </a:spcBef>
            <a:spcAft>
              <a:spcPct val="15000"/>
            </a:spcAft>
            <a:buFont typeface="Wingdings" panose="05000000000000000000" pitchFamily="2" charset="2"/>
            <a:buChar char="Ø"/>
          </a:pPr>
          <a:r>
            <a:rPr lang="fr-CA" sz="1050" kern="1200" noProof="0"/>
            <a:t> Processus de conciliation</a:t>
          </a:r>
        </a:p>
        <a:p>
          <a:pPr marL="114300" lvl="2" indent="-57150" algn="l" defTabSz="466725">
            <a:lnSpc>
              <a:spcPct val="90000"/>
            </a:lnSpc>
            <a:spcBef>
              <a:spcPct val="0"/>
            </a:spcBef>
            <a:spcAft>
              <a:spcPct val="15000"/>
            </a:spcAft>
            <a:buFont typeface="Wingdings" panose="05000000000000000000" pitchFamily="2" charset="2"/>
            <a:buChar char="Ø"/>
          </a:pPr>
          <a:r>
            <a:rPr lang="fr-CA" sz="1050" kern="1200" noProof="0"/>
            <a:t> Processus de définition de stratégie BAM, BFA</a:t>
          </a:r>
        </a:p>
        <a:p>
          <a:pPr marL="57150" lvl="1" indent="-57150" algn="l" defTabSz="466725">
            <a:lnSpc>
              <a:spcPct val="90000"/>
            </a:lnSpc>
            <a:spcBef>
              <a:spcPct val="0"/>
            </a:spcBef>
            <a:spcAft>
              <a:spcPct val="15000"/>
            </a:spcAft>
            <a:buFont typeface="Wingdings" panose="05000000000000000000" pitchFamily="2" charset="2"/>
            <a:buChar char="Ø"/>
          </a:pPr>
          <a:r>
            <a:rPr lang="fr-CA" sz="1050" kern="1200" noProof="0"/>
            <a:t> Rôles et responsabilités (RACI)</a:t>
          </a:r>
        </a:p>
        <a:p>
          <a:pPr marL="57150" lvl="1" indent="-57150" algn="l" defTabSz="466725">
            <a:lnSpc>
              <a:spcPct val="90000"/>
            </a:lnSpc>
            <a:spcBef>
              <a:spcPct val="0"/>
            </a:spcBef>
            <a:spcAft>
              <a:spcPct val="15000"/>
            </a:spcAft>
            <a:buFont typeface="Wingdings" panose="05000000000000000000" pitchFamily="2" charset="2"/>
            <a:buChar char="Ø"/>
          </a:pPr>
          <a:r>
            <a:rPr lang="fr-CA" sz="1050" kern="1200" noProof="0"/>
            <a:t> Gouvernance </a:t>
          </a:r>
        </a:p>
      </dsp:txBody>
      <dsp:txXfrm rot="-5400000">
        <a:off x="793393" y="3131200"/>
        <a:ext cx="6549521" cy="967901"/>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D8B22D-0E75-44E3-817F-BAC42FA46774}">
      <dsp:nvSpPr>
        <dsp:cNvPr id="0" name=""/>
        <dsp:cNvSpPr/>
      </dsp:nvSpPr>
      <dsp:spPr>
        <a:xfrm rot="16200000">
          <a:off x="-1163203" y="1167783"/>
          <a:ext cx="3942710" cy="1607143"/>
        </a:xfrm>
        <a:prstGeom prst="flowChartManualOperati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0" tIns="0" rIns="127000" bIns="0" numCol="1" spcCol="1270" anchor="t" anchorCtr="0">
          <a:noAutofit/>
        </a:bodyPr>
        <a:lstStyle/>
        <a:p>
          <a:pPr marL="0" lvl="0" indent="0" algn="l" defTabSz="889000">
            <a:lnSpc>
              <a:spcPct val="90000"/>
            </a:lnSpc>
            <a:spcBef>
              <a:spcPct val="0"/>
            </a:spcBef>
            <a:spcAft>
              <a:spcPct val="35000"/>
            </a:spcAft>
            <a:buNone/>
          </a:pPr>
          <a:r>
            <a:rPr lang="fr-CA" sz="2000" kern="1200">
              <a:solidFill>
                <a:schemeClr val="tx1"/>
              </a:solidFill>
            </a:rPr>
            <a:t>Internes</a:t>
          </a:r>
        </a:p>
        <a:p>
          <a:pPr marL="171450" lvl="1" indent="-171450" algn="l" defTabSz="711200">
            <a:lnSpc>
              <a:spcPct val="90000"/>
            </a:lnSpc>
            <a:spcBef>
              <a:spcPct val="0"/>
            </a:spcBef>
            <a:spcAft>
              <a:spcPct val="15000"/>
            </a:spcAft>
            <a:buChar char="•"/>
          </a:pPr>
          <a:r>
            <a:rPr lang="fr-CA" sz="1600" i="1" u="sng" kern="1200"/>
            <a:t>Équipes CFO : </a:t>
          </a:r>
        </a:p>
        <a:p>
          <a:pPr marL="114300" lvl="2" indent="-57150" algn="l" defTabSz="488950">
            <a:lnSpc>
              <a:spcPct val="90000"/>
            </a:lnSpc>
            <a:spcBef>
              <a:spcPct val="0"/>
            </a:spcBef>
            <a:spcAft>
              <a:spcPct val="15000"/>
            </a:spcAft>
            <a:buChar char="•"/>
          </a:pPr>
          <a:r>
            <a:rPr lang="fr-CA" sz="1100" kern="1200"/>
            <a:t> Équipe système </a:t>
          </a:r>
        </a:p>
        <a:p>
          <a:pPr marL="114300" lvl="2" indent="-57150" algn="l" defTabSz="488950">
            <a:lnSpc>
              <a:spcPct val="90000"/>
            </a:lnSpc>
            <a:spcBef>
              <a:spcPct val="0"/>
            </a:spcBef>
            <a:spcAft>
              <a:spcPct val="15000"/>
            </a:spcAft>
            <a:buChar char="•"/>
          </a:pPr>
          <a:r>
            <a:rPr lang="fr-CA" sz="1100" kern="1200"/>
            <a:t> Trésorerie corpo</a:t>
          </a:r>
        </a:p>
        <a:p>
          <a:pPr marL="114300" lvl="2" indent="-57150" algn="l" defTabSz="488950">
            <a:lnSpc>
              <a:spcPct val="90000"/>
            </a:lnSpc>
            <a:spcBef>
              <a:spcPct val="0"/>
            </a:spcBef>
            <a:spcAft>
              <a:spcPct val="15000"/>
            </a:spcAft>
            <a:buChar char="•"/>
          </a:pPr>
          <a:r>
            <a:rPr lang="fr-CA" sz="1100" kern="1200"/>
            <a:t> CSP Bancaire</a:t>
          </a:r>
        </a:p>
        <a:p>
          <a:pPr marL="114300" lvl="2" indent="-57150" algn="l" defTabSz="488950">
            <a:lnSpc>
              <a:spcPct val="90000"/>
            </a:lnSpc>
            <a:spcBef>
              <a:spcPct val="0"/>
            </a:spcBef>
            <a:spcAft>
              <a:spcPct val="15000"/>
            </a:spcAft>
            <a:buChar char="•"/>
          </a:pPr>
          <a:endParaRPr lang="fr-CA" sz="1100" kern="1200"/>
        </a:p>
        <a:p>
          <a:pPr marL="114300" lvl="1" indent="-114300" algn="l" defTabSz="666750">
            <a:lnSpc>
              <a:spcPct val="90000"/>
            </a:lnSpc>
            <a:spcBef>
              <a:spcPct val="0"/>
            </a:spcBef>
            <a:spcAft>
              <a:spcPct val="15000"/>
            </a:spcAft>
            <a:buChar char="•"/>
          </a:pPr>
          <a:r>
            <a:rPr lang="fr-CA" sz="1500" i="1" u="sng" kern="1200"/>
            <a:t>Partenaires :</a:t>
          </a:r>
        </a:p>
        <a:p>
          <a:pPr marL="114300" lvl="2" indent="-57150" algn="l" defTabSz="488950">
            <a:lnSpc>
              <a:spcPct val="90000"/>
            </a:lnSpc>
            <a:spcBef>
              <a:spcPct val="0"/>
            </a:spcBef>
            <a:spcAft>
              <a:spcPct val="15000"/>
            </a:spcAft>
            <a:buChar char="•"/>
          </a:pPr>
          <a:r>
            <a:rPr lang="fr-CA" sz="1100" kern="1200"/>
            <a:t> Assurance VI</a:t>
          </a:r>
        </a:p>
        <a:p>
          <a:pPr marL="114300" lvl="2" indent="-57150" algn="l" defTabSz="488950">
            <a:lnSpc>
              <a:spcPct val="90000"/>
            </a:lnSpc>
            <a:spcBef>
              <a:spcPct val="0"/>
            </a:spcBef>
            <a:spcAft>
              <a:spcPct val="15000"/>
            </a:spcAft>
            <a:buChar char="•"/>
          </a:pPr>
          <a:r>
            <a:rPr lang="fr-CA" sz="1100" kern="1200"/>
            <a:t> Assurance collective</a:t>
          </a:r>
        </a:p>
        <a:p>
          <a:pPr marL="114300" lvl="2" indent="-57150" algn="l" defTabSz="488950">
            <a:lnSpc>
              <a:spcPct val="90000"/>
            </a:lnSpc>
            <a:spcBef>
              <a:spcPct val="0"/>
            </a:spcBef>
            <a:spcAft>
              <a:spcPct val="15000"/>
            </a:spcAft>
            <a:buChar char="•"/>
          </a:pPr>
          <a:r>
            <a:rPr lang="fr-CA" sz="1100" kern="1200"/>
            <a:t> Toutes les UA</a:t>
          </a:r>
          <a:r>
            <a:rPr lang="fr-CA" sz="900" kern="1200"/>
            <a:t>*</a:t>
          </a:r>
          <a:r>
            <a:rPr lang="fr-CA" sz="1100" kern="1200"/>
            <a:t> intégré à ERP cloud </a:t>
          </a:r>
          <a:r>
            <a:rPr lang="fr-CA" sz="900" kern="1200"/>
            <a:t>(pour chèques)</a:t>
          </a:r>
        </a:p>
      </dsp:txBody>
      <dsp:txXfrm rot="5400000">
        <a:off x="4580" y="788542"/>
        <a:ext cx="1607143" cy="2365626"/>
      </dsp:txXfrm>
    </dsp:sp>
    <dsp:sp modelId="{30A1E908-7E0F-4434-802D-D4CC7E1C94AC}">
      <dsp:nvSpPr>
        <dsp:cNvPr id="0" name=""/>
        <dsp:cNvSpPr/>
      </dsp:nvSpPr>
      <dsp:spPr>
        <a:xfrm rot="16200000">
          <a:off x="564476" y="1167783"/>
          <a:ext cx="3942710" cy="1607143"/>
        </a:xfrm>
        <a:prstGeom prst="flowChartManualOperati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0" tIns="0" rIns="127000" bIns="0" numCol="1" spcCol="1270" anchor="t" anchorCtr="0">
          <a:noAutofit/>
        </a:bodyPr>
        <a:lstStyle/>
        <a:p>
          <a:pPr marL="0" lvl="0" indent="0" algn="l" defTabSz="889000">
            <a:lnSpc>
              <a:spcPct val="90000"/>
            </a:lnSpc>
            <a:spcBef>
              <a:spcPct val="0"/>
            </a:spcBef>
            <a:spcAft>
              <a:spcPct val="35000"/>
            </a:spcAft>
            <a:buNone/>
          </a:pPr>
          <a:r>
            <a:rPr lang="fr-CA" sz="2000" kern="1200">
              <a:solidFill>
                <a:srgbClr val="003DA5"/>
              </a:solidFill>
              <a:latin typeface="Calibri" panose="020F0502020204030204"/>
              <a:ea typeface="+mn-ea"/>
              <a:cs typeface="+mn-cs"/>
            </a:rPr>
            <a:t>Externes</a:t>
          </a:r>
        </a:p>
        <a:p>
          <a:pPr marL="114300" lvl="1" indent="0" algn="l" defTabSz="666750">
            <a:lnSpc>
              <a:spcPct val="90000"/>
            </a:lnSpc>
            <a:spcBef>
              <a:spcPct val="0"/>
            </a:spcBef>
            <a:spcAft>
              <a:spcPct val="15000"/>
            </a:spcAft>
            <a:buChar char="•"/>
          </a:pPr>
          <a:r>
            <a:rPr lang="fr-CA" sz="1500" i="0" u="none" kern="1200"/>
            <a:t> Banques</a:t>
          </a:r>
        </a:p>
        <a:p>
          <a:pPr marL="114300" lvl="1" indent="0" algn="l" defTabSz="666750">
            <a:lnSpc>
              <a:spcPct val="90000"/>
            </a:lnSpc>
            <a:spcBef>
              <a:spcPct val="0"/>
            </a:spcBef>
            <a:spcAft>
              <a:spcPct val="15000"/>
            </a:spcAft>
            <a:buChar char="•"/>
          </a:pPr>
          <a:r>
            <a:rPr lang="fr-CA" sz="1500" kern="1200"/>
            <a:t> </a:t>
          </a:r>
          <a:r>
            <a:rPr lang="fr-CA" sz="1500" kern="1200" err="1"/>
            <a:t>HPXtram</a:t>
          </a:r>
          <a:endParaRPr lang="fr-CA" sz="1500" kern="1200"/>
        </a:p>
        <a:p>
          <a:pPr marL="114300" lvl="1" indent="0" algn="l" defTabSz="666750">
            <a:lnSpc>
              <a:spcPct val="90000"/>
            </a:lnSpc>
            <a:spcBef>
              <a:spcPct val="0"/>
            </a:spcBef>
            <a:spcAft>
              <a:spcPct val="15000"/>
            </a:spcAft>
            <a:buChar char="•"/>
          </a:pPr>
          <a:r>
            <a:rPr lang="fr-CA" sz="1500" kern="1200"/>
            <a:t> SOGICA</a:t>
          </a:r>
        </a:p>
        <a:p>
          <a:pPr marL="114300" lvl="1" indent="0" algn="l" defTabSz="666750">
            <a:lnSpc>
              <a:spcPct val="90000"/>
            </a:lnSpc>
            <a:spcBef>
              <a:spcPct val="0"/>
            </a:spcBef>
            <a:spcAft>
              <a:spcPct val="15000"/>
            </a:spcAft>
            <a:buChar char="•"/>
          </a:pPr>
          <a:endParaRPr lang="fr-CA" sz="1500" kern="1200"/>
        </a:p>
      </dsp:txBody>
      <dsp:txXfrm rot="5400000">
        <a:off x="1732259" y="788542"/>
        <a:ext cx="1607143" cy="2365626"/>
      </dsp:txXfrm>
    </dsp:sp>
    <dsp:sp modelId="{2D47BFAD-88A5-40BF-B20F-7F87D1C4296C}">
      <dsp:nvSpPr>
        <dsp:cNvPr id="0" name=""/>
        <dsp:cNvSpPr/>
      </dsp:nvSpPr>
      <dsp:spPr>
        <a:xfrm rot="16200000">
          <a:off x="2308403" y="1167783"/>
          <a:ext cx="3942710" cy="1607143"/>
        </a:xfrm>
        <a:prstGeom prst="flowChartManualOperati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0" tIns="0" rIns="127000" bIns="0" numCol="1" spcCol="1270" anchor="t" anchorCtr="0">
          <a:noAutofit/>
        </a:bodyPr>
        <a:lstStyle/>
        <a:p>
          <a:pPr marL="0" lvl="0" indent="0" algn="l" defTabSz="889000">
            <a:lnSpc>
              <a:spcPct val="90000"/>
            </a:lnSpc>
            <a:spcBef>
              <a:spcPct val="0"/>
            </a:spcBef>
            <a:spcAft>
              <a:spcPct val="35000"/>
            </a:spcAft>
            <a:buNone/>
          </a:pPr>
          <a:r>
            <a:rPr lang="fr-CA" sz="2000" kern="1200">
              <a:solidFill>
                <a:schemeClr val="tx1"/>
              </a:solidFill>
            </a:rPr>
            <a:t>Stratégiques</a:t>
          </a:r>
        </a:p>
        <a:p>
          <a:pPr marL="114300" lvl="1" indent="-114300" algn="l" defTabSz="666750">
            <a:lnSpc>
              <a:spcPct val="90000"/>
            </a:lnSpc>
            <a:spcBef>
              <a:spcPct val="0"/>
            </a:spcBef>
            <a:spcAft>
              <a:spcPct val="15000"/>
            </a:spcAft>
            <a:buChar char="•"/>
          </a:pPr>
          <a:r>
            <a:rPr lang="fr-CA" sz="1500" kern="1200"/>
            <a:t>Direction CFO</a:t>
          </a:r>
        </a:p>
        <a:p>
          <a:pPr marL="114300" lvl="2" indent="-57150" algn="l" defTabSz="488950">
            <a:lnSpc>
              <a:spcPct val="90000"/>
            </a:lnSpc>
            <a:spcBef>
              <a:spcPct val="0"/>
            </a:spcBef>
            <a:spcAft>
              <a:spcPct val="15000"/>
            </a:spcAft>
            <a:buChar char="•"/>
          </a:pPr>
          <a:r>
            <a:rPr lang="fr-CA" sz="1100" kern="1200"/>
            <a:t> Direction CSP bancaire</a:t>
          </a:r>
        </a:p>
        <a:p>
          <a:pPr marL="114300" lvl="2" indent="-57150" algn="l" defTabSz="488950">
            <a:lnSpc>
              <a:spcPct val="90000"/>
            </a:lnSpc>
            <a:spcBef>
              <a:spcPct val="0"/>
            </a:spcBef>
            <a:spcAft>
              <a:spcPct val="15000"/>
            </a:spcAft>
            <a:buChar char="•"/>
          </a:pPr>
          <a:r>
            <a:rPr lang="fr-CA" sz="1100" kern="1200"/>
            <a:t> Direction Évolution Intégration</a:t>
          </a:r>
        </a:p>
        <a:p>
          <a:pPr marL="114300" lvl="2" indent="-57150" algn="l" defTabSz="488950">
            <a:lnSpc>
              <a:spcPct val="90000"/>
            </a:lnSpc>
            <a:spcBef>
              <a:spcPct val="0"/>
            </a:spcBef>
            <a:spcAft>
              <a:spcPct val="15000"/>
            </a:spcAft>
            <a:buChar char="•"/>
          </a:pPr>
          <a:r>
            <a:rPr lang="fr-CA" sz="1100" kern="1200"/>
            <a:t> Direction Comptabilité</a:t>
          </a:r>
        </a:p>
        <a:p>
          <a:pPr marL="114300" lvl="2" indent="-57150" algn="l" defTabSz="488950">
            <a:lnSpc>
              <a:spcPct val="90000"/>
            </a:lnSpc>
            <a:spcBef>
              <a:spcPct val="0"/>
            </a:spcBef>
            <a:spcAft>
              <a:spcPct val="15000"/>
            </a:spcAft>
            <a:buChar char="•"/>
          </a:pPr>
          <a:r>
            <a:rPr lang="fr-CA" sz="1100" kern="1200"/>
            <a:t> Direction Système</a:t>
          </a:r>
        </a:p>
        <a:p>
          <a:pPr marL="114300" lvl="2" indent="-57150" algn="l" defTabSz="488950">
            <a:lnSpc>
              <a:spcPct val="90000"/>
            </a:lnSpc>
            <a:spcBef>
              <a:spcPct val="0"/>
            </a:spcBef>
            <a:spcAft>
              <a:spcPct val="15000"/>
            </a:spcAft>
            <a:buChar char="•"/>
          </a:pPr>
          <a:r>
            <a:rPr lang="fr-CA" sz="1100" kern="1200"/>
            <a:t> Direction Équipe Production</a:t>
          </a:r>
        </a:p>
        <a:p>
          <a:pPr marL="114300" lvl="2" indent="-57150" algn="l" defTabSz="488950">
            <a:lnSpc>
              <a:spcPct val="90000"/>
            </a:lnSpc>
            <a:spcBef>
              <a:spcPct val="0"/>
            </a:spcBef>
            <a:spcAft>
              <a:spcPct val="15000"/>
            </a:spcAft>
            <a:buChar char="•"/>
          </a:pPr>
          <a:r>
            <a:rPr lang="fr-CA" sz="1100" kern="1200"/>
            <a:t> ….</a:t>
          </a:r>
        </a:p>
      </dsp:txBody>
      <dsp:txXfrm rot="5400000">
        <a:off x="3476186" y="788542"/>
        <a:ext cx="1607143" cy="2365626"/>
      </dsp:txXfrm>
    </dsp:sp>
    <dsp:sp modelId="{4CBA82C0-AFC3-4C70-9A3B-56145C209E9B}">
      <dsp:nvSpPr>
        <dsp:cNvPr id="0" name=""/>
        <dsp:cNvSpPr/>
      </dsp:nvSpPr>
      <dsp:spPr>
        <a:xfrm rot="16200000">
          <a:off x="4019835" y="1167783"/>
          <a:ext cx="3942710" cy="1607143"/>
        </a:xfrm>
        <a:prstGeom prst="flowChartManualOperati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0" tIns="0" rIns="127000" bIns="0" numCol="1" spcCol="1270" anchor="t" anchorCtr="0">
          <a:noAutofit/>
        </a:bodyPr>
        <a:lstStyle/>
        <a:p>
          <a:pPr marL="0" lvl="0" indent="0" algn="l" defTabSz="889000">
            <a:lnSpc>
              <a:spcPct val="90000"/>
            </a:lnSpc>
            <a:spcBef>
              <a:spcPct val="0"/>
            </a:spcBef>
            <a:spcAft>
              <a:spcPct val="35000"/>
            </a:spcAft>
            <a:buNone/>
          </a:pPr>
          <a:r>
            <a:rPr lang="fr-CA" sz="2000" kern="1200">
              <a:solidFill>
                <a:schemeClr val="tx1"/>
              </a:solidFill>
            </a:rPr>
            <a:t>Tactiques</a:t>
          </a:r>
        </a:p>
        <a:p>
          <a:pPr marL="114300" lvl="1" indent="-114300" algn="l" defTabSz="666750">
            <a:lnSpc>
              <a:spcPct val="90000"/>
            </a:lnSpc>
            <a:spcBef>
              <a:spcPct val="0"/>
            </a:spcBef>
            <a:spcAft>
              <a:spcPct val="15000"/>
            </a:spcAft>
            <a:buChar char="•"/>
          </a:pPr>
          <a:r>
            <a:rPr lang="fr-CA" sz="1500" kern="1200"/>
            <a:t>Directeur Trésorerie corporatif </a:t>
          </a:r>
          <a:r>
            <a:rPr lang="fr-CA" sz="1100" kern="1200"/>
            <a:t>(sponsor)</a:t>
          </a:r>
        </a:p>
        <a:p>
          <a:pPr marL="114300" lvl="1" indent="-114300" algn="l" defTabSz="533400">
            <a:lnSpc>
              <a:spcPct val="90000"/>
            </a:lnSpc>
            <a:spcBef>
              <a:spcPct val="0"/>
            </a:spcBef>
            <a:spcAft>
              <a:spcPct val="15000"/>
            </a:spcAft>
            <a:buChar char="•"/>
          </a:pPr>
          <a:endParaRPr lang="fr-CA" sz="1200" kern="1200"/>
        </a:p>
      </dsp:txBody>
      <dsp:txXfrm rot="5400000">
        <a:off x="5187618" y="788542"/>
        <a:ext cx="1607143" cy="2365626"/>
      </dsp:txXfrm>
    </dsp:sp>
    <dsp:sp modelId="{4DD5854C-5F0F-42C7-8983-242E6E293A7B}">
      <dsp:nvSpPr>
        <dsp:cNvPr id="0" name=""/>
        <dsp:cNvSpPr/>
      </dsp:nvSpPr>
      <dsp:spPr>
        <a:xfrm rot="16200000">
          <a:off x="5747515" y="1167783"/>
          <a:ext cx="3942710" cy="1607143"/>
        </a:xfrm>
        <a:prstGeom prst="flowChartManualOperati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0" tIns="0" rIns="101600" bIns="0" numCol="1" spcCol="1270" anchor="t" anchorCtr="0">
          <a:noAutofit/>
        </a:bodyPr>
        <a:lstStyle/>
        <a:p>
          <a:pPr marL="0" lvl="0" indent="0" algn="l" defTabSz="711200">
            <a:lnSpc>
              <a:spcPct val="90000"/>
            </a:lnSpc>
            <a:spcBef>
              <a:spcPct val="0"/>
            </a:spcBef>
            <a:spcAft>
              <a:spcPct val="35000"/>
            </a:spcAft>
            <a:buNone/>
          </a:pPr>
          <a:r>
            <a:rPr lang="fr-CA" sz="1600" kern="1200">
              <a:solidFill>
                <a:schemeClr val="tx1"/>
              </a:solidFill>
            </a:rPr>
            <a:t>Opérationnelles</a:t>
          </a:r>
        </a:p>
        <a:p>
          <a:pPr marL="114300" lvl="1" indent="-114300" algn="l" defTabSz="666750">
            <a:lnSpc>
              <a:spcPct val="90000"/>
            </a:lnSpc>
            <a:spcBef>
              <a:spcPct val="0"/>
            </a:spcBef>
            <a:spcAft>
              <a:spcPct val="15000"/>
            </a:spcAft>
            <a:buChar char="•"/>
          </a:pPr>
          <a:r>
            <a:rPr lang="fr-CA" sz="1500" kern="1200"/>
            <a:t>Service Courriel</a:t>
          </a:r>
        </a:p>
        <a:p>
          <a:pPr marL="114300" lvl="1" indent="-114300" algn="l" defTabSz="666750">
            <a:lnSpc>
              <a:spcPct val="90000"/>
            </a:lnSpc>
            <a:spcBef>
              <a:spcPct val="0"/>
            </a:spcBef>
            <a:spcAft>
              <a:spcPct val="15000"/>
            </a:spcAft>
            <a:buChar char="•"/>
          </a:pPr>
          <a:r>
            <a:rPr lang="fr-CA" sz="1500" kern="1200"/>
            <a:t>Gestion des risques</a:t>
          </a:r>
        </a:p>
        <a:p>
          <a:pPr marL="114300" lvl="1" indent="-114300" algn="l" defTabSz="666750">
            <a:lnSpc>
              <a:spcPct val="90000"/>
            </a:lnSpc>
            <a:spcBef>
              <a:spcPct val="0"/>
            </a:spcBef>
            <a:spcAft>
              <a:spcPct val="15000"/>
            </a:spcAft>
            <a:buChar char="•"/>
          </a:pPr>
          <a:r>
            <a:rPr lang="fr-CA" sz="1500" kern="1200"/>
            <a:t>LBA </a:t>
          </a:r>
          <a:r>
            <a:rPr lang="fr-CA" sz="500" kern="1200"/>
            <a:t>(Lute anti-Blanchiment d’argent)</a:t>
          </a:r>
        </a:p>
        <a:p>
          <a:pPr marL="114300" lvl="1" indent="-114300" algn="l" defTabSz="533400">
            <a:lnSpc>
              <a:spcPct val="90000"/>
            </a:lnSpc>
            <a:spcBef>
              <a:spcPct val="0"/>
            </a:spcBef>
            <a:spcAft>
              <a:spcPct val="15000"/>
            </a:spcAft>
            <a:buChar char="•"/>
          </a:pPr>
          <a:endParaRPr lang="fr-CA" sz="1200" kern="1200"/>
        </a:p>
      </dsp:txBody>
      <dsp:txXfrm rot="5400000">
        <a:off x="6915298" y="788542"/>
        <a:ext cx="1607143" cy="2365626"/>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15012A-C15F-45A4-B61B-299E70617D20}">
      <dsp:nvSpPr>
        <dsp:cNvPr id="0" name=""/>
        <dsp:cNvSpPr/>
      </dsp:nvSpPr>
      <dsp:spPr>
        <a:xfrm>
          <a:off x="3210237" y="303"/>
          <a:ext cx="1616892" cy="1050980"/>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fr-FR" sz="1400" kern="1200">
              <a:solidFill>
                <a:srgbClr val="262626"/>
              </a:solidFill>
            </a:rPr>
            <a:t>1. Définition de la structure des comptes bancaires</a:t>
          </a:r>
        </a:p>
      </dsp:txBody>
      <dsp:txXfrm>
        <a:off x="3261542" y="51608"/>
        <a:ext cx="1514282" cy="948370"/>
      </dsp:txXfrm>
    </dsp:sp>
    <dsp:sp modelId="{A36EDB8F-BC99-42CD-A4BB-0FD4773A7EB1}">
      <dsp:nvSpPr>
        <dsp:cNvPr id="0" name=""/>
        <dsp:cNvSpPr/>
      </dsp:nvSpPr>
      <dsp:spPr>
        <a:xfrm>
          <a:off x="3237727" y="719217"/>
          <a:ext cx="3473032" cy="3473032"/>
        </a:xfrm>
        <a:custGeom>
          <a:avLst/>
          <a:gdLst/>
          <a:ahLst/>
          <a:cxnLst/>
          <a:rect l="0" t="0" r="0" b="0"/>
          <a:pathLst>
            <a:path>
              <a:moveTo>
                <a:pt x="1880402" y="5971"/>
              </a:moveTo>
              <a:arcTo wR="1736516" hR="1736516" stAng="16485175" swAng="1822331"/>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37136822-311C-4BEB-B370-A9A9475B950F}">
      <dsp:nvSpPr>
        <dsp:cNvPr id="0" name=""/>
        <dsp:cNvSpPr/>
      </dsp:nvSpPr>
      <dsp:spPr>
        <a:xfrm>
          <a:off x="5568184" y="1222225"/>
          <a:ext cx="1616892" cy="1050980"/>
        </a:xfrm>
        <a:prstGeom prst="roundRect">
          <a:avLst/>
        </a:prstGeom>
        <a:gradFill rotWithShape="0">
          <a:gsLst>
            <a:gs pos="0">
              <a:schemeClr val="accent3">
                <a:hueOff val="2160863"/>
                <a:satOff val="-11203"/>
                <a:lumOff val="1046"/>
                <a:alphaOff val="0"/>
                <a:satMod val="103000"/>
                <a:lumMod val="102000"/>
                <a:tint val="94000"/>
              </a:schemeClr>
            </a:gs>
            <a:gs pos="50000">
              <a:schemeClr val="accent3">
                <a:hueOff val="2160863"/>
                <a:satOff val="-11203"/>
                <a:lumOff val="1046"/>
                <a:alphaOff val="0"/>
                <a:satMod val="110000"/>
                <a:lumMod val="100000"/>
                <a:shade val="100000"/>
              </a:schemeClr>
            </a:gs>
            <a:gs pos="100000">
              <a:schemeClr val="accent3">
                <a:hueOff val="2160863"/>
                <a:satOff val="-11203"/>
                <a:lumOff val="1046"/>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fr-FR" sz="1400" kern="1200">
              <a:solidFill>
                <a:srgbClr val="262626"/>
              </a:solidFill>
            </a:rPr>
            <a:t>2. Ouverture des comptes bancaires</a:t>
          </a:r>
        </a:p>
      </dsp:txBody>
      <dsp:txXfrm>
        <a:off x="5619489" y="1273530"/>
        <a:ext cx="1514282" cy="948370"/>
      </dsp:txXfrm>
    </dsp:sp>
    <dsp:sp modelId="{C0DE0ABE-9330-4535-8200-55CAE6F03966}">
      <dsp:nvSpPr>
        <dsp:cNvPr id="0" name=""/>
        <dsp:cNvSpPr/>
      </dsp:nvSpPr>
      <dsp:spPr>
        <a:xfrm>
          <a:off x="3006408" y="133995"/>
          <a:ext cx="3473032" cy="3473032"/>
        </a:xfrm>
        <a:custGeom>
          <a:avLst/>
          <a:gdLst/>
          <a:ahLst/>
          <a:cxnLst/>
          <a:rect l="0" t="0" r="0" b="0"/>
          <a:pathLst>
            <a:path>
              <a:moveTo>
                <a:pt x="3349090" y="2380794"/>
              </a:moveTo>
              <a:arcTo wR="1736516" hR="1736516" stAng="1306704" swAng="1565979"/>
            </a:path>
          </a:pathLst>
        </a:custGeom>
        <a:noFill/>
        <a:ln w="6350" cap="flat" cmpd="sng" algn="ctr">
          <a:solidFill>
            <a:schemeClr val="accent3">
              <a:hueOff val="2160863"/>
              <a:satOff val="-11203"/>
              <a:lumOff val="1046"/>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84F94F1F-FBB0-46A3-8C13-BCFB14A075CE}">
      <dsp:nvSpPr>
        <dsp:cNvPr id="0" name=""/>
        <dsp:cNvSpPr/>
      </dsp:nvSpPr>
      <dsp:spPr>
        <a:xfrm>
          <a:off x="4423135" y="3314332"/>
          <a:ext cx="1616892" cy="1050980"/>
        </a:xfrm>
        <a:prstGeom prst="roundRect">
          <a:avLst/>
        </a:prstGeom>
        <a:gradFill rotWithShape="0">
          <a:gsLst>
            <a:gs pos="0">
              <a:schemeClr val="accent3">
                <a:hueOff val="4321726"/>
                <a:satOff val="-22406"/>
                <a:lumOff val="2092"/>
                <a:alphaOff val="0"/>
                <a:satMod val="103000"/>
                <a:lumMod val="102000"/>
                <a:tint val="94000"/>
              </a:schemeClr>
            </a:gs>
            <a:gs pos="50000">
              <a:schemeClr val="accent3">
                <a:hueOff val="4321726"/>
                <a:satOff val="-22406"/>
                <a:lumOff val="2092"/>
                <a:alphaOff val="0"/>
                <a:satMod val="110000"/>
                <a:lumMod val="100000"/>
                <a:shade val="100000"/>
              </a:schemeClr>
            </a:gs>
            <a:gs pos="100000">
              <a:schemeClr val="accent3">
                <a:hueOff val="4321726"/>
                <a:satOff val="-22406"/>
                <a:lumOff val="2092"/>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fr-FR" sz="1400" kern="1200">
              <a:solidFill>
                <a:srgbClr val="262626"/>
              </a:solidFill>
            </a:rPr>
            <a:t>3. Maintenir les comptes bancaires</a:t>
          </a:r>
        </a:p>
      </dsp:txBody>
      <dsp:txXfrm>
        <a:off x="4474440" y="3365637"/>
        <a:ext cx="1514282" cy="948370"/>
      </dsp:txXfrm>
    </dsp:sp>
    <dsp:sp modelId="{6CD160B2-9813-443C-A9E1-CABF7D6FCF0A}">
      <dsp:nvSpPr>
        <dsp:cNvPr id="0" name=""/>
        <dsp:cNvSpPr/>
      </dsp:nvSpPr>
      <dsp:spPr>
        <a:xfrm>
          <a:off x="2363247" y="768006"/>
          <a:ext cx="3473032" cy="3473032"/>
        </a:xfrm>
        <a:custGeom>
          <a:avLst/>
          <a:gdLst/>
          <a:ahLst/>
          <a:cxnLst/>
          <a:rect l="0" t="0" r="0" b="0"/>
          <a:pathLst>
            <a:path>
              <a:moveTo>
                <a:pt x="1705795" y="3472761"/>
              </a:moveTo>
              <a:arcTo wR="1736516" hR="1736516" stAng="5460821" swAng="2290244"/>
            </a:path>
          </a:pathLst>
        </a:custGeom>
        <a:noFill/>
        <a:ln w="6350" cap="flat" cmpd="sng" algn="ctr">
          <a:solidFill>
            <a:schemeClr val="accent3">
              <a:hueOff val="4321726"/>
              <a:satOff val="-22406"/>
              <a:lumOff val="2092"/>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B37BEAF3-8EC4-48E7-B529-FB249C935597}">
      <dsp:nvSpPr>
        <dsp:cNvPr id="0" name=""/>
        <dsp:cNvSpPr/>
      </dsp:nvSpPr>
      <dsp:spPr>
        <a:xfrm>
          <a:off x="1556675" y="2548008"/>
          <a:ext cx="1616892" cy="1050980"/>
        </a:xfrm>
        <a:prstGeom prst="roundRect">
          <a:avLst/>
        </a:prstGeom>
        <a:gradFill rotWithShape="0">
          <a:gsLst>
            <a:gs pos="0">
              <a:schemeClr val="accent3">
                <a:hueOff val="6482589"/>
                <a:satOff val="-33609"/>
                <a:lumOff val="3138"/>
                <a:alphaOff val="0"/>
                <a:satMod val="103000"/>
                <a:lumMod val="102000"/>
                <a:tint val="94000"/>
              </a:schemeClr>
            </a:gs>
            <a:gs pos="50000">
              <a:schemeClr val="accent3">
                <a:hueOff val="6482589"/>
                <a:satOff val="-33609"/>
                <a:lumOff val="3138"/>
                <a:alphaOff val="0"/>
                <a:satMod val="110000"/>
                <a:lumMod val="100000"/>
                <a:shade val="100000"/>
              </a:schemeClr>
            </a:gs>
            <a:gs pos="100000">
              <a:schemeClr val="accent3">
                <a:hueOff val="6482589"/>
                <a:satOff val="-33609"/>
                <a:lumOff val="3138"/>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fr-FR" sz="1400" kern="1200">
              <a:solidFill>
                <a:srgbClr val="262626"/>
              </a:solidFill>
            </a:rPr>
            <a:t>4. Révision de la structure bancaire</a:t>
          </a:r>
        </a:p>
      </dsp:txBody>
      <dsp:txXfrm>
        <a:off x="1607980" y="2599313"/>
        <a:ext cx="1514282" cy="948370"/>
      </dsp:txXfrm>
    </dsp:sp>
    <dsp:sp modelId="{125CFFA5-3731-4EEC-A557-87CC547671D4}">
      <dsp:nvSpPr>
        <dsp:cNvPr id="0" name=""/>
        <dsp:cNvSpPr/>
      </dsp:nvSpPr>
      <dsp:spPr>
        <a:xfrm>
          <a:off x="2182851" y="574070"/>
          <a:ext cx="3473032" cy="3473032"/>
        </a:xfrm>
        <a:custGeom>
          <a:avLst/>
          <a:gdLst/>
          <a:ahLst/>
          <a:cxnLst/>
          <a:rect l="0" t="0" r="0" b="0"/>
          <a:pathLst>
            <a:path>
              <a:moveTo>
                <a:pt x="9184" y="1558155"/>
              </a:moveTo>
              <a:arcTo wR="1736516" hR="1736516" stAng="11153721" swAng="2774938"/>
            </a:path>
          </a:pathLst>
        </a:custGeom>
        <a:noFill/>
        <a:ln w="6350" cap="flat" cmpd="sng" algn="ctr">
          <a:solidFill>
            <a:schemeClr val="accent3">
              <a:hueOff val="6482589"/>
              <a:satOff val="-33609"/>
              <a:lumOff val="3138"/>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15012A-C15F-45A4-B61B-299E70617D20}">
      <dsp:nvSpPr>
        <dsp:cNvPr id="0" name=""/>
        <dsp:cNvSpPr/>
      </dsp:nvSpPr>
      <dsp:spPr>
        <a:xfrm>
          <a:off x="2804617" y="1081"/>
          <a:ext cx="1584072" cy="1029647"/>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a:solidFill>
                <a:srgbClr val="262626"/>
              </a:solidFill>
            </a:rPr>
            <a:t>1. Définition des lignes directrices </a:t>
          </a:r>
        </a:p>
      </dsp:txBody>
      <dsp:txXfrm>
        <a:off x="2854880" y="51344"/>
        <a:ext cx="1483546" cy="929121"/>
      </dsp:txXfrm>
    </dsp:sp>
    <dsp:sp modelId="{A36EDB8F-BC99-42CD-A4BB-0FD4773A7EB1}">
      <dsp:nvSpPr>
        <dsp:cNvPr id="0" name=""/>
        <dsp:cNvSpPr/>
      </dsp:nvSpPr>
      <dsp:spPr>
        <a:xfrm>
          <a:off x="2647799" y="717284"/>
          <a:ext cx="2748302" cy="2748302"/>
        </a:xfrm>
        <a:custGeom>
          <a:avLst/>
          <a:gdLst/>
          <a:ahLst/>
          <a:cxnLst/>
          <a:rect l="0" t="0" r="0" b="0"/>
          <a:pathLst>
            <a:path>
              <a:moveTo>
                <a:pt x="2091848" y="202314"/>
              </a:moveTo>
              <a:arcTo wR="1374151" hR="1374151" stAng="18089135" swAng="3395257"/>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37136822-311C-4BEB-B370-A9A9475B950F}">
      <dsp:nvSpPr>
        <dsp:cNvPr id="0" name=""/>
        <dsp:cNvSpPr/>
      </dsp:nvSpPr>
      <dsp:spPr>
        <a:xfrm>
          <a:off x="4312777" y="2425730"/>
          <a:ext cx="1584072" cy="1029647"/>
        </a:xfrm>
        <a:prstGeom prst="roundRect">
          <a:avLst/>
        </a:prstGeom>
        <a:gradFill rotWithShape="0">
          <a:gsLst>
            <a:gs pos="0">
              <a:schemeClr val="accent3">
                <a:hueOff val="3241295"/>
                <a:satOff val="-16804"/>
                <a:lumOff val="1569"/>
                <a:alphaOff val="0"/>
                <a:satMod val="103000"/>
                <a:lumMod val="102000"/>
                <a:tint val="94000"/>
              </a:schemeClr>
            </a:gs>
            <a:gs pos="50000">
              <a:schemeClr val="accent3">
                <a:hueOff val="3241295"/>
                <a:satOff val="-16804"/>
                <a:lumOff val="1569"/>
                <a:alphaOff val="0"/>
                <a:satMod val="110000"/>
                <a:lumMod val="100000"/>
                <a:shade val="100000"/>
              </a:schemeClr>
            </a:gs>
            <a:gs pos="100000">
              <a:schemeClr val="accent3">
                <a:hueOff val="3241295"/>
                <a:satOff val="-16804"/>
                <a:lumOff val="1569"/>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a:solidFill>
                <a:srgbClr val="262626"/>
              </a:solidFill>
            </a:rPr>
            <a:t>2. Gérer les frais bancaires</a:t>
          </a:r>
          <a:endParaRPr lang="fr-FR" sz="2000" kern="1200">
            <a:solidFill>
              <a:srgbClr val="262626"/>
            </a:solidFill>
          </a:endParaRPr>
        </a:p>
      </dsp:txBody>
      <dsp:txXfrm>
        <a:off x="4363040" y="2475993"/>
        <a:ext cx="1483546" cy="929121"/>
      </dsp:txXfrm>
    </dsp:sp>
    <dsp:sp modelId="{C0DE0ABE-9330-4535-8200-55CAE6F03966}">
      <dsp:nvSpPr>
        <dsp:cNvPr id="0" name=""/>
        <dsp:cNvSpPr/>
      </dsp:nvSpPr>
      <dsp:spPr>
        <a:xfrm>
          <a:off x="2175448" y="1149794"/>
          <a:ext cx="2748302" cy="2748302"/>
        </a:xfrm>
        <a:custGeom>
          <a:avLst/>
          <a:gdLst/>
          <a:ahLst/>
          <a:cxnLst/>
          <a:rect l="0" t="0" r="0" b="0"/>
          <a:pathLst>
            <a:path>
              <a:moveTo>
                <a:pt x="1987241" y="2603952"/>
              </a:moveTo>
              <a:arcTo wR="1374151" hR="1374151" stAng="3810148" swAng="5341722"/>
            </a:path>
          </a:pathLst>
        </a:custGeom>
        <a:noFill/>
        <a:ln w="6350" cap="flat" cmpd="sng" algn="ctr">
          <a:solidFill>
            <a:schemeClr val="accent3">
              <a:hueOff val="3241295"/>
              <a:satOff val="-16804"/>
              <a:lumOff val="1569"/>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84F94F1F-FBB0-46A3-8C13-BCFB14A075CE}">
      <dsp:nvSpPr>
        <dsp:cNvPr id="0" name=""/>
        <dsp:cNvSpPr/>
      </dsp:nvSpPr>
      <dsp:spPr>
        <a:xfrm>
          <a:off x="1209324" y="1653196"/>
          <a:ext cx="1584072" cy="1029647"/>
        </a:xfrm>
        <a:prstGeom prst="roundRect">
          <a:avLst/>
        </a:prstGeom>
        <a:gradFill rotWithShape="0">
          <a:gsLst>
            <a:gs pos="0">
              <a:schemeClr val="accent3">
                <a:hueOff val="6482589"/>
                <a:satOff val="-33609"/>
                <a:lumOff val="3138"/>
                <a:alphaOff val="0"/>
                <a:satMod val="103000"/>
                <a:lumMod val="102000"/>
                <a:tint val="94000"/>
              </a:schemeClr>
            </a:gs>
            <a:gs pos="50000">
              <a:schemeClr val="accent3">
                <a:hueOff val="6482589"/>
                <a:satOff val="-33609"/>
                <a:lumOff val="3138"/>
                <a:alphaOff val="0"/>
                <a:satMod val="110000"/>
                <a:lumMod val="100000"/>
                <a:shade val="100000"/>
              </a:schemeClr>
            </a:gs>
            <a:gs pos="100000">
              <a:schemeClr val="accent3">
                <a:hueOff val="6482589"/>
                <a:satOff val="-33609"/>
                <a:lumOff val="3138"/>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a:solidFill>
                <a:srgbClr val="262626"/>
              </a:solidFill>
            </a:rPr>
            <a:t>3. Négociation des frais bancaires</a:t>
          </a:r>
        </a:p>
      </dsp:txBody>
      <dsp:txXfrm>
        <a:off x="1259587" y="1703459"/>
        <a:ext cx="1483546" cy="929121"/>
      </dsp:txXfrm>
    </dsp:sp>
    <dsp:sp modelId="{6CD160B2-9813-443C-A9E1-CABF7D6FCF0A}">
      <dsp:nvSpPr>
        <dsp:cNvPr id="0" name=""/>
        <dsp:cNvSpPr/>
      </dsp:nvSpPr>
      <dsp:spPr>
        <a:xfrm>
          <a:off x="1937960" y="669980"/>
          <a:ext cx="2748302" cy="2748302"/>
        </a:xfrm>
        <a:custGeom>
          <a:avLst/>
          <a:gdLst/>
          <a:ahLst/>
          <a:cxnLst/>
          <a:rect l="0" t="0" r="0" b="0"/>
          <a:pathLst>
            <a:path>
              <a:moveTo>
                <a:pt x="144792" y="760172"/>
              </a:moveTo>
              <a:arcTo wR="1374151" hR="1374151" stAng="12392335" swAng="1906637"/>
            </a:path>
          </a:pathLst>
        </a:custGeom>
        <a:noFill/>
        <a:ln w="6350" cap="flat" cmpd="sng" algn="ctr">
          <a:solidFill>
            <a:schemeClr val="accent3">
              <a:hueOff val="6482589"/>
              <a:satOff val="-33609"/>
              <a:lumOff val="3138"/>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15012A-C15F-45A4-B61B-299E70617D20}">
      <dsp:nvSpPr>
        <dsp:cNvPr id="0" name=""/>
        <dsp:cNvSpPr/>
      </dsp:nvSpPr>
      <dsp:spPr>
        <a:xfrm>
          <a:off x="3402924" y="1876"/>
          <a:ext cx="1414958" cy="919722"/>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r-FR" sz="1600" kern="1200">
              <a:solidFill>
                <a:srgbClr val="262626"/>
              </a:solidFill>
            </a:rPr>
            <a:t>1. Émettre le paiement</a:t>
          </a:r>
          <a:r>
            <a:rPr lang="fr-FR" sz="1400" kern="1200">
              <a:solidFill>
                <a:srgbClr val="262626"/>
              </a:solidFill>
            </a:rPr>
            <a:t>*</a:t>
          </a:r>
          <a:endParaRPr lang="fr-FR" sz="1600" kern="1200">
            <a:solidFill>
              <a:srgbClr val="262626"/>
            </a:solidFill>
          </a:endParaRPr>
        </a:p>
      </dsp:txBody>
      <dsp:txXfrm>
        <a:off x="3447821" y="46773"/>
        <a:ext cx="1325164" cy="829928"/>
      </dsp:txXfrm>
    </dsp:sp>
    <dsp:sp modelId="{A36EDB8F-BC99-42CD-A4BB-0FD4773A7EB1}">
      <dsp:nvSpPr>
        <dsp:cNvPr id="0" name=""/>
        <dsp:cNvSpPr/>
      </dsp:nvSpPr>
      <dsp:spPr>
        <a:xfrm>
          <a:off x="2914869" y="602232"/>
          <a:ext cx="3674824" cy="3674824"/>
        </a:xfrm>
        <a:custGeom>
          <a:avLst/>
          <a:gdLst/>
          <a:ahLst/>
          <a:cxnLst/>
          <a:rect l="0" t="0" r="0" b="0"/>
          <a:pathLst>
            <a:path>
              <a:moveTo>
                <a:pt x="2193097" y="34755"/>
              </a:moveTo>
              <a:arcTo wR="1837412" hR="1837412" stAng="16869706" swAng="1718611"/>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37136822-311C-4BEB-B370-A9A9475B950F}">
      <dsp:nvSpPr>
        <dsp:cNvPr id="0" name=""/>
        <dsp:cNvSpPr/>
      </dsp:nvSpPr>
      <dsp:spPr>
        <a:xfrm>
          <a:off x="5611585" y="1232282"/>
          <a:ext cx="1414958" cy="919722"/>
        </a:xfrm>
        <a:prstGeom prst="roundRect">
          <a:avLst/>
        </a:prstGeom>
        <a:gradFill rotWithShape="0">
          <a:gsLst>
            <a:gs pos="0">
              <a:schemeClr val="accent3">
                <a:hueOff val="1620647"/>
                <a:satOff val="-8402"/>
                <a:lumOff val="784"/>
                <a:alphaOff val="0"/>
                <a:satMod val="103000"/>
                <a:lumMod val="102000"/>
                <a:tint val="94000"/>
              </a:schemeClr>
            </a:gs>
            <a:gs pos="50000">
              <a:schemeClr val="accent3">
                <a:hueOff val="1620647"/>
                <a:satOff val="-8402"/>
                <a:lumOff val="784"/>
                <a:alphaOff val="0"/>
                <a:satMod val="110000"/>
                <a:lumMod val="100000"/>
                <a:shade val="100000"/>
              </a:schemeClr>
            </a:gs>
            <a:gs pos="100000">
              <a:schemeClr val="accent3">
                <a:hueOff val="1620647"/>
                <a:satOff val="-8402"/>
                <a:lumOff val="784"/>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r-FR" sz="1600" kern="1200">
              <a:solidFill>
                <a:srgbClr val="262626"/>
              </a:solidFill>
            </a:rPr>
            <a:t>2. Valider le paiement</a:t>
          </a:r>
          <a:r>
            <a:rPr lang="fr-FR" sz="1400" kern="1200">
              <a:solidFill>
                <a:srgbClr val="262626"/>
              </a:solidFill>
            </a:rPr>
            <a:t>*</a:t>
          </a:r>
          <a:endParaRPr lang="fr-FR" sz="2000" kern="1200">
            <a:solidFill>
              <a:srgbClr val="262626"/>
            </a:solidFill>
          </a:endParaRPr>
        </a:p>
      </dsp:txBody>
      <dsp:txXfrm>
        <a:off x="5656482" y="1277179"/>
        <a:ext cx="1325164" cy="829928"/>
      </dsp:txXfrm>
    </dsp:sp>
    <dsp:sp modelId="{C0DE0ABE-9330-4535-8200-55CAE6F03966}">
      <dsp:nvSpPr>
        <dsp:cNvPr id="0" name=""/>
        <dsp:cNvSpPr/>
      </dsp:nvSpPr>
      <dsp:spPr>
        <a:xfrm>
          <a:off x="2725378" y="435404"/>
          <a:ext cx="3674824" cy="3674824"/>
        </a:xfrm>
        <a:custGeom>
          <a:avLst/>
          <a:gdLst/>
          <a:ahLst/>
          <a:cxnLst/>
          <a:rect l="0" t="0" r="0" b="0"/>
          <a:pathLst>
            <a:path>
              <a:moveTo>
                <a:pt x="3671198" y="1952794"/>
              </a:moveTo>
              <a:arcTo wR="1837412" hR="1837412" stAng="21816019" swAng="1366654"/>
            </a:path>
          </a:pathLst>
        </a:custGeom>
        <a:noFill/>
        <a:ln w="6350" cap="flat" cmpd="sng" algn="ctr">
          <a:solidFill>
            <a:schemeClr val="accent3">
              <a:hueOff val="1620647"/>
              <a:satOff val="-8402"/>
              <a:lumOff val="784"/>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3F5222D0-5EC4-4567-8360-BDA100300709}">
      <dsp:nvSpPr>
        <dsp:cNvPr id="0" name=""/>
        <dsp:cNvSpPr/>
      </dsp:nvSpPr>
      <dsp:spPr>
        <a:xfrm>
          <a:off x="5074753" y="3293579"/>
          <a:ext cx="1414958" cy="919722"/>
        </a:xfrm>
        <a:prstGeom prst="roundRect">
          <a:avLst/>
        </a:prstGeom>
        <a:gradFill rotWithShape="0">
          <a:gsLst>
            <a:gs pos="0">
              <a:schemeClr val="accent3">
                <a:hueOff val="3241295"/>
                <a:satOff val="-16804"/>
                <a:lumOff val="1569"/>
                <a:alphaOff val="0"/>
                <a:satMod val="103000"/>
                <a:lumMod val="102000"/>
                <a:tint val="94000"/>
              </a:schemeClr>
            </a:gs>
            <a:gs pos="50000">
              <a:schemeClr val="accent3">
                <a:hueOff val="3241295"/>
                <a:satOff val="-16804"/>
                <a:lumOff val="1569"/>
                <a:alphaOff val="0"/>
                <a:satMod val="110000"/>
                <a:lumMod val="100000"/>
                <a:shade val="100000"/>
              </a:schemeClr>
            </a:gs>
            <a:gs pos="100000">
              <a:schemeClr val="accent3">
                <a:hueOff val="3241295"/>
                <a:satOff val="-16804"/>
                <a:lumOff val="1569"/>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r-FR" sz="1600" kern="1200">
              <a:solidFill>
                <a:srgbClr val="262626"/>
              </a:solidFill>
            </a:rPr>
            <a:t>3. Opérer le paiement</a:t>
          </a:r>
          <a:r>
            <a:rPr lang="fr-FR" sz="1400" kern="1200">
              <a:solidFill>
                <a:srgbClr val="262626"/>
              </a:solidFill>
            </a:rPr>
            <a:t>*</a:t>
          </a:r>
          <a:endParaRPr lang="fr-FR" sz="1800" kern="1200">
            <a:solidFill>
              <a:srgbClr val="262626"/>
            </a:solidFill>
          </a:endParaRPr>
        </a:p>
      </dsp:txBody>
      <dsp:txXfrm>
        <a:off x="5119650" y="3338476"/>
        <a:ext cx="1325164" cy="829928"/>
      </dsp:txXfrm>
    </dsp:sp>
    <dsp:sp modelId="{4B0DB639-4095-43A3-8A5F-E43ABA2679F3}">
      <dsp:nvSpPr>
        <dsp:cNvPr id="0" name=""/>
        <dsp:cNvSpPr/>
      </dsp:nvSpPr>
      <dsp:spPr>
        <a:xfrm>
          <a:off x="2323289" y="879277"/>
          <a:ext cx="3674824" cy="3674824"/>
        </a:xfrm>
        <a:custGeom>
          <a:avLst/>
          <a:gdLst/>
          <a:ahLst/>
          <a:cxnLst/>
          <a:rect l="0" t="0" r="0" b="0"/>
          <a:pathLst>
            <a:path>
              <a:moveTo>
                <a:pt x="2528681" y="3539831"/>
              </a:moveTo>
              <a:arcTo wR="1837412" hR="1837412" stAng="4074020" swAng="2675761"/>
            </a:path>
          </a:pathLst>
        </a:custGeom>
        <a:noFill/>
        <a:ln w="6350" cap="flat" cmpd="sng" algn="ctr">
          <a:solidFill>
            <a:schemeClr val="accent3">
              <a:hueOff val="3241295"/>
              <a:satOff val="-16804"/>
              <a:lumOff val="1569"/>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84F94F1F-FBB0-46A3-8C13-BCFB14A075CE}">
      <dsp:nvSpPr>
        <dsp:cNvPr id="0" name=""/>
        <dsp:cNvSpPr/>
      </dsp:nvSpPr>
      <dsp:spPr>
        <a:xfrm>
          <a:off x="1792076" y="3286163"/>
          <a:ext cx="1414958" cy="919722"/>
        </a:xfrm>
        <a:prstGeom prst="roundRect">
          <a:avLst/>
        </a:prstGeom>
        <a:gradFill rotWithShape="0">
          <a:gsLst>
            <a:gs pos="0">
              <a:schemeClr val="accent3">
                <a:hueOff val="4861942"/>
                <a:satOff val="-25207"/>
                <a:lumOff val="2353"/>
                <a:alphaOff val="0"/>
                <a:satMod val="103000"/>
                <a:lumMod val="102000"/>
                <a:tint val="94000"/>
              </a:schemeClr>
            </a:gs>
            <a:gs pos="50000">
              <a:schemeClr val="accent3">
                <a:hueOff val="4861942"/>
                <a:satOff val="-25207"/>
                <a:lumOff val="2353"/>
                <a:alphaOff val="0"/>
                <a:satMod val="110000"/>
                <a:lumMod val="100000"/>
                <a:shade val="100000"/>
              </a:schemeClr>
            </a:gs>
            <a:gs pos="100000">
              <a:schemeClr val="accent3">
                <a:hueOff val="4861942"/>
                <a:satOff val="-25207"/>
                <a:lumOff val="2353"/>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r-FR" sz="1600" kern="1200">
              <a:solidFill>
                <a:srgbClr val="262626"/>
              </a:solidFill>
            </a:rPr>
            <a:t>4. Comptabiliser</a:t>
          </a:r>
        </a:p>
      </dsp:txBody>
      <dsp:txXfrm>
        <a:off x="1836973" y="3331060"/>
        <a:ext cx="1325164" cy="829928"/>
      </dsp:txXfrm>
    </dsp:sp>
    <dsp:sp modelId="{6CD160B2-9813-443C-A9E1-CABF7D6FCF0A}">
      <dsp:nvSpPr>
        <dsp:cNvPr id="0" name=""/>
        <dsp:cNvSpPr/>
      </dsp:nvSpPr>
      <dsp:spPr>
        <a:xfrm>
          <a:off x="2139328" y="1049597"/>
          <a:ext cx="3674824" cy="3674824"/>
        </a:xfrm>
        <a:custGeom>
          <a:avLst/>
          <a:gdLst/>
          <a:ahLst/>
          <a:cxnLst/>
          <a:rect l="0" t="0" r="0" b="0"/>
          <a:pathLst>
            <a:path>
              <a:moveTo>
                <a:pt x="9064" y="2019697"/>
              </a:moveTo>
              <a:arcTo wR="1837412" hR="1837412" stAng="10458387" swAng="1265530"/>
            </a:path>
          </a:pathLst>
        </a:custGeom>
        <a:noFill/>
        <a:ln w="6350" cap="flat" cmpd="sng" algn="ctr">
          <a:solidFill>
            <a:schemeClr val="accent3">
              <a:hueOff val="4861942"/>
              <a:satOff val="-25207"/>
              <a:lumOff val="2353"/>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3D85B314-A1F1-4A18-855E-F12EDC34EC4B}">
      <dsp:nvSpPr>
        <dsp:cNvPr id="0" name=""/>
        <dsp:cNvSpPr/>
      </dsp:nvSpPr>
      <dsp:spPr>
        <a:xfrm>
          <a:off x="1655441" y="1271497"/>
          <a:ext cx="1414958" cy="919722"/>
        </a:xfrm>
        <a:prstGeom prst="roundRect">
          <a:avLst/>
        </a:prstGeom>
        <a:gradFill rotWithShape="0">
          <a:gsLst>
            <a:gs pos="0">
              <a:schemeClr val="accent3">
                <a:hueOff val="6482589"/>
                <a:satOff val="-33609"/>
                <a:lumOff val="3138"/>
                <a:alphaOff val="0"/>
                <a:satMod val="103000"/>
                <a:lumMod val="102000"/>
                <a:tint val="94000"/>
              </a:schemeClr>
            </a:gs>
            <a:gs pos="50000">
              <a:schemeClr val="accent3">
                <a:hueOff val="6482589"/>
                <a:satOff val="-33609"/>
                <a:lumOff val="3138"/>
                <a:alphaOff val="0"/>
                <a:satMod val="110000"/>
                <a:lumMod val="100000"/>
                <a:shade val="100000"/>
              </a:schemeClr>
            </a:gs>
            <a:gs pos="100000">
              <a:schemeClr val="accent3">
                <a:hueOff val="6482589"/>
                <a:satOff val="-33609"/>
                <a:lumOff val="3138"/>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r-FR" sz="1600" kern="1200">
              <a:solidFill>
                <a:srgbClr val="262626"/>
              </a:solidFill>
            </a:rPr>
            <a:t>5. Concilier</a:t>
          </a:r>
        </a:p>
      </dsp:txBody>
      <dsp:txXfrm>
        <a:off x="1700338" y="1316394"/>
        <a:ext cx="1325164" cy="829928"/>
      </dsp:txXfrm>
    </dsp:sp>
    <dsp:sp modelId="{D3ADD429-07A3-435C-AB9D-3618B974A6E2}">
      <dsp:nvSpPr>
        <dsp:cNvPr id="0" name=""/>
        <dsp:cNvSpPr/>
      </dsp:nvSpPr>
      <dsp:spPr>
        <a:xfrm>
          <a:off x="2272991" y="461737"/>
          <a:ext cx="3674824" cy="3674824"/>
        </a:xfrm>
        <a:custGeom>
          <a:avLst/>
          <a:gdLst/>
          <a:ahLst/>
          <a:cxnLst/>
          <a:rect l="0" t="0" r="0" b="0"/>
          <a:pathLst>
            <a:path>
              <a:moveTo>
                <a:pt x="441954" y="642095"/>
              </a:moveTo>
              <a:arcTo wR="1837412" hR="1837412" stAng="13234955" swAng="1211731"/>
            </a:path>
          </a:pathLst>
        </a:custGeom>
        <a:noFill/>
        <a:ln w="6350" cap="flat" cmpd="sng" algn="ctr">
          <a:solidFill>
            <a:schemeClr val="accent3">
              <a:hueOff val="6482589"/>
              <a:satOff val="-33609"/>
              <a:lumOff val="3138"/>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15012A-C15F-45A4-B61B-299E70617D20}">
      <dsp:nvSpPr>
        <dsp:cNvPr id="0" name=""/>
        <dsp:cNvSpPr/>
      </dsp:nvSpPr>
      <dsp:spPr>
        <a:xfrm>
          <a:off x="2864928" y="807"/>
          <a:ext cx="1674466" cy="1088403"/>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a:solidFill>
                <a:srgbClr val="262626"/>
              </a:solidFill>
            </a:rPr>
            <a:t>1. Réception des données</a:t>
          </a:r>
        </a:p>
      </dsp:txBody>
      <dsp:txXfrm>
        <a:off x="2918059" y="53938"/>
        <a:ext cx="1568204" cy="982141"/>
      </dsp:txXfrm>
    </dsp:sp>
    <dsp:sp modelId="{A36EDB8F-BC99-42CD-A4BB-0FD4773A7EB1}">
      <dsp:nvSpPr>
        <dsp:cNvPr id="0" name=""/>
        <dsp:cNvSpPr/>
      </dsp:nvSpPr>
      <dsp:spPr>
        <a:xfrm>
          <a:off x="2022276" y="426586"/>
          <a:ext cx="3596268" cy="3596268"/>
        </a:xfrm>
        <a:custGeom>
          <a:avLst/>
          <a:gdLst/>
          <a:ahLst/>
          <a:cxnLst/>
          <a:rect l="0" t="0" r="0" b="0"/>
          <a:pathLst>
            <a:path>
              <a:moveTo>
                <a:pt x="2830155" y="325646"/>
              </a:moveTo>
              <a:arcTo wR="1798134" hR="1798134" stAng="18301525" swAng="2224327"/>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37136822-311C-4BEB-B370-A9A9475B950F}">
      <dsp:nvSpPr>
        <dsp:cNvPr id="0" name=""/>
        <dsp:cNvSpPr/>
      </dsp:nvSpPr>
      <dsp:spPr>
        <a:xfrm>
          <a:off x="4786735" y="2022855"/>
          <a:ext cx="1674466" cy="1088403"/>
        </a:xfrm>
        <a:prstGeom prst="roundRect">
          <a:avLst/>
        </a:prstGeom>
        <a:gradFill rotWithShape="0">
          <a:gsLst>
            <a:gs pos="0">
              <a:schemeClr val="accent3">
                <a:hueOff val="2160863"/>
                <a:satOff val="-11203"/>
                <a:lumOff val="1046"/>
                <a:alphaOff val="0"/>
                <a:satMod val="103000"/>
                <a:lumMod val="102000"/>
                <a:tint val="94000"/>
              </a:schemeClr>
            </a:gs>
            <a:gs pos="50000">
              <a:schemeClr val="accent3">
                <a:hueOff val="2160863"/>
                <a:satOff val="-11203"/>
                <a:lumOff val="1046"/>
                <a:alphaOff val="0"/>
                <a:satMod val="110000"/>
                <a:lumMod val="100000"/>
                <a:shade val="100000"/>
              </a:schemeClr>
            </a:gs>
            <a:gs pos="100000">
              <a:schemeClr val="accent3">
                <a:hueOff val="2160863"/>
                <a:satOff val="-11203"/>
                <a:lumOff val="1046"/>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a:solidFill>
                <a:srgbClr val="262626"/>
              </a:solidFill>
            </a:rPr>
            <a:t>2. Concilier les écritures bancaires</a:t>
          </a:r>
          <a:endParaRPr lang="fr-FR" sz="2000" kern="1200">
            <a:solidFill>
              <a:srgbClr val="262626"/>
            </a:solidFill>
          </a:endParaRPr>
        </a:p>
      </dsp:txBody>
      <dsp:txXfrm>
        <a:off x="4839866" y="2075986"/>
        <a:ext cx="1568204" cy="982141"/>
      </dsp:txXfrm>
    </dsp:sp>
    <dsp:sp modelId="{C0DE0ABE-9330-4535-8200-55CAE6F03966}">
      <dsp:nvSpPr>
        <dsp:cNvPr id="0" name=""/>
        <dsp:cNvSpPr/>
      </dsp:nvSpPr>
      <dsp:spPr>
        <a:xfrm>
          <a:off x="2011177" y="558601"/>
          <a:ext cx="3596268" cy="3596268"/>
        </a:xfrm>
        <a:custGeom>
          <a:avLst/>
          <a:gdLst/>
          <a:ahLst/>
          <a:cxnLst/>
          <a:rect l="0" t="0" r="0" b="0"/>
          <a:pathLst>
            <a:path>
              <a:moveTo>
                <a:pt x="3319119" y="2757243"/>
              </a:moveTo>
              <a:arcTo wR="1798134" hR="1798134" stAng="1934093" swAng="1377362"/>
            </a:path>
          </a:pathLst>
        </a:custGeom>
        <a:noFill/>
        <a:ln w="6350" cap="flat" cmpd="sng" algn="ctr">
          <a:solidFill>
            <a:schemeClr val="accent3">
              <a:hueOff val="2160863"/>
              <a:satOff val="-11203"/>
              <a:lumOff val="1046"/>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84F94F1F-FBB0-46A3-8C13-BCFB14A075CE}">
      <dsp:nvSpPr>
        <dsp:cNvPr id="0" name=""/>
        <dsp:cNvSpPr/>
      </dsp:nvSpPr>
      <dsp:spPr>
        <a:xfrm>
          <a:off x="2961912" y="3492399"/>
          <a:ext cx="1674466" cy="1088403"/>
        </a:xfrm>
        <a:prstGeom prst="roundRect">
          <a:avLst/>
        </a:prstGeom>
        <a:gradFill rotWithShape="0">
          <a:gsLst>
            <a:gs pos="0">
              <a:schemeClr val="accent3">
                <a:hueOff val="4321726"/>
                <a:satOff val="-22406"/>
                <a:lumOff val="2092"/>
                <a:alphaOff val="0"/>
                <a:satMod val="103000"/>
                <a:lumMod val="102000"/>
                <a:tint val="94000"/>
              </a:schemeClr>
            </a:gs>
            <a:gs pos="50000">
              <a:schemeClr val="accent3">
                <a:hueOff val="4321726"/>
                <a:satOff val="-22406"/>
                <a:lumOff val="2092"/>
                <a:alphaOff val="0"/>
                <a:satMod val="110000"/>
                <a:lumMod val="100000"/>
                <a:shade val="100000"/>
              </a:schemeClr>
            </a:gs>
            <a:gs pos="100000">
              <a:schemeClr val="accent3">
                <a:hueOff val="4321726"/>
                <a:satOff val="-22406"/>
                <a:lumOff val="2092"/>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a:solidFill>
                <a:srgbClr val="262626"/>
              </a:solidFill>
            </a:rPr>
            <a:t>3. Concilier les écritures comptables</a:t>
          </a:r>
        </a:p>
      </dsp:txBody>
      <dsp:txXfrm>
        <a:off x="3015043" y="3545530"/>
        <a:ext cx="1568204" cy="982141"/>
      </dsp:txXfrm>
    </dsp:sp>
    <dsp:sp modelId="{6CD160B2-9813-443C-A9E1-CABF7D6FCF0A}">
      <dsp:nvSpPr>
        <dsp:cNvPr id="0" name=""/>
        <dsp:cNvSpPr/>
      </dsp:nvSpPr>
      <dsp:spPr>
        <a:xfrm>
          <a:off x="1665628" y="137733"/>
          <a:ext cx="3596268" cy="3596268"/>
        </a:xfrm>
        <a:custGeom>
          <a:avLst/>
          <a:gdLst/>
          <a:ahLst/>
          <a:cxnLst/>
          <a:rect l="0" t="0" r="0" b="0"/>
          <a:pathLst>
            <a:path>
              <a:moveTo>
                <a:pt x="1033393" y="3425543"/>
              </a:moveTo>
              <a:arcTo wR="1798134" hR="1798134" stAng="6910167" swAng="1687132"/>
            </a:path>
          </a:pathLst>
        </a:custGeom>
        <a:noFill/>
        <a:ln w="6350" cap="flat" cmpd="sng" algn="ctr">
          <a:solidFill>
            <a:schemeClr val="accent3">
              <a:hueOff val="4321726"/>
              <a:satOff val="-22406"/>
              <a:lumOff val="2092"/>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2A8B0A4C-7F67-4BC1-8FB7-AE6CB5BECE54}">
      <dsp:nvSpPr>
        <dsp:cNvPr id="0" name=""/>
        <dsp:cNvSpPr/>
      </dsp:nvSpPr>
      <dsp:spPr>
        <a:xfrm>
          <a:off x="996155" y="1684658"/>
          <a:ext cx="1674466" cy="1088403"/>
        </a:xfrm>
        <a:prstGeom prst="roundRect">
          <a:avLst/>
        </a:prstGeom>
        <a:gradFill rotWithShape="0">
          <a:gsLst>
            <a:gs pos="0">
              <a:schemeClr val="accent3">
                <a:hueOff val="6482589"/>
                <a:satOff val="-33609"/>
                <a:lumOff val="3138"/>
                <a:alphaOff val="0"/>
                <a:satMod val="103000"/>
                <a:lumMod val="102000"/>
                <a:tint val="94000"/>
              </a:schemeClr>
            </a:gs>
            <a:gs pos="50000">
              <a:schemeClr val="accent3">
                <a:hueOff val="6482589"/>
                <a:satOff val="-33609"/>
                <a:lumOff val="3138"/>
                <a:alphaOff val="0"/>
                <a:satMod val="110000"/>
                <a:lumMod val="100000"/>
                <a:shade val="100000"/>
              </a:schemeClr>
            </a:gs>
            <a:gs pos="100000">
              <a:schemeClr val="accent3">
                <a:hueOff val="6482589"/>
                <a:satOff val="-33609"/>
                <a:lumOff val="3138"/>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a:solidFill>
                <a:srgbClr val="262626"/>
              </a:solidFill>
            </a:rPr>
            <a:t>4. Consigner les données de conciliation </a:t>
          </a:r>
        </a:p>
      </dsp:txBody>
      <dsp:txXfrm>
        <a:off x="1049286" y="1737789"/>
        <a:ext cx="1568204" cy="982141"/>
      </dsp:txXfrm>
    </dsp:sp>
    <dsp:sp modelId="{885124BE-A25C-45DD-91FC-C290C47CF076}">
      <dsp:nvSpPr>
        <dsp:cNvPr id="0" name=""/>
        <dsp:cNvSpPr/>
      </dsp:nvSpPr>
      <dsp:spPr>
        <a:xfrm>
          <a:off x="1649014" y="852023"/>
          <a:ext cx="3596268" cy="3596268"/>
        </a:xfrm>
        <a:custGeom>
          <a:avLst/>
          <a:gdLst/>
          <a:ahLst/>
          <a:cxnLst/>
          <a:rect l="0" t="0" r="0" b="0"/>
          <a:pathLst>
            <a:path>
              <a:moveTo>
                <a:pt x="421828" y="640952"/>
              </a:moveTo>
              <a:arcTo wR="1798134" hR="1798134" stAng="13203403" swAng="1408205"/>
            </a:path>
          </a:pathLst>
        </a:custGeom>
        <a:noFill/>
        <a:ln w="6350" cap="flat" cmpd="sng" algn="ctr">
          <a:solidFill>
            <a:schemeClr val="accent3">
              <a:hueOff val="6482589"/>
              <a:satOff val="-33609"/>
              <a:lumOff val="3138"/>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15012A-C15F-45A4-B61B-299E70617D20}">
      <dsp:nvSpPr>
        <dsp:cNvPr id="0" name=""/>
        <dsp:cNvSpPr/>
      </dsp:nvSpPr>
      <dsp:spPr>
        <a:xfrm>
          <a:off x="3155079" y="364"/>
          <a:ext cx="1647480" cy="1070862"/>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a:solidFill>
                <a:srgbClr val="262626"/>
              </a:solidFill>
            </a:rPr>
            <a:t>1. Réviser la stratégie de détection de fraude </a:t>
          </a:r>
        </a:p>
      </dsp:txBody>
      <dsp:txXfrm>
        <a:off x="3207354" y="52639"/>
        <a:ext cx="1542930" cy="966312"/>
      </dsp:txXfrm>
    </dsp:sp>
    <dsp:sp modelId="{A36EDB8F-BC99-42CD-A4BB-0FD4773A7EB1}">
      <dsp:nvSpPr>
        <dsp:cNvPr id="0" name=""/>
        <dsp:cNvSpPr/>
      </dsp:nvSpPr>
      <dsp:spPr>
        <a:xfrm>
          <a:off x="2211031" y="535795"/>
          <a:ext cx="3535576" cy="3535576"/>
        </a:xfrm>
        <a:custGeom>
          <a:avLst/>
          <a:gdLst/>
          <a:ahLst/>
          <a:cxnLst/>
          <a:rect l="0" t="0" r="0" b="0"/>
          <a:pathLst>
            <a:path>
              <a:moveTo>
                <a:pt x="2818538" y="346169"/>
              </a:moveTo>
              <a:arcTo wR="1767788" hR="1767788" stAng="18388135" swAng="1632272"/>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3C25043B-1B16-43F5-94B1-499F1E42A85C}">
      <dsp:nvSpPr>
        <dsp:cNvPr id="0" name=""/>
        <dsp:cNvSpPr/>
      </dsp:nvSpPr>
      <dsp:spPr>
        <a:xfrm>
          <a:off x="4922868" y="1768152"/>
          <a:ext cx="1647480" cy="1070862"/>
        </a:xfrm>
        <a:prstGeom prst="roundRect">
          <a:avLst/>
        </a:prstGeom>
        <a:gradFill rotWithShape="0">
          <a:gsLst>
            <a:gs pos="0">
              <a:schemeClr val="accent3">
                <a:hueOff val="2160863"/>
                <a:satOff val="-11203"/>
                <a:lumOff val="1046"/>
                <a:alphaOff val="0"/>
                <a:satMod val="103000"/>
                <a:lumMod val="102000"/>
                <a:tint val="94000"/>
              </a:schemeClr>
            </a:gs>
            <a:gs pos="50000">
              <a:schemeClr val="accent3">
                <a:hueOff val="2160863"/>
                <a:satOff val="-11203"/>
                <a:lumOff val="1046"/>
                <a:alphaOff val="0"/>
                <a:satMod val="110000"/>
                <a:lumMod val="100000"/>
                <a:shade val="100000"/>
              </a:schemeClr>
            </a:gs>
            <a:gs pos="100000">
              <a:schemeClr val="accent3">
                <a:hueOff val="2160863"/>
                <a:satOff val="-11203"/>
                <a:lumOff val="1046"/>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a:solidFill>
                <a:srgbClr val="262626"/>
              </a:solidFill>
            </a:rPr>
            <a:t>2. Réviser les règles de détection de fraude</a:t>
          </a:r>
        </a:p>
      </dsp:txBody>
      <dsp:txXfrm>
        <a:off x="4975143" y="1820427"/>
        <a:ext cx="1542930" cy="966312"/>
      </dsp:txXfrm>
    </dsp:sp>
    <dsp:sp modelId="{87D78371-64DB-44B0-9496-10D31875CB99}">
      <dsp:nvSpPr>
        <dsp:cNvPr id="0" name=""/>
        <dsp:cNvSpPr/>
      </dsp:nvSpPr>
      <dsp:spPr>
        <a:xfrm>
          <a:off x="2184705" y="627057"/>
          <a:ext cx="3535576" cy="3535576"/>
        </a:xfrm>
        <a:custGeom>
          <a:avLst/>
          <a:gdLst/>
          <a:ahLst/>
          <a:cxnLst/>
          <a:rect l="0" t="0" r="0" b="0"/>
          <a:pathLst>
            <a:path>
              <a:moveTo>
                <a:pt x="3342624" y="2570886"/>
              </a:moveTo>
              <a:arcTo wR="1767788" hR="1767788" stAng="1621176" swAng="2458682"/>
            </a:path>
          </a:pathLst>
        </a:custGeom>
        <a:noFill/>
        <a:ln w="6350" cap="flat" cmpd="sng" algn="ctr">
          <a:solidFill>
            <a:schemeClr val="accent3">
              <a:hueOff val="2160863"/>
              <a:satOff val="-11203"/>
              <a:lumOff val="1046"/>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37136822-311C-4BEB-B370-A9A9475B950F}">
      <dsp:nvSpPr>
        <dsp:cNvPr id="0" name=""/>
        <dsp:cNvSpPr/>
      </dsp:nvSpPr>
      <dsp:spPr>
        <a:xfrm>
          <a:off x="2597838" y="3536305"/>
          <a:ext cx="1647480" cy="1070862"/>
        </a:xfrm>
        <a:prstGeom prst="roundRect">
          <a:avLst/>
        </a:prstGeom>
        <a:gradFill rotWithShape="0">
          <a:gsLst>
            <a:gs pos="0">
              <a:schemeClr val="accent3">
                <a:hueOff val="4321726"/>
                <a:satOff val="-22406"/>
                <a:lumOff val="2092"/>
                <a:alphaOff val="0"/>
                <a:satMod val="103000"/>
                <a:lumMod val="102000"/>
                <a:tint val="94000"/>
              </a:schemeClr>
            </a:gs>
            <a:gs pos="50000">
              <a:schemeClr val="accent3">
                <a:hueOff val="4321726"/>
                <a:satOff val="-22406"/>
                <a:lumOff val="2092"/>
                <a:alphaOff val="0"/>
                <a:satMod val="110000"/>
                <a:lumMod val="100000"/>
                <a:shade val="100000"/>
              </a:schemeClr>
            </a:gs>
            <a:gs pos="100000">
              <a:schemeClr val="accent3">
                <a:hueOff val="4321726"/>
                <a:satOff val="-22406"/>
                <a:lumOff val="2092"/>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a:solidFill>
                <a:srgbClr val="262626"/>
              </a:solidFill>
            </a:rPr>
            <a:t>3. Gérer les cas de fraude</a:t>
          </a:r>
          <a:endParaRPr lang="fr-FR" sz="2000" kern="1200">
            <a:solidFill>
              <a:srgbClr val="262626"/>
            </a:solidFill>
          </a:endParaRPr>
        </a:p>
      </dsp:txBody>
      <dsp:txXfrm>
        <a:off x="2650113" y="3588580"/>
        <a:ext cx="1542930" cy="966312"/>
      </dsp:txXfrm>
    </dsp:sp>
    <dsp:sp modelId="{C0DE0ABE-9330-4535-8200-55CAE6F03966}">
      <dsp:nvSpPr>
        <dsp:cNvPr id="0" name=""/>
        <dsp:cNvSpPr/>
      </dsp:nvSpPr>
      <dsp:spPr>
        <a:xfrm>
          <a:off x="1887119" y="355709"/>
          <a:ext cx="3535576" cy="3535576"/>
        </a:xfrm>
        <a:custGeom>
          <a:avLst/>
          <a:gdLst/>
          <a:ahLst/>
          <a:cxnLst/>
          <a:rect l="0" t="0" r="0" b="0"/>
          <a:pathLst>
            <a:path>
              <a:moveTo>
                <a:pt x="496536" y="2996199"/>
              </a:moveTo>
              <a:arcTo wR="1767788" hR="1767788" stAng="8158912" swAng="1748087"/>
            </a:path>
          </a:pathLst>
        </a:custGeom>
        <a:noFill/>
        <a:ln w="6350" cap="flat" cmpd="sng" algn="ctr">
          <a:solidFill>
            <a:schemeClr val="accent3">
              <a:hueOff val="4321726"/>
              <a:satOff val="-22406"/>
              <a:lumOff val="2092"/>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84F94F1F-FBB0-46A3-8C13-BCFB14A075CE}">
      <dsp:nvSpPr>
        <dsp:cNvPr id="0" name=""/>
        <dsp:cNvSpPr/>
      </dsp:nvSpPr>
      <dsp:spPr>
        <a:xfrm>
          <a:off x="1143687" y="1225927"/>
          <a:ext cx="1647480" cy="1070862"/>
        </a:xfrm>
        <a:prstGeom prst="roundRect">
          <a:avLst/>
        </a:prstGeom>
        <a:gradFill rotWithShape="0">
          <a:gsLst>
            <a:gs pos="0">
              <a:schemeClr val="accent3">
                <a:hueOff val="6482589"/>
                <a:satOff val="-33609"/>
                <a:lumOff val="3138"/>
                <a:alphaOff val="0"/>
                <a:satMod val="103000"/>
                <a:lumMod val="102000"/>
                <a:tint val="94000"/>
              </a:schemeClr>
            </a:gs>
            <a:gs pos="50000">
              <a:schemeClr val="accent3">
                <a:hueOff val="6482589"/>
                <a:satOff val="-33609"/>
                <a:lumOff val="3138"/>
                <a:alphaOff val="0"/>
                <a:satMod val="110000"/>
                <a:lumMod val="100000"/>
                <a:shade val="100000"/>
              </a:schemeClr>
            </a:gs>
            <a:gs pos="100000">
              <a:schemeClr val="accent3">
                <a:hueOff val="6482589"/>
                <a:satOff val="-33609"/>
                <a:lumOff val="3138"/>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a:solidFill>
                <a:srgbClr val="262626"/>
              </a:solidFill>
            </a:rPr>
            <a:t>4. Analyser l’évolution des cas de fraude  </a:t>
          </a:r>
        </a:p>
      </dsp:txBody>
      <dsp:txXfrm>
        <a:off x="1195962" y="1278202"/>
        <a:ext cx="1542930" cy="966312"/>
      </dsp:txXfrm>
    </dsp:sp>
    <dsp:sp modelId="{6CD160B2-9813-443C-A9E1-CABF7D6FCF0A}">
      <dsp:nvSpPr>
        <dsp:cNvPr id="0" name=""/>
        <dsp:cNvSpPr/>
      </dsp:nvSpPr>
      <dsp:spPr>
        <a:xfrm>
          <a:off x="1669582" y="716761"/>
          <a:ext cx="3535576" cy="3535576"/>
        </a:xfrm>
        <a:custGeom>
          <a:avLst/>
          <a:gdLst/>
          <a:ahLst/>
          <a:cxnLst/>
          <a:rect l="0" t="0" r="0" b="0"/>
          <a:pathLst>
            <a:path>
              <a:moveTo>
                <a:pt x="688368" y="367813"/>
              </a:moveTo>
              <a:arcTo wR="1767788" hR="1767788" stAng="13942007" swAng="1288422"/>
            </a:path>
          </a:pathLst>
        </a:custGeom>
        <a:noFill/>
        <a:ln w="6350" cap="flat" cmpd="sng" algn="ctr">
          <a:solidFill>
            <a:schemeClr val="accent3">
              <a:hueOff val="6482589"/>
              <a:satOff val="-33609"/>
              <a:lumOff val="3138"/>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pyramid4">
  <dgm:title val=""/>
  <dgm:desc val=""/>
  <dgm:catLst>
    <dgm:cat type="pyramid" pri="4000"/>
    <dgm:cat type="relationship" pri="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useDef="1">
    <dgm:dataModel>
      <dgm:ptLst/>
      <dgm:bg/>
      <dgm:whole/>
    </dgm:dataModel>
  </dgm:styleData>
  <dgm:clrData useDef="1">
    <dgm:dataModel>
      <dgm:ptLst/>
      <dgm:bg/>
      <dgm:whole/>
    </dgm:dataModel>
  </dgm:clrData>
  <dgm:layoutNode name="compositeShape">
    <dgm:varLst>
      <dgm:chMax val="9"/>
      <dgm:dir/>
      <dgm:resizeHandles val="exact"/>
    </dgm:varLst>
    <dgm:alg type="composite">
      <dgm:param type="ar" val="1"/>
    </dgm:alg>
    <dgm:shape xmlns:r="http://schemas.openxmlformats.org/officeDocument/2006/relationships" r:blip="">
      <dgm:adjLst/>
    </dgm:shape>
    <dgm:presOf/>
    <dgm:choose name="Name0">
      <dgm:if name="Name1" axis="ch" ptType="node" func="cnt" op="lte" val="4">
        <dgm:choose name="Name2">
          <dgm:if name="Name3" axis="ch" ptType="node" func="cnt" op="equ" val="1">
            <dgm:constrLst>
              <dgm:constr type="primFontSz" for="ch" ptType="node" op="equ" val="65"/>
              <dgm:constr type="t" for="ch" forName="triangle1"/>
              <dgm:constr type="l" for="ch" forName="triangle1"/>
              <dgm:constr type="h" for="ch" forName="triangle1" refType="h"/>
              <dgm:constr type="w" for="ch" forName="triangle1" refType="h"/>
            </dgm:constrLst>
          </dgm:if>
          <dgm:else name="Name4">
            <dgm:constrLst>
              <dgm:constr type="primFontSz" for="ch" ptType="node" op="equ" val="65"/>
              <dgm:constr type="t" for="ch" forName="triangle1"/>
              <dgm:constr type="l" for="ch" forName="triangle1" refType="h" fact="0.25"/>
              <dgm:constr type="h" for="ch" forName="triangle1" refType="h" fact="0.5"/>
              <dgm:constr type="w" for="ch" forName="triangle1" refType="h" fact="0.5"/>
              <dgm:constr type="t" for="ch" forName="triangle2" refType="h" fact="0.5"/>
              <dgm:constr type="l" for="ch" forName="triangle2"/>
              <dgm:constr type="h" for="ch" forName="triangle2" refType="h" fact="0.5"/>
              <dgm:constr type="w" for="ch" forName="triangle2" refType="h" fact="0.5"/>
              <dgm:constr type="t" for="ch" forName="triangle3" refType="h" fact="0.5"/>
              <dgm:constr type="l" for="ch" forName="triangle3" refType="h" fact="0.25"/>
              <dgm:constr type="h" for="ch" forName="triangle3" refType="h" fact="0.5"/>
              <dgm:constr type="w" for="ch" forName="triangle3" refType="h" fact="0.5"/>
              <dgm:constr type="t" for="ch" forName="triangle4" refType="h" fact="0.5"/>
              <dgm:constr type="l" for="ch" forName="triangle4" refType="h" fact="0.5"/>
              <dgm:constr type="h" for="ch" forName="triangle4" refType="h" fact="0.5"/>
              <dgm:constr type="w" for="ch" forName="triangle4" refType="h" fact="0.5"/>
            </dgm:constrLst>
          </dgm:else>
        </dgm:choose>
      </dgm:if>
      <dgm:else name="Name5">
        <dgm:constrLst>
          <dgm:constr type="primFontSz" for="ch" ptType="node" op="equ" val="65"/>
          <dgm:constr type="t" for="ch" forName="triangle1"/>
          <dgm:constr type="l" for="ch" forName="triangle1" refType="h" fact="0.33"/>
          <dgm:constr type="h" for="ch" forName="triangle1" refType="h" fact="0.33"/>
          <dgm:constr type="w" for="ch" forName="triangle1" refType="h" fact="0.33"/>
          <dgm:constr type="t" for="ch" forName="triangle2" refType="h" fact="0.33"/>
          <dgm:constr type="l" for="ch" forName="triangle2" refType="h" fact="0.165"/>
          <dgm:constr type="h" for="ch" forName="triangle2" refType="h" fact="0.33"/>
          <dgm:constr type="w" for="ch" forName="triangle2" refType="h" fact="0.33"/>
          <dgm:constr type="t" for="ch" forName="triangle3" refType="h" fact="0.33"/>
          <dgm:constr type="l" for="ch" forName="triangle3" refType="h" fact="0.33"/>
          <dgm:constr type="h" for="ch" forName="triangle3" refType="h" fact="0.33"/>
          <dgm:constr type="w" for="ch" forName="triangle3" refType="h" fact="0.33"/>
          <dgm:constr type="t" for="ch" forName="triangle4" refType="h" fact="0.33"/>
          <dgm:constr type="l" for="ch" forName="triangle4" refType="h" fact="0.495"/>
          <dgm:constr type="h" for="ch" forName="triangle4" refType="h" fact="0.33"/>
          <dgm:constr type="w" for="ch" forName="triangle4" refType="h" fact="0.33"/>
          <dgm:constr type="t" for="ch" forName="triangle5" refType="h" fact="0.66"/>
          <dgm:constr type="l" for="ch" forName="triangle5"/>
          <dgm:constr type="h" for="ch" forName="triangle5" refType="h" fact="0.33"/>
          <dgm:constr type="w" for="ch" forName="triangle5" refType="h" fact="0.33"/>
          <dgm:constr type="t" for="ch" forName="triangle6" refType="h" fact="0.66"/>
          <dgm:constr type="l" for="ch" forName="triangle6" refType="h" fact="0.165"/>
          <dgm:constr type="h" for="ch" forName="triangle6" refType="h" fact="0.33"/>
          <dgm:constr type="w" for="ch" forName="triangle6" refType="h" fact="0.33"/>
          <dgm:constr type="t" for="ch" forName="triangle7" refType="h" fact="0.66"/>
          <dgm:constr type="l" for="ch" forName="triangle7" refType="h" fact="0.33"/>
          <dgm:constr type="h" for="ch" forName="triangle7" refType="h" fact="0.33"/>
          <dgm:constr type="w" for="ch" forName="triangle7" refType="h" fact="0.33"/>
          <dgm:constr type="t" for="ch" forName="triangle8" refType="h" fact="0.66"/>
          <dgm:constr type="l" for="ch" forName="triangle8" refType="h" fact="0.495"/>
          <dgm:constr type="h" for="ch" forName="triangle8" refType="h" fact="0.33"/>
          <dgm:constr type="w" for="ch" forName="triangle8" refType="h" fact="0.33"/>
          <dgm:constr type="t" for="ch" forName="triangle9" refType="h" fact="0.66"/>
          <dgm:constr type="l" for="ch" forName="triangle9" refType="h" fact="0.66"/>
          <dgm:constr type="h" for="ch" forName="triangle9" refType="h" fact="0.33"/>
          <dgm:constr type="w" for="ch" forName="triangle9" refType="h" fact="0.33"/>
        </dgm:constrLst>
      </dgm:else>
    </dgm:choose>
    <dgm:ruleLst/>
    <dgm:choose name="Name6">
      <dgm:if name="Name7" axis="ch" ptType="node" func="cnt" op="gte" val="1">
        <dgm:layoutNode name="triangle1" styleLbl="node1">
          <dgm:varLst>
            <dgm:bulletEnabled val="1"/>
          </dgm:varLst>
          <dgm:alg type="tx">
            <dgm:param type="txAnchorVertCh" val="mid"/>
          </dgm:alg>
          <dgm:shape xmlns:r="http://schemas.openxmlformats.org/officeDocument/2006/relationships" type="triangle"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8"/>
    </dgm:choose>
    <dgm:choose name="Name9">
      <dgm:if name="Name10" axis="ch" ptType="node" func="cnt" op="gte" val="2">
        <dgm:layoutNode name="triangle2" styleLbl="node1">
          <dgm:varLst>
            <dgm:bulletEnabled val="1"/>
          </dgm:varLst>
          <dgm:alg type="tx">
            <dgm:param type="txAnchorVertCh" val="mid"/>
          </dgm:alg>
          <dgm:shape xmlns:r="http://schemas.openxmlformats.org/officeDocument/2006/relationships" type="triangle" r:blip="">
            <dgm:adjLst/>
          </dgm:shape>
          <dgm:choose name="Name11">
            <dgm:if name="Name12" func="var" arg="dir" op="equ" val="norm">
              <dgm:presOf axis="ch desOrSelf" ptType="node node" st="2 1" cnt="1 0"/>
            </dgm:if>
            <dgm:else name="Name13">
              <dgm:presOf axis="ch desOrSelf" ptType="node node" st="4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3" styleLbl="node1">
          <dgm:varLst>
            <dgm:bulletEnabled val="1"/>
          </dgm:varLst>
          <dgm:alg type="tx">
            <dgm:param type="txAnchorVertCh" val="mid"/>
          </dgm:alg>
          <dgm:shape xmlns:r="http://schemas.openxmlformats.org/officeDocument/2006/relationships" rot="180" type="triangle"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4" styleLbl="node1">
          <dgm:varLst>
            <dgm:bulletEnabled val="1"/>
          </dgm:varLst>
          <dgm:alg type="tx">
            <dgm:param type="txAnchorVertCh" val="mid"/>
          </dgm:alg>
          <dgm:shape xmlns:r="http://schemas.openxmlformats.org/officeDocument/2006/relationships" type="triangle" r:blip="">
            <dgm:adjLst/>
          </dgm:shape>
          <dgm:choose name="Name14">
            <dgm:if name="Name15" func="var" arg="dir" op="equ" val="norm">
              <dgm:presOf axis="ch desOrSelf" ptType="node node" st="4 1" cnt="1 0"/>
            </dgm:if>
            <dgm:else name="Name16">
              <dgm:presOf axis="ch desOrSelf" ptType="node node" st="2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7"/>
    </dgm:choose>
    <dgm:choose name="Name18">
      <dgm:if name="Name19" axis="ch" ptType="node" func="cnt" op="gte" val="5">
        <dgm:layoutNode name="triangle5" styleLbl="node1">
          <dgm:varLst>
            <dgm:bulletEnabled val="1"/>
          </dgm:varLst>
          <dgm:alg type="tx">
            <dgm:param type="txAnchorVertCh" val="mid"/>
          </dgm:alg>
          <dgm:shape xmlns:r="http://schemas.openxmlformats.org/officeDocument/2006/relationships" type="triangle" r:blip="">
            <dgm:adjLst/>
          </dgm:shape>
          <dgm:choose name="Name20">
            <dgm:if name="Name21" func="var" arg="dir" op="equ" val="norm">
              <dgm:presOf axis="ch desOrSelf" ptType="node node" st="5 1" cnt="1 0"/>
            </dgm:if>
            <dgm:else name="Name22">
              <dgm:presOf axis="ch desOrSelf" ptType="node node" st="9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6" styleLbl="node1">
          <dgm:varLst>
            <dgm:bulletEnabled val="1"/>
          </dgm:varLst>
          <dgm:alg type="tx">
            <dgm:param type="txAnchorVertCh" val="mid"/>
          </dgm:alg>
          <dgm:shape xmlns:r="http://schemas.openxmlformats.org/officeDocument/2006/relationships" rot="180" type="triangle" r:blip="">
            <dgm:adjLst/>
          </dgm:shape>
          <dgm:choose name="Name23">
            <dgm:if name="Name24" func="var" arg="dir" op="equ" val="norm">
              <dgm:presOf axis="ch desOrSelf" ptType="node node" st="6 1" cnt="1 0"/>
            </dgm:if>
            <dgm:else name="Name25">
              <dgm:presOf axis="ch desOrSelf" ptType="node node" st="8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7" styleLbl="node1">
          <dgm:varLst>
            <dgm:bulletEnabled val="1"/>
          </dgm:varLst>
          <dgm:alg type="tx">
            <dgm:param type="txAnchorVertCh" val="mid"/>
          </dgm:alg>
          <dgm:shape xmlns:r="http://schemas.openxmlformats.org/officeDocument/2006/relationships" type="triangle" r:blip="">
            <dgm:adjLst/>
          </dgm:shape>
          <dgm:presOf axis="ch desOrSelf" ptType="node node" st="7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8" styleLbl="node1">
          <dgm:varLst>
            <dgm:bulletEnabled val="1"/>
          </dgm:varLst>
          <dgm:alg type="tx">
            <dgm:param type="txAnchorVertCh" val="mid"/>
          </dgm:alg>
          <dgm:shape xmlns:r="http://schemas.openxmlformats.org/officeDocument/2006/relationships" rot="180" type="triangle" r:blip="">
            <dgm:adjLst/>
          </dgm:shape>
          <dgm:choose name="Name26">
            <dgm:if name="Name27" func="var" arg="dir" op="equ" val="norm">
              <dgm:presOf axis="ch desOrSelf" ptType="node node" st="8 1" cnt="1 0"/>
            </dgm:if>
            <dgm:else name="Name28">
              <dgm:presOf axis="ch desOrSelf" ptType="node node" st="6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9" styleLbl="node1">
          <dgm:varLst>
            <dgm:bulletEnabled val="1"/>
          </dgm:varLst>
          <dgm:alg type="tx">
            <dgm:param type="txAnchorVertCh" val="mid"/>
          </dgm:alg>
          <dgm:shape xmlns:r="http://schemas.openxmlformats.org/officeDocument/2006/relationships" type="triangle" r:blip="">
            <dgm:adjLst/>
          </dgm:shape>
          <dgm:choose name="Name29">
            <dgm:if name="Name30" func="var" arg="dir" op="equ" val="norm">
              <dgm:presOf axis="ch desOrSelf" ptType="node node" st="9 1" cnt="1 0"/>
            </dgm:if>
            <dgm:else name="Name31">
              <dgm:presOf axis="ch desOrSelf" ptType="node node" st="5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2"/>
    </dgm:choose>
  </dgm:layoutNode>
</dgm:layoutDef>
</file>

<file path=ppt/diagrams/layout3.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8/layout/IncreasingCircleProcess">
  <dgm:title val=""/>
  <dgm:desc val=""/>
  <dgm:catLst>
    <dgm:cat type="list" pri="8300"/>
    <dgm:cat type="process" pri="43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clrData>
  <dgm:layoutNode name="Name0">
    <dgm:varLst>
      <dgm:chMax val="7"/>
      <dgm:chPref val="7"/>
      <dgm:dir/>
      <dgm:animOne val="branch"/>
      <dgm:animLvl val="lvl"/>
    </dgm:varLst>
    <dgm:choose name="Name1">
      <dgm:if name="Name2" func="var" arg="dir" op="equ" val="norm">
        <dgm:alg type="lin">
          <dgm:param type="linDir" val="fromL"/>
          <dgm:param type="horzAlign" val="ctr"/>
          <dgm:param type="vertAlign" val="t"/>
        </dgm:alg>
      </dgm:if>
      <dgm:else name="Name3">
        <dgm:alg type="lin">
          <dgm:param type="linDir" val="fromR"/>
          <dgm:param type="horzAlign" val="ctr"/>
          <dgm:param type="vertAlign" val="t"/>
        </dgm:alg>
      </dgm:else>
    </dgm:choose>
    <dgm:shape xmlns:r="http://schemas.openxmlformats.org/officeDocument/2006/relationships" r:blip="">
      <dgm:adjLst/>
    </dgm:shape>
    <dgm:constrLst>
      <dgm:constr type="primFontSz" for="des" forName="Child" val="65"/>
      <dgm:constr type="primFontSz" for="des" forName="Parent" val="65"/>
      <dgm:constr type="primFontSz" for="des" forName="Child" refType="primFontSz" refFor="des" refForName="Parent" op="lte"/>
      <dgm:constr type="w" for="ch" forName="composite" refType="w"/>
      <dgm:constr type="h" for="ch" forName="composite" refType="h"/>
      <dgm:constr type="sp" refType="w" refFor="ch" refForName="composite" op="equ" fact="0.05"/>
      <dgm:constr type="w" for="ch" forName="sibTrans" refType="h" refFor="ch" refForName="composite" op="equ" fact="0.04"/>
    </dgm:constrLst>
    <dgm:forEach name="nodesForEach" axis="ch" ptType="node" cnt="7">
      <dgm:layoutNode name="composite">
        <dgm:alg type="composite">
          <dgm:param type="ar" val="0.8"/>
        </dgm:alg>
        <dgm:choose name="Name4">
          <dgm:if name="Name5" func="var" arg="dir" op="equ" val="norm">
            <dgm:constrLst>
              <dgm:constr type="l" for="ch" forName="Child" refType="w" fact="0.29"/>
              <dgm:constr type="t" for="ch" forName="Child" refType="h" fact="0.192"/>
              <dgm:constr type="w" for="ch" forName="Child" refType="w" fact="0.71"/>
              <dgm:constr type="h" for="ch" forName="Child" refType="h" fact="0.808"/>
              <dgm:constr type="l" for="ch" forName="Parent" refType="w" fact="0.29"/>
              <dgm:constr type="t" for="ch" forName="Parent" refType="h" fact="0"/>
              <dgm:constr type="w" for="ch" forName="Parent" refType="w" fact="0.71"/>
              <dgm:constr type="h" for="ch" forName="Parent" refType="h" fact="0.192"/>
              <dgm:constr type="l" for="ch" forName="BackAccent" refType="w" fact="0"/>
              <dgm:constr type="t" for="ch" forName="BackAccent" refType="h" fact="0"/>
              <dgm:constr type="w" for="ch" forName="BackAccent" refType="w" fact="0.24"/>
              <dgm:constr type="h" for="ch" forName="BackAccent" refType="h" fact="0.192"/>
              <dgm:constr type="l" for="ch" forName="Accent" refType="w" fact="0.024"/>
              <dgm:constr type="t" for="ch" forName="Accent" refType="h" fact="0.0192"/>
              <dgm:constr type="w" for="ch" forName="Accent" refType="w" fact="0.192"/>
              <dgm:constr type="h" for="ch" forName="Accent" refType="h" fact="0.1536"/>
            </dgm:constrLst>
          </dgm:if>
          <dgm:else name="Name6">
            <dgm:constrLst>
              <dgm:constr type="r" for="ch" forName="Child" refType="w" fact="0.71"/>
              <dgm:constr type="t" for="ch" forName="Child" refType="h" fact="0.192"/>
              <dgm:constr type="w" for="ch" forName="Child" refType="w" fact="0.71"/>
              <dgm:constr type="h" for="ch" forName="Child" refType="h" fact="0.808"/>
              <dgm:constr type="r" for="ch" forName="Parent" refType="w" fact="0.71"/>
              <dgm:constr type="t" for="ch" forName="Parent" refType="h" fact="0"/>
              <dgm:constr type="w" for="ch" forName="Parent" refType="w" fact="0.71"/>
              <dgm:constr type="h" for="ch" forName="Parent" refType="h" fact="0.192"/>
              <dgm:constr type="r" for="ch" forName="BackAccent" refType="w"/>
              <dgm:constr type="t" for="ch" forName="BackAccent" refType="h" fact="0"/>
              <dgm:constr type="w" for="ch" forName="BackAccent" refType="w" fact="0.24"/>
              <dgm:constr type="h" for="ch" forName="BackAccent" refType="h" fact="0.192"/>
              <dgm:constr type="r" for="ch" forName="Accent" refType="w" fact="0.976"/>
              <dgm:constr type="t" for="ch" forName="Accent" refType="h" fact="0.0192"/>
              <dgm:constr type="w" for="ch" forName="Accent" refType="w" fact="0.192"/>
              <dgm:constr type="h" for="ch" forName="Accent" refType="h" fact="0.1536"/>
            </dgm:constrLst>
          </dgm:else>
        </dgm:choose>
        <dgm:layoutNode name="BackAccent" styleLbl="bgShp">
          <dgm:alg type="sp"/>
          <dgm:shape xmlns:r="http://schemas.openxmlformats.org/officeDocument/2006/relationships" type="ellipse" r:blip="">
            <dgm:adjLst/>
          </dgm:shape>
          <dgm:presOf/>
        </dgm:layoutNode>
        <dgm:layoutNode name="Accent" styleLbl="alignNode1">
          <dgm:alg type="sp"/>
          <dgm:choose name="Name7">
            <dgm:if name="Name8" axis="precedSib" ptType="node" func="cnt" op="equ" val="0">
              <dgm:choose name="Name9">
                <dgm:if name="Name10" axis="followSib" ptType="node" func="cnt" op="equ" val="0">
                  <dgm:shape xmlns:r="http://schemas.openxmlformats.org/officeDocument/2006/relationships" type="chord" r:blip="">
                    <dgm:adjLst>
                      <dgm:adj idx="1" val="-90"/>
                      <dgm:adj idx="2" val="-90"/>
                    </dgm:adjLst>
                  </dgm:shape>
                </dgm:if>
                <dgm:if name="Name11" axis="followSib" ptType="node" func="cnt" op="equ" val="1">
                  <dgm:shape xmlns:r="http://schemas.openxmlformats.org/officeDocument/2006/relationships" type="chord" r:blip="">
                    <dgm:adjLst>
                      <dgm:adj idx="1" val="0"/>
                      <dgm:adj idx="2" val="180"/>
                    </dgm:adjLst>
                  </dgm:shape>
                </dgm:if>
                <dgm:if name="Name12" axis="followSib" ptType="node" func="cnt" op="equ" val="2">
                  <dgm:shape xmlns:r="http://schemas.openxmlformats.org/officeDocument/2006/relationships" type="chord" r:blip="">
                    <dgm:adjLst>
                      <dgm:adj idx="1" val="19.4712"/>
                      <dgm:adj idx="2" val="160.5288"/>
                    </dgm:adjLst>
                  </dgm:shape>
                </dgm:if>
                <dgm:if name="Name13" axis="followSib" ptType="node" func="cnt" op="equ" val="3">
                  <dgm:shape xmlns:r="http://schemas.openxmlformats.org/officeDocument/2006/relationships" type="chord" r:blip="">
                    <dgm:adjLst>
                      <dgm:adj idx="1" val="30"/>
                      <dgm:adj idx="2" val="150"/>
                    </dgm:adjLst>
                  </dgm:shape>
                </dgm:if>
                <dgm:if name="Name14" axis="followSib" ptType="node" func="cnt" op="equ" val="4">
                  <dgm:shape xmlns:r="http://schemas.openxmlformats.org/officeDocument/2006/relationships" type="chord" r:blip="">
                    <dgm:adjLst>
                      <dgm:adj idx="1" val="38.8699"/>
                      <dgm:adj idx="2" val="143.1301"/>
                    </dgm:adjLst>
                  </dgm:shape>
                </dgm:if>
                <dgm:if name="Name15" axis="followSib" ptType="node" func="cnt" op="equ" val="5">
                  <dgm:shape xmlns:r="http://schemas.openxmlformats.org/officeDocument/2006/relationships" type="chord" r:blip="">
                    <dgm:adjLst>
                      <dgm:adj idx="1" val="41.8103"/>
                      <dgm:adj idx="2" val="138.1897"/>
                    </dgm:adjLst>
                  </dgm:shape>
                </dgm:if>
                <dgm:else name="Name16">
                  <dgm:shape xmlns:r="http://schemas.openxmlformats.org/officeDocument/2006/relationships" type="chord" r:blip="">
                    <dgm:adjLst>
                      <dgm:adj idx="1" val="45.5847"/>
                      <dgm:adj idx="2" val="134.4153"/>
                    </dgm:adjLst>
                  </dgm:shape>
                </dgm:else>
              </dgm:choose>
            </dgm:if>
            <dgm:if name="Name17" axis="precedSib" ptType="node" func="cnt" op="equ" val="1">
              <dgm:choose name="Name18">
                <dgm:if name="Name19" axis="followSib" ptType="node" func="cnt" op="equ" val="0">
                  <dgm:shape xmlns:r="http://schemas.openxmlformats.org/officeDocument/2006/relationships" type="chord" r:blip="">
                    <dgm:adjLst>
                      <dgm:adj idx="1" val="-90"/>
                      <dgm:adj idx="2" val="-90"/>
                    </dgm:adjLst>
                  </dgm:shape>
                </dgm:if>
                <dgm:if name="Name20" axis="followSib" ptType="node" func="cnt" op="equ" val="1">
                  <dgm:shape xmlns:r="http://schemas.openxmlformats.org/officeDocument/2006/relationships" type="chord" r:blip="">
                    <dgm:adjLst>
                      <dgm:adj idx="1" val="-19.4712"/>
                      <dgm:adj idx="2" val="-160.5288"/>
                    </dgm:adjLst>
                  </dgm:shape>
                </dgm:if>
                <dgm:if name="Name21" axis="followSib" ptType="node" func="cnt" op="equ" val="2">
                  <dgm:shape xmlns:r="http://schemas.openxmlformats.org/officeDocument/2006/relationships" type="chord" r:blip="">
                    <dgm:adjLst>
                      <dgm:adj idx="1" val="0"/>
                      <dgm:adj idx="2" val="180"/>
                    </dgm:adjLst>
                  </dgm:shape>
                </dgm:if>
                <dgm:if name="Name22" axis="followSib" ptType="node" func="cnt" op="equ" val="3">
                  <dgm:shape xmlns:r="http://schemas.openxmlformats.org/officeDocument/2006/relationships" type="chord" r:blip="">
                    <dgm:adjLst>
                      <dgm:adj idx="1" val="11.537"/>
                      <dgm:adj idx="2" val="168.463"/>
                    </dgm:adjLst>
                  </dgm:shape>
                </dgm:if>
                <dgm:if name="Name23" axis="followSib" ptType="node" func="cnt" op="equ" val="4">
                  <dgm:shape xmlns:r="http://schemas.openxmlformats.org/officeDocument/2006/relationships" type="chord" r:blip="">
                    <dgm:adjLst>
                      <dgm:adj idx="1" val="19.4712"/>
                      <dgm:adj idx="2" val="160.5288"/>
                    </dgm:adjLst>
                  </dgm:shape>
                </dgm:if>
                <dgm:else name="Name24">
                  <dgm:shape xmlns:r="http://schemas.openxmlformats.org/officeDocument/2006/relationships" type="chord" r:blip="">
                    <dgm:adjLst>
                      <dgm:adj idx="1" val="25.3769"/>
                      <dgm:adj idx="2" val="154.6231"/>
                    </dgm:adjLst>
                  </dgm:shape>
                </dgm:else>
              </dgm:choose>
            </dgm:if>
            <dgm:if name="Name25" axis="precedSib" ptType="node" func="cnt" op="equ" val="2">
              <dgm:choose name="Name26">
                <dgm:if name="Name27" axis="followSib" ptType="node" func="cnt" op="equ" val="0">
                  <dgm:shape xmlns:r="http://schemas.openxmlformats.org/officeDocument/2006/relationships" type="chord" r:blip="">
                    <dgm:adjLst>
                      <dgm:adj idx="1" val="-90"/>
                      <dgm:adj idx="2" val="-90"/>
                    </dgm:adjLst>
                  </dgm:shape>
                </dgm:if>
                <dgm:if name="Name28" axis="followSib" ptType="node" func="cnt" op="equ" val="1">
                  <dgm:shape xmlns:r="http://schemas.openxmlformats.org/officeDocument/2006/relationships" type="chord" r:blip="">
                    <dgm:adjLst>
                      <dgm:adj idx="1" val="-30"/>
                      <dgm:adj idx="2" val="-150"/>
                    </dgm:adjLst>
                  </dgm:shape>
                </dgm:if>
                <dgm:if name="Name29" axis="followSib" ptType="node" func="cnt" op="equ" val="2">
                  <dgm:shape xmlns:r="http://schemas.openxmlformats.org/officeDocument/2006/relationships" type="chord" r:blip="">
                    <dgm:adjLst>
                      <dgm:adj idx="1" val="-11.537"/>
                      <dgm:adj idx="2" val="-168.463"/>
                    </dgm:adjLst>
                  </dgm:shape>
                </dgm:if>
                <dgm:if name="Name30" axis="followSib" ptType="node" func="cnt" op="equ" val="3">
                  <dgm:shape xmlns:r="http://schemas.openxmlformats.org/officeDocument/2006/relationships" type="chord" r:blip="">
                    <dgm:adjLst>
                      <dgm:adj idx="1" val="0"/>
                      <dgm:adj idx="2" val="180"/>
                    </dgm:adjLst>
                  </dgm:shape>
                </dgm:if>
                <dgm:else name="Name31">
                  <dgm:shape xmlns:r="http://schemas.openxmlformats.org/officeDocument/2006/relationships" type="chord" r:blip="">
                    <dgm:adjLst>
                      <dgm:adj idx="1" val="8.2133"/>
                      <dgm:adj idx="2" val="171.7867"/>
                    </dgm:adjLst>
                  </dgm:shape>
                </dgm:else>
              </dgm:choose>
            </dgm:if>
            <dgm:if name="Name32" axis="precedSib" ptType="node" func="cnt" op="equ" val="3">
              <dgm:choose name="Name33">
                <dgm:if name="Name34" axis="followSib" ptType="node" func="cnt" op="equ" val="0">
                  <dgm:shape xmlns:r="http://schemas.openxmlformats.org/officeDocument/2006/relationships" type="chord" r:blip="">
                    <dgm:adjLst>
                      <dgm:adj idx="1" val="-90"/>
                      <dgm:adj idx="2" val="-90"/>
                    </dgm:adjLst>
                  </dgm:shape>
                </dgm:if>
                <dgm:if name="Name35" axis="followSib" ptType="node" func="cnt" op="equ" val="1">
                  <dgm:shape xmlns:r="http://schemas.openxmlformats.org/officeDocument/2006/relationships" type="chord" r:blip="">
                    <dgm:adjLst>
                      <dgm:adj idx="1" val="-38.8699"/>
                      <dgm:adj idx="2" val="-143.1301"/>
                    </dgm:adjLst>
                  </dgm:shape>
                </dgm:if>
                <dgm:if name="Name36" axis="followSib" ptType="node" func="cnt" op="equ" val="2">
                  <dgm:shape xmlns:r="http://schemas.openxmlformats.org/officeDocument/2006/relationships" type="chord" r:blip="">
                    <dgm:adjLst>
                      <dgm:adj idx="1" val="-19.4712"/>
                      <dgm:adj idx="2" val="-160.5288"/>
                    </dgm:adjLst>
                  </dgm:shape>
                </dgm:if>
                <dgm:else name="Name37">
                  <dgm:shape xmlns:r="http://schemas.openxmlformats.org/officeDocument/2006/relationships" type="chord" r:blip="">
                    <dgm:adjLst>
                      <dgm:adj idx="1" val="-8.2133"/>
                      <dgm:adj idx="2" val="-171.7867"/>
                    </dgm:adjLst>
                  </dgm:shape>
                </dgm:else>
              </dgm:choose>
            </dgm:if>
            <dgm:if name="Name38" axis="precedSib" ptType="node" func="cnt" op="equ" val="4">
              <dgm:choose name="Name39">
                <dgm:if name="Name40" axis="followSib" ptType="node" func="cnt" op="equ" val="0">
                  <dgm:shape xmlns:r="http://schemas.openxmlformats.org/officeDocument/2006/relationships" type="chord" r:blip="">
                    <dgm:adjLst>
                      <dgm:adj idx="1" val="-90"/>
                      <dgm:adj idx="2" val="-90"/>
                    </dgm:adjLst>
                  </dgm:shape>
                </dgm:if>
                <dgm:if name="Name41" axis="followSib" ptType="node" func="cnt" op="equ" val="1">
                  <dgm:shape xmlns:r="http://schemas.openxmlformats.org/officeDocument/2006/relationships" type="chord" r:blip="">
                    <dgm:adjLst>
                      <dgm:adj idx="1" val="-41.8103"/>
                      <dgm:adj idx="2" val="-138.1897"/>
                    </dgm:adjLst>
                  </dgm:shape>
                </dgm:if>
                <dgm:else name="Name42">
                  <dgm:shape xmlns:r="http://schemas.openxmlformats.org/officeDocument/2006/relationships" type="chord" r:blip="">
                    <dgm:adjLst>
                      <dgm:adj idx="1" val="-25.3769"/>
                      <dgm:adj idx="2" val="-154.6231"/>
                    </dgm:adjLst>
                  </dgm:shape>
                </dgm:else>
              </dgm:choose>
            </dgm:if>
            <dgm:if name="Name43" axis="precedSib" ptType="node" func="cnt" op="equ" val="5">
              <dgm:choose name="Name44">
                <dgm:if name="Name45" axis="followSib" ptType="node" func="cnt" op="equ" val="0">
                  <dgm:shape xmlns:r="http://schemas.openxmlformats.org/officeDocument/2006/relationships" type="chord" r:blip="">
                    <dgm:adjLst>
                      <dgm:adj idx="1" val="-90"/>
                      <dgm:adj idx="2" val="-90"/>
                    </dgm:adjLst>
                  </dgm:shape>
                </dgm:if>
                <dgm:else name="Name46">
                  <dgm:shape xmlns:r="http://schemas.openxmlformats.org/officeDocument/2006/relationships" type="chord" r:blip="">
                    <dgm:adjLst>
                      <dgm:adj idx="1" val="-45.5847"/>
                      <dgm:adj idx="2" val="-134.4153"/>
                    </dgm:adjLst>
                  </dgm:shape>
                </dgm:else>
              </dgm:choose>
            </dgm:if>
            <dgm:else name="Name47">
              <dgm:shape xmlns:r="http://schemas.openxmlformats.org/officeDocument/2006/relationships" type="chord" r:blip="">
                <dgm:adjLst>
                  <dgm:adj idx="1" val="-90"/>
                  <dgm:adj idx="2" val="-90"/>
                </dgm:adjLst>
              </dgm:shape>
            </dgm:else>
          </dgm:choose>
          <dgm:presOf/>
        </dgm:layoutNode>
        <dgm:layoutNode name="Child" styleLbl="revTx">
          <dgm:varLst>
            <dgm:chMax val="0"/>
            <dgm:chPref val="0"/>
            <dgm:bulletEnabled val="1"/>
          </dgm:varLst>
          <dgm:choose name="Name48">
            <dgm:if name="Name49" func="var" arg="dir" op="equ" val="norm">
              <dgm:alg type="tx">
                <dgm:param type="parTxLTRAlign" val="l"/>
                <dgm:param type="parTxRTLAlign" val="l"/>
                <dgm:param type="txAnchorVert" val="t"/>
              </dgm:alg>
            </dgm:if>
            <dgm:else name="Name50">
              <dgm:alg type="tx">
                <dgm:param type="parTxLTRAlign" val="r"/>
                <dgm:param type="parTxRTLAlign" val="r"/>
                <dgm:param type="txAnchorVert" val="t"/>
              </dgm:alg>
            </dgm:else>
          </dgm:choose>
          <dgm:choose name="Name51">
            <dgm:if name="Name52" axis="ch" ptType="node" func="cnt" op="gte" val="1">
              <dgm:shape xmlns:r="http://schemas.openxmlformats.org/officeDocument/2006/relationships" type="rect" r:blip="">
                <dgm:adjLst/>
              </dgm:shape>
            </dgm:if>
            <dgm:else name="Name53">
              <dgm:shape xmlns:r="http://schemas.openxmlformats.org/officeDocument/2006/relationships" type="rect" r:blip="" hideGeom="1">
                <dgm:adjLst/>
              </dgm:shape>
            </dgm:else>
          </dgm:choose>
          <dgm:choose name="Name54">
            <dgm:if name="Name55" axis="ch" ptType="node" func="cnt" op="gte" val="1">
              <dgm:presOf axis="des" ptType="node"/>
            </dgm:if>
            <dgm:else name="Name56">
              <dgm:presOf/>
            </dgm:else>
          </dgm:choos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Parent" styleLbl="revTx">
          <dgm:varLst>
            <dgm:chMax val="1"/>
            <dgm:chPref val="1"/>
            <dgm:bulletEnabled val="1"/>
          </dgm:varLst>
          <dgm:choose name="Name57">
            <dgm:if name="Name58" func="var" arg="dir" op="equ" val="norm">
              <dgm:alg type="tx">
                <dgm:param type="parTxLTRAlign" val="l"/>
                <dgm:param type="parTxRTLAlign" val="l"/>
                <dgm:param type="shpTxLTRAlignCh" val="l"/>
                <dgm:param type="shpTxRTLAlignCh" val="l"/>
                <dgm:param type="txAnchorVert" val="b"/>
                <dgm:param type="txAnchorVertCh" val="b"/>
              </dgm:alg>
            </dgm:if>
            <dgm:else name="Name59">
              <dgm:alg type="tx">
                <dgm:param type="parTxLTRAlign" val="r"/>
                <dgm:param type="parTxRTLAlign" val="r"/>
                <dgm:param type="shpTxLTRAlignCh" val="r"/>
                <dgm:param type="shpTxRTLAlignCh" val="r"/>
                <dgm:param type="txAnchorVert" val="b"/>
                <dgm:param type="txAnchorVertCh" val="b"/>
              </dgm:alg>
            </dgm:else>
          </dgm:choose>
          <dgm:shape xmlns:r="http://schemas.openxmlformats.org/officeDocument/2006/relationships" type="rect" r:blip="">
            <dgm:adjLst/>
          </dgm:shape>
          <dgm:presOf axis="self"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layout9.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1" y="0"/>
            <a:ext cx="4062309" cy="350283"/>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5308170" y="0"/>
            <a:ext cx="4062309" cy="350283"/>
          </a:xfrm>
          <a:prstGeom prst="rect">
            <a:avLst/>
          </a:prstGeom>
        </p:spPr>
        <p:txBody>
          <a:bodyPr vert="horz" lIns="91440" tIns="45720" rIns="91440" bIns="45720" rtlCol="0"/>
          <a:lstStyle>
            <a:lvl1pPr algn="r">
              <a:defRPr sz="1200"/>
            </a:lvl1pPr>
          </a:lstStyle>
          <a:p>
            <a:fld id="{A0F15F95-026D-42C1-BF86-2C86F329C27E}" type="datetimeFigureOut">
              <a:rPr lang="fr-FR" smtClean="0"/>
              <a:pPr/>
              <a:t>16/01/2026</a:t>
            </a:fld>
            <a:endParaRPr lang="fr-FR"/>
          </a:p>
        </p:txBody>
      </p:sp>
      <p:sp>
        <p:nvSpPr>
          <p:cNvPr id="4" name="Espace réservé du pied de page 3"/>
          <p:cNvSpPr>
            <a:spLocks noGrp="1"/>
          </p:cNvSpPr>
          <p:nvPr>
            <p:ph type="ftr" sz="quarter" idx="2"/>
          </p:nvPr>
        </p:nvSpPr>
        <p:spPr>
          <a:xfrm>
            <a:off x="1" y="6658930"/>
            <a:ext cx="4062309" cy="350283"/>
          </a:xfrm>
          <a:prstGeom prst="rect">
            <a:avLst/>
          </a:prstGeom>
        </p:spPr>
        <p:txBody>
          <a:bodyPr vert="horz" lIns="91440" tIns="45720" rIns="91440" bIns="45720" rtlCol="0" anchor="b"/>
          <a:lstStyle>
            <a:lvl1pPr algn="l">
              <a:defRPr sz="1200"/>
            </a:lvl1pPr>
          </a:lstStyle>
          <a:p>
            <a:endParaRPr lang="fr-F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61460" cy="350520"/>
          </a:xfrm>
          <a:prstGeom prst="rect">
            <a:avLst/>
          </a:prstGeom>
        </p:spPr>
        <p:txBody>
          <a:bodyPr vert="horz" lIns="93616" tIns="46808" rIns="93616" bIns="46808" rtlCol="0"/>
          <a:lstStyle>
            <a:lvl1pPr algn="l">
              <a:defRPr sz="1200"/>
            </a:lvl1pPr>
          </a:lstStyle>
          <a:p>
            <a:endParaRPr lang="en-US"/>
          </a:p>
        </p:txBody>
      </p:sp>
      <p:sp>
        <p:nvSpPr>
          <p:cNvPr id="3" name="Date Placeholder 2"/>
          <p:cNvSpPr>
            <a:spLocks noGrp="1"/>
          </p:cNvSpPr>
          <p:nvPr>
            <p:ph type="dt" idx="1"/>
          </p:nvPr>
        </p:nvSpPr>
        <p:spPr>
          <a:xfrm>
            <a:off x="5308971" y="0"/>
            <a:ext cx="4061460" cy="350520"/>
          </a:xfrm>
          <a:prstGeom prst="rect">
            <a:avLst/>
          </a:prstGeom>
        </p:spPr>
        <p:txBody>
          <a:bodyPr vert="horz" lIns="93616" tIns="46808" rIns="93616" bIns="46808" rtlCol="0"/>
          <a:lstStyle>
            <a:lvl1pPr algn="r">
              <a:defRPr sz="1200"/>
            </a:lvl1pPr>
          </a:lstStyle>
          <a:p>
            <a:fld id="{D8D5AE57-63D6-485A-B73E-24D05ED6D8D1}" type="datetimeFigureOut">
              <a:rPr lang="en-US" smtClean="0"/>
              <a:pPr/>
              <a:t>1/16/2026</a:t>
            </a:fld>
            <a:endParaRPr lang="en-US"/>
          </a:p>
        </p:txBody>
      </p:sp>
      <p:sp>
        <p:nvSpPr>
          <p:cNvPr id="4" name="Slide Image Placeholder 3"/>
          <p:cNvSpPr>
            <a:spLocks noGrp="1" noRot="1" noChangeAspect="1"/>
          </p:cNvSpPr>
          <p:nvPr>
            <p:ph type="sldImg" idx="2"/>
          </p:nvPr>
        </p:nvSpPr>
        <p:spPr>
          <a:xfrm>
            <a:off x="2349500" y="525463"/>
            <a:ext cx="4673600" cy="2628900"/>
          </a:xfrm>
          <a:prstGeom prst="rect">
            <a:avLst/>
          </a:prstGeom>
          <a:noFill/>
          <a:ln w="12700">
            <a:solidFill>
              <a:prstClr val="black"/>
            </a:solidFill>
          </a:ln>
        </p:spPr>
        <p:txBody>
          <a:bodyPr vert="horz" lIns="93616" tIns="46808" rIns="93616" bIns="46808" rtlCol="0" anchor="ctr"/>
          <a:lstStyle/>
          <a:p>
            <a:endParaRPr lang="en-US"/>
          </a:p>
        </p:txBody>
      </p:sp>
      <p:sp>
        <p:nvSpPr>
          <p:cNvPr id="5" name="Notes Placeholder 4"/>
          <p:cNvSpPr>
            <a:spLocks noGrp="1"/>
          </p:cNvSpPr>
          <p:nvPr>
            <p:ph type="body" sz="quarter" idx="3"/>
          </p:nvPr>
        </p:nvSpPr>
        <p:spPr>
          <a:xfrm>
            <a:off x="937260" y="3329940"/>
            <a:ext cx="7498080" cy="3154680"/>
          </a:xfrm>
          <a:prstGeom prst="rect">
            <a:avLst/>
          </a:prstGeom>
        </p:spPr>
        <p:txBody>
          <a:bodyPr vert="horz" lIns="93616" tIns="46808" rIns="93616" bIns="46808"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658663"/>
            <a:ext cx="4061460" cy="350520"/>
          </a:xfrm>
          <a:prstGeom prst="rect">
            <a:avLst/>
          </a:prstGeom>
        </p:spPr>
        <p:txBody>
          <a:bodyPr vert="horz" lIns="93616" tIns="46808" rIns="93616" bIns="46808" rtlCol="0" anchor="b"/>
          <a:lstStyle>
            <a:lvl1pPr algn="l">
              <a:defRPr sz="1200"/>
            </a:lvl1pPr>
          </a:lstStyle>
          <a:p>
            <a:endParaRPr lang="en-US"/>
          </a:p>
        </p:txBody>
      </p:sp>
      <p:sp>
        <p:nvSpPr>
          <p:cNvPr id="7" name="Slide Number Placeholder 6"/>
          <p:cNvSpPr>
            <a:spLocks noGrp="1"/>
          </p:cNvSpPr>
          <p:nvPr>
            <p:ph type="sldNum" sz="quarter" idx="5"/>
          </p:nvPr>
        </p:nvSpPr>
        <p:spPr>
          <a:xfrm>
            <a:off x="5308971" y="6658663"/>
            <a:ext cx="4061460" cy="350520"/>
          </a:xfrm>
          <a:prstGeom prst="rect">
            <a:avLst/>
          </a:prstGeom>
        </p:spPr>
        <p:txBody>
          <a:bodyPr vert="horz" lIns="93616" tIns="46808" rIns="93616" bIns="46808" rtlCol="0" anchor="b"/>
          <a:lstStyle>
            <a:lvl1pPr algn="r">
              <a:defRPr sz="1200"/>
            </a:lvl1pPr>
          </a:lstStyle>
          <a:p>
            <a:fld id="{02AF3B2A-F821-4FE3-8FB8-DA5134B26F6E}"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286" rtl="0" eaLnBrk="1" latinLnBrk="0" hangingPunct="1">
      <a:defRPr sz="1200" kern="1200">
        <a:solidFill>
          <a:schemeClr val="tx1"/>
        </a:solidFill>
        <a:latin typeface="+mn-lt"/>
        <a:ea typeface="+mn-ea"/>
        <a:cs typeface="+mn-cs"/>
      </a:defRPr>
    </a:lvl1pPr>
    <a:lvl2pPr marL="457143" algn="l" defTabSz="914286" rtl="0" eaLnBrk="1" latinLnBrk="0" hangingPunct="1">
      <a:defRPr sz="1200" kern="1200">
        <a:solidFill>
          <a:schemeClr val="tx1"/>
        </a:solidFill>
        <a:latin typeface="+mn-lt"/>
        <a:ea typeface="+mn-ea"/>
        <a:cs typeface="+mn-cs"/>
      </a:defRPr>
    </a:lvl2pPr>
    <a:lvl3pPr marL="914286" algn="l" defTabSz="914286" rtl="0" eaLnBrk="1" latinLnBrk="0" hangingPunct="1">
      <a:defRPr sz="1200" kern="1200">
        <a:solidFill>
          <a:schemeClr val="tx1"/>
        </a:solidFill>
        <a:latin typeface="+mn-lt"/>
        <a:ea typeface="+mn-ea"/>
        <a:cs typeface="+mn-cs"/>
      </a:defRPr>
    </a:lvl3pPr>
    <a:lvl4pPr marL="1371428" algn="l" defTabSz="914286" rtl="0" eaLnBrk="1" latinLnBrk="0" hangingPunct="1">
      <a:defRPr sz="1200" kern="1200">
        <a:solidFill>
          <a:schemeClr val="tx1"/>
        </a:solidFill>
        <a:latin typeface="+mn-lt"/>
        <a:ea typeface="+mn-ea"/>
        <a:cs typeface="+mn-cs"/>
      </a:defRPr>
    </a:lvl4pPr>
    <a:lvl5pPr marL="1828572" algn="l" defTabSz="914286" rtl="0" eaLnBrk="1" latinLnBrk="0" hangingPunct="1">
      <a:defRPr sz="1200" kern="1200">
        <a:solidFill>
          <a:schemeClr val="tx1"/>
        </a:solidFill>
        <a:latin typeface="+mn-lt"/>
        <a:ea typeface="+mn-ea"/>
        <a:cs typeface="+mn-cs"/>
      </a:defRPr>
    </a:lvl5pPr>
    <a:lvl6pPr marL="2285714" algn="l" defTabSz="914286" rtl="0" eaLnBrk="1" latinLnBrk="0" hangingPunct="1">
      <a:defRPr sz="1200" kern="1200">
        <a:solidFill>
          <a:schemeClr val="tx1"/>
        </a:solidFill>
        <a:latin typeface="+mn-lt"/>
        <a:ea typeface="+mn-ea"/>
        <a:cs typeface="+mn-cs"/>
      </a:defRPr>
    </a:lvl6pPr>
    <a:lvl7pPr marL="2742858" algn="l" defTabSz="914286" rtl="0" eaLnBrk="1" latinLnBrk="0" hangingPunct="1">
      <a:defRPr sz="1200" kern="1200">
        <a:solidFill>
          <a:schemeClr val="tx1"/>
        </a:solidFill>
        <a:latin typeface="+mn-lt"/>
        <a:ea typeface="+mn-ea"/>
        <a:cs typeface="+mn-cs"/>
      </a:defRPr>
    </a:lvl7pPr>
    <a:lvl8pPr marL="3200000" algn="l" defTabSz="914286" rtl="0" eaLnBrk="1" latinLnBrk="0" hangingPunct="1">
      <a:defRPr sz="1200" kern="1200">
        <a:solidFill>
          <a:schemeClr val="tx1"/>
        </a:solidFill>
        <a:latin typeface="+mn-lt"/>
        <a:ea typeface="+mn-ea"/>
        <a:cs typeface="+mn-cs"/>
      </a:defRPr>
    </a:lvl8pPr>
    <a:lvl9pPr marL="3657143" algn="l" defTabSz="914286"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indall.sharepoint.com/:x:/r/teams/Projet-quipevolutionetIntgration/Documents%20partages/Architecture%20Affaires/Art%C3%A9facts/Art%C3%A9facts%20officiels/z_en%20cours_107_Crit%C3%A8res%20%C3%A9valutions%20BATS.xlsx?d=w323ef70b0a1048039eef0b8253e29274&amp;csf=1&amp;web=1&amp;e=fYV6wG"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3" Type="http://schemas.openxmlformats.org/officeDocument/2006/relationships/hyperlink" Target="https://indall.sharepoint.com/:x:/r/teams/Projet-quipevolutionetIntgration/Documents%20partages/Architecture%20Affaires/%C3%89quipes%20impact%C3%A9es%20_%20En%20construction.xlsx?d=w6e1777322b7a4c1aa72ffc313478467c&amp;csf=1&amp;web=1&amp;e=IA2roC" TargetMode="External"/><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3" Type="http://schemas.openxmlformats.org/officeDocument/2006/relationships/hyperlink" Target="https://indall.sharepoint.com/:x:/r/teams/Projet-quipevolutionetIntgration/Documents%20partages/Architecture%20Affaires/%C3%89quipes%20impact%C3%A9es%20_%20En%20construction.xlsx?d=w6e1777322b7a4c1aa72ffc313478467c&amp;csf=1&amp;web=1&amp;e=IA2roC" TargetMode="External"/><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a:t>Objectif de l’architecture détaillée: confirmer l’architecture préliminaire définie lors de l’exploration et faire approuver pour passer en réalisation</a:t>
            </a:r>
          </a:p>
          <a:p>
            <a:r>
              <a:rPr lang="fr-FR"/>
              <a:t>Prendre les positionnements identifiés lors de l’exploration</a:t>
            </a:r>
          </a:p>
          <a:p>
            <a:pPr marL="0" marR="0" lvl="0" indent="0" algn="l" defTabSz="914286" rtl="0" eaLnBrk="1" fontAlgn="auto" latinLnBrk="0" hangingPunct="1">
              <a:lnSpc>
                <a:spcPct val="100000"/>
              </a:lnSpc>
              <a:spcBef>
                <a:spcPts val="0"/>
              </a:spcBef>
              <a:spcAft>
                <a:spcPts val="0"/>
              </a:spcAft>
              <a:buClrTx/>
              <a:buSzTx/>
              <a:buFontTx/>
              <a:buNone/>
              <a:tabLst/>
              <a:defRPr/>
            </a:pPr>
            <a:r>
              <a:rPr lang="fr-FR"/>
              <a:t>S’assurer du respect des orientations d’affaires; rédiger les avis d’architecture si dérogation à une orientation d’affaires</a:t>
            </a:r>
          </a:p>
          <a:p>
            <a:endParaRPr lang="fr-FR"/>
          </a:p>
          <a:p>
            <a:endParaRPr lang="fr-FR"/>
          </a:p>
        </p:txBody>
      </p:sp>
      <p:sp>
        <p:nvSpPr>
          <p:cNvPr id="4" name="Espace réservé du numéro de diapositive 3"/>
          <p:cNvSpPr>
            <a:spLocks noGrp="1"/>
          </p:cNvSpPr>
          <p:nvPr>
            <p:ph type="sldNum" sz="quarter" idx="5"/>
          </p:nvPr>
        </p:nvSpPr>
        <p:spPr/>
        <p:txBody>
          <a:bodyPr/>
          <a:lstStyle/>
          <a:p>
            <a:fld id="{02AF3B2A-F821-4FE3-8FB8-DA5134B26F6E}" type="slidenum">
              <a:rPr lang="en-US" smtClean="0"/>
              <a:pPr/>
              <a:t>1</a:t>
            </a:fld>
            <a:endParaRPr lang="en-US"/>
          </a:p>
        </p:txBody>
      </p:sp>
    </p:spTree>
    <p:extLst>
      <p:ext uri="{BB962C8B-B14F-4D97-AF65-F5344CB8AC3E}">
        <p14:creationId xmlns:p14="http://schemas.microsoft.com/office/powerpoint/2010/main" val="27161589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CA" err="1">
                <a:hlinkClick r:id="rId3"/>
              </a:rPr>
              <a:t>z_en</a:t>
            </a:r>
            <a:r>
              <a:rPr lang="fr-CA">
                <a:hlinkClick r:id="rId3"/>
              </a:rPr>
              <a:t> cours_107_Critères </a:t>
            </a:r>
            <a:r>
              <a:rPr lang="fr-CA" err="1">
                <a:hlinkClick r:id="rId3"/>
              </a:rPr>
              <a:t>évalutions</a:t>
            </a:r>
            <a:r>
              <a:rPr lang="fr-CA">
                <a:hlinkClick r:id="rId3"/>
              </a:rPr>
              <a:t> BATS.xlsx</a:t>
            </a:r>
            <a:endParaRPr lang="fr-CA"/>
          </a:p>
        </p:txBody>
      </p:sp>
      <p:sp>
        <p:nvSpPr>
          <p:cNvPr id="4" name="Espace réservé du numéro de diapositive 3"/>
          <p:cNvSpPr>
            <a:spLocks noGrp="1"/>
          </p:cNvSpPr>
          <p:nvPr>
            <p:ph type="sldNum" sz="quarter" idx="5"/>
          </p:nvPr>
        </p:nvSpPr>
        <p:spPr/>
        <p:txBody>
          <a:bodyPr/>
          <a:lstStyle/>
          <a:p>
            <a:fld id="{02AF3B2A-F821-4FE3-8FB8-DA5134B26F6E}" type="slidenum">
              <a:rPr lang="en-US" smtClean="0"/>
              <a:pPr/>
              <a:t>2</a:t>
            </a:fld>
            <a:endParaRPr lang="en-US"/>
          </a:p>
        </p:txBody>
      </p:sp>
    </p:spTree>
    <p:extLst>
      <p:ext uri="{BB962C8B-B14F-4D97-AF65-F5344CB8AC3E}">
        <p14:creationId xmlns:p14="http://schemas.microsoft.com/office/powerpoint/2010/main" val="23346715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a:t>Point de discussion: si architecture sur plusieurs sujets, doit-on compléter plusieurs documents ou un seul? Critère: si un sujet n’impacte pas l’autre: peut être en document séparé; si un sujet impacte un autre: préférable de le mettre ensemble. S’assurer d’avoir une vue globale pour l’ensemble et document spécifique pour chaque volet d’architecture d’affaires.</a:t>
            </a:r>
          </a:p>
        </p:txBody>
      </p:sp>
      <p:sp>
        <p:nvSpPr>
          <p:cNvPr id="4" name="Espace réservé du numéro de diapositive 3"/>
          <p:cNvSpPr>
            <a:spLocks noGrp="1"/>
          </p:cNvSpPr>
          <p:nvPr>
            <p:ph type="sldNum" sz="quarter" idx="5"/>
          </p:nvPr>
        </p:nvSpPr>
        <p:spPr/>
        <p:txBody>
          <a:bodyPr/>
          <a:lstStyle/>
          <a:p>
            <a:fld id="{02AF3B2A-F821-4FE3-8FB8-DA5134B26F6E}" type="slidenum">
              <a:rPr lang="en-US" smtClean="0"/>
              <a:pPr/>
              <a:t>3</a:t>
            </a:fld>
            <a:endParaRPr lang="en-US"/>
          </a:p>
        </p:txBody>
      </p:sp>
    </p:spTree>
    <p:extLst>
      <p:ext uri="{BB962C8B-B14F-4D97-AF65-F5344CB8AC3E}">
        <p14:creationId xmlns:p14="http://schemas.microsoft.com/office/powerpoint/2010/main" val="34850145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pPr marL="0" marR="0" lvl="0" indent="0" algn="l" defTabSz="914286" rtl="0" eaLnBrk="1" fontAlgn="auto" latinLnBrk="0" hangingPunct="1">
              <a:lnSpc>
                <a:spcPct val="100000"/>
              </a:lnSpc>
              <a:spcBef>
                <a:spcPts val="0"/>
              </a:spcBef>
              <a:spcAft>
                <a:spcPts val="0"/>
              </a:spcAft>
              <a:buClrTx/>
              <a:buSzTx/>
              <a:buFontTx/>
              <a:buNone/>
              <a:tabLst/>
              <a:defRPr/>
            </a:pPr>
            <a:r>
              <a:rPr lang="fr-CA" sz="1200"/>
              <a:t>Se référer à l’exploration et au DAS + ajout si nouvelle information</a:t>
            </a:r>
          </a:p>
          <a:p>
            <a:pPr marL="0" marR="0" lvl="0" indent="0" algn="l" defTabSz="914286" rtl="0" eaLnBrk="1" fontAlgn="auto" latinLnBrk="0" hangingPunct="1">
              <a:lnSpc>
                <a:spcPct val="100000"/>
              </a:lnSpc>
              <a:spcBef>
                <a:spcPts val="0"/>
              </a:spcBef>
              <a:spcAft>
                <a:spcPts val="0"/>
              </a:spcAft>
              <a:buClrTx/>
              <a:buSzTx/>
              <a:buFontTx/>
              <a:buNone/>
              <a:tabLst/>
              <a:defRPr/>
            </a:pPr>
            <a:r>
              <a:rPr lang="fr-CA" sz="1200"/>
              <a:t>Contexte organisationnel: Description du périmètre du projet, des parties prenantes, de la mission et de la vision de l’organisation et écosystème.</a:t>
            </a:r>
          </a:p>
          <a:p>
            <a:endParaRPr lang="fr-FR"/>
          </a:p>
        </p:txBody>
      </p:sp>
      <p:sp>
        <p:nvSpPr>
          <p:cNvPr id="4" name="Espace réservé du numéro de diapositive 3"/>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153416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pPr marL="0" marR="0" lvl="0" indent="0" algn="l" defTabSz="914286" rtl="0" eaLnBrk="1" fontAlgn="auto" latinLnBrk="0" hangingPunct="1">
              <a:lnSpc>
                <a:spcPct val="100000"/>
              </a:lnSpc>
              <a:spcBef>
                <a:spcPts val="0"/>
              </a:spcBef>
              <a:spcAft>
                <a:spcPts val="0"/>
              </a:spcAft>
              <a:buClrTx/>
              <a:buSzTx/>
              <a:buFontTx/>
              <a:buNone/>
              <a:tabLst/>
              <a:defRPr/>
            </a:pPr>
            <a:r>
              <a:rPr lang="fr-CA" sz="1200"/>
              <a:t>Se référer à l’exploration et au DAS + ajout si nouvelle information</a:t>
            </a:r>
          </a:p>
          <a:p>
            <a:r>
              <a:rPr lang="fr-FR"/>
              <a:t>Alignement stratégique: l’architecture tactique sert de pont entre la vision stratégique et les opérations quotidiennes.</a:t>
            </a:r>
          </a:p>
          <a:p>
            <a:pPr marL="0" marR="0" lvl="0" indent="0" algn="l" defTabSz="914286" rtl="0" eaLnBrk="1" fontAlgn="auto" latinLnBrk="0" hangingPunct="1">
              <a:lnSpc>
                <a:spcPct val="100000"/>
              </a:lnSpc>
              <a:spcBef>
                <a:spcPts val="0"/>
              </a:spcBef>
              <a:spcAft>
                <a:spcPts val="0"/>
              </a:spcAft>
              <a:buClrTx/>
              <a:buSzTx/>
              <a:buFontTx/>
              <a:buNone/>
              <a:tabLst/>
              <a:defRPr/>
            </a:pPr>
            <a:r>
              <a:rPr lang="fr-CA" sz="1200"/>
              <a:t>Objectifs et enjeux d’affaires: Quels sont les buts stratégiques du projet, et quels problèmes d’affaires cherche-t-il à résoudre?</a:t>
            </a:r>
          </a:p>
          <a:p>
            <a:endParaRPr lang="fr-FR"/>
          </a:p>
        </p:txBody>
      </p:sp>
      <p:sp>
        <p:nvSpPr>
          <p:cNvPr id="4" name="Espace réservé du numéro de diapositive 3"/>
          <p:cNvSpPr>
            <a:spLocks noGrp="1"/>
          </p:cNvSpPr>
          <p:nvPr>
            <p:ph type="sldNum" sz="quarter" idx="5"/>
          </p:nvPr>
        </p:nvSpPr>
        <p:spPr/>
        <p:txBody>
          <a:bodyPr/>
          <a:lstStyle/>
          <a:p>
            <a:fld id="{02AF3B2A-F821-4FE3-8FB8-DA5134B26F6E}" type="slidenum">
              <a:rPr lang="en-US" smtClean="0"/>
              <a:pPr/>
              <a:t>5</a:t>
            </a:fld>
            <a:endParaRPr lang="en-US"/>
          </a:p>
        </p:txBody>
      </p:sp>
    </p:spTree>
    <p:extLst>
      <p:ext uri="{BB962C8B-B14F-4D97-AF65-F5344CB8AC3E}">
        <p14:creationId xmlns:p14="http://schemas.microsoft.com/office/powerpoint/2010/main" val="4527414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42EB9-CA94-D189-2AEA-FC2A82D87BB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27D64EB-AF29-3942-E6D5-03B71254A591}"/>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906E5134-785F-0A80-394A-37AEEBE943F5}"/>
              </a:ext>
            </a:extLst>
          </p:cNvPr>
          <p:cNvSpPr>
            <a:spLocks noGrp="1"/>
          </p:cNvSpPr>
          <p:nvPr>
            <p:ph type="body" idx="1"/>
          </p:nvPr>
        </p:nvSpPr>
        <p:spPr/>
        <p:txBody>
          <a:bodyPr/>
          <a:lstStyle/>
          <a:p>
            <a:pPr marL="0" marR="0" lvl="0" indent="0" algn="l" defTabSz="914286" rtl="0" eaLnBrk="1" fontAlgn="auto" latinLnBrk="0" hangingPunct="1">
              <a:lnSpc>
                <a:spcPct val="100000"/>
              </a:lnSpc>
              <a:spcBef>
                <a:spcPts val="0"/>
              </a:spcBef>
              <a:spcAft>
                <a:spcPts val="0"/>
              </a:spcAft>
              <a:buClrTx/>
              <a:buSzTx/>
              <a:buFontTx/>
              <a:buNone/>
              <a:tabLst/>
              <a:defRPr/>
            </a:pPr>
            <a:r>
              <a:rPr lang="fr-CA" sz="1200"/>
              <a:t>Se référer à l’exploration et au DAS + ajout si nouvelle information</a:t>
            </a:r>
          </a:p>
          <a:p>
            <a:r>
              <a:rPr lang="fr-FR"/>
              <a:t>Alignement stratégique: l’architecture tactique sert de pont entre la vision stratégique et les opérations quotidiennes.</a:t>
            </a:r>
          </a:p>
          <a:p>
            <a:pPr marL="0" marR="0" lvl="0" indent="0" algn="l" defTabSz="914286" rtl="0" eaLnBrk="1" fontAlgn="auto" latinLnBrk="0" hangingPunct="1">
              <a:lnSpc>
                <a:spcPct val="100000"/>
              </a:lnSpc>
              <a:spcBef>
                <a:spcPts val="0"/>
              </a:spcBef>
              <a:spcAft>
                <a:spcPts val="0"/>
              </a:spcAft>
              <a:buClrTx/>
              <a:buSzTx/>
              <a:buFontTx/>
              <a:buNone/>
              <a:tabLst/>
              <a:defRPr/>
            </a:pPr>
            <a:r>
              <a:rPr lang="fr-CA" sz="1200"/>
              <a:t>Objectifs et enjeux d’affaires: Quels sont les buts stratégiques du projet, et quels problèmes d’affaires cherche-t-il à résoudre?</a:t>
            </a:r>
          </a:p>
          <a:p>
            <a:endParaRPr lang="fr-FR"/>
          </a:p>
        </p:txBody>
      </p:sp>
      <p:sp>
        <p:nvSpPr>
          <p:cNvPr id="4" name="Espace réservé du numéro de diapositive 3">
            <a:extLst>
              <a:ext uri="{FF2B5EF4-FFF2-40B4-BE49-F238E27FC236}">
                <a16:creationId xmlns:a16="http://schemas.microsoft.com/office/drawing/2014/main" id="{0885E2F0-19F9-6921-7B6C-2A05F3B4D459}"/>
              </a:ext>
            </a:extLst>
          </p:cNvPr>
          <p:cNvSpPr>
            <a:spLocks noGrp="1"/>
          </p:cNvSpPr>
          <p:nvPr>
            <p:ph type="sldNum" sz="quarter" idx="5"/>
          </p:nvPr>
        </p:nvSpPr>
        <p:spPr/>
        <p:txBody>
          <a:bodyPr/>
          <a:lstStyle/>
          <a:p>
            <a:fld id="{02AF3B2A-F821-4FE3-8FB8-DA5134B26F6E}" type="slidenum">
              <a:rPr lang="en-US" smtClean="0"/>
              <a:pPr/>
              <a:t>6</a:t>
            </a:fld>
            <a:endParaRPr lang="en-US"/>
          </a:p>
        </p:txBody>
      </p:sp>
    </p:spTree>
    <p:extLst>
      <p:ext uri="{BB962C8B-B14F-4D97-AF65-F5344CB8AC3E}">
        <p14:creationId xmlns:p14="http://schemas.microsoft.com/office/powerpoint/2010/main" val="12931714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pPr marL="0" marR="0" lvl="0" indent="0" algn="l" defTabSz="914286" rtl="0" eaLnBrk="1" fontAlgn="auto" latinLnBrk="0" hangingPunct="1">
              <a:lnSpc>
                <a:spcPct val="100000"/>
              </a:lnSpc>
              <a:spcBef>
                <a:spcPts val="0"/>
              </a:spcBef>
              <a:spcAft>
                <a:spcPts val="0"/>
              </a:spcAft>
              <a:buClrTx/>
              <a:buSzTx/>
              <a:buFontTx/>
              <a:buNone/>
              <a:tabLst/>
              <a:defRPr/>
            </a:pPr>
            <a:r>
              <a:rPr lang="fr-CA" sz="1200"/>
              <a:t>Se référer à l’exploration et au DAS + ajout si nouvelle information</a:t>
            </a:r>
          </a:p>
          <a:p>
            <a:r>
              <a:rPr lang="fr-FR"/>
              <a:t>Alignement stratégique: l’architecture tactique sert de pont entre la vision stratégique et les opérations quotidiennes.</a:t>
            </a:r>
          </a:p>
          <a:p>
            <a:pPr marL="0" marR="0" lvl="0" indent="0" algn="l" defTabSz="914286" rtl="0" eaLnBrk="1" fontAlgn="auto" latinLnBrk="0" hangingPunct="1">
              <a:lnSpc>
                <a:spcPct val="100000"/>
              </a:lnSpc>
              <a:spcBef>
                <a:spcPts val="0"/>
              </a:spcBef>
              <a:spcAft>
                <a:spcPts val="0"/>
              </a:spcAft>
              <a:buClrTx/>
              <a:buSzTx/>
              <a:buFontTx/>
              <a:buNone/>
              <a:tabLst/>
              <a:defRPr/>
            </a:pPr>
            <a:r>
              <a:rPr lang="fr-CA" sz="1200"/>
              <a:t>Objectifs et enjeux d’affaires: Quels sont les buts stratégiques du projet, et quels problèmes d’affaires cherche-t-il à résoudre?</a:t>
            </a:r>
          </a:p>
          <a:p>
            <a:endParaRPr lang="fr-FR"/>
          </a:p>
        </p:txBody>
      </p:sp>
      <p:sp>
        <p:nvSpPr>
          <p:cNvPr id="4" name="Espace réservé du numéro de diapositive 3"/>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527414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3F716-BC3A-5548-7CCD-A4927628855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87C4DEC-F042-14A6-D127-D949BB1F0389}"/>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731ED4D1-E9B2-E4A6-B9B2-50D20169A12F}"/>
              </a:ext>
            </a:extLst>
          </p:cNvPr>
          <p:cNvSpPr>
            <a:spLocks noGrp="1"/>
          </p:cNvSpPr>
          <p:nvPr>
            <p:ph type="body" idx="1"/>
          </p:nvPr>
        </p:nvSpPr>
        <p:spPr/>
        <p:txBody>
          <a:bodyPr/>
          <a:lstStyle/>
          <a:p>
            <a:pPr marL="0" marR="0" lvl="0" indent="0" algn="l" defTabSz="914286" rtl="0" eaLnBrk="1" fontAlgn="auto" latinLnBrk="0" hangingPunct="1">
              <a:lnSpc>
                <a:spcPct val="100000"/>
              </a:lnSpc>
              <a:spcBef>
                <a:spcPts val="0"/>
              </a:spcBef>
              <a:spcAft>
                <a:spcPts val="0"/>
              </a:spcAft>
              <a:buClrTx/>
              <a:buSzTx/>
              <a:buFontTx/>
              <a:buNone/>
              <a:tabLst/>
              <a:defRPr/>
            </a:pPr>
            <a:r>
              <a:rPr lang="fr-CA" sz="1200" err="1"/>
              <a:t>Monaitaire</a:t>
            </a:r>
            <a:r>
              <a:rPr lang="fr-CA" sz="1200"/>
              <a:t> : </a:t>
            </a:r>
          </a:p>
          <a:p>
            <a:pPr marL="171450" marR="0" lvl="0" indent="-171450" algn="l" defTabSz="914286" rtl="0" eaLnBrk="1" fontAlgn="auto" latinLnBrk="0" hangingPunct="1">
              <a:lnSpc>
                <a:spcPct val="100000"/>
              </a:lnSpc>
              <a:spcBef>
                <a:spcPts val="0"/>
              </a:spcBef>
              <a:spcAft>
                <a:spcPts val="0"/>
              </a:spcAft>
              <a:buClrTx/>
              <a:buSzTx/>
              <a:buFontTx/>
              <a:buChar char="-"/>
              <a:tabLst/>
              <a:defRPr/>
            </a:pPr>
            <a:r>
              <a:rPr lang="fr-CA" sz="1200"/>
              <a:t>Diminution des </a:t>
            </a:r>
            <a:r>
              <a:rPr lang="fr-CA" sz="1200" err="1"/>
              <a:t>coêt</a:t>
            </a:r>
            <a:r>
              <a:rPr lang="fr-CA" sz="1200"/>
              <a:t> de la structure bancaire</a:t>
            </a:r>
          </a:p>
          <a:p>
            <a:pPr marL="171450" marR="0" lvl="0" indent="-171450" algn="l" defTabSz="914286" rtl="0" eaLnBrk="1" fontAlgn="auto" latinLnBrk="0" hangingPunct="1">
              <a:lnSpc>
                <a:spcPct val="100000"/>
              </a:lnSpc>
              <a:spcBef>
                <a:spcPts val="0"/>
              </a:spcBef>
              <a:spcAft>
                <a:spcPts val="0"/>
              </a:spcAft>
              <a:buClrTx/>
              <a:buSzTx/>
              <a:buFontTx/>
              <a:buChar char="-"/>
              <a:tabLst/>
              <a:defRPr/>
            </a:pPr>
            <a:r>
              <a:rPr lang="fr-CA" sz="1200" err="1"/>
              <a:t>Dimunution</a:t>
            </a:r>
            <a:r>
              <a:rPr lang="fr-CA" sz="1200"/>
              <a:t> des coût de maintenance</a:t>
            </a:r>
          </a:p>
          <a:p>
            <a:pPr marL="0" marR="0" lvl="0" indent="0" algn="l" defTabSz="914286" rtl="0" eaLnBrk="1" fontAlgn="auto" latinLnBrk="0" hangingPunct="1">
              <a:lnSpc>
                <a:spcPct val="100000"/>
              </a:lnSpc>
              <a:spcBef>
                <a:spcPts val="0"/>
              </a:spcBef>
              <a:spcAft>
                <a:spcPts val="0"/>
              </a:spcAft>
              <a:buClrTx/>
              <a:buSzTx/>
              <a:buFontTx/>
              <a:buNone/>
              <a:tabLst/>
              <a:defRPr/>
            </a:pPr>
            <a:r>
              <a:rPr lang="fr-CA" sz="1200"/>
              <a:t>Autre : </a:t>
            </a:r>
          </a:p>
          <a:p>
            <a:pPr marL="0" marR="0" lvl="0" indent="0" algn="l" defTabSz="914286" rtl="0" eaLnBrk="1" fontAlgn="auto" latinLnBrk="0" hangingPunct="1">
              <a:lnSpc>
                <a:spcPct val="100000"/>
              </a:lnSpc>
              <a:spcBef>
                <a:spcPts val="0"/>
              </a:spcBef>
              <a:spcAft>
                <a:spcPts val="0"/>
              </a:spcAft>
              <a:buClrTx/>
              <a:buSzTx/>
              <a:buFontTx/>
              <a:buNone/>
              <a:tabLst/>
              <a:defRPr/>
            </a:pPr>
            <a:r>
              <a:rPr lang="fr-CA" sz="1200"/>
              <a:t>- automatisation processus </a:t>
            </a:r>
          </a:p>
          <a:p>
            <a:pPr marL="171450" marR="0" lvl="0" indent="-171450" algn="l" defTabSz="914286" rtl="0" eaLnBrk="1" fontAlgn="auto" latinLnBrk="0" hangingPunct="1">
              <a:lnSpc>
                <a:spcPct val="100000"/>
              </a:lnSpc>
              <a:spcBef>
                <a:spcPts val="0"/>
              </a:spcBef>
              <a:spcAft>
                <a:spcPts val="0"/>
              </a:spcAft>
              <a:buClrTx/>
              <a:buSzTx/>
              <a:buFontTx/>
              <a:buChar char="-"/>
              <a:tabLst/>
              <a:defRPr/>
            </a:pPr>
            <a:r>
              <a:rPr lang="fr-FR"/>
              <a:t>Meilleur gestion d’anomalie, </a:t>
            </a:r>
            <a:r>
              <a:rPr lang="fr-FR" err="1"/>
              <a:t>fraud</a:t>
            </a:r>
            <a:r>
              <a:rPr lang="fr-FR"/>
              <a:t> et incident</a:t>
            </a:r>
          </a:p>
          <a:p>
            <a:pPr marL="171450" marR="0" lvl="0" indent="-171450" algn="l" defTabSz="914286" rtl="0" eaLnBrk="1" fontAlgn="auto" latinLnBrk="0" hangingPunct="1">
              <a:lnSpc>
                <a:spcPct val="100000"/>
              </a:lnSpc>
              <a:spcBef>
                <a:spcPts val="0"/>
              </a:spcBef>
              <a:spcAft>
                <a:spcPts val="0"/>
              </a:spcAft>
              <a:buClrTx/>
              <a:buSzTx/>
              <a:buFontTx/>
              <a:buChar char="-"/>
              <a:tabLst/>
              <a:defRPr/>
            </a:pPr>
            <a:r>
              <a:rPr lang="fr-FR"/>
              <a:t>Facilité intégration compagnie</a:t>
            </a:r>
          </a:p>
          <a:p>
            <a:pPr marL="171450" marR="0" lvl="0" indent="-171450" algn="l" defTabSz="914286" rtl="0" eaLnBrk="1" fontAlgn="auto" latinLnBrk="0" hangingPunct="1">
              <a:lnSpc>
                <a:spcPct val="100000"/>
              </a:lnSpc>
              <a:spcBef>
                <a:spcPts val="0"/>
              </a:spcBef>
              <a:spcAft>
                <a:spcPts val="0"/>
              </a:spcAft>
              <a:buClrTx/>
              <a:buSzTx/>
              <a:buFontTx/>
              <a:buChar char="-"/>
              <a:tabLst/>
              <a:defRPr/>
            </a:pPr>
            <a:r>
              <a:rPr lang="fr-FR"/>
              <a:t>Simplifier éco </a:t>
            </a:r>
            <a:r>
              <a:rPr lang="fr-FR" err="1"/>
              <a:t>systèm</a:t>
            </a:r>
            <a:endParaRPr lang="fr-FR"/>
          </a:p>
        </p:txBody>
      </p:sp>
      <p:sp>
        <p:nvSpPr>
          <p:cNvPr id="4" name="Espace réservé du numéro de diapositive 3">
            <a:extLst>
              <a:ext uri="{FF2B5EF4-FFF2-40B4-BE49-F238E27FC236}">
                <a16:creationId xmlns:a16="http://schemas.microsoft.com/office/drawing/2014/main" id="{FDFB3405-E222-9986-E08C-1AD3651E1E8E}"/>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658032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CA"/>
              <a:t>S’assurer de prévoir les travaux dans le projet pour mettre en place les éléments pour suivre les mesures</a:t>
            </a:r>
          </a:p>
        </p:txBody>
      </p:sp>
      <p:sp>
        <p:nvSpPr>
          <p:cNvPr id="4" name="Espace réservé du numéro de diapositive 3"/>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659957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57F39-7788-7BF7-5962-3A22A753DA8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6A6EC91-C771-97F2-66F9-EE3E577F41DC}"/>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FF0A1CFD-90C5-A748-294F-B727C90A4D8A}"/>
              </a:ext>
            </a:extLst>
          </p:cNvPr>
          <p:cNvSpPr>
            <a:spLocks noGrp="1"/>
          </p:cNvSpPr>
          <p:nvPr>
            <p:ph type="body" idx="1"/>
          </p:nvPr>
        </p:nvSpPr>
        <p:spPr/>
        <p:txBody>
          <a:bodyPr/>
          <a:lstStyle/>
          <a:p>
            <a:r>
              <a:rPr lang="fr-CA"/>
              <a:t>S’assurer de prévoir les travaux dans le projet pour mettre en place les éléments pour suivre les mesures</a:t>
            </a:r>
          </a:p>
        </p:txBody>
      </p:sp>
      <p:sp>
        <p:nvSpPr>
          <p:cNvPr id="4" name="Espace réservé du numéro de diapositive 3">
            <a:extLst>
              <a:ext uri="{FF2B5EF4-FFF2-40B4-BE49-F238E27FC236}">
                <a16:creationId xmlns:a16="http://schemas.microsoft.com/office/drawing/2014/main" id="{3CF71FA3-50C9-9B77-621E-5C727C91545C}"/>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701131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Objectif et non </a:t>
            </a:r>
            <a:r>
              <a:rPr lang="fr-FR" err="1"/>
              <a:t>Relaese</a:t>
            </a:r>
            <a:endParaRPr lang="fr-FR"/>
          </a:p>
        </p:txBody>
      </p:sp>
      <p:sp>
        <p:nvSpPr>
          <p:cNvPr id="4" name="Espace réservé du numéro de diapositive 3"/>
          <p:cNvSpPr>
            <a:spLocks noGrp="1"/>
          </p:cNvSpPr>
          <p:nvPr>
            <p:ph type="sldNum" sz="quarter" idx="5"/>
          </p:nvPr>
        </p:nvSpPr>
        <p:spPr/>
        <p:txBody>
          <a:bodyPr/>
          <a:lstStyle/>
          <a:p>
            <a:fld id="{02AF3B2A-F821-4FE3-8FB8-DA5134B26F6E}" type="slidenum">
              <a:rPr lang="en-US" smtClean="0"/>
              <a:pPr/>
              <a:t>11</a:t>
            </a:fld>
            <a:endParaRPr lang="en-US"/>
          </a:p>
        </p:txBody>
      </p:sp>
    </p:spTree>
    <p:extLst>
      <p:ext uri="{BB962C8B-B14F-4D97-AF65-F5344CB8AC3E}">
        <p14:creationId xmlns:p14="http://schemas.microsoft.com/office/powerpoint/2010/main" val="6383113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Conciliation bancaire : pas uniquement les transactions Kyriba mais tout</a:t>
            </a:r>
          </a:p>
        </p:txBody>
      </p:sp>
      <p:sp>
        <p:nvSpPr>
          <p:cNvPr id="4" name="Espace réservé du numéro de diapositive 3"/>
          <p:cNvSpPr>
            <a:spLocks noGrp="1"/>
          </p:cNvSpPr>
          <p:nvPr>
            <p:ph type="sldNum" sz="quarter" idx="5"/>
          </p:nvPr>
        </p:nvSpPr>
        <p:spPr/>
        <p:txBody>
          <a:bodyPr/>
          <a:lstStyle/>
          <a:p>
            <a:fld id="{02AF3B2A-F821-4FE3-8FB8-DA5134B26F6E}" type="slidenum">
              <a:rPr lang="en-US" smtClean="0"/>
              <a:pPr/>
              <a:t>12</a:t>
            </a:fld>
            <a:endParaRPr lang="en-US"/>
          </a:p>
        </p:txBody>
      </p:sp>
    </p:spTree>
    <p:extLst>
      <p:ext uri="{BB962C8B-B14F-4D97-AF65-F5344CB8AC3E}">
        <p14:creationId xmlns:p14="http://schemas.microsoft.com/office/powerpoint/2010/main" val="37443782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Kyriba nouveau Hub</a:t>
            </a:r>
          </a:p>
          <a:p>
            <a:r>
              <a:rPr lang="fr-FR"/>
              <a:t>Préciser les besoin et exigence </a:t>
            </a:r>
          </a:p>
          <a:p>
            <a:r>
              <a:rPr lang="fr-FR"/>
              <a:t>Migrer trax vers Kyriba </a:t>
            </a:r>
          </a:p>
          <a:p>
            <a:r>
              <a:rPr lang="fr-FR"/>
              <a:t>Standardiser les fonctions de paiement/perception : moins de gestion d’exception</a:t>
            </a:r>
          </a:p>
          <a:p>
            <a:r>
              <a:rPr lang="fr-FR"/>
              <a:t>BAM</a:t>
            </a:r>
          </a:p>
          <a:p>
            <a:r>
              <a:rPr lang="fr-FR"/>
              <a:t>BFA</a:t>
            </a:r>
          </a:p>
          <a:p>
            <a:r>
              <a:rPr lang="fr-FR"/>
              <a:t>Fraude</a:t>
            </a:r>
          </a:p>
          <a:p>
            <a:r>
              <a:rPr lang="fr-FR" err="1"/>
              <a:t>Compatbilité</a:t>
            </a:r>
            <a:r>
              <a:rPr lang="fr-FR"/>
              <a:t> </a:t>
            </a:r>
          </a:p>
          <a:p>
            <a:r>
              <a:rPr lang="fr-FR"/>
              <a:t>Conciliation </a:t>
            </a:r>
          </a:p>
          <a:p>
            <a:r>
              <a:rPr lang="fr-FR"/>
              <a:t>Rapport et indicateurs</a:t>
            </a:r>
          </a:p>
          <a:p>
            <a:endParaRPr lang="fr-FR"/>
          </a:p>
          <a:p>
            <a:endParaRPr lang="fr-FR"/>
          </a:p>
        </p:txBody>
      </p:sp>
      <p:sp>
        <p:nvSpPr>
          <p:cNvPr id="4" name="Espace réservé du numéro de diapositive 3"/>
          <p:cNvSpPr>
            <a:spLocks noGrp="1"/>
          </p:cNvSpPr>
          <p:nvPr>
            <p:ph type="sldNum" sz="quarter" idx="5"/>
          </p:nvPr>
        </p:nvSpPr>
        <p:spPr/>
        <p:txBody>
          <a:bodyPr/>
          <a:lstStyle/>
          <a:p>
            <a:fld id="{02AF3B2A-F821-4FE3-8FB8-DA5134B26F6E}" type="slidenum">
              <a:rPr lang="en-US" smtClean="0"/>
              <a:pPr/>
              <a:t>13</a:t>
            </a:fld>
            <a:endParaRPr lang="en-US"/>
          </a:p>
        </p:txBody>
      </p:sp>
    </p:spTree>
    <p:extLst>
      <p:ext uri="{BB962C8B-B14F-4D97-AF65-F5344CB8AC3E}">
        <p14:creationId xmlns:p14="http://schemas.microsoft.com/office/powerpoint/2010/main" val="5354515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56ADF-2F0F-2493-45F4-3E85EDAE68A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5285BC2-3EA7-C556-4A1A-269FD03F0547}"/>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1CD3704B-9FCE-5716-61E0-EE4B4CB60EEF}"/>
              </a:ext>
            </a:extLst>
          </p:cNvPr>
          <p:cNvSpPr>
            <a:spLocks noGrp="1"/>
          </p:cNvSpPr>
          <p:nvPr>
            <p:ph type="body" idx="1"/>
          </p:nvPr>
        </p:nvSpPr>
        <p:spPr/>
        <p:txBody>
          <a:bodyPr/>
          <a:lstStyle/>
          <a:p>
            <a:r>
              <a:rPr lang="fr-FR"/>
              <a:t>Mettre les orientations d’affaires applicables à l’initiatives (se référer à l’artéfact 135). Ces orientations doivent servir de guide pour la suite de l’initiative. Une première identification a été faite lors de l’exploration, reconfirmer suite à l’évolution du dossier si les orientations sélectionnées sont toujours adéquates.</a:t>
            </a:r>
          </a:p>
        </p:txBody>
      </p:sp>
      <p:sp>
        <p:nvSpPr>
          <p:cNvPr id="4" name="Espace réservé du numéro de diapositive 3">
            <a:extLst>
              <a:ext uri="{FF2B5EF4-FFF2-40B4-BE49-F238E27FC236}">
                <a16:creationId xmlns:a16="http://schemas.microsoft.com/office/drawing/2014/main" id="{8CFE5840-7AD3-5477-E7A0-D208207DB936}"/>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727296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83C72-ED3C-7F89-6EE2-61093D04B68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CC7FA4D-3967-7375-BA22-5A38A7F41206}"/>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1A6956A1-E33B-7DB5-F156-DD4B1B77F33A}"/>
              </a:ext>
            </a:extLst>
          </p:cNvPr>
          <p:cNvSpPr>
            <a:spLocks noGrp="1"/>
          </p:cNvSpPr>
          <p:nvPr>
            <p:ph type="body" idx="1"/>
          </p:nvPr>
        </p:nvSpPr>
        <p:spPr/>
        <p:txBody>
          <a:bodyPr/>
          <a:lstStyle/>
          <a:p>
            <a:r>
              <a:rPr lang="fr-FR"/>
              <a:t>Mettre les orientations d’affaires applicables à l’initiatives (se référer à l’artéfact 135). Ces orientations doivent servir de guide pour la suite de l’initiative. Une première identification a été faite lors de l’exploration, reconfirmer suite à l’évolution du dossier si les orientations sélectionnées sont toujours adéquates.</a:t>
            </a:r>
          </a:p>
        </p:txBody>
      </p:sp>
      <p:sp>
        <p:nvSpPr>
          <p:cNvPr id="4" name="Espace réservé du numéro de diapositive 3">
            <a:extLst>
              <a:ext uri="{FF2B5EF4-FFF2-40B4-BE49-F238E27FC236}">
                <a16:creationId xmlns:a16="http://schemas.microsoft.com/office/drawing/2014/main" id="{AA8754E4-E552-A58E-4BA2-013FDBE44037}"/>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661793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7BA81-6041-E562-405B-6780E29F477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29E4D94-C7B7-775E-689C-3EBBA06C1DAF}"/>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227CD863-1BCE-5973-5AA4-3C89F64ED5E5}"/>
              </a:ext>
            </a:extLst>
          </p:cNvPr>
          <p:cNvSpPr>
            <a:spLocks noGrp="1"/>
          </p:cNvSpPr>
          <p:nvPr>
            <p:ph type="body" idx="1"/>
          </p:nvPr>
        </p:nvSpPr>
        <p:spPr/>
        <p:txBody>
          <a:bodyPr/>
          <a:lstStyle/>
          <a:p>
            <a:r>
              <a:rPr lang="fr-FR"/>
              <a:t>Mettre les orientations d’affaires applicables à l’initiatives (se référer à l’artéfact 135). Ces orientations doivent servir de guide pour la suite de l’initiative. Une première identification a été faite lors de l’exploration, reconfirmer suite à l’évolution du dossier si les orientations sélectionnées sont toujours adéquates.</a:t>
            </a:r>
          </a:p>
        </p:txBody>
      </p:sp>
      <p:sp>
        <p:nvSpPr>
          <p:cNvPr id="4" name="Espace réservé du numéro de diapositive 3">
            <a:extLst>
              <a:ext uri="{FF2B5EF4-FFF2-40B4-BE49-F238E27FC236}">
                <a16:creationId xmlns:a16="http://schemas.microsoft.com/office/drawing/2014/main" id="{9BE513AE-21FC-F885-57CF-998F32453AA8}"/>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964633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43552-543E-9437-7B98-FC6500C8A8C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CAFD229-6799-2412-AA12-B7366D2A2F64}"/>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62239AC8-D677-98D8-B65C-23730C1682D3}"/>
              </a:ext>
            </a:extLst>
          </p:cNvPr>
          <p:cNvSpPr>
            <a:spLocks noGrp="1"/>
          </p:cNvSpPr>
          <p:nvPr>
            <p:ph type="body" idx="1"/>
          </p:nvPr>
        </p:nvSpPr>
        <p:spPr/>
        <p:txBody>
          <a:bodyPr/>
          <a:lstStyle/>
          <a:p>
            <a:endParaRPr lang="fr-CA"/>
          </a:p>
        </p:txBody>
      </p:sp>
      <p:sp>
        <p:nvSpPr>
          <p:cNvPr id="4" name="Espace réservé du numéro de diapositive 3">
            <a:extLst>
              <a:ext uri="{FF2B5EF4-FFF2-40B4-BE49-F238E27FC236}">
                <a16:creationId xmlns:a16="http://schemas.microsoft.com/office/drawing/2014/main" id="{9D929E79-1FAB-0792-2287-EF3E12A8849B}"/>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892918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6B996-D9C2-92D7-3F7C-996C82EA124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2732333-2579-DEF1-28BC-DD8FFA532217}"/>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6253F954-7702-323A-8157-1FE87F70BEF9}"/>
              </a:ext>
            </a:extLst>
          </p:cNvPr>
          <p:cNvSpPr>
            <a:spLocks noGrp="1"/>
          </p:cNvSpPr>
          <p:nvPr>
            <p:ph type="body" idx="1"/>
          </p:nvPr>
        </p:nvSpPr>
        <p:spPr/>
        <p:txBody>
          <a:bodyPr/>
          <a:lstStyle/>
          <a:p>
            <a:pPr marL="0" marR="0" lvl="0" indent="0" algn="l" defTabSz="914286" rtl="0" eaLnBrk="1" fontAlgn="auto" latinLnBrk="0" hangingPunct="1">
              <a:lnSpc>
                <a:spcPct val="100000"/>
              </a:lnSpc>
              <a:spcBef>
                <a:spcPts val="0"/>
              </a:spcBef>
              <a:spcAft>
                <a:spcPts val="0"/>
              </a:spcAft>
              <a:buClrTx/>
              <a:buSzTx/>
              <a:buFontTx/>
              <a:buNone/>
              <a:tabLst/>
              <a:defRPr/>
            </a:pPr>
            <a:r>
              <a:rPr lang="fr-CA"/>
              <a:t>Faire référence aux positionnements pris en lien avec l’initiative. Si les plus petits positionnements sont requis mais pas encore pris car pas d’impact sur l’architecture venir aussi les identifier ici pour en tenir compte dans le roadmap, la planification.</a:t>
            </a:r>
          </a:p>
          <a:p>
            <a:endParaRPr lang="fr-CA"/>
          </a:p>
        </p:txBody>
      </p:sp>
      <p:sp>
        <p:nvSpPr>
          <p:cNvPr id="4" name="Espace réservé du numéro de diapositive 3">
            <a:extLst>
              <a:ext uri="{FF2B5EF4-FFF2-40B4-BE49-F238E27FC236}">
                <a16:creationId xmlns:a16="http://schemas.microsoft.com/office/drawing/2014/main" id="{DC4FDB05-DBCF-172D-FB54-E666F1A98D50}"/>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649782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54719-5B99-74DA-588E-1345DAF487B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74B44D1-245A-7595-87FD-B9106550DEC6}"/>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A2FD77A3-4A85-56D3-1B7B-85930A511A67}"/>
              </a:ext>
            </a:extLst>
          </p:cNvPr>
          <p:cNvSpPr>
            <a:spLocks noGrp="1"/>
          </p:cNvSpPr>
          <p:nvPr>
            <p:ph type="body" idx="1"/>
          </p:nvPr>
        </p:nvSpPr>
        <p:spPr/>
        <p:txBody>
          <a:bodyPr/>
          <a:lstStyle/>
          <a:p>
            <a:pPr marL="0" marR="0" lvl="0" indent="0" algn="l" defTabSz="914286" rtl="0" eaLnBrk="1" fontAlgn="auto" latinLnBrk="0" hangingPunct="1">
              <a:lnSpc>
                <a:spcPct val="100000"/>
              </a:lnSpc>
              <a:spcBef>
                <a:spcPts val="0"/>
              </a:spcBef>
              <a:spcAft>
                <a:spcPts val="0"/>
              </a:spcAft>
              <a:buClrTx/>
              <a:buSzTx/>
              <a:buFontTx/>
              <a:buNone/>
              <a:tabLst/>
              <a:defRPr/>
            </a:pPr>
            <a:r>
              <a:rPr lang="fr-CA"/>
              <a:t>Faire référence aux positionnements pris en lien avec l’initiative. Si les plus petits positionnements sont requis mais pas encore pris car pas d’impact sur l’architecture venir aussi les identifier ici pour en tenir compte dans le roadmap, la planification.</a:t>
            </a:r>
          </a:p>
          <a:p>
            <a:endParaRPr lang="fr-CA"/>
          </a:p>
        </p:txBody>
      </p:sp>
      <p:sp>
        <p:nvSpPr>
          <p:cNvPr id="4" name="Espace réservé du numéro de diapositive 3">
            <a:extLst>
              <a:ext uri="{FF2B5EF4-FFF2-40B4-BE49-F238E27FC236}">
                <a16:creationId xmlns:a16="http://schemas.microsoft.com/office/drawing/2014/main" id="{EA2AEBB8-5692-FC2B-ABE2-F88500F31B47}"/>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7846595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86F5C-9A90-B830-5877-4B45021A5F4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1C9F799-D273-FAF6-DB2E-ABD38E02E877}"/>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64DD871D-DAFD-C892-6548-DE7FD01C9D17}"/>
              </a:ext>
            </a:extLst>
          </p:cNvPr>
          <p:cNvSpPr>
            <a:spLocks noGrp="1"/>
          </p:cNvSpPr>
          <p:nvPr>
            <p:ph type="body" idx="1"/>
          </p:nvPr>
        </p:nvSpPr>
        <p:spPr/>
        <p:txBody>
          <a:bodyPr/>
          <a:lstStyle/>
          <a:p>
            <a:pPr marL="0" marR="0" lvl="0" indent="0" algn="l" defTabSz="914286" rtl="0" eaLnBrk="1" fontAlgn="auto" latinLnBrk="0" hangingPunct="1">
              <a:lnSpc>
                <a:spcPct val="100000"/>
              </a:lnSpc>
              <a:spcBef>
                <a:spcPts val="0"/>
              </a:spcBef>
              <a:spcAft>
                <a:spcPts val="0"/>
              </a:spcAft>
              <a:buClrTx/>
              <a:buSzTx/>
              <a:buFontTx/>
              <a:buNone/>
              <a:tabLst/>
              <a:defRPr/>
            </a:pPr>
            <a:r>
              <a:rPr lang="fr-CA"/>
              <a:t>Faire référence aux positionnements pris en lien avec l’initiative. Si les plus petits positionnements sont requis mais pas encore pris car pas d’impact sur l’architecture venir aussi les identifier ici pour en tenir compte dans le roadmap, la planification.</a:t>
            </a:r>
          </a:p>
          <a:p>
            <a:endParaRPr lang="fr-CA"/>
          </a:p>
        </p:txBody>
      </p:sp>
      <p:sp>
        <p:nvSpPr>
          <p:cNvPr id="4" name="Espace réservé du numéro de diapositive 3">
            <a:extLst>
              <a:ext uri="{FF2B5EF4-FFF2-40B4-BE49-F238E27FC236}">
                <a16:creationId xmlns:a16="http://schemas.microsoft.com/office/drawing/2014/main" id="{38A5C4B0-0B37-1481-0D6E-A126CA572012}"/>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709520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398AE-2102-6933-38A4-803CC64DBF5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06DA273-5A97-2D53-2483-C838720C05EB}"/>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AA5079F5-D716-054C-370A-93F51FEE5EE6}"/>
              </a:ext>
            </a:extLst>
          </p:cNvPr>
          <p:cNvSpPr>
            <a:spLocks noGrp="1"/>
          </p:cNvSpPr>
          <p:nvPr>
            <p:ph type="body" idx="1"/>
          </p:nvPr>
        </p:nvSpPr>
        <p:spPr/>
        <p:txBody>
          <a:bodyPr/>
          <a:lstStyle/>
          <a:p>
            <a:pPr marL="0" marR="0" lvl="0" indent="0" algn="l" defTabSz="914286" rtl="0" eaLnBrk="1" fontAlgn="auto" latinLnBrk="0" hangingPunct="1">
              <a:lnSpc>
                <a:spcPct val="100000"/>
              </a:lnSpc>
              <a:spcBef>
                <a:spcPts val="0"/>
              </a:spcBef>
              <a:spcAft>
                <a:spcPts val="0"/>
              </a:spcAft>
              <a:buClrTx/>
              <a:buSzTx/>
              <a:buFontTx/>
              <a:buNone/>
              <a:tabLst/>
              <a:defRPr/>
            </a:pPr>
            <a:r>
              <a:rPr lang="fr-CA"/>
              <a:t>Faire référence aux positionnements pris en lien avec l’initiative. Si les plus petits positionnements sont requis mais pas encore pris car pas d’impact sur l’architecture venir aussi les identifier ici pour en tenir compte dans le roadmap, la planification.</a:t>
            </a:r>
          </a:p>
          <a:p>
            <a:endParaRPr lang="fr-CA"/>
          </a:p>
        </p:txBody>
      </p:sp>
      <p:sp>
        <p:nvSpPr>
          <p:cNvPr id="4" name="Espace réservé du numéro de diapositive 3">
            <a:extLst>
              <a:ext uri="{FF2B5EF4-FFF2-40B4-BE49-F238E27FC236}">
                <a16:creationId xmlns:a16="http://schemas.microsoft.com/office/drawing/2014/main" id="{B0797937-F259-B8F2-00E8-D42C9648E048}"/>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946126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E718B-BC3B-5C4F-D0E9-B1DF6FE7A2B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F2C5FDB-7F21-7082-8718-4E595E5CEAEB}"/>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841E0830-81B9-43D7-F5D8-015A2D070A7A}"/>
              </a:ext>
            </a:extLst>
          </p:cNvPr>
          <p:cNvSpPr>
            <a:spLocks noGrp="1"/>
          </p:cNvSpPr>
          <p:nvPr>
            <p:ph type="body" idx="1"/>
          </p:nvPr>
        </p:nvSpPr>
        <p:spPr/>
        <p:txBody>
          <a:bodyPr/>
          <a:lstStyle/>
          <a:p>
            <a:pPr marL="0" marR="0" lvl="0" indent="0" algn="l" defTabSz="914286" rtl="0" eaLnBrk="1" fontAlgn="auto" latinLnBrk="0" hangingPunct="1">
              <a:lnSpc>
                <a:spcPct val="100000"/>
              </a:lnSpc>
              <a:spcBef>
                <a:spcPts val="0"/>
              </a:spcBef>
              <a:spcAft>
                <a:spcPts val="0"/>
              </a:spcAft>
              <a:buClrTx/>
              <a:buSzTx/>
              <a:buFontTx/>
              <a:buNone/>
              <a:tabLst/>
              <a:defRPr/>
            </a:pPr>
            <a:r>
              <a:rPr lang="fr-CA"/>
              <a:t>Faire référence aux positionnements pris en lien avec l’initiative. Si les plus petits positionnements sont requis mais pas encore pris car pas d’impact sur l’architecture venir aussi les identifier ici pour en tenir compte dans le roadmap, la planification.</a:t>
            </a:r>
          </a:p>
          <a:p>
            <a:endParaRPr lang="fr-CA"/>
          </a:p>
        </p:txBody>
      </p:sp>
      <p:sp>
        <p:nvSpPr>
          <p:cNvPr id="4" name="Espace réservé du numéro de diapositive 3">
            <a:extLst>
              <a:ext uri="{FF2B5EF4-FFF2-40B4-BE49-F238E27FC236}">
                <a16:creationId xmlns:a16="http://schemas.microsoft.com/office/drawing/2014/main" id="{DB304F04-803F-5531-24BB-231BD0C21913}"/>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639284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CA"/>
              <a:t>Identifier les besoins d’affaires à haut niveau et les différents sujets à creuser. Les besoins devraient être alignés avec les processus. Partir des besoins identifiés lors de l’exploration et venir préciser davantage et confirmer ces besoins.</a:t>
            </a:r>
          </a:p>
        </p:txBody>
      </p:sp>
      <p:sp>
        <p:nvSpPr>
          <p:cNvPr id="4" name="Espace réservé du numéro de diapositive 3"/>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237098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BE8DB-6C42-598E-E5F6-178279661CB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61D2E06-7626-2344-A5C3-262D1FE78C9B}"/>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866F1267-5946-220A-6E76-1A98269E16DC}"/>
              </a:ext>
            </a:extLst>
          </p:cNvPr>
          <p:cNvSpPr>
            <a:spLocks noGrp="1"/>
          </p:cNvSpPr>
          <p:nvPr>
            <p:ph type="body" idx="1"/>
          </p:nvPr>
        </p:nvSpPr>
        <p:spPr/>
        <p:txBody>
          <a:bodyPr/>
          <a:lstStyle/>
          <a:p>
            <a:r>
              <a:rPr lang="fr-CA"/>
              <a:t>Identifier les besoins d’affaires à haut niveau et les différents sujets à creuser. Les besoins devraient être alignés avec les processus. Partir des besoins identifiés lors de l’exploration et venir préciser davantage et confirmer ces besoins.</a:t>
            </a:r>
          </a:p>
        </p:txBody>
      </p:sp>
      <p:sp>
        <p:nvSpPr>
          <p:cNvPr id="4" name="Espace réservé du numéro de diapositive 3">
            <a:extLst>
              <a:ext uri="{FF2B5EF4-FFF2-40B4-BE49-F238E27FC236}">
                <a16:creationId xmlns:a16="http://schemas.microsoft.com/office/drawing/2014/main" id="{1BA92E22-5AF9-BBFE-3B45-3D3787D1EC7A}"/>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51892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37449-2354-9B89-6E6A-789CBD6C0CA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6B21483-35E1-53B4-931E-D4F1AD677677}"/>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28272752-F002-B480-B4FF-AD3C1A9B3861}"/>
              </a:ext>
            </a:extLst>
          </p:cNvPr>
          <p:cNvSpPr>
            <a:spLocks noGrp="1"/>
          </p:cNvSpPr>
          <p:nvPr>
            <p:ph type="body" idx="1"/>
          </p:nvPr>
        </p:nvSpPr>
        <p:spPr/>
        <p:txBody>
          <a:bodyPr/>
          <a:lstStyle/>
          <a:p>
            <a:r>
              <a:rPr lang="fr-CA"/>
              <a:t>Identifier les besoins d’affaires à haut niveau et les différents sujets à creuser. Les besoins devraient être alignés avec les processus. Partir des besoins identifiés lors de l’exploration et venir préciser davantage et confirmer ces besoins.</a:t>
            </a:r>
          </a:p>
        </p:txBody>
      </p:sp>
      <p:sp>
        <p:nvSpPr>
          <p:cNvPr id="4" name="Espace réservé du numéro de diapositive 3">
            <a:extLst>
              <a:ext uri="{FF2B5EF4-FFF2-40B4-BE49-F238E27FC236}">
                <a16:creationId xmlns:a16="http://schemas.microsoft.com/office/drawing/2014/main" id="{F7AD1FC3-8A8D-88B2-7005-2A54111168D9}"/>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0446293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64836-FCCD-FDEA-4BF0-99FE04E7628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32DB267-0278-50D3-BD7D-47F1DB799712}"/>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05336383-6ED3-1EC1-2B7B-F393053AB240}"/>
              </a:ext>
            </a:extLst>
          </p:cNvPr>
          <p:cNvSpPr>
            <a:spLocks noGrp="1"/>
          </p:cNvSpPr>
          <p:nvPr>
            <p:ph type="body" idx="1"/>
          </p:nvPr>
        </p:nvSpPr>
        <p:spPr/>
        <p:txBody>
          <a:bodyPr/>
          <a:lstStyle/>
          <a:p>
            <a:r>
              <a:rPr lang="fr-CA"/>
              <a:t>Identifier les besoins d’affaires à haut niveau et les différents sujets à creuser. Les besoins devraient être alignés avec les processus. Partir des besoins identifiés lors de l’exploration et venir préciser davantage et confirmer ces besoins.</a:t>
            </a:r>
          </a:p>
        </p:txBody>
      </p:sp>
      <p:sp>
        <p:nvSpPr>
          <p:cNvPr id="4" name="Espace réservé du numéro de diapositive 3">
            <a:extLst>
              <a:ext uri="{FF2B5EF4-FFF2-40B4-BE49-F238E27FC236}">
                <a16:creationId xmlns:a16="http://schemas.microsoft.com/office/drawing/2014/main" id="{AFC6B7CD-BBC4-39D1-8336-D75805F8AA19}"/>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5524100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E229A-21E7-E822-1BC8-0EA5B5D22F4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A24EAC1-A32C-FD28-CA57-E723A44D7537}"/>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840F8465-30EC-7E76-3DC1-A0C6CA0FC39C}"/>
              </a:ext>
            </a:extLst>
          </p:cNvPr>
          <p:cNvSpPr>
            <a:spLocks noGrp="1"/>
          </p:cNvSpPr>
          <p:nvPr>
            <p:ph type="body" idx="1"/>
          </p:nvPr>
        </p:nvSpPr>
        <p:spPr/>
        <p:txBody>
          <a:bodyPr/>
          <a:lstStyle/>
          <a:p>
            <a:r>
              <a:rPr lang="fr-CA"/>
              <a:t>Identifier les besoins d’affaires à haut niveau et les différents sujets à creuser. Les besoins devraient être alignés avec les processus. Partir des besoins identifiés lors de l’exploration et venir préciser davantage et confirmer ces besoins.</a:t>
            </a:r>
          </a:p>
        </p:txBody>
      </p:sp>
      <p:sp>
        <p:nvSpPr>
          <p:cNvPr id="4" name="Espace réservé du numéro de diapositive 3">
            <a:extLst>
              <a:ext uri="{FF2B5EF4-FFF2-40B4-BE49-F238E27FC236}">
                <a16:creationId xmlns:a16="http://schemas.microsoft.com/office/drawing/2014/main" id="{64656D68-5FBC-C353-4CB3-9F18FEF9D717}"/>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9204842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2113F-420B-25E4-B1E6-D96C899F2DE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30744AF-9A97-3704-F0CC-731CECE391E9}"/>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73C534C3-318F-C77E-D6EC-480560A66D9B}"/>
              </a:ext>
            </a:extLst>
          </p:cNvPr>
          <p:cNvSpPr>
            <a:spLocks noGrp="1"/>
          </p:cNvSpPr>
          <p:nvPr>
            <p:ph type="body" idx="1"/>
          </p:nvPr>
        </p:nvSpPr>
        <p:spPr/>
        <p:txBody>
          <a:bodyPr/>
          <a:lstStyle/>
          <a:p>
            <a:r>
              <a:rPr lang="fr-CA"/>
              <a:t>Identifier les besoins d’affaires à haut niveau et les différents sujets à creuser. Les besoins devraient être alignés avec les processus. Partir des besoins identifiés lors de l’exploration et venir préciser davantage et confirmer ces besoins.</a:t>
            </a:r>
          </a:p>
        </p:txBody>
      </p:sp>
      <p:sp>
        <p:nvSpPr>
          <p:cNvPr id="4" name="Espace réservé du numéro de diapositive 3">
            <a:extLst>
              <a:ext uri="{FF2B5EF4-FFF2-40B4-BE49-F238E27FC236}">
                <a16:creationId xmlns:a16="http://schemas.microsoft.com/office/drawing/2014/main" id="{D58B152F-FAE1-F068-472C-C304B2C0EBCF}"/>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76052080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0093F-CF3A-B47D-7551-A52D8FCAEF3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4E9CEC2-4CE5-715A-75D7-EE6562A19B13}"/>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D7683AD1-8241-5378-8DE2-14EFB210B391}"/>
              </a:ext>
            </a:extLst>
          </p:cNvPr>
          <p:cNvSpPr>
            <a:spLocks noGrp="1"/>
          </p:cNvSpPr>
          <p:nvPr>
            <p:ph type="body" idx="1"/>
          </p:nvPr>
        </p:nvSpPr>
        <p:spPr/>
        <p:txBody>
          <a:bodyPr/>
          <a:lstStyle/>
          <a:p>
            <a:r>
              <a:rPr lang="fr-CA"/>
              <a:t>Identifier les besoins d’affaires à haut niveau et les différents sujets à creuser. Les besoins devraient être alignés avec les processus. Partir des besoins identifiés lors de l’exploration et venir préciser davantage et confirmer ces besoins.</a:t>
            </a:r>
          </a:p>
        </p:txBody>
      </p:sp>
      <p:sp>
        <p:nvSpPr>
          <p:cNvPr id="4" name="Espace réservé du numéro de diapositive 3">
            <a:extLst>
              <a:ext uri="{FF2B5EF4-FFF2-40B4-BE49-F238E27FC236}">
                <a16:creationId xmlns:a16="http://schemas.microsoft.com/office/drawing/2014/main" id="{907F51B9-7729-D2F4-F3D9-0DBFC6E27799}"/>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093547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E790F-C820-3C32-0950-7AB593E5090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469AD40-F1A3-29E8-CC65-E3C9692107B2}"/>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C7BEC1E7-ACF9-12AF-08CD-DA480C9B37E6}"/>
              </a:ext>
            </a:extLst>
          </p:cNvPr>
          <p:cNvSpPr>
            <a:spLocks noGrp="1"/>
          </p:cNvSpPr>
          <p:nvPr>
            <p:ph type="body" idx="1"/>
          </p:nvPr>
        </p:nvSpPr>
        <p:spPr/>
        <p:txBody>
          <a:bodyPr/>
          <a:lstStyle/>
          <a:p>
            <a:r>
              <a:rPr lang="fr-CA"/>
              <a:t>Identifier les principaux cas d’utilisation pertinent dans le cadre de l’architecture détaillé. Les cas d’utilisation seront détaillés avantage lors de l’analyse d’affaires.</a:t>
            </a:r>
          </a:p>
        </p:txBody>
      </p:sp>
      <p:sp>
        <p:nvSpPr>
          <p:cNvPr id="4" name="Espace réservé du numéro de diapositive 3">
            <a:extLst>
              <a:ext uri="{FF2B5EF4-FFF2-40B4-BE49-F238E27FC236}">
                <a16:creationId xmlns:a16="http://schemas.microsoft.com/office/drawing/2014/main" id="{0A35BF07-2EFA-BE1F-5E8E-A92A4EA0361C}"/>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539109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C4E13-4F67-FDCE-1D25-EAE7CCFAF4B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818B9AB-92A6-5CFD-DC80-AB575758AF82}"/>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1CCDF9A0-9C71-D999-B462-FF470ED9413A}"/>
              </a:ext>
            </a:extLst>
          </p:cNvPr>
          <p:cNvSpPr>
            <a:spLocks noGrp="1"/>
          </p:cNvSpPr>
          <p:nvPr>
            <p:ph type="body" idx="1"/>
          </p:nvPr>
        </p:nvSpPr>
        <p:spPr/>
        <p:txBody>
          <a:bodyPr/>
          <a:lstStyle/>
          <a:p>
            <a:r>
              <a:rPr lang="fr-CA"/>
              <a:t>Identifier les principaux cas d’utilisation pertinent dans le cadre de l’architecture détaillé. Les cas d’utilisation seront détaillés avantage lors de l’analyse d’affaires.</a:t>
            </a:r>
          </a:p>
        </p:txBody>
      </p:sp>
      <p:sp>
        <p:nvSpPr>
          <p:cNvPr id="4" name="Espace réservé du numéro de diapositive 3">
            <a:extLst>
              <a:ext uri="{FF2B5EF4-FFF2-40B4-BE49-F238E27FC236}">
                <a16:creationId xmlns:a16="http://schemas.microsoft.com/office/drawing/2014/main" id="{15659778-B170-97EC-73DB-DC255E1479D2}"/>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86609382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DB6A6-3BCC-2450-2FA6-538D187301A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B953C28-0A91-7513-F6F0-B4BC6874A2D5}"/>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01B60CF9-DFA7-BE6D-DF8B-5BECD88BBB0A}"/>
              </a:ext>
            </a:extLst>
          </p:cNvPr>
          <p:cNvSpPr>
            <a:spLocks noGrp="1"/>
          </p:cNvSpPr>
          <p:nvPr>
            <p:ph type="body" idx="1"/>
          </p:nvPr>
        </p:nvSpPr>
        <p:spPr/>
        <p:txBody>
          <a:bodyPr/>
          <a:lstStyle/>
          <a:p>
            <a:r>
              <a:rPr lang="fr-CA"/>
              <a:t>Identifier les principaux cas d’utilisation pertinent dans le cadre de l’architecture détaillé. Les cas d’utilisation seront détaillés avantage lors de l’analyse d’affaires.</a:t>
            </a:r>
          </a:p>
        </p:txBody>
      </p:sp>
      <p:sp>
        <p:nvSpPr>
          <p:cNvPr id="4" name="Espace réservé du numéro de diapositive 3">
            <a:extLst>
              <a:ext uri="{FF2B5EF4-FFF2-40B4-BE49-F238E27FC236}">
                <a16:creationId xmlns:a16="http://schemas.microsoft.com/office/drawing/2014/main" id="{C9E1BB41-BCEE-4020-0AB0-A163D822DB33}"/>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3143272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C6A06-4E71-2B02-D63D-6483878FEEF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ADF4788-9FF7-5F05-DED6-68371D4D3E9B}"/>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9C8EF79D-87C1-C5BA-F05D-A38889CC5106}"/>
              </a:ext>
            </a:extLst>
          </p:cNvPr>
          <p:cNvSpPr>
            <a:spLocks noGrp="1"/>
          </p:cNvSpPr>
          <p:nvPr>
            <p:ph type="body" idx="1"/>
          </p:nvPr>
        </p:nvSpPr>
        <p:spPr/>
        <p:txBody>
          <a:bodyPr/>
          <a:lstStyle/>
          <a:p>
            <a:r>
              <a:rPr lang="fr-CA"/>
              <a:t>Identifier les principaux cas d’utilisation pertinent dans le cadre de l’architecture détaillé. Les cas d’utilisation seront détaillés avantage lors de l’analyse d’affaires.</a:t>
            </a:r>
          </a:p>
        </p:txBody>
      </p:sp>
      <p:sp>
        <p:nvSpPr>
          <p:cNvPr id="4" name="Espace réservé du numéro de diapositive 3">
            <a:extLst>
              <a:ext uri="{FF2B5EF4-FFF2-40B4-BE49-F238E27FC236}">
                <a16:creationId xmlns:a16="http://schemas.microsoft.com/office/drawing/2014/main" id="{7F728B97-7D8E-EFDB-343E-2FC515A6946B}"/>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5101406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C8A8E-D605-89F5-C60E-D11187349DB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CBCBD84-4C4F-F82E-417D-2906966B77F6}"/>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308C9F1B-5ADA-5DE1-DBCA-DE235787E749}"/>
              </a:ext>
            </a:extLst>
          </p:cNvPr>
          <p:cNvSpPr>
            <a:spLocks noGrp="1"/>
          </p:cNvSpPr>
          <p:nvPr>
            <p:ph type="body" idx="1"/>
          </p:nvPr>
        </p:nvSpPr>
        <p:spPr/>
        <p:txBody>
          <a:bodyPr/>
          <a:lstStyle/>
          <a:p>
            <a:r>
              <a:rPr lang="fr-CA"/>
              <a:t>Identifier les principaux cas d’utilisation pertinent dans le cadre de l’architecture détaillé. Les cas d’utilisation seront détaillés avantage lors de l’analyse d’affaires.</a:t>
            </a:r>
          </a:p>
        </p:txBody>
      </p:sp>
      <p:sp>
        <p:nvSpPr>
          <p:cNvPr id="4" name="Espace réservé du numéro de diapositive 3">
            <a:extLst>
              <a:ext uri="{FF2B5EF4-FFF2-40B4-BE49-F238E27FC236}">
                <a16:creationId xmlns:a16="http://schemas.microsoft.com/office/drawing/2014/main" id="{12464408-C0AD-E7C7-4D73-194B2258346C}"/>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6712207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683CA-3534-392C-0583-4C338CDA33B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ED1E372-FFE9-86F3-1399-4769A0ABCC75}"/>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6E1838F1-3491-FC20-F5E4-5407C45395B6}"/>
              </a:ext>
            </a:extLst>
          </p:cNvPr>
          <p:cNvSpPr>
            <a:spLocks noGrp="1"/>
          </p:cNvSpPr>
          <p:nvPr>
            <p:ph type="body" idx="1"/>
          </p:nvPr>
        </p:nvSpPr>
        <p:spPr/>
        <p:txBody>
          <a:bodyPr/>
          <a:lstStyle/>
          <a:p>
            <a:r>
              <a:rPr lang="fr-CA"/>
              <a:t>Identifier les principaux cas d’utilisation pertinent dans le cadre de l’architecture détaillé. Les cas d’utilisation seront détaillés avantage lors de l’analyse d’affaires.</a:t>
            </a:r>
          </a:p>
        </p:txBody>
      </p:sp>
      <p:sp>
        <p:nvSpPr>
          <p:cNvPr id="4" name="Espace réservé du numéro de diapositive 3">
            <a:extLst>
              <a:ext uri="{FF2B5EF4-FFF2-40B4-BE49-F238E27FC236}">
                <a16:creationId xmlns:a16="http://schemas.microsoft.com/office/drawing/2014/main" id="{D224FF3C-B8CB-6CA5-F6E1-4F86198115D6}"/>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86484298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E6BD2-E791-6705-7653-D3055226D37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94CBE9B-7FEF-F13C-FD2D-61A2C31C6BC4}"/>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A0B9005B-9E69-2445-7E27-EEC4C5799EBC}"/>
              </a:ext>
            </a:extLst>
          </p:cNvPr>
          <p:cNvSpPr>
            <a:spLocks noGrp="1"/>
          </p:cNvSpPr>
          <p:nvPr>
            <p:ph type="body" idx="1"/>
          </p:nvPr>
        </p:nvSpPr>
        <p:spPr/>
        <p:txBody>
          <a:bodyPr/>
          <a:lstStyle/>
          <a:p>
            <a:r>
              <a:rPr lang="fr-CA"/>
              <a:t>Identifier les principaux cas d’utilisation pertinent dans le cadre de l’architecture détaillé. Les cas d’utilisation seront détaillés avantage lors de l’analyse d’affaires.</a:t>
            </a:r>
          </a:p>
        </p:txBody>
      </p:sp>
      <p:sp>
        <p:nvSpPr>
          <p:cNvPr id="4" name="Espace réservé du numéro de diapositive 3">
            <a:extLst>
              <a:ext uri="{FF2B5EF4-FFF2-40B4-BE49-F238E27FC236}">
                <a16:creationId xmlns:a16="http://schemas.microsoft.com/office/drawing/2014/main" id="{489916E8-1201-6992-A2C1-DDF8A91C4B1C}"/>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3141390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9FC7D-2C8A-5DB1-799C-53ECB1C6193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D52716C-771F-945E-A5DE-988CFBC89B5E}"/>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6362B6C1-8227-8548-ED72-2AB891E481BF}"/>
              </a:ext>
            </a:extLst>
          </p:cNvPr>
          <p:cNvSpPr>
            <a:spLocks noGrp="1"/>
          </p:cNvSpPr>
          <p:nvPr>
            <p:ph type="body" idx="1"/>
          </p:nvPr>
        </p:nvSpPr>
        <p:spPr/>
        <p:txBody>
          <a:bodyPr/>
          <a:lstStyle/>
          <a:p>
            <a:r>
              <a:rPr lang="fr-CA"/>
              <a:t>Identifier les principaux cas d’utilisation pertinent dans le cadre de l’architecture détaillé. Les cas d’utilisation seront détaillés avantage lors de l’analyse d’affaires.</a:t>
            </a:r>
          </a:p>
        </p:txBody>
      </p:sp>
      <p:sp>
        <p:nvSpPr>
          <p:cNvPr id="4" name="Espace réservé du numéro de diapositive 3">
            <a:extLst>
              <a:ext uri="{FF2B5EF4-FFF2-40B4-BE49-F238E27FC236}">
                <a16:creationId xmlns:a16="http://schemas.microsoft.com/office/drawing/2014/main" id="{2BB8222E-A26A-6F2F-B401-8A9BC79FCBE0}"/>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1423670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52D2F3-D408-80B9-A09D-8B3DA13BD95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9C37690-3E25-05C4-D91F-2DAD9675B01F}"/>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745CD9AD-ABDF-2C6A-1FA6-63EC47E4D59A}"/>
              </a:ext>
            </a:extLst>
          </p:cNvPr>
          <p:cNvSpPr>
            <a:spLocks noGrp="1"/>
          </p:cNvSpPr>
          <p:nvPr>
            <p:ph type="body" idx="1"/>
          </p:nvPr>
        </p:nvSpPr>
        <p:spPr/>
        <p:txBody>
          <a:bodyPr/>
          <a:lstStyle/>
          <a:p>
            <a:r>
              <a:rPr lang="fr-CA"/>
              <a:t>Identifier les principaux cas d’utilisation pertinent dans le cadre de l’architecture détaillé. Les cas d’utilisation seront détaillés avantage lors de l’analyse d’affaires.</a:t>
            </a:r>
          </a:p>
        </p:txBody>
      </p:sp>
      <p:sp>
        <p:nvSpPr>
          <p:cNvPr id="4" name="Espace réservé du numéro de diapositive 3">
            <a:extLst>
              <a:ext uri="{FF2B5EF4-FFF2-40B4-BE49-F238E27FC236}">
                <a16:creationId xmlns:a16="http://schemas.microsoft.com/office/drawing/2014/main" id="{99817F6B-1862-B017-1FC3-9879ACB5560B}"/>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04777771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FE67A-9AFD-CF76-043B-818B0DF63EE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8B0CBC9-C3B5-B8FF-F062-D3410CF9E9C8}"/>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C4709F87-DC25-0E29-999E-F8CD63BE79CE}"/>
              </a:ext>
            </a:extLst>
          </p:cNvPr>
          <p:cNvSpPr>
            <a:spLocks noGrp="1"/>
          </p:cNvSpPr>
          <p:nvPr>
            <p:ph type="body" idx="1"/>
          </p:nvPr>
        </p:nvSpPr>
        <p:spPr/>
        <p:txBody>
          <a:bodyPr/>
          <a:lstStyle/>
          <a:p>
            <a:r>
              <a:rPr lang="fr-CA"/>
              <a:t>Identifier les principaux cas d’utilisation pertinent dans le cadre de l’architecture détaillé. Les cas d’utilisation seront détaillés avantage lors de l’analyse d’affaires.</a:t>
            </a:r>
          </a:p>
        </p:txBody>
      </p:sp>
      <p:sp>
        <p:nvSpPr>
          <p:cNvPr id="4" name="Espace réservé du numéro de diapositive 3">
            <a:extLst>
              <a:ext uri="{FF2B5EF4-FFF2-40B4-BE49-F238E27FC236}">
                <a16:creationId xmlns:a16="http://schemas.microsoft.com/office/drawing/2014/main" id="{CE774F5D-EEED-D0FE-A623-0B011B7130EB}"/>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7769202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C3C57-BE1F-A2AF-98BE-75B6A982871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6A7B435-31B9-428C-5F47-8410DC00B99D}"/>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04118665-410F-83E9-F73E-C6B49157F8EE}"/>
              </a:ext>
            </a:extLst>
          </p:cNvPr>
          <p:cNvSpPr>
            <a:spLocks noGrp="1"/>
          </p:cNvSpPr>
          <p:nvPr>
            <p:ph type="body" idx="1"/>
          </p:nvPr>
        </p:nvSpPr>
        <p:spPr/>
        <p:txBody>
          <a:bodyPr/>
          <a:lstStyle/>
          <a:p>
            <a:r>
              <a:rPr lang="fr-CA"/>
              <a:t>Identifier les principaux cas d’utilisation pertinent dans le cadre de l’architecture détaillé. Les cas d’utilisation seront détaillés avantage lors de l’analyse d’affaires.</a:t>
            </a:r>
          </a:p>
        </p:txBody>
      </p:sp>
      <p:sp>
        <p:nvSpPr>
          <p:cNvPr id="4" name="Espace réservé du numéro de diapositive 3">
            <a:extLst>
              <a:ext uri="{FF2B5EF4-FFF2-40B4-BE49-F238E27FC236}">
                <a16:creationId xmlns:a16="http://schemas.microsoft.com/office/drawing/2014/main" id="{79DFCDB2-76DA-87FB-2EE8-D1CC9F749667}"/>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99104099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pPr marL="0" marR="0" lvl="0" indent="0" algn="l" defTabSz="914286" rtl="0" eaLnBrk="1" fontAlgn="auto" latinLnBrk="0" hangingPunct="1">
              <a:lnSpc>
                <a:spcPct val="100000"/>
              </a:lnSpc>
              <a:spcBef>
                <a:spcPts val="0"/>
              </a:spcBef>
              <a:spcAft>
                <a:spcPts val="0"/>
              </a:spcAft>
              <a:buClrTx/>
              <a:buSzTx/>
              <a:buFontTx/>
              <a:buNone/>
              <a:tabLst/>
              <a:defRPr/>
            </a:pPr>
            <a:r>
              <a:rPr lang="fr-CA">
                <a:hlinkClick r:id="rId3"/>
              </a:rPr>
              <a:t>Équipes impactées _ En construction.xlsx</a:t>
            </a:r>
            <a:endParaRPr lang="fr-CA"/>
          </a:p>
          <a:p>
            <a:r>
              <a:rPr lang="fr-CA"/>
              <a:t>Lister les processus impactés et comment chacun sont impactés, ces impacts vont servir à identifier les activités à réaliser et à quantifier dans le fichier d’estimé des efforts</a:t>
            </a:r>
          </a:p>
          <a:p>
            <a:r>
              <a:rPr lang="fr-CA"/>
              <a:t>Devrait servir à lister les différentes activités dans le fichier </a:t>
            </a:r>
            <a:r>
              <a:rPr lang="fr-CA" err="1"/>
              <a:t>excel</a:t>
            </a:r>
            <a:r>
              <a:rPr lang="fr-CA"/>
              <a:t> d’estimé des efforts</a:t>
            </a:r>
          </a:p>
          <a:p>
            <a:endParaRPr lang="fr-CA"/>
          </a:p>
        </p:txBody>
      </p:sp>
      <p:sp>
        <p:nvSpPr>
          <p:cNvPr id="4" name="Espace réservé du numéro de diapositive 3"/>
          <p:cNvSpPr>
            <a:spLocks noGrp="1"/>
          </p:cNvSpPr>
          <p:nvPr>
            <p:ph type="sldNum" sz="quarter" idx="5"/>
          </p:nvPr>
        </p:nvSpPr>
        <p:spPr/>
        <p:txBody>
          <a:bodyPr/>
          <a:lstStyle/>
          <a:p>
            <a:fld id="{02AF3B2A-F821-4FE3-8FB8-DA5134B26F6E}" type="slidenum">
              <a:rPr lang="en-US" smtClean="0"/>
              <a:pPr/>
              <a:t>50</a:t>
            </a:fld>
            <a:endParaRPr lang="en-US"/>
          </a:p>
        </p:txBody>
      </p:sp>
    </p:spTree>
    <p:extLst>
      <p:ext uri="{BB962C8B-B14F-4D97-AF65-F5344CB8AC3E}">
        <p14:creationId xmlns:p14="http://schemas.microsoft.com/office/powerpoint/2010/main" val="214806723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5A44-BA78-5C3E-7C5E-E9DE874EE35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2F30F47-E0C1-3F2C-CB06-BBB6CD898AD2}"/>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3D240235-A83F-FD9E-E255-BDAD44722C30}"/>
              </a:ext>
            </a:extLst>
          </p:cNvPr>
          <p:cNvSpPr>
            <a:spLocks noGrp="1"/>
          </p:cNvSpPr>
          <p:nvPr>
            <p:ph type="body" idx="1"/>
          </p:nvPr>
        </p:nvSpPr>
        <p:spPr/>
        <p:txBody>
          <a:bodyPr/>
          <a:lstStyle/>
          <a:p>
            <a:pPr marL="0" marR="0" lvl="0" indent="0" algn="l" defTabSz="914286" rtl="0" eaLnBrk="1" fontAlgn="auto" latinLnBrk="0" hangingPunct="1">
              <a:lnSpc>
                <a:spcPct val="100000"/>
              </a:lnSpc>
              <a:spcBef>
                <a:spcPts val="0"/>
              </a:spcBef>
              <a:spcAft>
                <a:spcPts val="0"/>
              </a:spcAft>
              <a:buClrTx/>
              <a:buSzTx/>
              <a:buFontTx/>
              <a:buNone/>
              <a:tabLst/>
              <a:defRPr/>
            </a:pPr>
            <a:r>
              <a:rPr lang="fr-CA">
                <a:hlinkClick r:id="rId3"/>
              </a:rPr>
              <a:t>Équipes impactées _ En construction.xlsx</a:t>
            </a:r>
            <a:endParaRPr lang="fr-CA"/>
          </a:p>
          <a:p>
            <a:r>
              <a:rPr lang="fr-CA"/>
              <a:t>Lister les processus impactés et comment chacun sont impactés, ces impacts vont servir à identifier les activités à réaliser et à quantifier dans le fichier d’estimé des efforts</a:t>
            </a:r>
          </a:p>
          <a:p>
            <a:r>
              <a:rPr lang="fr-CA"/>
              <a:t>Devrait servir à lister les différentes activités dans le fichier </a:t>
            </a:r>
            <a:r>
              <a:rPr lang="fr-CA" err="1"/>
              <a:t>excel</a:t>
            </a:r>
            <a:r>
              <a:rPr lang="fr-CA"/>
              <a:t> d’estimé des efforts</a:t>
            </a:r>
          </a:p>
          <a:p>
            <a:endParaRPr lang="fr-CA"/>
          </a:p>
        </p:txBody>
      </p:sp>
      <p:sp>
        <p:nvSpPr>
          <p:cNvPr id="4" name="Espace réservé du numéro de diapositive 3">
            <a:extLst>
              <a:ext uri="{FF2B5EF4-FFF2-40B4-BE49-F238E27FC236}">
                <a16:creationId xmlns:a16="http://schemas.microsoft.com/office/drawing/2014/main" id="{F769E939-F72F-389C-1AE7-A7DC9E085483}"/>
              </a:ext>
            </a:extLst>
          </p:cNvPr>
          <p:cNvSpPr>
            <a:spLocks noGrp="1"/>
          </p:cNvSpPr>
          <p:nvPr>
            <p:ph type="sldNum" sz="quarter" idx="5"/>
          </p:nvPr>
        </p:nvSpPr>
        <p:spPr/>
        <p:txBody>
          <a:bodyPr/>
          <a:lstStyle/>
          <a:p>
            <a:fld id="{02AF3B2A-F821-4FE3-8FB8-DA5134B26F6E}" type="slidenum">
              <a:rPr lang="en-US" smtClean="0"/>
              <a:pPr/>
              <a:t>51</a:t>
            </a:fld>
            <a:endParaRPr lang="en-US"/>
          </a:p>
        </p:txBody>
      </p:sp>
    </p:spTree>
    <p:extLst>
      <p:ext uri="{BB962C8B-B14F-4D97-AF65-F5344CB8AC3E}">
        <p14:creationId xmlns:p14="http://schemas.microsoft.com/office/powerpoint/2010/main" val="109234749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pPr marL="0" marR="0" lvl="0" indent="0" algn="l" defTabSz="914286" rtl="0" eaLnBrk="1" fontAlgn="auto" latinLnBrk="0" hangingPunct="1">
              <a:lnSpc>
                <a:spcPct val="100000"/>
              </a:lnSpc>
              <a:spcBef>
                <a:spcPts val="0"/>
              </a:spcBef>
              <a:spcAft>
                <a:spcPts val="0"/>
              </a:spcAft>
              <a:buClrTx/>
              <a:buSzTx/>
              <a:buFontTx/>
              <a:buNone/>
              <a:tabLst/>
              <a:defRPr/>
            </a:pPr>
            <a:r>
              <a:rPr lang="fr-CA"/>
              <a:t>EN cours de constructions</a:t>
            </a:r>
          </a:p>
          <a:p>
            <a:endParaRPr lang="fr-CA"/>
          </a:p>
        </p:txBody>
      </p:sp>
      <p:sp>
        <p:nvSpPr>
          <p:cNvPr id="4" name="Espace réservé du numéro de diapositive 3"/>
          <p:cNvSpPr>
            <a:spLocks noGrp="1"/>
          </p:cNvSpPr>
          <p:nvPr>
            <p:ph type="sldNum" sz="quarter" idx="5"/>
          </p:nvPr>
        </p:nvSpPr>
        <p:spPr/>
        <p:txBody>
          <a:bodyPr/>
          <a:lstStyle/>
          <a:p>
            <a:fld id="{02AF3B2A-F821-4FE3-8FB8-DA5134B26F6E}" type="slidenum">
              <a:rPr lang="en-US" smtClean="0"/>
              <a:pPr/>
              <a:t>52</a:t>
            </a:fld>
            <a:endParaRPr lang="en-US"/>
          </a:p>
        </p:txBody>
      </p:sp>
    </p:spTree>
    <p:extLst>
      <p:ext uri="{BB962C8B-B14F-4D97-AF65-F5344CB8AC3E}">
        <p14:creationId xmlns:p14="http://schemas.microsoft.com/office/powerpoint/2010/main" val="250095944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normAutofit lnSpcReduction="10000"/>
          </a:bodyPr>
          <a:lstStyle/>
          <a:p>
            <a:r>
              <a:rPr lang="fr-CA" b="1" u="sng"/>
              <a:t>Restreint : </a:t>
            </a:r>
          </a:p>
          <a:p>
            <a:pPr lvl="1"/>
            <a:r>
              <a:rPr lang="fr-CA"/>
              <a:t>o L’utilisation, la divulgation, l’altération ou la destruction non autorisée de ces données pourrait entraîner un niveau de risque très élevé pour la Société. </a:t>
            </a:r>
          </a:p>
          <a:p>
            <a:pPr lvl="1"/>
            <a:r>
              <a:rPr lang="fr-CA" b="1" u="sng"/>
              <a:t>o Le plus haut niveau de contrôles de sécurité devrait être appliqué aux données critiques. </a:t>
            </a:r>
          </a:p>
          <a:p>
            <a:r>
              <a:rPr lang="fr-CA" b="1" u="sng"/>
              <a:t>Confidentiel : </a:t>
            </a:r>
          </a:p>
          <a:p>
            <a:pPr lvl="1"/>
            <a:r>
              <a:rPr lang="fr-CA"/>
              <a:t>o L’utilisation, la divulgation, l’altération ou la destruction non autorisée de ces données pourrait entraîner un niveau élevé de risque pour la Société. </a:t>
            </a:r>
          </a:p>
          <a:p>
            <a:pPr lvl="1"/>
            <a:r>
              <a:rPr lang="fr-CA"/>
              <a:t>o Un niveau élevé de contrôles de sécurité devrait être appliqué aux données confidentielles. </a:t>
            </a:r>
          </a:p>
          <a:p>
            <a:pPr lvl="0"/>
            <a:r>
              <a:rPr lang="fr-CA" b="1" u="sng"/>
              <a:t>Interne : </a:t>
            </a:r>
          </a:p>
          <a:p>
            <a:pPr lvl="1"/>
            <a:r>
              <a:rPr lang="fr-CA"/>
              <a:t>o L’utilisation, la divulgation, l’altération ou la destruction non autorisée de ces données pourrait entraîner un niveau de risque faible ou modéré pour la Société. </a:t>
            </a:r>
          </a:p>
          <a:p>
            <a:pPr lvl="1"/>
            <a:r>
              <a:rPr lang="fr-CA"/>
              <a:t>o Un niveau raisonnable de contrôles de sécurité devrait être appliqué aux données internes. </a:t>
            </a:r>
          </a:p>
          <a:p>
            <a:pPr lvl="0"/>
            <a:r>
              <a:rPr lang="fr-CA" b="1" u="sng"/>
              <a:t>Public : </a:t>
            </a:r>
          </a:p>
          <a:p>
            <a:pPr lvl="1"/>
            <a:r>
              <a:rPr lang="fr-CA"/>
              <a:t>o L’utilisation, la divulgation, l’altération ou la destruction non autorisée de ces données entraînerait peu ou pas de risque pour la Société. </a:t>
            </a:r>
          </a:p>
          <a:p>
            <a:pPr lvl="1"/>
            <a:r>
              <a:rPr lang="fr-CA"/>
              <a:t>o Bien que peu ou pas de contrôles soient nécessaires pour protéger la confidentialité des données publiques, un certain niveau de contrôle est nécessaire pour empêcher leur modification ou leur destruction non autorisées.</a:t>
            </a:r>
          </a:p>
        </p:txBody>
      </p:sp>
      <p:sp>
        <p:nvSpPr>
          <p:cNvPr id="4" name="Espace réservé du numéro de diapositive 3"/>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53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0787159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CA"/>
              <a:t>Indiquer les projets impactés par ce projet et les éléments de d’autres projets à considérer pour ce projet-ci ou les projets que cette initiative peut impacter</a:t>
            </a:r>
          </a:p>
          <a:p>
            <a:endParaRPr lang="fr-CA"/>
          </a:p>
          <a:p>
            <a:r>
              <a:rPr lang="fr-CA"/>
              <a:t>Source d’impact :</a:t>
            </a:r>
          </a:p>
          <a:p>
            <a:pPr marL="171450" indent="-171450">
              <a:buFontTx/>
              <a:buChar char="-"/>
            </a:pPr>
            <a:r>
              <a:rPr lang="fr-CA"/>
              <a:t>Projet CFO et Tours</a:t>
            </a:r>
          </a:p>
          <a:p>
            <a:pPr marL="171450" indent="-171450">
              <a:buFontTx/>
              <a:buChar char="-"/>
            </a:pPr>
            <a:r>
              <a:rPr lang="fr-CA"/>
              <a:t>Roadmap Technologique CFO</a:t>
            </a:r>
          </a:p>
          <a:p>
            <a:pPr marL="171450" indent="-171450">
              <a:buFontTx/>
              <a:buChar char="-"/>
            </a:pPr>
            <a:r>
              <a:rPr lang="fr-CA"/>
              <a:t>Roadmap VPTI</a:t>
            </a:r>
          </a:p>
          <a:p>
            <a:pPr marL="171450" indent="-171450">
              <a:buFontTx/>
              <a:buChar char="-"/>
            </a:pPr>
            <a:endParaRPr lang="fr-CA"/>
          </a:p>
          <a:p>
            <a:pPr marL="171450" indent="-171450">
              <a:buFontTx/>
              <a:buChar char="-"/>
            </a:pPr>
            <a:endParaRPr lang="fr-CA"/>
          </a:p>
        </p:txBody>
      </p:sp>
      <p:sp>
        <p:nvSpPr>
          <p:cNvPr id="4" name="Espace réservé du numéro de diapositive 3"/>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54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0316777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ACF7F-2A30-030D-7CE1-450F423592C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84E8971-A476-BC56-7A3C-0ECAEE12E56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04AEE5E-6ED6-F719-D192-28F77535DCB4}"/>
              </a:ext>
            </a:extLst>
          </p:cNvPr>
          <p:cNvSpPr>
            <a:spLocks noGrp="1"/>
          </p:cNvSpPr>
          <p:nvPr>
            <p:ph type="body" idx="1"/>
          </p:nvPr>
        </p:nvSpPr>
        <p:spPr/>
        <p:txBody>
          <a:bodyPr/>
          <a:lstStyle/>
          <a:p>
            <a:r>
              <a:rPr lang="fr-CA"/>
              <a:t>Elle implique la définition et l’optimisation des processus d’affaires pour atteindre les objectifs fixés.</a:t>
            </a:r>
          </a:p>
        </p:txBody>
      </p:sp>
      <p:sp>
        <p:nvSpPr>
          <p:cNvPr id="4" name="Espace réservé du numéro de diapositive 3">
            <a:extLst>
              <a:ext uri="{FF2B5EF4-FFF2-40B4-BE49-F238E27FC236}">
                <a16:creationId xmlns:a16="http://schemas.microsoft.com/office/drawing/2014/main" id="{CCDFD61B-1A83-4DC3-879E-6F13E5EA4CBE}"/>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55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78447719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E23F3-BA39-C3B1-60C0-70284DC55CA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24BFAB0-F86A-34E1-2A7F-7DE1A4B649F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41B988F-4AA5-AA2B-CB1F-E924E09EB0E9}"/>
              </a:ext>
            </a:extLst>
          </p:cNvPr>
          <p:cNvSpPr>
            <a:spLocks noGrp="1"/>
          </p:cNvSpPr>
          <p:nvPr>
            <p:ph type="body" idx="1"/>
          </p:nvPr>
        </p:nvSpPr>
        <p:spPr/>
        <p:txBody>
          <a:bodyPr/>
          <a:lstStyle/>
          <a:p>
            <a:r>
              <a:rPr lang="fr-CA"/>
              <a:t>Discuter si on doit plutôt avoir un gabarit </a:t>
            </a:r>
            <a:r>
              <a:rPr lang="fr-CA" err="1"/>
              <a:t>excel</a:t>
            </a:r>
            <a:r>
              <a:rPr lang="fr-CA"/>
              <a:t> pour le roadmap et mettre un vue globale ici.</a:t>
            </a:r>
          </a:p>
          <a:p>
            <a:r>
              <a:rPr lang="fr-CA"/>
              <a:t>Le découpage d’un projet peut se faire de différentes façons: par processus, par objectifs, par livrables, par activités, … il faut évaluer en lien avec le projet ce qui sera le plus pertinent.</a:t>
            </a:r>
          </a:p>
        </p:txBody>
      </p:sp>
      <p:sp>
        <p:nvSpPr>
          <p:cNvPr id="4" name="Espace réservé du numéro de diapositive 3">
            <a:extLst>
              <a:ext uri="{FF2B5EF4-FFF2-40B4-BE49-F238E27FC236}">
                <a16:creationId xmlns:a16="http://schemas.microsoft.com/office/drawing/2014/main" id="{3C711A0C-F792-B1CB-F8DA-AC51029C8099}"/>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62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07482309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Discuter si on doit plutôt avoir un gabarit </a:t>
            </a:r>
            <a:r>
              <a:rPr lang="fr-CA" err="1"/>
              <a:t>excel</a:t>
            </a:r>
            <a:r>
              <a:rPr lang="fr-CA"/>
              <a:t> pour le roadmap et mettre un vue globale ici.</a:t>
            </a:r>
          </a:p>
          <a:p>
            <a:r>
              <a:rPr lang="fr-CA"/>
              <a:t>Le découpage d’un projet peut se faire de différentes façons: par processus, par objectifs, par livrables, par activités, … il faut évaluer en lien avec le projet ce qui sera le plus pertinent.</a:t>
            </a:r>
          </a:p>
        </p:txBody>
      </p:sp>
      <p:sp>
        <p:nvSpPr>
          <p:cNvPr id="4" name="Espace réservé du numéro de diapositive 3"/>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63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7946189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8321E-E3A3-E011-D01F-82DACAC7E54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934D1AB-616A-9F57-8999-B6C4017CF5B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D40DFA0-2977-D6EB-EDA5-B7ED97636B11}"/>
              </a:ext>
            </a:extLst>
          </p:cNvPr>
          <p:cNvSpPr>
            <a:spLocks noGrp="1"/>
          </p:cNvSpPr>
          <p:nvPr>
            <p:ph type="body" idx="1"/>
          </p:nvPr>
        </p:nvSpPr>
        <p:spPr/>
        <p:txBody>
          <a:bodyPr/>
          <a:lstStyle/>
          <a:p>
            <a:r>
              <a:rPr lang="fr-CA"/>
              <a:t>Discuter si on doit plutôt avoir un gabarit </a:t>
            </a:r>
            <a:r>
              <a:rPr lang="fr-CA" err="1"/>
              <a:t>excel</a:t>
            </a:r>
            <a:r>
              <a:rPr lang="fr-CA"/>
              <a:t> pour le roadmap et mettre un vue globale ici.</a:t>
            </a:r>
          </a:p>
          <a:p>
            <a:r>
              <a:rPr lang="fr-CA"/>
              <a:t>Le découpage d’un projet peut se faire de différentes façons: par processus, par objectifs, par livrables, par activités, … il faut évaluer en lien avec le projet ce qui sera le plus pertinent.</a:t>
            </a:r>
          </a:p>
        </p:txBody>
      </p:sp>
      <p:sp>
        <p:nvSpPr>
          <p:cNvPr id="4" name="Espace réservé du numéro de diapositive 3">
            <a:extLst>
              <a:ext uri="{FF2B5EF4-FFF2-40B4-BE49-F238E27FC236}">
                <a16:creationId xmlns:a16="http://schemas.microsoft.com/office/drawing/2014/main" id="{367686D4-6E63-6C88-1740-30599F558975}"/>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64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39115119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CA"/>
              <a:t>Fonctions d’affaires avec lien entre eux, flux de données</a:t>
            </a:r>
          </a:p>
          <a:p>
            <a:r>
              <a:rPr lang="fr-CA"/>
              <a:t>Équipes, rôles, processus</a:t>
            </a:r>
          </a:p>
        </p:txBody>
      </p:sp>
      <p:sp>
        <p:nvSpPr>
          <p:cNvPr id="4" name="Espace réservé du numéro de diapositive 3"/>
          <p:cNvSpPr>
            <a:spLocks noGrp="1"/>
          </p:cNvSpPr>
          <p:nvPr>
            <p:ph type="sldNum" sz="quarter" idx="5"/>
          </p:nvPr>
        </p:nvSpPr>
        <p:spPr/>
        <p:txBody>
          <a:bodyPr/>
          <a:lstStyle/>
          <a:p>
            <a:fld id="{02AF3B2A-F821-4FE3-8FB8-DA5134B26F6E}" type="slidenum">
              <a:rPr lang="en-US" smtClean="0"/>
              <a:pPr/>
              <a:t>65</a:t>
            </a:fld>
            <a:endParaRPr lang="en-US"/>
          </a:p>
        </p:txBody>
      </p:sp>
    </p:spTree>
    <p:extLst>
      <p:ext uri="{BB962C8B-B14F-4D97-AF65-F5344CB8AC3E}">
        <p14:creationId xmlns:p14="http://schemas.microsoft.com/office/powerpoint/2010/main" val="374184658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02AF3B2A-F821-4FE3-8FB8-DA5134B26F6E}" type="slidenum">
              <a:rPr lang="en-US" smtClean="0"/>
              <a:pPr/>
              <a:t>66</a:t>
            </a:fld>
            <a:endParaRPr lang="en-US"/>
          </a:p>
        </p:txBody>
      </p:sp>
    </p:spTree>
    <p:extLst>
      <p:ext uri="{BB962C8B-B14F-4D97-AF65-F5344CB8AC3E}">
        <p14:creationId xmlns:p14="http://schemas.microsoft.com/office/powerpoint/2010/main" val="181131938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02AF3B2A-F821-4FE3-8FB8-DA5134B26F6E}" type="slidenum">
              <a:rPr lang="en-US" smtClean="0"/>
              <a:pPr/>
              <a:t>71</a:t>
            </a:fld>
            <a:endParaRPr lang="en-US"/>
          </a:p>
        </p:txBody>
      </p:sp>
    </p:spTree>
    <p:extLst>
      <p:ext uri="{BB962C8B-B14F-4D97-AF65-F5344CB8AC3E}">
        <p14:creationId xmlns:p14="http://schemas.microsoft.com/office/powerpoint/2010/main" val="374172423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8AD9D-709A-C0BC-80FD-466960AC283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5A36343-2A3C-6447-F718-F78F33F66C63}"/>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861CAE27-6911-5647-57C9-FB5E2A66695E}"/>
              </a:ext>
            </a:extLst>
          </p:cNvPr>
          <p:cNvSpPr>
            <a:spLocks noGrp="1"/>
          </p:cNvSpPr>
          <p:nvPr>
            <p:ph type="body" idx="1"/>
          </p:nvPr>
        </p:nvSpPr>
        <p:spPr/>
        <p:txBody>
          <a:bodyPr/>
          <a:lstStyle/>
          <a:p>
            <a:pPr marL="0" marR="0" lvl="0" indent="0" algn="l" defTabSz="914286" rtl="0" eaLnBrk="1" fontAlgn="auto" latinLnBrk="0" hangingPunct="1">
              <a:lnSpc>
                <a:spcPct val="100000"/>
              </a:lnSpc>
              <a:spcBef>
                <a:spcPts val="0"/>
              </a:spcBef>
              <a:spcAft>
                <a:spcPts val="0"/>
              </a:spcAft>
              <a:buClrTx/>
              <a:buSzTx/>
              <a:buFontTx/>
              <a:buNone/>
              <a:tabLst/>
              <a:defRPr/>
            </a:pPr>
            <a:r>
              <a:rPr lang="fr-CA"/>
              <a:t>Faire référence aux positionnements pris en lien avec l’initiative. Si les plus petits positionnements sont requis mais pas encore pris car pas d’impact sur l’architecture venir aussi les identifier ici pour en tenir compte dans le roadmap, la planification.</a:t>
            </a:r>
          </a:p>
          <a:p>
            <a:endParaRPr lang="fr-CA"/>
          </a:p>
        </p:txBody>
      </p:sp>
      <p:sp>
        <p:nvSpPr>
          <p:cNvPr id="4" name="Espace réservé du numéro de diapositive 3">
            <a:extLst>
              <a:ext uri="{FF2B5EF4-FFF2-40B4-BE49-F238E27FC236}">
                <a16:creationId xmlns:a16="http://schemas.microsoft.com/office/drawing/2014/main" id="{7C074DBE-F5FA-0742-DDFD-51215E0746E9}"/>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72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8863984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02AF3B2A-F821-4FE3-8FB8-DA5134B26F6E}" type="slidenum">
              <a:rPr lang="en-US" smtClean="0"/>
              <a:pPr/>
              <a:t>74</a:t>
            </a:fld>
            <a:endParaRPr lang="en-US"/>
          </a:p>
        </p:txBody>
      </p:sp>
    </p:spTree>
    <p:extLst>
      <p:ext uri="{BB962C8B-B14F-4D97-AF65-F5344CB8AC3E}">
        <p14:creationId xmlns:p14="http://schemas.microsoft.com/office/powerpoint/2010/main" val="4527414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CA"/>
              <a:t>Permet de prendre les notes des différentes rencontres tenues pour recueillir de l’information pour l’analyse</a:t>
            </a:r>
          </a:p>
        </p:txBody>
      </p:sp>
      <p:sp>
        <p:nvSpPr>
          <p:cNvPr id="4" name="Espace réservé du numéro de diapositive 3"/>
          <p:cNvSpPr>
            <a:spLocks noGrp="1"/>
          </p:cNvSpPr>
          <p:nvPr>
            <p:ph type="sldNum" sz="quarter" idx="5"/>
          </p:nvPr>
        </p:nvSpPr>
        <p:spPr/>
        <p:txBody>
          <a:bodyPr/>
          <a:lstStyle/>
          <a:p>
            <a:fld id="{02AF3B2A-F821-4FE3-8FB8-DA5134B26F6E}" type="slidenum">
              <a:rPr lang="en-US" smtClean="0"/>
              <a:pPr/>
              <a:t>76</a:t>
            </a:fld>
            <a:endParaRPr lang="en-US"/>
          </a:p>
        </p:txBody>
      </p:sp>
    </p:spTree>
    <p:extLst>
      <p:ext uri="{BB962C8B-B14F-4D97-AF65-F5344CB8AC3E}">
        <p14:creationId xmlns:p14="http://schemas.microsoft.com/office/powerpoint/2010/main" val="379163502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02AF3B2A-F821-4FE3-8FB8-DA5134B26F6E}" type="slidenum">
              <a:rPr lang="en-US" smtClean="0"/>
              <a:pPr/>
              <a:t>77</a:t>
            </a:fld>
            <a:endParaRPr lang="en-US"/>
          </a:p>
        </p:txBody>
      </p:sp>
    </p:spTree>
    <p:extLst>
      <p:ext uri="{BB962C8B-B14F-4D97-AF65-F5344CB8AC3E}">
        <p14:creationId xmlns:p14="http://schemas.microsoft.com/office/powerpoint/2010/main" val="146725719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CA"/>
              <a:t>Un document bien structuré sert de boussole, autant pour les architectes que pour les gestionnaires de projet et les décideurs. </a:t>
            </a:r>
          </a:p>
        </p:txBody>
      </p:sp>
      <p:sp>
        <p:nvSpPr>
          <p:cNvPr id="4" name="Espace réservé du numéro de diapositive 3"/>
          <p:cNvSpPr>
            <a:spLocks noGrp="1"/>
          </p:cNvSpPr>
          <p:nvPr>
            <p:ph type="sldNum" sz="quarter" idx="5"/>
          </p:nvPr>
        </p:nvSpPr>
        <p:spPr/>
        <p:txBody>
          <a:bodyPr/>
          <a:lstStyle/>
          <a:p>
            <a:fld id="{02AF3B2A-F821-4FE3-8FB8-DA5134B26F6E}" type="slidenum">
              <a:rPr lang="en-US" smtClean="0"/>
              <a:pPr/>
              <a:t>78</a:t>
            </a:fld>
            <a:endParaRPr lang="en-US"/>
          </a:p>
        </p:txBody>
      </p:sp>
    </p:spTree>
    <p:extLst>
      <p:ext uri="{BB962C8B-B14F-4D97-AF65-F5344CB8AC3E}">
        <p14:creationId xmlns:p14="http://schemas.microsoft.com/office/powerpoint/2010/main" val="396093196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pPr marL="0" marR="0" lvl="0" indent="0" algn="l" defTabSz="914286" rtl="0" eaLnBrk="1" fontAlgn="auto" latinLnBrk="0" hangingPunct="1">
              <a:lnSpc>
                <a:spcPct val="100000"/>
              </a:lnSpc>
              <a:spcBef>
                <a:spcPts val="0"/>
              </a:spcBef>
              <a:spcAft>
                <a:spcPts val="0"/>
              </a:spcAft>
              <a:buClrTx/>
              <a:buSzTx/>
              <a:buFontTx/>
              <a:buNone/>
              <a:tabLst/>
              <a:defRPr/>
            </a:pPr>
            <a:r>
              <a:rPr lang="fr-FR"/>
              <a:t>À partir de l’exploration: confirmer les hypothèses, valider les besoins et détailler au besoin, valider/préciser les uses cases et confirmer au besoin, détailler le schéma d’architecture, détailler les changements de processus, mettre à jour les risques</a:t>
            </a:r>
          </a:p>
          <a:p>
            <a:endParaRPr lang="fr-CA"/>
          </a:p>
        </p:txBody>
      </p:sp>
      <p:sp>
        <p:nvSpPr>
          <p:cNvPr id="4" name="Espace réservé du numéro de diapositive 3"/>
          <p:cNvSpPr>
            <a:spLocks noGrp="1"/>
          </p:cNvSpPr>
          <p:nvPr>
            <p:ph type="sldNum" sz="quarter" idx="5"/>
          </p:nvPr>
        </p:nvSpPr>
        <p:spPr/>
        <p:txBody>
          <a:bodyPr/>
          <a:lstStyle/>
          <a:p>
            <a:fld id="{02AF3B2A-F821-4FE3-8FB8-DA5134B26F6E}" type="slidenum">
              <a:rPr lang="en-US" smtClean="0"/>
              <a:pPr/>
              <a:t>79</a:t>
            </a:fld>
            <a:endParaRPr lang="en-US"/>
          </a:p>
        </p:txBody>
      </p:sp>
    </p:spTree>
    <p:extLst>
      <p:ext uri="{BB962C8B-B14F-4D97-AF65-F5344CB8AC3E}">
        <p14:creationId xmlns:p14="http://schemas.microsoft.com/office/powerpoint/2010/main" val="246295890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emf"/></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14.jpeg"/></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Diapositive de tit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D3C1CA6-DCC3-6640-9F22-2306CDE9C1A1}"/>
              </a:ext>
            </a:extLst>
          </p:cNvPr>
          <p:cNvSpPr/>
          <p:nvPr userDrawn="1"/>
        </p:nvSpPr>
        <p:spPr>
          <a:xfrm>
            <a:off x="0" y="0"/>
            <a:ext cx="228600" cy="5143500"/>
          </a:xfrm>
          <a:prstGeom prst="rect">
            <a:avLst/>
          </a:prstGeom>
          <a:solidFill>
            <a:srgbClr val="00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a:p>
        </p:txBody>
      </p:sp>
      <p:sp>
        <p:nvSpPr>
          <p:cNvPr id="6" name="Titre 1">
            <a:extLst>
              <a:ext uri="{FF2B5EF4-FFF2-40B4-BE49-F238E27FC236}">
                <a16:creationId xmlns:a16="http://schemas.microsoft.com/office/drawing/2014/main" id="{85D9E6E5-7144-9147-8196-DA4BB44A24BE}"/>
              </a:ext>
            </a:extLst>
          </p:cNvPr>
          <p:cNvSpPr>
            <a:spLocks noGrp="1"/>
          </p:cNvSpPr>
          <p:nvPr>
            <p:ph type="title"/>
          </p:nvPr>
        </p:nvSpPr>
        <p:spPr>
          <a:xfrm>
            <a:off x="3429000" y="274638"/>
            <a:ext cx="5486400" cy="993775"/>
          </a:xfrm>
        </p:spPr>
        <p:txBody>
          <a:bodyPr/>
          <a:lstStyle/>
          <a:p>
            <a:r>
              <a:rPr lang="fr-FR"/>
              <a:t>Modifiez le style du titre</a:t>
            </a:r>
            <a:endParaRPr lang="fr-CA"/>
          </a:p>
        </p:txBody>
      </p:sp>
      <p:sp>
        <p:nvSpPr>
          <p:cNvPr id="8" name="Sous-titre 2">
            <a:extLst>
              <a:ext uri="{FF2B5EF4-FFF2-40B4-BE49-F238E27FC236}">
                <a16:creationId xmlns:a16="http://schemas.microsoft.com/office/drawing/2014/main" id="{82BFCE22-C758-E148-B3E4-8959961A882C}"/>
              </a:ext>
            </a:extLst>
          </p:cNvPr>
          <p:cNvSpPr>
            <a:spLocks noGrp="1"/>
          </p:cNvSpPr>
          <p:nvPr>
            <p:ph type="subTitle" idx="1" hasCustomPrompt="1"/>
          </p:nvPr>
        </p:nvSpPr>
        <p:spPr>
          <a:xfrm>
            <a:off x="3429000" y="1428750"/>
            <a:ext cx="5486400" cy="2971800"/>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a:t>
            </a:r>
            <a:br>
              <a:rPr lang="fr-FR"/>
            </a:br>
            <a:r>
              <a:rPr lang="fr-FR"/>
              <a:t>du masque</a:t>
            </a:r>
            <a:endParaRPr lang="fr-CA"/>
          </a:p>
        </p:txBody>
      </p:sp>
    </p:spTree>
    <p:extLst>
      <p:ext uri="{BB962C8B-B14F-4D97-AF65-F5344CB8AC3E}">
        <p14:creationId xmlns:p14="http://schemas.microsoft.com/office/powerpoint/2010/main" val="3577053976"/>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7_Diapositive de titr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E262CBF-96FD-2044-B564-E2C9A3FF2DD6}"/>
              </a:ext>
            </a:extLst>
          </p:cNvPr>
          <p:cNvSpPr/>
          <p:nvPr userDrawn="1"/>
        </p:nvSpPr>
        <p:spPr>
          <a:xfrm>
            <a:off x="0" y="740366"/>
            <a:ext cx="4191000" cy="3662771"/>
          </a:xfrm>
          <a:prstGeom prst="rect">
            <a:avLst/>
          </a:prstGeom>
          <a:solidFill>
            <a:srgbClr val="00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a:p>
        </p:txBody>
      </p:sp>
      <p:pic>
        <p:nvPicPr>
          <p:cNvPr id="7" name="Picture 6">
            <a:extLst>
              <a:ext uri="{FF2B5EF4-FFF2-40B4-BE49-F238E27FC236}">
                <a16:creationId xmlns:a16="http://schemas.microsoft.com/office/drawing/2014/main" id="{B7CB8FD8-CD2B-074B-B983-3450B53F176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33400" y="3500721"/>
            <a:ext cx="1219200" cy="654077"/>
          </a:xfrm>
          <a:prstGeom prst="rect">
            <a:avLst/>
          </a:prstGeom>
        </p:spPr>
      </p:pic>
      <p:sp>
        <p:nvSpPr>
          <p:cNvPr id="9" name="Titre 1">
            <a:extLst>
              <a:ext uri="{FF2B5EF4-FFF2-40B4-BE49-F238E27FC236}">
                <a16:creationId xmlns:a16="http://schemas.microsoft.com/office/drawing/2014/main" id="{C7DF5142-B16E-1049-9201-07BA37C5F186}"/>
              </a:ext>
            </a:extLst>
          </p:cNvPr>
          <p:cNvSpPr>
            <a:spLocks noGrp="1"/>
          </p:cNvSpPr>
          <p:nvPr>
            <p:ph type="title" hasCustomPrompt="1"/>
          </p:nvPr>
        </p:nvSpPr>
        <p:spPr>
          <a:xfrm>
            <a:off x="476794" y="1047750"/>
            <a:ext cx="3485606" cy="993775"/>
          </a:xfrm>
        </p:spPr>
        <p:txBody>
          <a:bodyPr/>
          <a:lstStyle>
            <a:lvl1pPr>
              <a:defRPr>
                <a:solidFill>
                  <a:schemeClr val="bg1"/>
                </a:solidFill>
              </a:defRPr>
            </a:lvl1pPr>
          </a:lstStyle>
          <a:p>
            <a:r>
              <a:rPr lang="fr-FR"/>
              <a:t>Modifiez le style</a:t>
            </a:r>
            <a:br>
              <a:rPr lang="fr-FR"/>
            </a:br>
            <a:r>
              <a:rPr lang="fr-FR"/>
              <a:t>du titre</a:t>
            </a:r>
            <a:endParaRPr lang="fr-CA"/>
          </a:p>
        </p:txBody>
      </p:sp>
      <p:sp>
        <p:nvSpPr>
          <p:cNvPr id="10" name="Sous-titre 2">
            <a:extLst>
              <a:ext uri="{FF2B5EF4-FFF2-40B4-BE49-F238E27FC236}">
                <a16:creationId xmlns:a16="http://schemas.microsoft.com/office/drawing/2014/main" id="{E560253B-3C24-E446-A570-64B91F74828B}"/>
              </a:ext>
            </a:extLst>
          </p:cNvPr>
          <p:cNvSpPr>
            <a:spLocks noGrp="1"/>
          </p:cNvSpPr>
          <p:nvPr>
            <p:ph type="subTitle" idx="1" hasCustomPrompt="1"/>
          </p:nvPr>
        </p:nvSpPr>
        <p:spPr>
          <a:xfrm>
            <a:off x="476794" y="2259297"/>
            <a:ext cx="3485606" cy="842679"/>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a:t>
            </a:r>
            <a:br>
              <a:rPr lang="fr-FR"/>
            </a:br>
            <a:r>
              <a:rPr lang="fr-FR"/>
              <a:t>sous-titres du masque</a:t>
            </a:r>
            <a:endParaRPr lang="fr-CA"/>
          </a:p>
        </p:txBody>
      </p:sp>
    </p:spTree>
    <p:extLst>
      <p:ext uri="{BB962C8B-B14F-4D97-AF65-F5344CB8AC3E}">
        <p14:creationId xmlns:p14="http://schemas.microsoft.com/office/powerpoint/2010/main" val="1211611044"/>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6">
            <a:extLst>
              <a:ext uri="{FF2B5EF4-FFF2-40B4-BE49-F238E27FC236}">
                <a16:creationId xmlns:a16="http://schemas.microsoft.com/office/drawing/2014/main" id="{C6DC9D68-6B6A-E047-8ADF-E7D4397E12E8}"/>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457200" y="4175953"/>
            <a:ext cx="1208734" cy="654077"/>
          </a:xfrm>
          <a:prstGeom prst="rect">
            <a:avLst/>
          </a:prstGeom>
        </p:spPr>
      </p:pic>
      <p:sp>
        <p:nvSpPr>
          <p:cNvPr id="7" name="Titre 1">
            <a:extLst>
              <a:ext uri="{FF2B5EF4-FFF2-40B4-BE49-F238E27FC236}">
                <a16:creationId xmlns:a16="http://schemas.microsoft.com/office/drawing/2014/main" id="{C349E387-184C-9C4F-8901-4D9CEA52167C}"/>
              </a:ext>
            </a:extLst>
          </p:cNvPr>
          <p:cNvSpPr>
            <a:spLocks noGrp="1"/>
          </p:cNvSpPr>
          <p:nvPr>
            <p:ph type="title" hasCustomPrompt="1"/>
          </p:nvPr>
        </p:nvSpPr>
        <p:spPr>
          <a:xfrm>
            <a:off x="381000" y="313470"/>
            <a:ext cx="4495800" cy="993775"/>
          </a:xfrm>
        </p:spPr>
        <p:txBody>
          <a:bodyPr/>
          <a:lstStyle>
            <a:lvl1pPr>
              <a:defRPr>
                <a:solidFill>
                  <a:schemeClr val="bg1"/>
                </a:solidFill>
              </a:defRPr>
            </a:lvl1pPr>
          </a:lstStyle>
          <a:p>
            <a:r>
              <a:rPr lang="fr-FR"/>
              <a:t>Modifiez le style</a:t>
            </a:r>
            <a:br>
              <a:rPr lang="fr-FR"/>
            </a:br>
            <a:r>
              <a:rPr lang="fr-FR"/>
              <a:t>du titre</a:t>
            </a:r>
            <a:endParaRPr lang="fr-CA"/>
          </a:p>
        </p:txBody>
      </p:sp>
      <p:sp>
        <p:nvSpPr>
          <p:cNvPr id="8" name="Sous-titre 2">
            <a:extLst>
              <a:ext uri="{FF2B5EF4-FFF2-40B4-BE49-F238E27FC236}">
                <a16:creationId xmlns:a16="http://schemas.microsoft.com/office/drawing/2014/main" id="{D4F1ED48-2A68-E948-A0CA-231AFC1EBD2D}"/>
              </a:ext>
            </a:extLst>
          </p:cNvPr>
          <p:cNvSpPr>
            <a:spLocks noGrp="1"/>
          </p:cNvSpPr>
          <p:nvPr>
            <p:ph type="subTitle" idx="1" hasCustomPrompt="1"/>
          </p:nvPr>
        </p:nvSpPr>
        <p:spPr>
          <a:xfrm>
            <a:off x="381000" y="1525017"/>
            <a:ext cx="4495800" cy="2418333"/>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a:t>
            </a:r>
            <a:br>
              <a:rPr lang="fr-FR"/>
            </a:br>
            <a:r>
              <a:rPr lang="fr-FR"/>
              <a:t>sous-titres du masque</a:t>
            </a:r>
            <a:endParaRPr lang="fr-CA"/>
          </a:p>
        </p:txBody>
      </p:sp>
      <p:sp>
        <p:nvSpPr>
          <p:cNvPr id="2" name="Rectangle 1">
            <a:extLst>
              <a:ext uri="{FF2B5EF4-FFF2-40B4-BE49-F238E27FC236}">
                <a16:creationId xmlns:a16="http://schemas.microsoft.com/office/drawing/2014/main" id="{F452C65F-9E49-AF47-9192-24BE1D562E84}"/>
              </a:ext>
            </a:extLst>
          </p:cNvPr>
          <p:cNvSpPr/>
          <p:nvPr userDrawn="1"/>
        </p:nvSpPr>
        <p:spPr>
          <a:xfrm>
            <a:off x="417653" y="4095750"/>
            <a:ext cx="1371600" cy="838200"/>
          </a:xfrm>
          <a:prstGeom prst="rect">
            <a:avLst/>
          </a:prstGeom>
          <a:solidFill>
            <a:srgbClr val="0019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pic>
        <p:nvPicPr>
          <p:cNvPr id="11" name="Image 10">
            <a:extLst>
              <a:ext uri="{FF2B5EF4-FFF2-40B4-BE49-F238E27FC236}">
                <a16:creationId xmlns:a16="http://schemas.microsoft.com/office/drawing/2014/main" id="{749FC02C-F55E-364C-BA27-BC850F28CB5A}"/>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457200" y="4175230"/>
            <a:ext cx="1219200" cy="654077"/>
          </a:xfrm>
          <a:prstGeom prst="rect">
            <a:avLst/>
          </a:prstGeom>
        </p:spPr>
      </p:pic>
    </p:spTree>
    <p:extLst>
      <p:ext uri="{BB962C8B-B14F-4D97-AF65-F5344CB8AC3E}">
        <p14:creationId xmlns:p14="http://schemas.microsoft.com/office/powerpoint/2010/main" val="351302251"/>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rdre du jour - Agenda">
    <p:bg>
      <p:bgPr>
        <a:solidFill>
          <a:schemeClr val="bg1">
            <a:lumMod val="95000"/>
          </a:schemeClr>
        </a:solidFill>
        <a:effectLst/>
      </p:bgPr>
    </p:bg>
    <p:spTree>
      <p:nvGrpSpPr>
        <p:cNvPr id="1" name=""/>
        <p:cNvGrpSpPr/>
        <p:nvPr/>
      </p:nvGrpSpPr>
      <p:grpSpPr>
        <a:xfrm>
          <a:off x="0" y="0"/>
          <a:ext cx="0" cy="0"/>
          <a:chOff x="0" y="0"/>
          <a:chExt cx="0" cy="0"/>
        </a:xfrm>
      </p:grpSpPr>
      <p:sp>
        <p:nvSpPr>
          <p:cNvPr id="6" name="Titre 1">
            <a:extLst>
              <a:ext uri="{FF2B5EF4-FFF2-40B4-BE49-F238E27FC236}">
                <a16:creationId xmlns:a16="http://schemas.microsoft.com/office/drawing/2014/main" id="{0F260EE9-F0FD-B641-963F-E43B50384264}"/>
              </a:ext>
            </a:extLst>
          </p:cNvPr>
          <p:cNvSpPr>
            <a:spLocks noGrp="1"/>
          </p:cNvSpPr>
          <p:nvPr>
            <p:ph type="title"/>
          </p:nvPr>
        </p:nvSpPr>
        <p:spPr>
          <a:xfrm>
            <a:off x="2819400" y="274638"/>
            <a:ext cx="6172200" cy="993775"/>
          </a:xfrm>
        </p:spPr>
        <p:txBody>
          <a:bodyPr/>
          <a:lstStyle/>
          <a:p>
            <a:r>
              <a:rPr lang="fr-FR"/>
              <a:t>Modifiez le style du titre</a:t>
            </a:r>
            <a:endParaRPr lang="fr-CA"/>
          </a:p>
        </p:txBody>
      </p:sp>
      <p:sp>
        <p:nvSpPr>
          <p:cNvPr id="7" name="Espace réservé du contenu 2">
            <a:extLst>
              <a:ext uri="{FF2B5EF4-FFF2-40B4-BE49-F238E27FC236}">
                <a16:creationId xmlns:a16="http://schemas.microsoft.com/office/drawing/2014/main" id="{1C05878B-CD2D-5949-A357-4670373674D0}"/>
              </a:ext>
            </a:extLst>
          </p:cNvPr>
          <p:cNvSpPr>
            <a:spLocks noGrp="1"/>
          </p:cNvSpPr>
          <p:nvPr>
            <p:ph idx="1"/>
          </p:nvPr>
        </p:nvSpPr>
        <p:spPr>
          <a:xfrm>
            <a:off x="2819400" y="1370013"/>
            <a:ext cx="6172200" cy="326231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pic>
        <p:nvPicPr>
          <p:cNvPr id="3" name="Image 2" descr="Une image contenant texte, horloge, montre&#10;&#10;Description générée automatiquement">
            <a:extLst>
              <a:ext uri="{FF2B5EF4-FFF2-40B4-BE49-F238E27FC236}">
                <a16:creationId xmlns:a16="http://schemas.microsoft.com/office/drawing/2014/main" id="{F488ECA4-A99D-D64D-98E4-B100C50030F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2520824" cy="5143500"/>
          </a:xfrm>
          <a:prstGeom prst="rect">
            <a:avLst/>
          </a:prstGeom>
        </p:spPr>
      </p:pic>
    </p:spTree>
    <p:extLst>
      <p:ext uri="{BB962C8B-B14F-4D97-AF65-F5344CB8AC3E}">
        <p14:creationId xmlns:p14="http://schemas.microsoft.com/office/powerpoint/2010/main" val="3429702020"/>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pitre - Chapter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9EE2D7C-9C63-564B-8B6D-1FB237BAFC4C}"/>
              </a:ext>
            </a:extLst>
          </p:cNvPr>
          <p:cNvSpPr/>
          <p:nvPr userDrawn="1"/>
        </p:nvSpPr>
        <p:spPr>
          <a:xfrm>
            <a:off x="0" y="0"/>
            <a:ext cx="228600" cy="5143500"/>
          </a:xfrm>
          <a:prstGeom prst="rect">
            <a:avLst/>
          </a:prstGeom>
          <a:solidFill>
            <a:srgbClr val="00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4800" noProof="0">
              <a:solidFill>
                <a:srgbClr val="003DA5"/>
              </a:solidFill>
            </a:endParaRPr>
          </a:p>
        </p:txBody>
      </p:sp>
      <p:sp>
        <p:nvSpPr>
          <p:cNvPr id="5" name="Titre 1">
            <a:extLst>
              <a:ext uri="{FF2B5EF4-FFF2-40B4-BE49-F238E27FC236}">
                <a16:creationId xmlns:a16="http://schemas.microsoft.com/office/drawing/2014/main" id="{7FB761F4-093C-C740-97A6-21FC5EFDFFF4}"/>
              </a:ext>
            </a:extLst>
          </p:cNvPr>
          <p:cNvSpPr>
            <a:spLocks noGrp="1"/>
          </p:cNvSpPr>
          <p:nvPr>
            <p:ph type="title"/>
          </p:nvPr>
        </p:nvSpPr>
        <p:spPr>
          <a:xfrm>
            <a:off x="457200" y="285750"/>
            <a:ext cx="6172200" cy="993775"/>
          </a:xfrm>
        </p:spPr>
        <p:txBody>
          <a:bodyPr/>
          <a:lstStyle/>
          <a:p>
            <a:r>
              <a:rPr lang="fr-FR"/>
              <a:t>Modifiez le style du titre</a:t>
            </a:r>
            <a:endParaRPr lang="fr-CA"/>
          </a:p>
        </p:txBody>
      </p:sp>
      <p:sp>
        <p:nvSpPr>
          <p:cNvPr id="6" name="Espace réservé du contenu 2">
            <a:extLst>
              <a:ext uri="{FF2B5EF4-FFF2-40B4-BE49-F238E27FC236}">
                <a16:creationId xmlns:a16="http://schemas.microsoft.com/office/drawing/2014/main" id="{0A68EEAA-103B-A440-B9B4-7F87693A63DA}"/>
              </a:ext>
            </a:extLst>
          </p:cNvPr>
          <p:cNvSpPr>
            <a:spLocks noGrp="1"/>
          </p:cNvSpPr>
          <p:nvPr>
            <p:ph idx="1"/>
          </p:nvPr>
        </p:nvSpPr>
        <p:spPr>
          <a:xfrm>
            <a:off x="455579" y="1428750"/>
            <a:ext cx="6172200" cy="35052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Tree>
    <p:extLst>
      <p:ext uri="{BB962C8B-B14F-4D97-AF65-F5344CB8AC3E}">
        <p14:creationId xmlns:p14="http://schemas.microsoft.com/office/powerpoint/2010/main" val="2659391919"/>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hapitre - Chapter 1">
    <p:bg>
      <p:bgPr>
        <a:solidFill>
          <a:schemeClr val="bg1">
            <a:lumMod val="95000"/>
          </a:schemeClr>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9EE2D7C-9C63-564B-8B6D-1FB237BAFC4C}"/>
              </a:ext>
            </a:extLst>
          </p:cNvPr>
          <p:cNvSpPr/>
          <p:nvPr userDrawn="1"/>
        </p:nvSpPr>
        <p:spPr>
          <a:xfrm>
            <a:off x="0" y="0"/>
            <a:ext cx="228600" cy="5143500"/>
          </a:xfrm>
          <a:prstGeom prst="rect">
            <a:avLst/>
          </a:prstGeom>
          <a:solidFill>
            <a:srgbClr val="00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4800" noProof="0">
              <a:solidFill>
                <a:srgbClr val="003DA5"/>
              </a:solidFill>
            </a:endParaRPr>
          </a:p>
        </p:txBody>
      </p:sp>
      <p:sp>
        <p:nvSpPr>
          <p:cNvPr id="5" name="Titre 1">
            <a:extLst>
              <a:ext uri="{FF2B5EF4-FFF2-40B4-BE49-F238E27FC236}">
                <a16:creationId xmlns:a16="http://schemas.microsoft.com/office/drawing/2014/main" id="{7FB761F4-093C-C740-97A6-21FC5EFDFFF4}"/>
              </a:ext>
            </a:extLst>
          </p:cNvPr>
          <p:cNvSpPr>
            <a:spLocks noGrp="1"/>
          </p:cNvSpPr>
          <p:nvPr>
            <p:ph type="title"/>
          </p:nvPr>
        </p:nvSpPr>
        <p:spPr>
          <a:xfrm>
            <a:off x="457200" y="285750"/>
            <a:ext cx="8458200" cy="993775"/>
          </a:xfrm>
        </p:spPr>
        <p:txBody>
          <a:bodyPr/>
          <a:lstStyle/>
          <a:p>
            <a:r>
              <a:rPr lang="fr-FR"/>
              <a:t>Modifiez le style du titre</a:t>
            </a:r>
            <a:endParaRPr lang="fr-CA"/>
          </a:p>
        </p:txBody>
      </p:sp>
      <p:sp>
        <p:nvSpPr>
          <p:cNvPr id="6" name="Espace réservé du contenu 2">
            <a:extLst>
              <a:ext uri="{FF2B5EF4-FFF2-40B4-BE49-F238E27FC236}">
                <a16:creationId xmlns:a16="http://schemas.microsoft.com/office/drawing/2014/main" id="{0A68EEAA-103B-A440-B9B4-7F87693A63DA}"/>
              </a:ext>
            </a:extLst>
          </p:cNvPr>
          <p:cNvSpPr>
            <a:spLocks noGrp="1"/>
          </p:cNvSpPr>
          <p:nvPr>
            <p:ph idx="1"/>
          </p:nvPr>
        </p:nvSpPr>
        <p:spPr>
          <a:xfrm>
            <a:off x="455578" y="1428750"/>
            <a:ext cx="8458199" cy="35052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Tree>
    <p:extLst>
      <p:ext uri="{BB962C8B-B14F-4D97-AF65-F5344CB8AC3E}">
        <p14:creationId xmlns:p14="http://schemas.microsoft.com/office/powerpoint/2010/main" val="2011190942"/>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Chapitre - Chapter 1">
    <p:bg>
      <p:bgPr>
        <a:solidFill>
          <a:schemeClr val="bg1">
            <a:lumMod val="95000"/>
          </a:schemeClr>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9EE2D7C-9C63-564B-8B6D-1FB237BAFC4C}"/>
              </a:ext>
            </a:extLst>
          </p:cNvPr>
          <p:cNvSpPr/>
          <p:nvPr userDrawn="1"/>
        </p:nvSpPr>
        <p:spPr>
          <a:xfrm>
            <a:off x="0" y="0"/>
            <a:ext cx="228600" cy="5143500"/>
          </a:xfrm>
          <a:prstGeom prst="rect">
            <a:avLst/>
          </a:prstGeom>
          <a:solidFill>
            <a:srgbClr val="00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4800" noProof="0">
              <a:solidFill>
                <a:srgbClr val="003DA5"/>
              </a:solidFill>
            </a:endParaRPr>
          </a:p>
        </p:txBody>
      </p:sp>
      <p:sp>
        <p:nvSpPr>
          <p:cNvPr id="5" name="Titre 1">
            <a:extLst>
              <a:ext uri="{FF2B5EF4-FFF2-40B4-BE49-F238E27FC236}">
                <a16:creationId xmlns:a16="http://schemas.microsoft.com/office/drawing/2014/main" id="{7FB761F4-093C-C740-97A6-21FC5EFDFFF4}"/>
              </a:ext>
            </a:extLst>
          </p:cNvPr>
          <p:cNvSpPr>
            <a:spLocks noGrp="1"/>
          </p:cNvSpPr>
          <p:nvPr>
            <p:ph type="title"/>
          </p:nvPr>
        </p:nvSpPr>
        <p:spPr>
          <a:xfrm>
            <a:off x="457200" y="285750"/>
            <a:ext cx="8138809" cy="993775"/>
          </a:xfrm>
        </p:spPr>
        <p:txBody>
          <a:bodyPr/>
          <a:lstStyle/>
          <a:p>
            <a:r>
              <a:rPr lang="fr-FR"/>
              <a:t>Modifiez le style du titre</a:t>
            </a:r>
            <a:endParaRPr lang="fr-CA"/>
          </a:p>
        </p:txBody>
      </p:sp>
      <p:sp>
        <p:nvSpPr>
          <p:cNvPr id="6" name="Espace réservé du contenu 2">
            <a:extLst>
              <a:ext uri="{FF2B5EF4-FFF2-40B4-BE49-F238E27FC236}">
                <a16:creationId xmlns:a16="http://schemas.microsoft.com/office/drawing/2014/main" id="{0A68EEAA-103B-A440-B9B4-7F87693A63DA}"/>
              </a:ext>
            </a:extLst>
          </p:cNvPr>
          <p:cNvSpPr>
            <a:spLocks noGrp="1"/>
          </p:cNvSpPr>
          <p:nvPr>
            <p:ph idx="1"/>
          </p:nvPr>
        </p:nvSpPr>
        <p:spPr>
          <a:xfrm>
            <a:off x="455579" y="1428750"/>
            <a:ext cx="3964022" cy="35052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7" name="Espace réservé du contenu 2">
            <a:extLst>
              <a:ext uri="{FF2B5EF4-FFF2-40B4-BE49-F238E27FC236}">
                <a16:creationId xmlns:a16="http://schemas.microsoft.com/office/drawing/2014/main" id="{1A5A8260-B6ED-BA4C-A8CC-B30A3E301A83}"/>
              </a:ext>
            </a:extLst>
          </p:cNvPr>
          <p:cNvSpPr>
            <a:spLocks noGrp="1"/>
          </p:cNvSpPr>
          <p:nvPr>
            <p:ph idx="10"/>
          </p:nvPr>
        </p:nvSpPr>
        <p:spPr>
          <a:xfrm>
            <a:off x="4631987" y="1428750"/>
            <a:ext cx="3964022" cy="35052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Tree>
    <p:extLst>
      <p:ext uri="{BB962C8B-B14F-4D97-AF65-F5344CB8AC3E}">
        <p14:creationId xmlns:p14="http://schemas.microsoft.com/office/powerpoint/2010/main" val="1075517792"/>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Chapitre - Chapter 1">
    <p:bg>
      <p:bgPr>
        <a:solidFill>
          <a:schemeClr val="bg1">
            <a:lumMod val="95000"/>
          </a:schemeClr>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9EE2D7C-9C63-564B-8B6D-1FB237BAFC4C}"/>
              </a:ext>
            </a:extLst>
          </p:cNvPr>
          <p:cNvSpPr/>
          <p:nvPr userDrawn="1"/>
        </p:nvSpPr>
        <p:spPr>
          <a:xfrm>
            <a:off x="0" y="0"/>
            <a:ext cx="228600" cy="5143500"/>
          </a:xfrm>
          <a:prstGeom prst="rect">
            <a:avLst/>
          </a:prstGeom>
          <a:solidFill>
            <a:srgbClr val="00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4800" noProof="0">
              <a:solidFill>
                <a:srgbClr val="003DA5"/>
              </a:solidFill>
            </a:endParaRPr>
          </a:p>
        </p:txBody>
      </p:sp>
      <p:sp>
        <p:nvSpPr>
          <p:cNvPr id="5" name="Titre 1">
            <a:extLst>
              <a:ext uri="{FF2B5EF4-FFF2-40B4-BE49-F238E27FC236}">
                <a16:creationId xmlns:a16="http://schemas.microsoft.com/office/drawing/2014/main" id="{7FB761F4-093C-C740-97A6-21FC5EFDFFF4}"/>
              </a:ext>
            </a:extLst>
          </p:cNvPr>
          <p:cNvSpPr>
            <a:spLocks noGrp="1"/>
          </p:cNvSpPr>
          <p:nvPr>
            <p:ph type="title"/>
          </p:nvPr>
        </p:nvSpPr>
        <p:spPr>
          <a:xfrm>
            <a:off x="457200" y="285750"/>
            <a:ext cx="8138809" cy="993775"/>
          </a:xfrm>
        </p:spPr>
        <p:txBody>
          <a:bodyPr/>
          <a:lstStyle/>
          <a:p>
            <a:r>
              <a:rPr lang="fr-FR"/>
              <a:t>Modifiez le style du titre</a:t>
            </a:r>
            <a:endParaRPr lang="fr-CA"/>
          </a:p>
        </p:txBody>
      </p:sp>
      <p:sp>
        <p:nvSpPr>
          <p:cNvPr id="3" name="Espace réservé du contenu 2">
            <a:extLst>
              <a:ext uri="{FF2B5EF4-FFF2-40B4-BE49-F238E27FC236}">
                <a16:creationId xmlns:a16="http://schemas.microsoft.com/office/drawing/2014/main" id="{BAFE3A23-E747-2D45-B04C-A7E31968E53B}"/>
              </a:ext>
            </a:extLst>
          </p:cNvPr>
          <p:cNvSpPr>
            <a:spLocks noGrp="1"/>
          </p:cNvSpPr>
          <p:nvPr>
            <p:ph sz="quarter" idx="10" hasCustomPrompt="1"/>
          </p:nvPr>
        </p:nvSpPr>
        <p:spPr>
          <a:xfrm>
            <a:off x="457200" y="1428750"/>
            <a:ext cx="8139113" cy="457200"/>
          </a:xfrm>
        </p:spPr>
        <p:txBody>
          <a:bodyPr>
            <a:normAutofit/>
          </a:bodyPr>
          <a:lstStyle>
            <a:lvl1pPr>
              <a:defRPr sz="2200"/>
            </a:lvl1pPr>
          </a:lstStyle>
          <a:p>
            <a:pPr lvl="0"/>
            <a:r>
              <a:rPr lang="fr-FR"/>
              <a:t>- Modifiez le style du texte</a:t>
            </a:r>
            <a:endParaRPr lang="fr-CA"/>
          </a:p>
        </p:txBody>
      </p:sp>
      <p:sp>
        <p:nvSpPr>
          <p:cNvPr id="17" name="Espace réservé du contenu 2">
            <a:extLst>
              <a:ext uri="{FF2B5EF4-FFF2-40B4-BE49-F238E27FC236}">
                <a16:creationId xmlns:a16="http://schemas.microsoft.com/office/drawing/2014/main" id="{5384E274-23B7-4749-B101-739D01568C63}"/>
              </a:ext>
            </a:extLst>
          </p:cNvPr>
          <p:cNvSpPr>
            <a:spLocks noGrp="1"/>
          </p:cNvSpPr>
          <p:nvPr>
            <p:ph sz="quarter" idx="11" hasCustomPrompt="1"/>
          </p:nvPr>
        </p:nvSpPr>
        <p:spPr>
          <a:xfrm>
            <a:off x="457200" y="2050366"/>
            <a:ext cx="8139113" cy="457200"/>
          </a:xfrm>
        </p:spPr>
        <p:txBody>
          <a:bodyPr>
            <a:normAutofit/>
          </a:bodyPr>
          <a:lstStyle>
            <a:lvl1pPr>
              <a:defRPr sz="2200"/>
            </a:lvl1pPr>
          </a:lstStyle>
          <a:p>
            <a:pPr lvl="0"/>
            <a:r>
              <a:rPr lang="fr-FR"/>
              <a:t>- Modifiez le style du texte</a:t>
            </a:r>
            <a:endParaRPr lang="fr-CA"/>
          </a:p>
        </p:txBody>
      </p:sp>
      <p:sp>
        <p:nvSpPr>
          <p:cNvPr id="18" name="Espace réservé du contenu 2">
            <a:extLst>
              <a:ext uri="{FF2B5EF4-FFF2-40B4-BE49-F238E27FC236}">
                <a16:creationId xmlns:a16="http://schemas.microsoft.com/office/drawing/2014/main" id="{CCF91BC2-6913-D348-A745-7FD9B0C4B9BD}"/>
              </a:ext>
            </a:extLst>
          </p:cNvPr>
          <p:cNvSpPr>
            <a:spLocks noGrp="1"/>
          </p:cNvSpPr>
          <p:nvPr>
            <p:ph sz="quarter" idx="12" hasCustomPrompt="1"/>
          </p:nvPr>
        </p:nvSpPr>
        <p:spPr>
          <a:xfrm>
            <a:off x="457200" y="2671982"/>
            <a:ext cx="8139113" cy="457200"/>
          </a:xfrm>
        </p:spPr>
        <p:txBody>
          <a:bodyPr>
            <a:normAutofit/>
          </a:bodyPr>
          <a:lstStyle>
            <a:lvl1pPr>
              <a:defRPr sz="2200"/>
            </a:lvl1pPr>
          </a:lstStyle>
          <a:p>
            <a:pPr lvl="0"/>
            <a:r>
              <a:rPr lang="fr-FR"/>
              <a:t>- Modifiez le style du texte</a:t>
            </a:r>
            <a:endParaRPr lang="fr-CA"/>
          </a:p>
        </p:txBody>
      </p:sp>
      <p:sp>
        <p:nvSpPr>
          <p:cNvPr id="19" name="Espace réservé du contenu 2">
            <a:extLst>
              <a:ext uri="{FF2B5EF4-FFF2-40B4-BE49-F238E27FC236}">
                <a16:creationId xmlns:a16="http://schemas.microsoft.com/office/drawing/2014/main" id="{97B50FCF-CFA4-F849-935D-B4E4F655D373}"/>
              </a:ext>
            </a:extLst>
          </p:cNvPr>
          <p:cNvSpPr>
            <a:spLocks noGrp="1"/>
          </p:cNvSpPr>
          <p:nvPr>
            <p:ph sz="quarter" idx="13" hasCustomPrompt="1"/>
          </p:nvPr>
        </p:nvSpPr>
        <p:spPr>
          <a:xfrm>
            <a:off x="457200" y="3293598"/>
            <a:ext cx="8139113" cy="457200"/>
          </a:xfrm>
        </p:spPr>
        <p:txBody>
          <a:bodyPr>
            <a:normAutofit/>
          </a:bodyPr>
          <a:lstStyle>
            <a:lvl1pPr>
              <a:defRPr sz="2200"/>
            </a:lvl1pPr>
          </a:lstStyle>
          <a:p>
            <a:pPr lvl="0"/>
            <a:r>
              <a:rPr lang="fr-FR"/>
              <a:t>- Modifiez le style du texte</a:t>
            </a:r>
            <a:endParaRPr lang="fr-CA"/>
          </a:p>
        </p:txBody>
      </p:sp>
      <p:sp>
        <p:nvSpPr>
          <p:cNvPr id="21" name="Espace réservé du contenu 2">
            <a:extLst>
              <a:ext uri="{FF2B5EF4-FFF2-40B4-BE49-F238E27FC236}">
                <a16:creationId xmlns:a16="http://schemas.microsoft.com/office/drawing/2014/main" id="{E5DF3D5E-CF11-8149-A220-9473D891FEA1}"/>
              </a:ext>
            </a:extLst>
          </p:cNvPr>
          <p:cNvSpPr>
            <a:spLocks noGrp="1"/>
          </p:cNvSpPr>
          <p:nvPr>
            <p:ph sz="quarter" idx="15" hasCustomPrompt="1"/>
          </p:nvPr>
        </p:nvSpPr>
        <p:spPr>
          <a:xfrm>
            <a:off x="457200" y="3915214"/>
            <a:ext cx="8139113" cy="457200"/>
          </a:xfrm>
        </p:spPr>
        <p:txBody>
          <a:bodyPr>
            <a:normAutofit/>
          </a:bodyPr>
          <a:lstStyle>
            <a:lvl1pPr>
              <a:defRPr sz="2200"/>
            </a:lvl1pPr>
          </a:lstStyle>
          <a:p>
            <a:pPr lvl="0"/>
            <a:r>
              <a:rPr lang="fr-FR"/>
              <a:t>- Modifiez le style du texte</a:t>
            </a:r>
            <a:endParaRPr lang="fr-CA"/>
          </a:p>
        </p:txBody>
      </p:sp>
      <p:sp>
        <p:nvSpPr>
          <p:cNvPr id="22" name="Espace réservé du contenu 2">
            <a:extLst>
              <a:ext uri="{FF2B5EF4-FFF2-40B4-BE49-F238E27FC236}">
                <a16:creationId xmlns:a16="http://schemas.microsoft.com/office/drawing/2014/main" id="{C9A82577-C40E-304A-9D8A-F1741A9530E0}"/>
              </a:ext>
            </a:extLst>
          </p:cNvPr>
          <p:cNvSpPr>
            <a:spLocks noGrp="1"/>
          </p:cNvSpPr>
          <p:nvPr>
            <p:ph sz="quarter" idx="16" hasCustomPrompt="1"/>
          </p:nvPr>
        </p:nvSpPr>
        <p:spPr>
          <a:xfrm>
            <a:off x="457200" y="4536832"/>
            <a:ext cx="8139113" cy="457200"/>
          </a:xfrm>
        </p:spPr>
        <p:txBody>
          <a:bodyPr>
            <a:normAutofit/>
          </a:bodyPr>
          <a:lstStyle>
            <a:lvl1pPr>
              <a:defRPr sz="2200"/>
            </a:lvl1pPr>
          </a:lstStyle>
          <a:p>
            <a:pPr lvl="0"/>
            <a:r>
              <a:rPr lang="fr-FR"/>
              <a:t>- Modifiez le style du texte</a:t>
            </a:r>
            <a:endParaRPr lang="fr-CA"/>
          </a:p>
        </p:txBody>
      </p:sp>
    </p:spTree>
    <p:extLst>
      <p:ext uri="{BB962C8B-B14F-4D97-AF65-F5344CB8AC3E}">
        <p14:creationId xmlns:p14="http://schemas.microsoft.com/office/powerpoint/2010/main" val="1319754585"/>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Chapitre - Chapter 1">
    <p:bg>
      <p:bgPr>
        <a:solidFill>
          <a:schemeClr val="bg1">
            <a:lumMod val="95000"/>
          </a:schemeClr>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9EE2D7C-9C63-564B-8B6D-1FB237BAFC4C}"/>
              </a:ext>
            </a:extLst>
          </p:cNvPr>
          <p:cNvSpPr/>
          <p:nvPr userDrawn="1"/>
        </p:nvSpPr>
        <p:spPr>
          <a:xfrm>
            <a:off x="0" y="0"/>
            <a:ext cx="2438400" cy="5143500"/>
          </a:xfrm>
          <a:prstGeom prst="rect">
            <a:avLst/>
          </a:prstGeom>
          <a:solidFill>
            <a:srgbClr val="00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4800" noProof="0">
              <a:solidFill>
                <a:srgbClr val="003DA5"/>
              </a:solidFill>
            </a:endParaRPr>
          </a:p>
        </p:txBody>
      </p:sp>
      <p:sp>
        <p:nvSpPr>
          <p:cNvPr id="6" name="Espace réservé du contenu 2">
            <a:extLst>
              <a:ext uri="{FF2B5EF4-FFF2-40B4-BE49-F238E27FC236}">
                <a16:creationId xmlns:a16="http://schemas.microsoft.com/office/drawing/2014/main" id="{0A68EEAA-103B-A440-B9B4-7F87693A63DA}"/>
              </a:ext>
            </a:extLst>
          </p:cNvPr>
          <p:cNvSpPr>
            <a:spLocks noGrp="1"/>
          </p:cNvSpPr>
          <p:nvPr>
            <p:ph idx="1"/>
          </p:nvPr>
        </p:nvSpPr>
        <p:spPr>
          <a:xfrm>
            <a:off x="2590800" y="819150"/>
            <a:ext cx="6322977" cy="41148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13" name="Espace réservé du texte 2">
            <a:extLst>
              <a:ext uri="{FF2B5EF4-FFF2-40B4-BE49-F238E27FC236}">
                <a16:creationId xmlns:a16="http://schemas.microsoft.com/office/drawing/2014/main" id="{5BBC0945-7537-F24E-91B1-41FCD7054DF5}"/>
              </a:ext>
            </a:extLst>
          </p:cNvPr>
          <p:cNvSpPr>
            <a:spLocks noGrp="1"/>
          </p:cNvSpPr>
          <p:nvPr>
            <p:ph type="body" sz="quarter" idx="10" hasCustomPrompt="1"/>
          </p:nvPr>
        </p:nvSpPr>
        <p:spPr>
          <a:xfrm>
            <a:off x="76200" y="133350"/>
            <a:ext cx="2286000" cy="4953000"/>
          </a:xfrm>
        </p:spPr>
        <p:txBody>
          <a:bodyPr>
            <a:normAutofit/>
          </a:bodyPr>
          <a:lstStyle>
            <a:lvl1pPr marL="0" indent="0">
              <a:buNone/>
              <a:defRPr sz="2600">
                <a:solidFill>
                  <a:schemeClr val="bg1"/>
                </a:solidFill>
                <a:latin typeface="+mj-lt"/>
              </a:defRPr>
            </a:lvl1pPr>
          </a:lstStyle>
          <a:p>
            <a:pPr lvl="0"/>
            <a:r>
              <a:rPr lang="fr-FR"/>
              <a:t>Modifiez le style du titre</a:t>
            </a:r>
            <a:endParaRPr lang="fr-CA"/>
          </a:p>
        </p:txBody>
      </p:sp>
      <p:sp>
        <p:nvSpPr>
          <p:cNvPr id="14" name="Titre 1">
            <a:extLst>
              <a:ext uri="{FF2B5EF4-FFF2-40B4-BE49-F238E27FC236}">
                <a16:creationId xmlns:a16="http://schemas.microsoft.com/office/drawing/2014/main" id="{2E5C01DB-D6C0-7F43-80C1-C2DAF3CD123B}"/>
              </a:ext>
            </a:extLst>
          </p:cNvPr>
          <p:cNvSpPr>
            <a:spLocks noGrp="1"/>
          </p:cNvSpPr>
          <p:nvPr>
            <p:ph type="title" hasCustomPrompt="1"/>
          </p:nvPr>
        </p:nvSpPr>
        <p:spPr>
          <a:xfrm>
            <a:off x="2592422" y="133350"/>
            <a:ext cx="6322978" cy="533400"/>
          </a:xfrm>
        </p:spPr>
        <p:txBody>
          <a:bodyPr>
            <a:normAutofit/>
          </a:bodyPr>
          <a:lstStyle>
            <a:lvl1pPr>
              <a:defRPr sz="2600"/>
            </a:lvl1pPr>
          </a:lstStyle>
          <a:p>
            <a:r>
              <a:rPr lang="fr-FR"/>
              <a:t>Modifiez le style du sous-titre</a:t>
            </a:r>
            <a:endParaRPr lang="fr-CA"/>
          </a:p>
        </p:txBody>
      </p:sp>
    </p:spTree>
    <p:extLst>
      <p:ext uri="{BB962C8B-B14F-4D97-AF65-F5344CB8AC3E}">
        <p14:creationId xmlns:p14="http://schemas.microsoft.com/office/powerpoint/2010/main" val="201042868"/>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Chapitre - Chapter 1">
    <p:bg>
      <p:bgPr>
        <a:solidFill>
          <a:schemeClr val="bg1">
            <a:lumMod val="95000"/>
          </a:schemeClr>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9EE2D7C-9C63-564B-8B6D-1FB237BAFC4C}"/>
              </a:ext>
            </a:extLst>
          </p:cNvPr>
          <p:cNvSpPr/>
          <p:nvPr userDrawn="1"/>
        </p:nvSpPr>
        <p:spPr>
          <a:xfrm>
            <a:off x="0" y="0"/>
            <a:ext cx="2438400"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4800" noProof="0">
              <a:solidFill>
                <a:srgbClr val="003DA5"/>
              </a:solidFill>
            </a:endParaRPr>
          </a:p>
        </p:txBody>
      </p:sp>
      <p:sp>
        <p:nvSpPr>
          <p:cNvPr id="5" name="Titre 1">
            <a:extLst>
              <a:ext uri="{FF2B5EF4-FFF2-40B4-BE49-F238E27FC236}">
                <a16:creationId xmlns:a16="http://schemas.microsoft.com/office/drawing/2014/main" id="{7FB761F4-093C-C740-97A6-21FC5EFDFFF4}"/>
              </a:ext>
            </a:extLst>
          </p:cNvPr>
          <p:cNvSpPr>
            <a:spLocks noGrp="1"/>
          </p:cNvSpPr>
          <p:nvPr>
            <p:ph type="title" hasCustomPrompt="1"/>
          </p:nvPr>
        </p:nvSpPr>
        <p:spPr>
          <a:xfrm>
            <a:off x="2592422" y="133350"/>
            <a:ext cx="6322978" cy="533400"/>
          </a:xfrm>
        </p:spPr>
        <p:txBody>
          <a:bodyPr>
            <a:normAutofit/>
          </a:bodyPr>
          <a:lstStyle>
            <a:lvl1pPr>
              <a:defRPr sz="2600"/>
            </a:lvl1pPr>
          </a:lstStyle>
          <a:p>
            <a:r>
              <a:rPr lang="fr-FR"/>
              <a:t>Modifiez le style du sous-titre</a:t>
            </a:r>
            <a:endParaRPr lang="fr-CA"/>
          </a:p>
        </p:txBody>
      </p:sp>
      <p:sp>
        <p:nvSpPr>
          <p:cNvPr id="3" name="Espace réservé du texte 2">
            <a:extLst>
              <a:ext uri="{FF2B5EF4-FFF2-40B4-BE49-F238E27FC236}">
                <a16:creationId xmlns:a16="http://schemas.microsoft.com/office/drawing/2014/main" id="{89A20B3A-6159-BD43-862D-E2E1668B9C47}"/>
              </a:ext>
            </a:extLst>
          </p:cNvPr>
          <p:cNvSpPr>
            <a:spLocks noGrp="1"/>
          </p:cNvSpPr>
          <p:nvPr>
            <p:ph type="body" sz="quarter" idx="10" hasCustomPrompt="1"/>
          </p:nvPr>
        </p:nvSpPr>
        <p:spPr>
          <a:xfrm>
            <a:off x="76200" y="133350"/>
            <a:ext cx="2286000" cy="4953000"/>
          </a:xfrm>
        </p:spPr>
        <p:txBody>
          <a:bodyPr>
            <a:normAutofit/>
          </a:bodyPr>
          <a:lstStyle>
            <a:lvl1pPr marL="0" indent="0">
              <a:buNone/>
              <a:defRPr sz="2600">
                <a:solidFill>
                  <a:schemeClr val="tx1"/>
                </a:solidFill>
                <a:latin typeface="+mj-lt"/>
              </a:defRPr>
            </a:lvl1pPr>
          </a:lstStyle>
          <a:p>
            <a:pPr lvl="0"/>
            <a:r>
              <a:rPr lang="fr-FR"/>
              <a:t>Modifiez le style du titre</a:t>
            </a:r>
            <a:endParaRPr lang="fr-CA"/>
          </a:p>
        </p:txBody>
      </p:sp>
      <p:sp>
        <p:nvSpPr>
          <p:cNvPr id="11" name="Espace réservé du contenu 2">
            <a:extLst>
              <a:ext uri="{FF2B5EF4-FFF2-40B4-BE49-F238E27FC236}">
                <a16:creationId xmlns:a16="http://schemas.microsoft.com/office/drawing/2014/main" id="{D8272E43-24F1-944E-B10A-2647B1B0033A}"/>
              </a:ext>
            </a:extLst>
          </p:cNvPr>
          <p:cNvSpPr>
            <a:spLocks noGrp="1"/>
          </p:cNvSpPr>
          <p:nvPr>
            <p:ph idx="1"/>
          </p:nvPr>
        </p:nvSpPr>
        <p:spPr>
          <a:xfrm>
            <a:off x="2590800" y="819150"/>
            <a:ext cx="6322977" cy="41148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Tree>
    <p:extLst>
      <p:ext uri="{BB962C8B-B14F-4D97-AF65-F5344CB8AC3E}">
        <p14:creationId xmlns:p14="http://schemas.microsoft.com/office/powerpoint/2010/main" val="1829900180"/>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_Chapitre - Chapter 1">
    <p:bg>
      <p:bgPr>
        <a:solidFill>
          <a:schemeClr val="bg1">
            <a:lumMod val="95000"/>
          </a:schemeClr>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9EE2D7C-9C63-564B-8B6D-1FB237BAFC4C}"/>
              </a:ext>
            </a:extLst>
          </p:cNvPr>
          <p:cNvSpPr/>
          <p:nvPr userDrawn="1"/>
        </p:nvSpPr>
        <p:spPr>
          <a:xfrm>
            <a:off x="0" y="0"/>
            <a:ext cx="3886200" cy="5143500"/>
          </a:xfrm>
          <a:prstGeom prst="rect">
            <a:avLst/>
          </a:prstGeom>
          <a:solidFill>
            <a:srgbClr val="00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4800" noProof="0">
              <a:solidFill>
                <a:srgbClr val="003DA5"/>
              </a:solidFill>
            </a:endParaRPr>
          </a:p>
        </p:txBody>
      </p:sp>
      <p:sp>
        <p:nvSpPr>
          <p:cNvPr id="5" name="Titre 1">
            <a:extLst>
              <a:ext uri="{FF2B5EF4-FFF2-40B4-BE49-F238E27FC236}">
                <a16:creationId xmlns:a16="http://schemas.microsoft.com/office/drawing/2014/main" id="{7FB761F4-093C-C740-97A6-21FC5EFDFFF4}"/>
              </a:ext>
            </a:extLst>
          </p:cNvPr>
          <p:cNvSpPr>
            <a:spLocks noGrp="1"/>
          </p:cNvSpPr>
          <p:nvPr>
            <p:ph type="title" hasCustomPrompt="1"/>
          </p:nvPr>
        </p:nvSpPr>
        <p:spPr>
          <a:xfrm>
            <a:off x="4116422" y="285750"/>
            <a:ext cx="4798978" cy="993775"/>
          </a:xfrm>
        </p:spPr>
        <p:txBody>
          <a:bodyPr/>
          <a:lstStyle/>
          <a:p>
            <a:r>
              <a:rPr lang="fr-CA" noProof="0"/>
              <a:t>Modifiez le style</a:t>
            </a:r>
            <a:br>
              <a:rPr lang="fr-CA" noProof="0"/>
            </a:br>
            <a:r>
              <a:rPr lang="fr-CA" noProof="0"/>
              <a:t>du sous-titre</a:t>
            </a:r>
          </a:p>
        </p:txBody>
      </p:sp>
      <p:sp>
        <p:nvSpPr>
          <p:cNvPr id="6" name="Espace réservé du contenu 2">
            <a:extLst>
              <a:ext uri="{FF2B5EF4-FFF2-40B4-BE49-F238E27FC236}">
                <a16:creationId xmlns:a16="http://schemas.microsoft.com/office/drawing/2014/main" id="{0A68EEAA-103B-A440-B9B4-7F87693A63DA}"/>
              </a:ext>
            </a:extLst>
          </p:cNvPr>
          <p:cNvSpPr>
            <a:spLocks noGrp="1"/>
          </p:cNvSpPr>
          <p:nvPr>
            <p:ph idx="1"/>
          </p:nvPr>
        </p:nvSpPr>
        <p:spPr>
          <a:xfrm>
            <a:off x="4114800" y="1428750"/>
            <a:ext cx="4798977" cy="3505200"/>
          </a:xfrm>
        </p:spPr>
        <p:txBody>
          <a:bodyPr/>
          <a:lstStyle/>
          <a:p>
            <a:pPr lvl="0"/>
            <a:r>
              <a:rPr lang="fr-CA" noProof="0"/>
              <a:t>Cliquez pour modifier les styles du texte du masque</a:t>
            </a:r>
          </a:p>
          <a:p>
            <a:pPr lvl="1"/>
            <a:r>
              <a:rPr lang="fr-CA" noProof="0"/>
              <a:t>Deuxième niveau</a:t>
            </a:r>
          </a:p>
          <a:p>
            <a:pPr lvl="2"/>
            <a:r>
              <a:rPr lang="fr-CA" noProof="0"/>
              <a:t>Troisième niveau</a:t>
            </a:r>
          </a:p>
          <a:p>
            <a:pPr lvl="3"/>
            <a:r>
              <a:rPr lang="fr-CA" noProof="0"/>
              <a:t>Quatrième niveau</a:t>
            </a:r>
          </a:p>
          <a:p>
            <a:pPr lvl="4"/>
            <a:r>
              <a:rPr lang="fr-CA" noProof="0"/>
              <a:t>Cinquième niveau</a:t>
            </a:r>
          </a:p>
        </p:txBody>
      </p:sp>
      <p:sp>
        <p:nvSpPr>
          <p:cNvPr id="7" name="Espace réservé du texte 2">
            <a:extLst>
              <a:ext uri="{FF2B5EF4-FFF2-40B4-BE49-F238E27FC236}">
                <a16:creationId xmlns:a16="http://schemas.microsoft.com/office/drawing/2014/main" id="{5778D4F0-C5AD-414D-AF69-C66D2C976AA9}"/>
              </a:ext>
            </a:extLst>
          </p:cNvPr>
          <p:cNvSpPr>
            <a:spLocks noGrp="1"/>
          </p:cNvSpPr>
          <p:nvPr>
            <p:ph type="body" sz="quarter" idx="10" hasCustomPrompt="1"/>
          </p:nvPr>
        </p:nvSpPr>
        <p:spPr>
          <a:xfrm>
            <a:off x="76200" y="133350"/>
            <a:ext cx="3733800" cy="4953000"/>
          </a:xfrm>
        </p:spPr>
        <p:txBody>
          <a:bodyPr>
            <a:normAutofit/>
          </a:bodyPr>
          <a:lstStyle>
            <a:lvl1pPr marL="0" indent="0">
              <a:buNone/>
              <a:defRPr sz="2600">
                <a:solidFill>
                  <a:schemeClr val="bg1"/>
                </a:solidFill>
                <a:latin typeface="+mj-lt"/>
              </a:defRPr>
            </a:lvl1pPr>
          </a:lstStyle>
          <a:p>
            <a:pPr lvl="0"/>
            <a:r>
              <a:rPr lang="fr-CA" noProof="0"/>
              <a:t>Modifiez le style du titre ou du texte</a:t>
            </a:r>
          </a:p>
        </p:txBody>
      </p:sp>
    </p:spTree>
    <p:extLst>
      <p:ext uri="{BB962C8B-B14F-4D97-AF65-F5344CB8AC3E}">
        <p14:creationId xmlns:p14="http://schemas.microsoft.com/office/powerpoint/2010/main" val="1487090501"/>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7_Chapitre - Chapter 1">
    <p:bg>
      <p:bgPr>
        <a:solidFill>
          <a:schemeClr val="bg1">
            <a:lumMod val="95000"/>
          </a:schemeClr>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9EE2D7C-9C63-564B-8B6D-1FB237BAFC4C}"/>
              </a:ext>
            </a:extLst>
          </p:cNvPr>
          <p:cNvSpPr/>
          <p:nvPr userDrawn="1"/>
        </p:nvSpPr>
        <p:spPr>
          <a:xfrm>
            <a:off x="0" y="0"/>
            <a:ext cx="228600" cy="5143500"/>
          </a:xfrm>
          <a:prstGeom prst="rect">
            <a:avLst/>
          </a:prstGeom>
          <a:solidFill>
            <a:srgbClr val="00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4800" noProof="0">
              <a:solidFill>
                <a:srgbClr val="003DA5"/>
              </a:solidFill>
            </a:endParaRPr>
          </a:p>
        </p:txBody>
      </p:sp>
      <p:sp>
        <p:nvSpPr>
          <p:cNvPr id="14" name="Text Placeholder 4">
            <a:extLst>
              <a:ext uri="{FF2B5EF4-FFF2-40B4-BE49-F238E27FC236}">
                <a16:creationId xmlns:a16="http://schemas.microsoft.com/office/drawing/2014/main" id="{FE8F280E-43CA-AD4D-8287-D43BF3F5F184}"/>
              </a:ext>
            </a:extLst>
          </p:cNvPr>
          <p:cNvSpPr>
            <a:spLocks noGrp="1"/>
          </p:cNvSpPr>
          <p:nvPr>
            <p:ph type="body" sz="quarter" idx="3" hasCustomPrompt="1"/>
          </p:nvPr>
        </p:nvSpPr>
        <p:spPr>
          <a:xfrm>
            <a:off x="609600" y="419100"/>
            <a:ext cx="3962400" cy="400050"/>
          </a:xfrm>
          <a:prstGeom prst="rect">
            <a:avLst/>
          </a:prstGeom>
        </p:spPr>
        <p:txBody>
          <a:bodyPr anchor="ctr" anchorCtr="0">
            <a:noAutofit/>
          </a:bodyPr>
          <a:lstStyle>
            <a:lvl1pPr marL="0" indent="0" algn="ctr">
              <a:buNone/>
              <a:defRPr sz="1400" b="1">
                <a:solidFill>
                  <a:srgbClr val="003DA5"/>
                </a:solidFill>
                <a:latin typeface="+mn-lt"/>
                <a:ea typeface="Open Sans" panose="020B0606030504020204" pitchFamily="34" charset="0"/>
                <a:cs typeface="Open Sans" panose="020B0606030504020204" pitchFamily="34" charset="0"/>
              </a:defRPr>
            </a:lvl1pPr>
            <a:lvl2pPr marL="342858" indent="0">
              <a:buNone/>
              <a:defRPr sz="1500" b="1"/>
            </a:lvl2pPr>
            <a:lvl3pPr marL="685714" indent="0">
              <a:buNone/>
              <a:defRPr sz="1350" b="1"/>
            </a:lvl3pPr>
            <a:lvl4pPr marL="1028572" indent="0">
              <a:buNone/>
              <a:defRPr sz="1200" b="1"/>
            </a:lvl4pPr>
            <a:lvl5pPr marL="1371428" indent="0">
              <a:buNone/>
              <a:defRPr sz="1200" b="1"/>
            </a:lvl5pPr>
            <a:lvl6pPr marL="1714286" indent="0">
              <a:buNone/>
              <a:defRPr sz="1200" b="1"/>
            </a:lvl6pPr>
            <a:lvl7pPr marL="2057142" indent="0">
              <a:buNone/>
              <a:defRPr sz="1200" b="1"/>
            </a:lvl7pPr>
            <a:lvl8pPr marL="2400000" indent="0">
              <a:buNone/>
              <a:defRPr sz="1200" b="1"/>
            </a:lvl8pPr>
            <a:lvl9pPr marL="2742858" indent="0">
              <a:buNone/>
              <a:defRPr sz="1200" b="1"/>
            </a:lvl9pPr>
          </a:lstStyle>
          <a:p>
            <a:pPr lvl="0"/>
            <a:r>
              <a:rPr lang="en-CA" noProof="0"/>
              <a:t>Titre A</a:t>
            </a:r>
          </a:p>
        </p:txBody>
      </p:sp>
      <p:sp>
        <p:nvSpPr>
          <p:cNvPr id="16" name="Text Placeholder 4">
            <a:extLst>
              <a:ext uri="{FF2B5EF4-FFF2-40B4-BE49-F238E27FC236}">
                <a16:creationId xmlns:a16="http://schemas.microsoft.com/office/drawing/2014/main" id="{69A15D0A-BD21-D046-BCE0-826651506805}"/>
              </a:ext>
            </a:extLst>
          </p:cNvPr>
          <p:cNvSpPr>
            <a:spLocks noGrp="1"/>
          </p:cNvSpPr>
          <p:nvPr>
            <p:ph type="body" sz="quarter" idx="15" hasCustomPrompt="1"/>
          </p:nvPr>
        </p:nvSpPr>
        <p:spPr>
          <a:xfrm>
            <a:off x="4800600" y="419100"/>
            <a:ext cx="3962400" cy="400050"/>
          </a:xfrm>
          <a:prstGeom prst="rect">
            <a:avLst/>
          </a:prstGeom>
        </p:spPr>
        <p:txBody>
          <a:bodyPr anchor="ctr" anchorCtr="0">
            <a:noAutofit/>
          </a:bodyPr>
          <a:lstStyle>
            <a:lvl1pPr marL="0" indent="0" algn="ctr">
              <a:buNone/>
              <a:defRPr sz="1400" b="1">
                <a:solidFill>
                  <a:srgbClr val="003DA5"/>
                </a:solidFill>
                <a:latin typeface="+mn-lt"/>
                <a:ea typeface="Open Sans" panose="020B0606030504020204" pitchFamily="34" charset="0"/>
                <a:cs typeface="Open Sans" panose="020B0606030504020204" pitchFamily="34" charset="0"/>
              </a:defRPr>
            </a:lvl1pPr>
            <a:lvl2pPr marL="342858" indent="0">
              <a:buNone/>
              <a:defRPr sz="1500" b="1"/>
            </a:lvl2pPr>
            <a:lvl3pPr marL="685714" indent="0">
              <a:buNone/>
              <a:defRPr sz="1350" b="1"/>
            </a:lvl3pPr>
            <a:lvl4pPr marL="1028572" indent="0">
              <a:buNone/>
              <a:defRPr sz="1200" b="1"/>
            </a:lvl4pPr>
            <a:lvl5pPr marL="1371428" indent="0">
              <a:buNone/>
              <a:defRPr sz="1200" b="1"/>
            </a:lvl5pPr>
            <a:lvl6pPr marL="1714286" indent="0">
              <a:buNone/>
              <a:defRPr sz="1200" b="1"/>
            </a:lvl6pPr>
            <a:lvl7pPr marL="2057142" indent="0">
              <a:buNone/>
              <a:defRPr sz="1200" b="1"/>
            </a:lvl7pPr>
            <a:lvl8pPr marL="2400000" indent="0">
              <a:buNone/>
              <a:defRPr sz="1200" b="1"/>
            </a:lvl8pPr>
            <a:lvl9pPr marL="2742858" indent="0">
              <a:buNone/>
              <a:defRPr sz="1200" b="1"/>
            </a:lvl9pPr>
          </a:lstStyle>
          <a:p>
            <a:pPr lvl="0"/>
            <a:r>
              <a:rPr lang="en-CA" noProof="0"/>
              <a:t>Titre B</a:t>
            </a:r>
          </a:p>
        </p:txBody>
      </p:sp>
      <p:sp>
        <p:nvSpPr>
          <p:cNvPr id="17" name="Content Placeholder 3">
            <a:extLst>
              <a:ext uri="{FF2B5EF4-FFF2-40B4-BE49-F238E27FC236}">
                <a16:creationId xmlns:a16="http://schemas.microsoft.com/office/drawing/2014/main" id="{2373623B-843E-024C-898E-A40EB0FCF98E}"/>
              </a:ext>
            </a:extLst>
          </p:cNvPr>
          <p:cNvSpPr>
            <a:spLocks noGrp="1"/>
          </p:cNvSpPr>
          <p:nvPr>
            <p:ph sz="half" idx="14" hasCustomPrompt="1"/>
          </p:nvPr>
        </p:nvSpPr>
        <p:spPr>
          <a:xfrm>
            <a:off x="609600" y="971550"/>
            <a:ext cx="3962400" cy="3962400"/>
          </a:xfrm>
          <a:prstGeom prst="rect">
            <a:avLst/>
          </a:prstGeom>
        </p:spPr>
        <p:txBody>
          <a:bodyPr>
            <a:noAutofit/>
          </a:bodyPr>
          <a:lstStyle>
            <a:lvl1pPr marL="266667" indent="-266667">
              <a:buClr>
                <a:srgbClr val="434343"/>
              </a:buClr>
              <a:buFont typeface="ArialMT" charset="0"/>
              <a:buChar char="—"/>
              <a:tabLst/>
              <a:defRPr sz="1400">
                <a:solidFill>
                  <a:srgbClr val="434343"/>
                </a:solidFill>
                <a:latin typeface="+mn-lt"/>
                <a:ea typeface="Open Sans" panose="020B0606030504020204" pitchFamily="34" charset="0"/>
                <a:cs typeface="Open Sans" panose="020B0606030504020204" pitchFamily="34" charset="0"/>
              </a:defRPr>
            </a:lvl1pPr>
            <a:lvl2pPr marL="405954" indent="-214287">
              <a:buClr>
                <a:srgbClr val="7C878E"/>
              </a:buClr>
              <a:buFont typeface="Wingdings" charset="2"/>
              <a:buChar char="§"/>
              <a:defRPr sz="1400">
                <a:solidFill>
                  <a:srgbClr val="434343"/>
                </a:solidFill>
                <a:latin typeface="+mn-lt"/>
                <a:ea typeface="Open Sans" panose="020B0606030504020204" pitchFamily="34" charset="0"/>
                <a:cs typeface="Open Sans" panose="020B0606030504020204" pitchFamily="34" charset="0"/>
              </a:defRPr>
            </a:lvl2pPr>
            <a:lvl3pPr marL="603571" indent="-171428">
              <a:buClr>
                <a:srgbClr val="7C878E"/>
              </a:buClr>
              <a:buFont typeface="Courier New" charset="0"/>
              <a:buChar char="o"/>
              <a:defRPr sz="1400">
                <a:solidFill>
                  <a:srgbClr val="434343"/>
                </a:solidFill>
                <a:latin typeface="+mn-lt"/>
                <a:ea typeface="Open Sans" panose="020B0606030504020204" pitchFamily="34" charset="0"/>
                <a:cs typeface="Open Sans" panose="020B0606030504020204" pitchFamily="34" charset="0"/>
              </a:defRPr>
            </a:lvl3pPr>
            <a:lvl4pPr marL="809523" marR="0"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sz="1400">
                <a:solidFill>
                  <a:srgbClr val="434343"/>
                </a:solidFill>
                <a:latin typeface="+mn-lt"/>
                <a:ea typeface="Open Sans" panose="020B0606030504020204" pitchFamily="34" charset="0"/>
                <a:cs typeface="Open Sans" panose="020B0606030504020204" pitchFamily="34" charset="0"/>
              </a:defRPr>
            </a:lvl4pPr>
            <a:lvl5pPr>
              <a:defRPr sz="1350"/>
            </a:lvl5pPr>
            <a:lvl6pPr>
              <a:defRPr sz="1200"/>
            </a:lvl6pPr>
            <a:lvl7pPr>
              <a:defRPr sz="1200"/>
            </a:lvl7pPr>
            <a:lvl8pPr>
              <a:defRPr sz="1200"/>
            </a:lvl8pPr>
            <a:lvl9pPr>
              <a:defRPr sz="1200"/>
            </a:lvl9pPr>
          </a:lstStyle>
          <a:p>
            <a:pPr lvl="0"/>
            <a:r>
              <a:rPr lang="en-CA" noProof="0" err="1"/>
              <a:t>Cliquez</a:t>
            </a:r>
            <a:r>
              <a:rPr lang="en-CA" noProof="0"/>
              <a:t> pour </a:t>
            </a:r>
            <a:r>
              <a:rPr lang="en-CA" noProof="0" err="1"/>
              <a:t>ajouter</a:t>
            </a:r>
            <a:r>
              <a:rPr lang="en-CA" noProof="0"/>
              <a:t> du </a:t>
            </a:r>
            <a:r>
              <a:rPr lang="en-CA" noProof="0" err="1"/>
              <a:t>texte</a:t>
            </a:r>
            <a:endParaRPr lang="en-CA" noProof="0"/>
          </a:p>
          <a:p>
            <a:pPr lvl="1"/>
            <a:r>
              <a:rPr lang="en-CA" noProof="0" err="1"/>
              <a:t>Liste</a:t>
            </a:r>
            <a:r>
              <a:rPr lang="en-CA" noProof="0"/>
              <a:t> de </a:t>
            </a:r>
            <a:r>
              <a:rPr lang="en-CA" noProof="0" err="1"/>
              <a:t>niveau</a:t>
            </a:r>
            <a:r>
              <a:rPr lang="en-CA" noProof="0"/>
              <a:t> deux</a:t>
            </a:r>
          </a:p>
          <a:p>
            <a:pPr lvl="2"/>
            <a:r>
              <a:rPr lang="en-CA" noProof="0" err="1"/>
              <a:t>Liste</a:t>
            </a:r>
            <a:r>
              <a:rPr lang="en-CA" noProof="0"/>
              <a:t> </a:t>
            </a:r>
            <a:r>
              <a:rPr lang="en-CA" noProof="0" err="1"/>
              <a:t>niveau</a:t>
            </a:r>
            <a:r>
              <a:rPr lang="en-CA" noProof="0"/>
              <a:t> trois</a:t>
            </a:r>
          </a:p>
          <a:p>
            <a:pPr marL="809523" marR="0" lvl="3"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a:pPr>
            <a:r>
              <a:rPr lang="en-CA" noProof="0" err="1"/>
              <a:t>Liste</a:t>
            </a:r>
            <a:r>
              <a:rPr lang="en-CA" noProof="0"/>
              <a:t> </a:t>
            </a:r>
            <a:r>
              <a:rPr lang="en-CA" noProof="0" err="1"/>
              <a:t>niveau</a:t>
            </a:r>
            <a:r>
              <a:rPr lang="en-CA" noProof="0"/>
              <a:t> quatre</a:t>
            </a:r>
          </a:p>
        </p:txBody>
      </p:sp>
      <p:sp>
        <p:nvSpPr>
          <p:cNvPr id="18" name="Content Placeholder 3">
            <a:extLst>
              <a:ext uri="{FF2B5EF4-FFF2-40B4-BE49-F238E27FC236}">
                <a16:creationId xmlns:a16="http://schemas.microsoft.com/office/drawing/2014/main" id="{4587B536-8982-C340-880F-E3F058E2A883}"/>
              </a:ext>
            </a:extLst>
          </p:cNvPr>
          <p:cNvSpPr>
            <a:spLocks noGrp="1"/>
          </p:cNvSpPr>
          <p:nvPr>
            <p:ph sz="half" idx="16" hasCustomPrompt="1"/>
          </p:nvPr>
        </p:nvSpPr>
        <p:spPr>
          <a:xfrm>
            <a:off x="4800600" y="971550"/>
            <a:ext cx="3962400" cy="3962400"/>
          </a:xfrm>
          <a:prstGeom prst="rect">
            <a:avLst/>
          </a:prstGeom>
        </p:spPr>
        <p:txBody>
          <a:bodyPr>
            <a:noAutofit/>
          </a:bodyPr>
          <a:lstStyle>
            <a:lvl1pPr marL="266667" indent="-266667">
              <a:buClr>
                <a:srgbClr val="434343"/>
              </a:buClr>
              <a:buFont typeface="ArialMT" charset="0"/>
              <a:buChar char="—"/>
              <a:tabLst/>
              <a:defRPr sz="1400">
                <a:solidFill>
                  <a:srgbClr val="434343"/>
                </a:solidFill>
                <a:latin typeface="+mn-lt"/>
                <a:ea typeface="Open Sans" panose="020B0606030504020204" pitchFamily="34" charset="0"/>
                <a:cs typeface="Open Sans" panose="020B0606030504020204" pitchFamily="34" charset="0"/>
              </a:defRPr>
            </a:lvl1pPr>
            <a:lvl2pPr marL="405954" indent="-214287">
              <a:buClr>
                <a:srgbClr val="7C878E"/>
              </a:buClr>
              <a:buFont typeface="Wingdings" charset="2"/>
              <a:buChar char="§"/>
              <a:defRPr sz="1400">
                <a:solidFill>
                  <a:srgbClr val="434343"/>
                </a:solidFill>
                <a:latin typeface="+mn-lt"/>
                <a:ea typeface="Open Sans" panose="020B0606030504020204" pitchFamily="34" charset="0"/>
                <a:cs typeface="Open Sans" panose="020B0606030504020204" pitchFamily="34" charset="0"/>
              </a:defRPr>
            </a:lvl2pPr>
            <a:lvl3pPr marL="603571" indent="-171428">
              <a:buClr>
                <a:srgbClr val="7C878E"/>
              </a:buClr>
              <a:buFont typeface="Courier New" charset="0"/>
              <a:buChar char="o"/>
              <a:defRPr sz="1400">
                <a:solidFill>
                  <a:srgbClr val="434343"/>
                </a:solidFill>
                <a:latin typeface="+mn-lt"/>
                <a:ea typeface="Open Sans" panose="020B0606030504020204" pitchFamily="34" charset="0"/>
                <a:cs typeface="Open Sans" panose="020B0606030504020204" pitchFamily="34" charset="0"/>
              </a:defRPr>
            </a:lvl3pPr>
            <a:lvl4pPr marL="809523" marR="0"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sz="1400">
                <a:solidFill>
                  <a:srgbClr val="434343"/>
                </a:solidFill>
                <a:latin typeface="+mn-lt"/>
                <a:ea typeface="Open Sans" panose="020B0606030504020204" pitchFamily="34" charset="0"/>
                <a:cs typeface="Open Sans" panose="020B0606030504020204" pitchFamily="34" charset="0"/>
              </a:defRPr>
            </a:lvl4pPr>
            <a:lvl5pPr>
              <a:defRPr sz="1350"/>
            </a:lvl5pPr>
            <a:lvl6pPr>
              <a:defRPr sz="1200"/>
            </a:lvl6pPr>
            <a:lvl7pPr>
              <a:defRPr sz="1200"/>
            </a:lvl7pPr>
            <a:lvl8pPr>
              <a:defRPr sz="1200"/>
            </a:lvl8pPr>
            <a:lvl9pPr>
              <a:defRPr sz="1200"/>
            </a:lvl9pPr>
          </a:lstStyle>
          <a:p>
            <a:pPr lvl="0"/>
            <a:r>
              <a:rPr lang="en-CA" noProof="0" err="1"/>
              <a:t>Cliquez</a:t>
            </a:r>
            <a:r>
              <a:rPr lang="en-CA" noProof="0"/>
              <a:t> pour </a:t>
            </a:r>
            <a:r>
              <a:rPr lang="en-CA" noProof="0" err="1"/>
              <a:t>ajouter</a:t>
            </a:r>
            <a:r>
              <a:rPr lang="en-CA" noProof="0"/>
              <a:t> du </a:t>
            </a:r>
            <a:r>
              <a:rPr lang="en-CA" noProof="0" err="1"/>
              <a:t>texte</a:t>
            </a:r>
            <a:endParaRPr lang="en-CA" noProof="0"/>
          </a:p>
          <a:p>
            <a:pPr lvl="1"/>
            <a:r>
              <a:rPr lang="en-CA" noProof="0" err="1"/>
              <a:t>Liste</a:t>
            </a:r>
            <a:r>
              <a:rPr lang="en-CA" noProof="0"/>
              <a:t> de </a:t>
            </a:r>
            <a:r>
              <a:rPr lang="en-CA" noProof="0" err="1"/>
              <a:t>niveau</a:t>
            </a:r>
            <a:r>
              <a:rPr lang="en-CA" noProof="0"/>
              <a:t> deux</a:t>
            </a:r>
          </a:p>
          <a:p>
            <a:pPr lvl="2"/>
            <a:r>
              <a:rPr lang="en-CA" noProof="0" err="1"/>
              <a:t>Liste</a:t>
            </a:r>
            <a:r>
              <a:rPr lang="en-CA" noProof="0"/>
              <a:t> </a:t>
            </a:r>
            <a:r>
              <a:rPr lang="en-CA" noProof="0" err="1"/>
              <a:t>niveau</a:t>
            </a:r>
            <a:r>
              <a:rPr lang="en-CA" noProof="0"/>
              <a:t> trois</a:t>
            </a:r>
          </a:p>
          <a:p>
            <a:pPr marL="809523" marR="0" lvl="3"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a:pPr>
            <a:r>
              <a:rPr lang="en-CA" noProof="0" err="1"/>
              <a:t>Liste</a:t>
            </a:r>
            <a:r>
              <a:rPr lang="en-CA" noProof="0"/>
              <a:t> </a:t>
            </a:r>
            <a:r>
              <a:rPr lang="en-CA" noProof="0" err="1"/>
              <a:t>niveau</a:t>
            </a:r>
            <a:r>
              <a:rPr lang="en-CA" noProof="0"/>
              <a:t> quatre</a:t>
            </a:r>
          </a:p>
        </p:txBody>
      </p:sp>
    </p:spTree>
    <p:extLst>
      <p:ext uri="{BB962C8B-B14F-4D97-AF65-F5344CB8AC3E}">
        <p14:creationId xmlns:p14="http://schemas.microsoft.com/office/powerpoint/2010/main" val="1129859396"/>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9_Chapitre - Chapter 1">
    <p:bg>
      <p:bgPr>
        <a:solidFill>
          <a:schemeClr val="bg1">
            <a:lumMod val="95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04E5909-B7EB-4D4B-B0CF-63A90B5BFAD7}"/>
              </a:ext>
            </a:extLst>
          </p:cNvPr>
          <p:cNvSpPr/>
          <p:nvPr userDrawn="1"/>
        </p:nvSpPr>
        <p:spPr>
          <a:xfrm>
            <a:off x="4648200" y="0"/>
            <a:ext cx="4495800" cy="51435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5" name="Rectangle 14">
            <a:extLst>
              <a:ext uri="{FF2B5EF4-FFF2-40B4-BE49-F238E27FC236}">
                <a16:creationId xmlns:a16="http://schemas.microsoft.com/office/drawing/2014/main" id="{09EE2D7C-9C63-564B-8B6D-1FB237BAFC4C}"/>
              </a:ext>
            </a:extLst>
          </p:cNvPr>
          <p:cNvSpPr/>
          <p:nvPr userDrawn="1"/>
        </p:nvSpPr>
        <p:spPr>
          <a:xfrm>
            <a:off x="0" y="0"/>
            <a:ext cx="228600" cy="5143500"/>
          </a:xfrm>
          <a:prstGeom prst="rect">
            <a:avLst/>
          </a:prstGeom>
          <a:solidFill>
            <a:srgbClr val="00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4800" noProof="0">
              <a:solidFill>
                <a:srgbClr val="003DA5"/>
              </a:solidFill>
            </a:endParaRPr>
          </a:p>
        </p:txBody>
      </p:sp>
      <p:sp>
        <p:nvSpPr>
          <p:cNvPr id="14" name="Text Placeholder 4">
            <a:extLst>
              <a:ext uri="{FF2B5EF4-FFF2-40B4-BE49-F238E27FC236}">
                <a16:creationId xmlns:a16="http://schemas.microsoft.com/office/drawing/2014/main" id="{FE8F280E-43CA-AD4D-8287-D43BF3F5F184}"/>
              </a:ext>
            </a:extLst>
          </p:cNvPr>
          <p:cNvSpPr>
            <a:spLocks noGrp="1"/>
          </p:cNvSpPr>
          <p:nvPr>
            <p:ph type="body" sz="quarter" idx="3" hasCustomPrompt="1"/>
          </p:nvPr>
        </p:nvSpPr>
        <p:spPr>
          <a:xfrm>
            <a:off x="609600" y="419100"/>
            <a:ext cx="3962400" cy="400050"/>
          </a:xfrm>
          <a:prstGeom prst="rect">
            <a:avLst/>
          </a:prstGeom>
        </p:spPr>
        <p:txBody>
          <a:bodyPr anchor="ctr" anchorCtr="0">
            <a:noAutofit/>
          </a:bodyPr>
          <a:lstStyle>
            <a:lvl1pPr marL="0" indent="0" algn="ctr">
              <a:buNone/>
              <a:defRPr sz="1400" b="1">
                <a:solidFill>
                  <a:srgbClr val="003DA5"/>
                </a:solidFill>
                <a:latin typeface="+mn-lt"/>
                <a:ea typeface="Open Sans" panose="020B0606030504020204" pitchFamily="34" charset="0"/>
                <a:cs typeface="Open Sans" panose="020B0606030504020204" pitchFamily="34" charset="0"/>
              </a:defRPr>
            </a:lvl1pPr>
            <a:lvl2pPr marL="342858" indent="0">
              <a:buNone/>
              <a:defRPr sz="1500" b="1"/>
            </a:lvl2pPr>
            <a:lvl3pPr marL="685714" indent="0">
              <a:buNone/>
              <a:defRPr sz="1350" b="1"/>
            </a:lvl3pPr>
            <a:lvl4pPr marL="1028572" indent="0">
              <a:buNone/>
              <a:defRPr sz="1200" b="1"/>
            </a:lvl4pPr>
            <a:lvl5pPr marL="1371428" indent="0">
              <a:buNone/>
              <a:defRPr sz="1200" b="1"/>
            </a:lvl5pPr>
            <a:lvl6pPr marL="1714286" indent="0">
              <a:buNone/>
              <a:defRPr sz="1200" b="1"/>
            </a:lvl6pPr>
            <a:lvl7pPr marL="2057142" indent="0">
              <a:buNone/>
              <a:defRPr sz="1200" b="1"/>
            </a:lvl7pPr>
            <a:lvl8pPr marL="2400000" indent="0">
              <a:buNone/>
              <a:defRPr sz="1200" b="1"/>
            </a:lvl8pPr>
            <a:lvl9pPr marL="2742858" indent="0">
              <a:buNone/>
              <a:defRPr sz="1200" b="1"/>
            </a:lvl9pPr>
          </a:lstStyle>
          <a:p>
            <a:pPr lvl="0"/>
            <a:r>
              <a:rPr lang="en-CA" noProof="0"/>
              <a:t>Titre A</a:t>
            </a:r>
          </a:p>
        </p:txBody>
      </p:sp>
      <p:sp>
        <p:nvSpPr>
          <p:cNvPr id="16" name="Text Placeholder 4">
            <a:extLst>
              <a:ext uri="{FF2B5EF4-FFF2-40B4-BE49-F238E27FC236}">
                <a16:creationId xmlns:a16="http://schemas.microsoft.com/office/drawing/2014/main" id="{69A15D0A-BD21-D046-BCE0-826651506805}"/>
              </a:ext>
            </a:extLst>
          </p:cNvPr>
          <p:cNvSpPr>
            <a:spLocks noGrp="1"/>
          </p:cNvSpPr>
          <p:nvPr>
            <p:ph type="body" sz="quarter" idx="15" hasCustomPrompt="1"/>
          </p:nvPr>
        </p:nvSpPr>
        <p:spPr>
          <a:xfrm>
            <a:off x="4800600" y="419100"/>
            <a:ext cx="3962400" cy="400050"/>
          </a:xfrm>
          <a:prstGeom prst="rect">
            <a:avLst/>
          </a:prstGeom>
        </p:spPr>
        <p:txBody>
          <a:bodyPr anchor="ctr" anchorCtr="0">
            <a:noAutofit/>
          </a:bodyPr>
          <a:lstStyle>
            <a:lvl1pPr marL="0" indent="0" algn="ctr">
              <a:buNone/>
              <a:defRPr sz="1400" b="1">
                <a:solidFill>
                  <a:srgbClr val="003DA5"/>
                </a:solidFill>
                <a:latin typeface="+mn-lt"/>
                <a:ea typeface="Open Sans" panose="020B0606030504020204" pitchFamily="34" charset="0"/>
                <a:cs typeface="Open Sans" panose="020B0606030504020204" pitchFamily="34" charset="0"/>
              </a:defRPr>
            </a:lvl1pPr>
            <a:lvl2pPr marL="342858" indent="0">
              <a:buNone/>
              <a:defRPr sz="1500" b="1"/>
            </a:lvl2pPr>
            <a:lvl3pPr marL="685714" indent="0">
              <a:buNone/>
              <a:defRPr sz="1350" b="1"/>
            </a:lvl3pPr>
            <a:lvl4pPr marL="1028572" indent="0">
              <a:buNone/>
              <a:defRPr sz="1200" b="1"/>
            </a:lvl4pPr>
            <a:lvl5pPr marL="1371428" indent="0">
              <a:buNone/>
              <a:defRPr sz="1200" b="1"/>
            </a:lvl5pPr>
            <a:lvl6pPr marL="1714286" indent="0">
              <a:buNone/>
              <a:defRPr sz="1200" b="1"/>
            </a:lvl6pPr>
            <a:lvl7pPr marL="2057142" indent="0">
              <a:buNone/>
              <a:defRPr sz="1200" b="1"/>
            </a:lvl7pPr>
            <a:lvl8pPr marL="2400000" indent="0">
              <a:buNone/>
              <a:defRPr sz="1200" b="1"/>
            </a:lvl8pPr>
            <a:lvl9pPr marL="2742858" indent="0">
              <a:buNone/>
              <a:defRPr sz="1200" b="1"/>
            </a:lvl9pPr>
          </a:lstStyle>
          <a:p>
            <a:pPr lvl="0"/>
            <a:r>
              <a:rPr lang="en-CA" noProof="0"/>
              <a:t>Titre B</a:t>
            </a:r>
          </a:p>
        </p:txBody>
      </p:sp>
      <p:sp>
        <p:nvSpPr>
          <p:cNvPr id="17" name="Content Placeholder 3">
            <a:extLst>
              <a:ext uri="{FF2B5EF4-FFF2-40B4-BE49-F238E27FC236}">
                <a16:creationId xmlns:a16="http://schemas.microsoft.com/office/drawing/2014/main" id="{2373623B-843E-024C-898E-A40EB0FCF98E}"/>
              </a:ext>
            </a:extLst>
          </p:cNvPr>
          <p:cNvSpPr>
            <a:spLocks noGrp="1"/>
          </p:cNvSpPr>
          <p:nvPr>
            <p:ph sz="half" idx="14" hasCustomPrompt="1"/>
          </p:nvPr>
        </p:nvSpPr>
        <p:spPr>
          <a:xfrm>
            <a:off x="609600" y="971550"/>
            <a:ext cx="3962400" cy="3962400"/>
          </a:xfrm>
          <a:prstGeom prst="rect">
            <a:avLst/>
          </a:prstGeom>
        </p:spPr>
        <p:txBody>
          <a:bodyPr>
            <a:noAutofit/>
          </a:bodyPr>
          <a:lstStyle>
            <a:lvl1pPr marL="266667" indent="-266667">
              <a:buClr>
                <a:srgbClr val="434343"/>
              </a:buClr>
              <a:buFont typeface="ArialMT" charset="0"/>
              <a:buChar char="—"/>
              <a:tabLst/>
              <a:defRPr sz="1400">
                <a:solidFill>
                  <a:srgbClr val="434343"/>
                </a:solidFill>
                <a:latin typeface="+mn-lt"/>
                <a:ea typeface="Open Sans" panose="020B0606030504020204" pitchFamily="34" charset="0"/>
                <a:cs typeface="Open Sans" panose="020B0606030504020204" pitchFamily="34" charset="0"/>
              </a:defRPr>
            </a:lvl1pPr>
            <a:lvl2pPr marL="405954" indent="-214287">
              <a:buClr>
                <a:srgbClr val="7C878E"/>
              </a:buClr>
              <a:buFont typeface="Wingdings" charset="2"/>
              <a:buChar char="§"/>
              <a:defRPr sz="1400">
                <a:solidFill>
                  <a:srgbClr val="434343"/>
                </a:solidFill>
                <a:latin typeface="+mn-lt"/>
                <a:ea typeface="Open Sans" panose="020B0606030504020204" pitchFamily="34" charset="0"/>
                <a:cs typeface="Open Sans" panose="020B0606030504020204" pitchFamily="34" charset="0"/>
              </a:defRPr>
            </a:lvl2pPr>
            <a:lvl3pPr marL="603571" indent="-171428">
              <a:buClr>
                <a:srgbClr val="7C878E"/>
              </a:buClr>
              <a:buFont typeface="Courier New" charset="0"/>
              <a:buChar char="o"/>
              <a:defRPr sz="1400">
                <a:solidFill>
                  <a:srgbClr val="434343"/>
                </a:solidFill>
                <a:latin typeface="+mn-lt"/>
                <a:ea typeface="Open Sans" panose="020B0606030504020204" pitchFamily="34" charset="0"/>
                <a:cs typeface="Open Sans" panose="020B0606030504020204" pitchFamily="34" charset="0"/>
              </a:defRPr>
            </a:lvl3pPr>
            <a:lvl4pPr marL="809523" marR="0"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sz="1400">
                <a:solidFill>
                  <a:srgbClr val="434343"/>
                </a:solidFill>
                <a:latin typeface="+mn-lt"/>
                <a:ea typeface="Open Sans" panose="020B0606030504020204" pitchFamily="34" charset="0"/>
                <a:cs typeface="Open Sans" panose="020B0606030504020204" pitchFamily="34" charset="0"/>
              </a:defRPr>
            </a:lvl4pPr>
            <a:lvl5pPr>
              <a:defRPr sz="1350"/>
            </a:lvl5pPr>
            <a:lvl6pPr>
              <a:defRPr sz="1200"/>
            </a:lvl6pPr>
            <a:lvl7pPr>
              <a:defRPr sz="1200"/>
            </a:lvl7pPr>
            <a:lvl8pPr>
              <a:defRPr sz="1200"/>
            </a:lvl8pPr>
            <a:lvl9pPr>
              <a:defRPr sz="1200"/>
            </a:lvl9pPr>
          </a:lstStyle>
          <a:p>
            <a:pPr lvl="0"/>
            <a:r>
              <a:rPr lang="en-CA" noProof="0" err="1"/>
              <a:t>Cliquez</a:t>
            </a:r>
            <a:r>
              <a:rPr lang="en-CA" noProof="0"/>
              <a:t> pour </a:t>
            </a:r>
            <a:r>
              <a:rPr lang="en-CA" noProof="0" err="1"/>
              <a:t>ajouter</a:t>
            </a:r>
            <a:r>
              <a:rPr lang="en-CA" noProof="0"/>
              <a:t> du </a:t>
            </a:r>
            <a:r>
              <a:rPr lang="en-CA" noProof="0" err="1"/>
              <a:t>texte</a:t>
            </a:r>
            <a:endParaRPr lang="en-CA" noProof="0"/>
          </a:p>
          <a:p>
            <a:pPr lvl="1"/>
            <a:r>
              <a:rPr lang="en-CA" noProof="0" err="1"/>
              <a:t>Liste</a:t>
            </a:r>
            <a:r>
              <a:rPr lang="en-CA" noProof="0"/>
              <a:t> de </a:t>
            </a:r>
            <a:r>
              <a:rPr lang="en-CA" noProof="0" err="1"/>
              <a:t>niveau</a:t>
            </a:r>
            <a:r>
              <a:rPr lang="en-CA" noProof="0"/>
              <a:t> deux</a:t>
            </a:r>
          </a:p>
          <a:p>
            <a:pPr lvl="2"/>
            <a:r>
              <a:rPr lang="en-CA" noProof="0" err="1"/>
              <a:t>Liste</a:t>
            </a:r>
            <a:r>
              <a:rPr lang="en-CA" noProof="0"/>
              <a:t> </a:t>
            </a:r>
            <a:r>
              <a:rPr lang="en-CA" noProof="0" err="1"/>
              <a:t>niveau</a:t>
            </a:r>
            <a:r>
              <a:rPr lang="en-CA" noProof="0"/>
              <a:t> trois</a:t>
            </a:r>
          </a:p>
          <a:p>
            <a:pPr marL="809523" marR="0" lvl="3"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a:pPr>
            <a:r>
              <a:rPr lang="en-CA" noProof="0" err="1"/>
              <a:t>Liste</a:t>
            </a:r>
            <a:r>
              <a:rPr lang="en-CA" noProof="0"/>
              <a:t> </a:t>
            </a:r>
            <a:r>
              <a:rPr lang="en-CA" noProof="0" err="1"/>
              <a:t>niveau</a:t>
            </a:r>
            <a:r>
              <a:rPr lang="en-CA" noProof="0"/>
              <a:t> quatre</a:t>
            </a:r>
          </a:p>
        </p:txBody>
      </p:sp>
      <p:sp>
        <p:nvSpPr>
          <p:cNvPr id="18" name="Content Placeholder 3">
            <a:extLst>
              <a:ext uri="{FF2B5EF4-FFF2-40B4-BE49-F238E27FC236}">
                <a16:creationId xmlns:a16="http://schemas.microsoft.com/office/drawing/2014/main" id="{4587B536-8982-C340-880F-E3F058E2A883}"/>
              </a:ext>
            </a:extLst>
          </p:cNvPr>
          <p:cNvSpPr>
            <a:spLocks noGrp="1"/>
          </p:cNvSpPr>
          <p:nvPr>
            <p:ph sz="half" idx="16" hasCustomPrompt="1"/>
          </p:nvPr>
        </p:nvSpPr>
        <p:spPr>
          <a:xfrm>
            <a:off x="4800600" y="971550"/>
            <a:ext cx="3962400" cy="3962400"/>
          </a:xfrm>
          <a:prstGeom prst="rect">
            <a:avLst/>
          </a:prstGeom>
        </p:spPr>
        <p:txBody>
          <a:bodyPr>
            <a:noAutofit/>
          </a:bodyPr>
          <a:lstStyle>
            <a:lvl1pPr marL="266667" indent="-266667">
              <a:buClr>
                <a:srgbClr val="434343"/>
              </a:buClr>
              <a:buFont typeface="ArialMT" charset="0"/>
              <a:buChar char="—"/>
              <a:tabLst/>
              <a:defRPr sz="1400">
                <a:solidFill>
                  <a:srgbClr val="434343"/>
                </a:solidFill>
                <a:latin typeface="+mn-lt"/>
                <a:ea typeface="Open Sans" panose="020B0606030504020204" pitchFamily="34" charset="0"/>
                <a:cs typeface="Open Sans" panose="020B0606030504020204" pitchFamily="34" charset="0"/>
              </a:defRPr>
            </a:lvl1pPr>
            <a:lvl2pPr marL="405954" indent="-214287">
              <a:buClr>
                <a:srgbClr val="7C878E"/>
              </a:buClr>
              <a:buFont typeface="Wingdings" charset="2"/>
              <a:buChar char="§"/>
              <a:defRPr sz="1400">
                <a:solidFill>
                  <a:srgbClr val="434343"/>
                </a:solidFill>
                <a:latin typeface="+mn-lt"/>
                <a:ea typeface="Open Sans" panose="020B0606030504020204" pitchFamily="34" charset="0"/>
                <a:cs typeface="Open Sans" panose="020B0606030504020204" pitchFamily="34" charset="0"/>
              </a:defRPr>
            </a:lvl2pPr>
            <a:lvl3pPr marL="603571" indent="-171428">
              <a:buClr>
                <a:srgbClr val="7C878E"/>
              </a:buClr>
              <a:buFont typeface="Courier New" charset="0"/>
              <a:buChar char="o"/>
              <a:defRPr sz="1400">
                <a:solidFill>
                  <a:srgbClr val="434343"/>
                </a:solidFill>
                <a:latin typeface="+mn-lt"/>
                <a:ea typeface="Open Sans" panose="020B0606030504020204" pitchFamily="34" charset="0"/>
                <a:cs typeface="Open Sans" panose="020B0606030504020204" pitchFamily="34" charset="0"/>
              </a:defRPr>
            </a:lvl3pPr>
            <a:lvl4pPr marL="809523" marR="0"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sz="1400">
                <a:solidFill>
                  <a:srgbClr val="434343"/>
                </a:solidFill>
                <a:latin typeface="+mn-lt"/>
                <a:ea typeface="Open Sans" panose="020B0606030504020204" pitchFamily="34" charset="0"/>
                <a:cs typeface="Open Sans" panose="020B0606030504020204" pitchFamily="34" charset="0"/>
              </a:defRPr>
            </a:lvl4pPr>
            <a:lvl5pPr>
              <a:defRPr sz="1350"/>
            </a:lvl5pPr>
            <a:lvl6pPr>
              <a:defRPr sz="1200"/>
            </a:lvl6pPr>
            <a:lvl7pPr>
              <a:defRPr sz="1200"/>
            </a:lvl7pPr>
            <a:lvl8pPr>
              <a:defRPr sz="1200"/>
            </a:lvl8pPr>
            <a:lvl9pPr>
              <a:defRPr sz="1200"/>
            </a:lvl9pPr>
          </a:lstStyle>
          <a:p>
            <a:pPr lvl="0"/>
            <a:r>
              <a:rPr lang="en-CA" noProof="0" err="1"/>
              <a:t>Cliquez</a:t>
            </a:r>
            <a:r>
              <a:rPr lang="en-CA" noProof="0"/>
              <a:t> pour </a:t>
            </a:r>
            <a:r>
              <a:rPr lang="en-CA" noProof="0" err="1"/>
              <a:t>ajouter</a:t>
            </a:r>
            <a:r>
              <a:rPr lang="en-CA" noProof="0"/>
              <a:t> du </a:t>
            </a:r>
            <a:r>
              <a:rPr lang="en-CA" noProof="0" err="1"/>
              <a:t>texte</a:t>
            </a:r>
            <a:endParaRPr lang="en-CA" noProof="0"/>
          </a:p>
          <a:p>
            <a:pPr lvl="1"/>
            <a:r>
              <a:rPr lang="en-CA" noProof="0" err="1"/>
              <a:t>Liste</a:t>
            </a:r>
            <a:r>
              <a:rPr lang="en-CA" noProof="0"/>
              <a:t> de </a:t>
            </a:r>
            <a:r>
              <a:rPr lang="en-CA" noProof="0" err="1"/>
              <a:t>niveau</a:t>
            </a:r>
            <a:r>
              <a:rPr lang="en-CA" noProof="0"/>
              <a:t> deux</a:t>
            </a:r>
          </a:p>
          <a:p>
            <a:pPr lvl="2"/>
            <a:r>
              <a:rPr lang="en-CA" noProof="0" err="1"/>
              <a:t>Liste</a:t>
            </a:r>
            <a:r>
              <a:rPr lang="en-CA" noProof="0"/>
              <a:t> </a:t>
            </a:r>
            <a:r>
              <a:rPr lang="en-CA" noProof="0" err="1"/>
              <a:t>niveau</a:t>
            </a:r>
            <a:r>
              <a:rPr lang="en-CA" noProof="0"/>
              <a:t> trois</a:t>
            </a:r>
          </a:p>
          <a:p>
            <a:pPr marL="809523" marR="0" lvl="3"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a:pPr>
            <a:r>
              <a:rPr lang="en-CA" noProof="0" err="1"/>
              <a:t>Liste</a:t>
            </a:r>
            <a:r>
              <a:rPr lang="en-CA" noProof="0"/>
              <a:t> </a:t>
            </a:r>
            <a:r>
              <a:rPr lang="en-CA" noProof="0" err="1"/>
              <a:t>niveau</a:t>
            </a:r>
            <a:r>
              <a:rPr lang="en-CA" noProof="0"/>
              <a:t> quatre</a:t>
            </a:r>
          </a:p>
        </p:txBody>
      </p:sp>
    </p:spTree>
    <p:extLst>
      <p:ext uri="{BB962C8B-B14F-4D97-AF65-F5344CB8AC3E}">
        <p14:creationId xmlns:p14="http://schemas.microsoft.com/office/powerpoint/2010/main" val="3045719693"/>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8_Chapitre - Chapter 1">
    <p:bg>
      <p:bgPr>
        <a:solidFill>
          <a:schemeClr val="bg1">
            <a:lumMod val="95000"/>
          </a:schemeClr>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9EE2D7C-9C63-564B-8B6D-1FB237BAFC4C}"/>
              </a:ext>
            </a:extLst>
          </p:cNvPr>
          <p:cNvSpPr/>
          <p:nvPr userDrawn="1"/>
        </p:nvSpPr>
        <p:spPr>
          <a:xfrm>
            <a:off x="0" y="0"/>
            <a:ext cx="228600" cy="5143500"/>
          </a:xfrm>
          <a:prstGeom prst="rect">
            <a:avLst/>
          </a:prstGeom>
          <a:solidFill>
            <a:srgbClr val="00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4800" noProof="0">
              <a:solidFill>
                <a:srgbClr val="003DA5"/>
              </a:solidFill>
            </a:endParaRPr>
          </a:p>
        </p:txBody>
      </p:sp>
      <p:sp>
        <p:nvSpPr>
          <p:cNvPr id="5" name="Titre 1">
            <a:extLst>
              <a:ext uri="{FF2B5EF4-FFF2-40B4-BE49-F238E27FC236}">
                <a16:creationId xmlns:a16="http://schemas.microsoft.com/office/drawing/2014/main" id="{7FB761F4-093C-C740-97A6-21FC5EFDFFF4}"/>
              </a:ext>
            </a:extLst>
          </p:cNvPr>
          <p:cNvSpPr>
            <a:spLocks noGrp="1"/>
          </p:cNvSpPr>
          <p:nvPr>
            <p:ph type="title"/>
          </p:nvPr>
        </p:nvSpPr>
        <p:spPr>
          <a:xfrm>
            <a:off x="457200" y="285750"/>
            <a:ext cx="8138809" cy="933449"/>
          </a:xfrm>
        </p:spPr>
        <p:txBody>
          <a:bodyPr/>
          <a:lstStyle/>
          <a:p>
            <a:r>
              <a:rPr lang="fr-FR"/>
              <a:t>Modifiez le style du titre</a:t>
            </a:r>
            <a:endParaRPr lang="fr-CA"/>
          </a:p>
        </p:txBody>
      </p:sp>
      <p:sp>
        <p:nvSpPr>
          <p:cNvPr id="11" name="Content Placeholder 3">
            <a:extLst>
              <a:ext uri="{FF2B5EF4-FFF2-40B4-BE49-F238E27FC236}">
                <a16:creationId xmlns:a16="http://schemas.microsoft.com/office/drawing/2014/main" id="{45F53DC0-3346-B441-8B6B-EE2EBAFDD2A7}"/>
              </a:ext>
            </a:extLst>
          </p:cNvPr>
          <p:cNvSpPr>
            <a:spLocks noGrp="1"/>
          </p:cNvSpPr>
          <p:nvPr>
            <p:ph sz="half" idx="14" hasCustomPrompt="1"/>
          </p:nvPr>
        </p:nvSpPr>
        <p:spPr>
          <a:xfrm>
            <a:off x="457201" y="2038350"/>
            <a:ext cx="2209800" cy="2895600"/>
          </a:xfrm>
          <a:prstGeom prst="rect">
            <a:avLst/>
          </a:prstGeom>
        </p:spPr>
        <p:txBody>
          <a:bodyPr>
            <a:noAutofit/>
          </a:bodyPr>
          <a:lstStyle>
            <a:lvl1pPr marL="266667" indent="-266667">
              <a:buClr>
                <a:srgbClr val="434343"/>
              </a:buClr>
              <a:buFont typeface="ArialMT" charset="0"/>
              <a:buChar char="—"/>
              <a:tabLst/>
              <a:defRPr sz="1400">
                <a:solidFill>
                  <a:srgbClr val="434343"/>
                </a:solidFill>
                <a:latin typeface="+mn-lt"/>
                <a:ea typeface="Open Sans" panose="020B0606030504020204" pitchFamily="34" charset="0"/>
                <a:cs typeface="Open Sans" panose="020B0606030504020204" pitchFamily="34" charset="0"/>
              </a:defRPr>
            </a:lvl1pPr>
            <a:lvl2pPr marL="405954" indent="-214287">
              <a:buClr>
                <a:srgbClr val="7C878E"/>
              </a:buClr>
              <a:buFont typeface="Wingdings" charset="2"/>
              <a:buChar char="§"/>
              <a:defRPr sz="1400">
                <a:solidFill>
                  <a:srgbClr val="434343"/>
                </a:solidFill>
                <a:latin typeface="+mn-lt"/>
                <a:ea typeface="Open Sans" panose="020B0606030504020204" pitchFamily="34" charset="0"/>
                <a:cs typeface="Open Sans" panose="020B0606030504020204" pitchFamily="34" charset="0"/>
              </a:defRPr>
            </a:lvl2pPr>
            <a:lvl3pPr marL="603571" indent="-171428">
              <a:buClr>
                <a:srgbClr val="7C878E"/>
              </a:buClr>
              <a:buFont typeface="Courier New" charset="0"/>
              <a:buChar char="o"/>
              <a:defRPr sz="1400">
                <a:solidFill>
                  <a:srgbClr val="434343"/>
                </a:solidFill>
                <a:latin typeface="+mn-lt"/>
                <a:ea typeface="Open Sans" panose="020B0606030504020204" pitchFamily="34" charset="0"/>
                <a:cs typeface="Open Sans" panose="020B0606030504020204" pitchFamily="34" charset="0"/>
              </a:defRPr>
            </a:lvl3pPr>
            <a:lvl4pPr marL="809523" marR="0"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sz="1400">
                <a:solidFill>
                  <a:srgbClr val="434343"/>
                </a:solidFill>
                <a:latin typeface="+mn-lt"/>
                <a:ea typeface="Open Sans" panose="020B0606030504020204" pitchFamily="34" charset="0"/>
                <a:cs typeface="Open Sans" panose="020B0606030504020204" pitchFamily="34" charset="0"/>
              </a:defRPr>
            </a:lvl4pPr>
            <a:lvl5pPr>
              <a:defRPr sz="1350"/>
            </a:lvl5pPr>
            <a:lvl6pPr>
              <a:defRPr sz="1200"/>
            </a:lvl6pPr>
            <a:lvl7pPr>
              <a:defRPr sz="1200"/>
            </a:lvl7pPr>
            <a:lvl8pPr>
              <a:defRPr sz="1200"/>
            </a:lvl8pPr>
            <a:lvl9pPr>
              <a:defRPr sz="1200"/>
            </a:lvl9pPr>
          </a:lstStyle>
          <a:p>
            <a:pPr lvl="0"/>
            <a:r>
              <a:rPr lang="en-CA" noProof="0" err="1"/>
              <a:t>Cliquez</a:t>
            </a:r>
            <a:r>
              <a:rPr lang="en-CA" noProof="0"/>
              <a:t> pour </a:t>
            </a:r>
            <a:r>
              <a:rPr lang="en-CA" noProof="0" err="1"/>
              <a:t>ajouter</a:t>
            </a:r>
            <a:r>
              <a:rPr lang="en-CA" noProof="0"/>
              <a:t> du </a:t>
            </a:r>
            <a:r>
              <a:rPr lang="en-CA" noProof="0" err="1"/>
              <a:t>texte</a:t>
            </a:r>
            <a:endParaRPr lang="en-CA" noProof="0"/>
          </a:p>
          <a:p>
            <a:pPr lvl="1"/>
            <a:r>
              <a:rPr lang="en-CA" noProof="0" err="1"/>
              <a:t>Liste</a:t>
            </a:r>
            <a:r>
              <a:rPr lang="en-CA" noProof="0"/>
              <a:t> de </a:t>
            </a:r>
            <a:r>
              <a:rPr lang="en-CA" noProof="0" err="1"/>
              <a:t>niveau</a:t>
            </a:r>
            <a:r>
              <a:rPr lang="en-CA" noProof="0"/>
              <a:t> deux</a:t>
            </a:r>
          </a:p>
          <a:p>
            <a:pPr lvl="2"/>
            <a:r>
              <a:rPr lang="en-CA" noProof="0" err="1"/>
              <a:t>Liste</a:t>
            </a:r>
            <a:r>
              <a:rPr lang="en-CA" noProof="0"/>
              <a:t> </a:t>
            </a:r>
            <a:r>
              <a:rPr lang="en-CA" noProof="0" err="1"/>
              <a:t>niveau</a:t>
            </a:r>
            <a:r>
              <a:rPr lang="en-CA" noProof="0"/>
              <a:t> trois</a:t>
            </a:r>
          </a:p>
          <a:p>
            <a:pPr marL="809523" marR="0" lvl="3"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a:pPr>
            <a:r>
              <a:rPr lang="en-CA" noProof="0" err="1"/>
              <a:t>Liste</a:t>
            </a:r>
            <a:r>
              <a:rPr lang="en-CA" noProof="0"/>
              <a:t> </a:t>
            </a:r>
            <a:r>
              <a:rPr lang="en-CA" noProof="0" err="1"/>
              <a:t>niveau</a:t>
            </a:r>
            <a:r>
              <a:rPr lang="en-CA" noProof="0"/>
              <a:t> quatre</a:t>
            </a:r>
          </a:p>
        </p:txBody>
      </p:sp>
      <p:sp>
        <p:nvSpPr>
          <p:cNvPr id="12" name="Content Placeholder 3">
            <a:extLst>
              <a:ext uri="{FF2B5EF4-FFF2-40B4-BE49-F238E27FC236}">
                <a16:creationId xmlns:a16="http://schemas.microsoft.com/office/drawing/2014/main" id="{8CF72D2D-E488-E845-A55D-5E91A93C2714}"/>
              </a:ext>
            </a:extLst>
          </p:cNvPr>
          <p:cNvSpPr>
            <a:spLocks noGrp="1"/>
          </p:cNvSpPr>
          <p:nvPr>
            <p:ph sz="half" idx="18" hasCustomPrompt="1"/>
          </p:nvPr>
        </p:nvSpPr>
        <p:spPr>
          <a:xfrm>
            <a:off x="3420639" y="2038350"/>
            <a:ext cx="2209800" cy="2895600"/>
          </a:xfrm>
          <a:prstGeom prst="rect">
            <a:avLst/>
          </a:prstGeom>
        </p:spPr>
        <p:txBody>
          <a:bodyPr>
            <a:noAutofit/>
          </a:bodyPr>
          <a:lstStyle>
            <a:lvl1pPr marL="266667" indent="-266667">
              <a:buClr>
                <a:srgbClr val="434343"/>
              </a:buClr>
              <a:buFont typeface="ArialMT" charset="0"/>
              <a:buChar char="—"/>
              <a:tabLst/>
              <a:defRPr sz="1400">
                <a:solidFill>
                  <a:srgbClr val="434343"/>
                </a:solidFill>
                <a:latin typeface="+mn-lt"/>
                <a:ea typeface="Open Sans" panose="020B0606030504020204" pitchFamily="34" charset="0"/>
                <a:cs typeface="Open Sans" panose="020B0606030504020204" pitchFamily="34" charset="0"/>
              </a:defRPr>
            </a:lvl1pPr>
            <a:lvl2pPr marL="405954" indent="-214287">
              <a:buClr>
                <a:srgbClr val="7C878E"/>
              </a:buClr>
              <a:buFont typeface="Wingdings" charset="2"/>
              <a:buChar char="§"/>
              <a:defRPr sz="1400">
                <a:solidFill>
                  <a:srgbClr val="434343"/>
                </a:solidFill>
                <a:latin typeface="+mn-lt"/>
                <a:ea typeface="Open Sans" panose="020B0606030504020204" pitchFamily="34" charset="0"/>
                <a:cs typeface="Open Sans" panose="020B0606030504020204" pitchFamily="34" charset="0"/>
              </a:defRPr>
            </a:lvl2pPr>
            <a:lvl3pPr marL="603571" indent="-171428">
              <a:buClr>
                <a:srgbClr val="7C878E"/>
              </a:buClr>
              <a:buFont typeface="Courier New" charset="0"/>
              <a:buChar char="o"/>
              <a:defRPr sz="1400">
                <a:solidFill>
                  <a:srgbClr val="434343"/>
                </a:solidFill>
                <a:latin typeface="+mn-lt"/>
                <a:ea typeface="Open Sans" panose="020B0606030504020204" pitchFamily="34" charset="0"/>
                <a:cs typeface="Open Sans" panose="020B0606030504020204" pitchFamily="34" charset="0"/>
              </a:defRPr>
            </a:lvl3pPr>
            <a:lvl4pPr marL="809523" marR="0"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sz="1400">
                <a:solidFill>
                  <a:srgbClr val="434343"/>
                </a:solidFill>
                <a:latin typeface="+mn-lt"/>
                <a:ea typeface="Open Sans" panose="020B0606030504020204" pitchFamily="34" charset="0"/>
                <a:cs typeface="Open Sans" panose="020B0606030504020204" pitchFamily="34" charset="0"/>
              </a:defRPr>
            </a:lvl4pPr>
            <a:lvl5pPr>
              <a:defRPr sz="1350"/>
            </a:lvl5pPr>
            <a:lvl6pPr>
              <a:defRPr sz="1200"/>
            </a:lvl6pPr>
            <a:lvl7pPr>
              <a:defRPr sz="1200"/>
            </a:lvl7pPr>
            <a:lvl8pPr>
              <a:defRPr sz="1200"/>
            </a:lvl8pPr>
            <a:lvl9pPr>
              <a:defRPr sz="1200"/>
            </a:lvl9pPr>
          </a:lstStyle>
          <a:p>
            <a:pPr lvl="0"/>
            <a:r>
              <a:rPr lang="en-CA" noProof="0" err="1"/>
              <a:t>Cliquez</a:t>
            </a:r>
            <a:r>
              <a:rPr lang="en-CA" noProof="0"/>
              <a:t> pour </a:t>
            </a:r>
            <a:r>
              <a:rPr lang="en-CA" noProof="0" err="1"/>
              <a:t>ajouter</a:t>
            </a:r>
            <a:r>
              <a:rPr lang="en-CA" noProof="0"/>
              <a:t> du </a:t>
            </a:r>
            <a:r>
              <a:rPr lang="en-CA" noProof="0" err="1"/>
              <a:t>texte</a:t>
            </a:r>
            <a:endParaRPr lang="en-CA" noProof="0"/>
          </a:p>
          <a:p>
            <a:pPr lvl="1"/>
            <a:r>
              <a:rPr lang="en-CA" noProof="0" err="1"/>
              <a:t>Liste</a:t>
            </a:r>
            <a:r>
              <a:rPr lang="en-CA" noProof="0"/>
              <a:t> de </a:t>
            </a:r>
            <a:r>
              <a:rPr lang="en-CA" noProof="0" err="1"/>
              <a:t>niveau</a:t>
            </a:r>
            <a:r>
              <a:rPr lang="en-CA" noProof="0"/>
              <a:t> deux</a:t>
            </a:r>
          </a:p>
          <a:p>
            <a:pPr lvl="2"/>
            <a:r>
              <a:rPr lang="en-CA" noProof="0" err="1"/>
              <a:t>Liste</a:t>
            </a:r>
            <a:r>
              <a:rPr lang="en-CA" noProof="0"/>
              <a:t> </a:t>
            </a:r>
            <a:r>
              <a:rPr lang="en-CA" noProof="0" err="1"/>
              <a:t>niveau</a:t>
            </a:r>
            <a:r>
              <a:rPr lang="en-CA" noProof="0"/>
              <a:t> trois</a:t>
            </a:r>
          </a:p>
          <a:p>
            <a:pPr marL="809523" marR="0" lvl="3"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a:pPr>
            <a:r>
              <a:rPr lang="en-CA" noProof="0" err="1"/>
              <a:t>Liste</a:t>
            </a:r>
            <a:r>
              <a:rPr lang="en-CA" noProof="0"/>
              <a:t> </a:t>
            </a:r>
            <a:r>
              <a:rPr lang="en-CA" noProof="0" err="1"/>
              <a:t>niveau</a:t>
            </a:r>
            <a:r>
              <a:rPr lang="en-CA" noProof="0"/>
              <a:t> quatre</a:t>
            </a:r>
          </a:p>
        </p:txBody>
      </p:sp>
      <p:sp>
        <p:nvSpPr>
          <p:cNvPr id="13" name="Content Placeholder 3">
            <a:extLst>
              <a:ext uri="{FF2B5EF4-FFF2-40B4-BE49-F238E27FC236}">
                <a16:creationId xmlns:a16="http://schemas.microsoft.com/office/drawing/2014/main" id="{A1F647D7-4D66-CE45-A91F-147D89768941}"/>
              </a:ext>
            </a:extLst>
          </p:cNvPr>
          <p:cNvSpPr>
            <a:spLocks noGrp="1"/>
          </p:cNvSpPr>
          <p:nvPr>
            <p:ph sz="half" idx="19" hasCustomPrompt="1"/>
          </p:nvPr>
        </p:nvSpPr>
        <p:spPr>
          <a:xfrm>
            <a:off x="6384078" y="2038350"/>
            <a:ext cx="2209800" cy="2895600"/>
          </a:xfrm>
          <a:prstGeom prst="rect">
            <a:avLst/>
          </a:prstGeom>
        </p:spPr>
        <p:txBody>
          <a:bodyPr>
            <a:noAutofit/>
          </a:bodyPr>
          <a:lstStyle>
            <a:lvl1pPr marL="266667" indent="-266667">
              <a:buClr>
                <a:srgbClr val="434343"/>
              </a:buClr>
              <a:buFont typeface="ArialMT" charset="0"/>
              <a:buChar char="—"/>
              <a:tabLst/>
              <a:defRPr sz="1400">
                <a:solidFill>
                  <a:srgbClr val="434343"/>
                </a:solidFill>
                <a:latin typeface="+mn-lt"/>
                <a:ea typeface="Open Sans" panose="020B0606030504020204" pitchFamily="34" charset="0"/>
                <a:cs typeface="Open Sans" panose="020B0606030504020204" pitchFamily="34" charset="0"/>
              </a:defRPr>
            </a:lvl1pPr>
            <a:lvl2pPr marL="405954" indent="-214287">
              <a:buClr>
                <a:srgbClr val="7C878E"/>
              </a:buClr>
              <a:buFont typeface="Wingdings" charset="2"/>
              <a:buChar char="§"/>
              <a:defRPr sz="1400">
                <a:solidFill>
                  <a:srgbClr val="434343"/>
                </a:solidFill>
                <a:latin typeface="+mn-lt"/>
                <a:ea typeface="Open Sans" panose="020B0606030504020204" pitchFamily="34" charset="0"/>
                <a:cs typeface="Open Sans" panose="020B0606030504020204" pitchFamily="34" charset="0"/>
              </a:defRPr>
            </a:lvl2pPr>
            <a:lvl3pPr marL="603571" indent="-171428">
              <a:buClr>
                <a:srgbClr val="7C878E"/>
              </a:buClr>
              <a:buFont typeface="Courier New" charset="0"/>
              <a:buChar char="o"/>
              <a:defRPr sz="1400">
                <a:solidFill>
                  <a:srgbClr val="434343"/>
                </a:solidFill>
                <a:latin typeface="+mn-lt"/>
                <a:ea typeface="Open Sans" panose="020B0606030504020204" pitchFamily="34" charset="0"/>
                <a:cs typeface="Open Sans" panose="020B0606030504020204" pitchFamily="34" charset="0"/>
              </a:defRPr>
            </a:lvl3pPr>
            <a:lvl4pPr marL="809523" marR="0"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sz="1400">
                <a:solidFill>
                  <a:srgbClr val="434343"/>
                </a:solidFill>
                <a:latin typeface="+mn-lt"/>
                <a:ea typeface="Open Sans" panose="020B0606030504020204" pitchFamily="34" charset="0"/>
                <a:cs typeface="Open Sans" panose="020B0606030504020204" pitchFamily="34" charset="0"/>
              </a:defRPr>
            </a:lvl4pPr>
            <a:lvl5pPr>
              <a:defRPr sz="1350"/>
            </a:lvl5pPr>
            <a:lvl6pPr>
              <a:defRPr sz="1200"/>
            </a:lvl6pPr>
            <a:lvl7pPr>
              <a:defRPr sz="1200"/>
            </a:lvl7pPr>
            <a:lvl8pPr>
              <a:defRPr sz="1200"/>
            </a:lvl8pPr>
            <a:lvl9pPr>
              <a:defRPr sz="1200"/>
            </a:lvl9pPr>
          </a:lstStyle>
          <a:p>
            <a:pPr lvl="0"/>
            <a:r>
              <a:rPr lang="en-CA" noProof="0" err="1"/>
              <a:t>Cliquez</a:t>
            </a:r>
            <a:r>
              <a:rPr lang="en-CA" noProof="0"/>
              <a:t> pour </a:t>
            </a:r>
            <a:r>
              <a:rPr lang="en-CA" noProof="0" err="1"/>
              <a:t>ajouter</a:t>
            </a:r>
            <a:r>
              <a:rPr lang="en-CA" noProof="0"/>
              <a:t> du </a:t>
            </a:r>
            <a:r>
              <a:rPr lang="en-CA" noProof="0" err="1"/>
              <a:t>texte</a:t>
            </a:r>
            <a:endParaRPr lang="en-CA" noProof="0"/>
          </a:p>
          <a:p>
            <a:pPr lvl="1"/>
            <a:r>
              <a:rPr lang="en-CA" noProof="0" err="1"/>
              <a:t>Liste</a:t>
            </a:r>
            <a:r>
              <a:rPr lang="en-CA" noProof="0"/>
              <a:t> de </a:t>
            </a:r>
            <a:r>
              <a:rPr lang="en-CA" noProof="0" err="1"/>
              <a:t>niveau</a:t>
            </a:r>
            <a:r>
              <a:rPr lang="en-CA" noProof="0"/>
              <a:t> deux</a:t>
            </a:r>
          </a:p>
          <a:p>
            <a:pPr lvl="2"/>
            <a:r>
              <a:rPr lang="en-CA" noProof="0" err="1"/>
              <a:t>Liste</a:t>
            </a:r>
            <a:r>
              <a:rPr lang="en-CA" noProof="0"/>
              <a:t> </a:t>
            </a:r>
            <a:r>
              <a:rPr lang="en-CA" noProof="0" err="1"/>
              <a:t>niveau</a:t>
            </a:r>
            <a:r>
              <a:rPr lang="en-CA" noProof="0"/>
              <a:t> trois</a:t>
            </a:r>
          </a:p>
          <a:p>
            <a:pPr marL="809523" marR="0" lvl="3"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a:pPr>
            <a:r>
              <a:rPr lang="en-CA" noProof="0" err="1"/>
              <a:t>Liste</a:t>
            </a:r>
            <a:r>
              <a:rPr lang="en-CA" noProof="0"/>
              <a:t> </a:t>
            </a:r>
            <a:r>
              <a:rPr lang="en-CA" noProof="0" err="1"/>
              <a:t>niveau</a:t>
            </a:r>
            <a:r>
              <a:rPr lang="en-CA" noProof="0"/>
              <a:t> quatre</a:t>
            </a:r>
          </a:p>
        </p:txBody>
      </p:sp>
      <p:sp>
        <p:nvSpPr>
          <p:cNvPr id="10" name="Text Placeholder 4">
            <a:extLst>
              <a:ext uri="{FF2B5EF4-FFF2-40B4-BE49-F238E27FC236}">
                <a16:creationId xmlns:a16="http://schemas.microsoft.com/office/drawing/2014/main" id="{3DDFA55C-19D1-D844-8284-DEE01CE3131A}"/>
              </a:ext>
            </a:extLst>
          </p:cNvPr>
          <p:cNvSpPr>
            <a:spLocks noGrp="1"/>
          </p:cNvSpPr>
          <p:nvPr>
            <p:ph type="body" sz="quarter" idx="3" hasCustomPrompt="1"/>
          </p:nvPr>
        </p:nvSpPr>
        <p:spPr>
          <a:xfrm>
            <a:off x="457200" y="1428750"/>
            <a:ext cx="2209800" cy="400050"/>
          </a:xfrm>
          <a:prstGeom prst="rect">
            <a:avLst/>
          </a:prstGeom>
        </p:spPr>
        <p:txBody>
          <a:bodyPr anchor="ctr" anchorCtr="0">
            <a:noAutofit/>
          </a:bodyPr>
          <a:lstStyle>
            <a:lvl1pPr marL="0" indent="0" algn="ctr">
              <a:buNone/>
              <a:defRPr sz="1400" b="1">
                <a:solidFill>
                  <a:srgbClr val="003DA5"/>
                </a:solidFill>
                <a:latin typeface="+mn-lt"/>
                <a:ea typeface="Open Sans" panose="020B0606030504020204" pitchFamily="34" charset="0"/>
                <a:cs typeface="Open Sans" panose="020B0606030504020204" pitchFamily="34" charset="0"/>
              </a:defRPr>
            </a:lvl1pPr>
            <a:lvl2pPr marL="342858" indent="0">
              <a:buNone/>
              <a:defRPr sz="1500" b="1"/>
            </a:lvl2pPr>
            <a:lvl3pPr marL="685714" indent="0">
              <a:buNone/>
              <a:defRPr sz="1350" b="1"/>
            </a:lvl3pPr>
            <a:lvl4pPr marL="1028572" indent="0">
              <a:buNone/>
              <a:defRPr sz="1200" b="1"/>
            </a:lvl4pPr>
            <a:lvl5pPr marL="1371428" indent="0">
              <a:buNone/>
              <a:defRPr sz="1200" b="1"/>
            </a:lvl5pPr>
            <a:lvl6pPr marL="1714286" indent="0">
              <a:buNone/>
              <a:defRPr sz="1200" b="1"/>
            </a:lvl6pPr>
            <a:lvl7pPr marL="2057142" indent="0">
              <a:buNone/>
              <a:defRPr sz="1200" b="1"/>
            </a:lvl7pPr>
            <a:lvl8pPr marL="2400000" indent="0">
              <a:buNone/>
              <a:defRPr sz="1200" b="1"/>
            </a:lvl8pPr>
            <a:lvl9pPr marL="2742858" indent="0">
              <a:buNone/>
              <a:defRPr sz="1200" b="1"/>
            </a:lvl9pPr>
          </a:lstStyle>
          <a:p>
            <a:pPr lvl="0"/>
            <a:r>
              <a:rPr lang="en-CA" noProof="0"/>
              <a:t>Titre A</a:t>
            </a:r>
          </a:p>
        </p:txBody>
      </p:sp>
      <p:sp>
        <p:nvSpPr>
          <p:cNvPr id="18" name="Text Placeholder 4">
            <a:extLst>
              <a:ext uri="{FF2B5EF4-FFF2-40B4-BE49-F238E27FC236}">
                <a16:creationId xmlns:a16="http://schemas.microsoft.com/office/drawing/2014/main" id="{E067F026-8AEE-984E-8F99-11D202D9456D}"/>
              </a:ext>
            </a:extLst>
          </p:cNvPr>
          <p:cNvSpPr>
            <a:spLocks noGrp="1"/>
          </p:cNvSpPr>
          <p:nvPr>
            <p:ph type="body" sz="quarter" idx="20" hasCustomPrompt="1"/>
          </p:nvPr>
        </p:nvSpPr>
        <p:spPr>
          <a:xfrm>
            <a:off x="3404653" y="1428750"/>
            <a:ext cx="2209800" cy="400050"/>
          </a:xfrm>
          <a:prstGeom prst="rect">
            <a:avLst/>
          </a:prstGeom>
        </p:spPr>
        <p:txBody>
          <a:bodyPr anchor="ctr" anchorCtr="0">
            <a:noAutofit/>
          </a:bodyPr>
          <a:lstStyle>
            <a:lvl1pPr marL="0" indent="0" algn="ctr">
              <a:buNone/>
              <a:defRPr sz="1400" b="1">
                <a:solidFill>
                  <a:srgbClr val="003DA5"/>
                </a:solidFill>
                <a:latin typeface="+mn-lt"/>
                <a:ea typeface="Open Sans" panose="020B0606030504020204" pitchFamily="34" charset="0"/>
                <a:cs typeface="Open Sans" panose="020B0606030504020204" pitchFamily="34" charset="0"/>
              </a:defRPr>
            </a:lvl1pPr>
            <a:lvl2pPr marL="342858" indent="0">
              <a:buNone/>
              <a:defRPr sz="1500" b="1"/>
            </a:lvl2pPr>
            <a:lvl3pPr marL="685714" indent="0">
              <a:buNone/>
              <a:defRPr sz="1350" b="1"/>
            </a:lvl3pPr>
            <a:lvl4pPr marL="1028572" indent="0">
              <a:buNone/>
              <a:defRPr sz="1200" b="1"/>
            </a:lvl4pPr>
            <a:lvl5pPr marL="1371428" indent="0">
              <a:buNone/>
              <a:defRPr sz="1200" b="1"/>
            </a:lvl5pPr>
            <a:lvl6pPr marL="1714286" indent="0">
              <a:buNone/>
              <a:defRPr sz="1200" b="1"/>
            </a:lvl6pPr>
            <a:lvl7pPr marL="2057142" indent="0">
              <a:buNone/>
              <a:defRPr sz="1200" b="1"/>
            </a:lvl7pPr>
            <a:lvl8pPr marL="2400000" indent="0">
              <a:buNone/>
              <a:defRPr sz="1200" b="1"/>
            </a:lvl8pPr>
            <a:lvl9pPr marL="2742858" indent="0">
              <a:buNone/>
              <a:defRPr sz="1200" b="1"/>
            </a:lvl9pPr>
          </a:lstStyle>
          <a:p>
            <a:pPr lvl="0"/>
            <a:r>
              <a:rPr lang="en-CA" noProof="0"/>
              <a:t>Titre B</a:t>
            </a:r>
          </a:p>
        </p:txBody>
      </p:sp>
      <p:sp>
        <p:nvSpPr>
          <p:cNvPr id="19" name="Text Placeholder 4">
            <a:extLst>
              <a:ext uri="{FF2B5EF4-FFF2-40B4-BE49-F238E27FC236}">
                <a16:creationId xmlns:a16="http://schemas.microsoft.com/office/drawing/2014/main" id="{B0298874-06B2-B248-B6FC-4C38D4DBE8A0}"/>
              </a:ext>
            </a:extLst>
          </p:cNvPr>
          <p:cNvSpPr>
            <a:spLocks noGrp="1"/>
          </p:cNvSpPr>
          <p:nvPr>
            <p:ph type="body" sz="quarter" idx="21" hasCustomPrompt="1"/>
          </p:nvPr>
        </p:nvSpPr>
        <p:spPr>
          <a:xfrm>
            <a:off x="6384078" y="1428750"/>
            <a:ext cx="2209800" cy="400050"/>
          </a:xfrm>
          <a:prstGeom prst="rect">
            <a:avLst/>
          </a:prstGeom>
        </p:spPr>
        <p:txBody>
          <a:bodyPr anchor="ctr" anchorCtr="0">
            <a:noAutofit/>
          </a:bodyPr>
          <a:lstStyle>
            <a:lvl1pPr marL="0" indent="0" algn="ctr">
              <a:buNone/>
              <a:defRPr sz="1400" b="1">
                <a:solidFill>
                  <a:srgbClr val="003DA5"/>
                </a:solidFill>
                <a:latin typeface="+mn-lt"/>
                <a:ea typeface="Open Sans" panose="020B0606030504020204" pitchFamily="34" charset="0"/>
                <a:cs typeface="Open Sans" panose="020B0606030504020204" pitchFamily="34" charset="0"/>
              </a:defRPr>
            </a:lvl1pPr>
            <a:lvl2pPr marL="342858" indent="0">
              <a:buNone/>
              <a:defRPr sz="1500" b="1"/>
            </a:lvl2pPr>
            <a:lvl3pPr marL="685714" indent="0">
              <a:buNone/>
              <a:defRPr sz="1350" b="1"/>
            </a:lvl3pPr>
            <a:lvl4pPr marL="1028572" indent="0">
              <a:buNone/>
              <a:defRPr sz="1200" b="1"/>
            </a:lvl4pPr>
            <a:lvl5pPr marL="1371428" indent="0">
              <a:buNone/>
              <a:defRPr sz="1200" b="1"/>
            </a:lvl5pPr>
            <a:lvl6pPr marL="1714286" indent="0">
              <a:buNone/>
              <a:defRPr sz="1200" b="1"/>
            </a:lvl6pPr>
            <a:lvl7pPr marL="2057142" indent="0">
              <a:buNone/>
              <a:defRPr sz="1200" b="1"/>
            </a:lvl7pPr>
            <a:lvl8pPr marL="2400000" indent="0">
              <a:buNone/>
              <a:defRPr sz="1200" b="1"/>
            </a:lvl8pPr>
            <a:lvl9pPr marL="2742858" indent="0">
              <a:buNone/>
              <a:defRPr sz="1200" b="1"/>
            </a:lvl9pPr>
          </a:lstStyle>
          <a:p>
            <a:pPr lvl="0"/>
            <a:r>
              <a:rPr lang="en-CA" noProof="0"/>
              <a:t>Titre C</a:t>
            </a:r>
          </a:p>
        </p:txBody>
      </p:sp>
    </p:spTree>
    <p:extLst>
      <p:ext uri="{BB962C8B-B14F-4D97-AF65-F5344CB8AC3E}">
        <p14:creationId xmlns:p14="http://schemas.microsoft.com/office/powerpoint/2010/main" val="2534156162"/>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0_Chapitre - Chapter 1">
    <p:bg>
      <p:bgPr>
        <a:solidFill>
          <a:schemeClr val="bg1">
            <a:lumMod val="95000"/>
          </a:schemeClr>
        </a:solidFill>
        <a:effectLst/>
      </p:bgPr>
    </p:bg>
    <p:spTree>
      <p:nvGrpSpPr>
        <p:cNvPr id="1" name=""/>
        <p:cNvGrpSpPr/>
        <p:nvPr/>
      </p:nvGrpSpPr>
      <p:grpSpPr>
        <a:xfrm>
          <a:off x="0" y="0"/>
          <a:ext cx="0" cy="0"/>
          <a:chOff x="0" y="0"/>
          <a:chExt cx="0" cy="0"/>
        </a:xfrm>
      </p:grpSpPr>
      <p:sp>
        <p:nvSpPr>
          <p:cNvPr id="5" name="Titre 1">
            <a:extLst>
              <a:ext uri="{FF2B5EF4-FFF2-40B4-BE49-F238E27FC236}">
                <a16:creationId xmlns:a16="http://schemas.microsoft.com/office/drawing/2014/main" id="{7FB761F4-093C-C740-97A6-21FC5EFDFFF4}"/>
              </a:ext>
            </a:extLst>
          </p:cNvPr>
          <p:cNvSpPr>
            <a:spLocks noGrp="1"/>
          </p:cNvSpPr>
          <p:nvPr>
            <p:ph type="title"/>
          </p:nvPr>
        </p:nvSpPr>
        <p:spPr>
          <a:xfrm>
            <a:off x="457200" y="285751"/>
            <a:ext cx="8138809" cy="609600"/>
          </a:xfrm>
        </p:spPr>
        <p:txBody>
          <a:bodyPr/>
          <a:lstStyle>
            <a:lvl1pPr algn="ctr">
              <a:defRPr/>
            </a:lvl1pPr>
          </a:lstStyle>
          <a:p>
            <a:r>
              <a:rPr lang="fr-FR"/>
              <a:t>Modifiez le style du titre</a:t>
            </a:r>
            <a:endParaRPr lang="fr-CA"/>
          </a:p>
        </p:txBody>
      </p:sp>
      <p:sp>
        <p:nvSpPr>
          <p:cNvPr id="11" name="Content Placeholder 3">
            <a:extLst>
              <a:ext uri="{FF2B5EF4-FFF2-40B4-BE49-F238E27FC236}">
                <a16:creationId xmlns:a16="http://schemas.microsoft.com/office/drawing/2014/main" id="{45F53DC0-3346-B441-8B6B-EE2EBAFDD2A7}"/>
              </a:ext>
            </a:extLst>
          </p:cNvPr>
          <p:cNvSpPr>
            <a:spLocks noGrp="1"/>
          </p:cNvSpPr>
          <p:nvPr>
            <p:ph sz="half" idx="14" hasCustomPrompt="1"/>
          </p:nvPr>
        </p:nvSpPr>
        <p:spPr>
          <a:xfrm>
            <a:off x="457200" y="1638299"/>
            <a:ext cx="2209800" cy="3295651"/>
          </a:xfrm>
          <a:prstGeom prst="rect">
            <a:avLst/>
          </a:prstGeom>
        </p:spPr>
        <p:txBody>
          <a:bodyPr>
            <a:noAutofit/>
          </a:bodyPr>
          <a:lstStyle>
            <a:lvl1pPr marL="266667" indent="-266667">
              <a:buClr>
                <a:srgbClr val="434343"/>
              </a:buClr>
              <a:buFont typeface="ArialMT" charset="0"/>
              <a:buChar char="—"/>
              <a:tabLst/>
              <a:defRPr sz="1400">
                <a:solidFill>
                  <a:srgbClr val="434343"/>
                </a:solidFill>
                <a:latin typeface="+mn-lt"/>
                <a:ea typeface="Open Sans" panose="020B0606030504020204" pitchFamily="34" charset="0"/>
                <a:cs typeface="Open Sans" panose="020B0606030504020204" pitchFamily="34" charset="0"/>
              </a:defRPr>
            </a:lvl1pPr>
            <a:lvl2pPr marL="405954" indent="-214287">
              <a:buClr>
                <a:srgbClr val="7C878E"/>
              </a:buClr>
              <a:buFont typeface="Wingdings" charset="2"/>
              <a:buChar char="§"/>
              <a:defRPr sz="1400">
                <a:solidFill>
                  <a:srgbClr val="434343"/>
                </a:solidFill>
                <a:latin typeface="+mn-lt"/>
                <a:ea typeface="Open Sans" panose="020B0606030504020204" pitchFamily="34" charset="0"/>
                <a:cs typeface="Open Sans" panose="020B0606030504020204" pitchFamily="34" charset="0"/>
              </a:defRPr>
            </a:lvl2pPr>
            <a:lvl3pPr marL="603571" indent="-171428">
              <a:buClr>
                <a:srgbClr val="7C878E"/>
              </a:buClr>
              <a:buFont typeface="Courier New" charset="0"/>
              <a:buChar char="o"/>
              <a:defRPr sz="1400">
                <a:solidFill>
                  <a:srgbClr val="434343"/>
                </a:solidFill>
                <a:latin typeface="+mn-lt"/>
                <a:ea typeface="Open Sans" panose="020B0606030504020204" pitchFamily="34" charset="0"/>
                <a:cs typeface="Open Sans" panose="020B0606030504020204" pitchFamily="34" charset="0"/>
              </a:defRPr>
            </a:lvl3pPr>
            <a:lvl4pPr marL="809523" marR="0"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sz="1400">
                <a:solidFill>
                  <a:srgbClr val="434343"/>
                </a:solidFill>
                <a:latin typeface="+mn-lt"/>
                <a:ea typeface="Open Sans" panose="020B0606030504020204" pitchFamily="34" charset="0"/>
                <a:cs typeface="Open Sans" panose="020B0606030504020204" pitchFamily="34" charset="0"/>
              </a:defRPr>
            </a:lvl4pPr>
            <a:lvl5pPr>
              <a:defRPr sz="1350"/>
            </a:lvl5pPr>
            <a:lvl6pPr>
              <a:defRPr sz="1200"/>
            </a:lvl6pPr>
            <a:lvl7pPr>
              <a:defRPr sz="1200"/>
            </a:lvl7pPr>
            <a:lvl8pPr>
              <a:defRPr sz="1200"/>
            </a:lvl8pPr>
            <a:lvl9pPr>
              <a:defRPr sz="1200"/>
            </a:lvl9pPr>
          </a:lstStyle>
          <a:p>
            <a:pPr lvl="0"/>
            <a:r>
              <a:rPr lang="en-CA" noProof="0" err="1"/>
              <a:t>Cliquez</a:t>
            </a:r>
            <a:r>
              <a:rPr lang="en-CA" noProof="0"/>
              <a:t> pour </a:t>
            </a:r>
            <a:r>
              <a:rPr lang="en-CA" noProof="0" err="1"/>
              <a:t>ajouter</a:t>
            </a:r>
            <a:r>
              <a:rPr lang="en-CA" noProof="0"/>
              <a:t> du </a:t>
            </a:r>
            <a:r>
              <a:rPr lang="en-CA" noProof="0" err="1"/>
              <a:t>texte</a:t>
            </a:r>
            <a:endParaRPr lang="en-CA" noProof="0"/>
          </a:p>
          <a:p>
            <a:pPr lvl="1"/>
            <a:r>
              <a:rPr lang="en-CA" noProof="0" err="1"/>
              <a:t>Liste</a:t>
            </a:r>
            <a:r>
              <a:rPr lang="en-CA" noProof="0"/>
              <a:t> de </a:t>
            </a:r>
            <a:r>
              <a:rPr lang="en-CA" noProof="0" err="1"/>
              <a:t>niveau</a:t>
            </a:r>
            <a:r>
              <a:rPr lang="en-CA" noProof="0"/>
              <a:t> deux</a:t>
            </a:r>
          </a:p>
          <a:p>
            <a:pPr lvl="2"/>
            <a:r>
              <a:rPr lang="en-CA" noProof="0" err="1"/>
              <a:t>Liste</a:t>
            </a:r>
            <a:r>
              <a:rPr lang="en-CA" noProof="0"/>
              <a:t> </a:t>
            </a:r>
            <a:r>
              <a:rPr lang="en-CA" noProof="0" err="1"/>
              <a:t>niveau</a:t>
            </a:r>
            <a:r>
              <a:rPr lang="en-CA" noProof="0"/>
              <a:t> trois</a:t>
            </a:r>
          </a:p>
          <a:p>
            <a:pPr marL="809523" marR="0" lvl="3"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a:pPr>
            <a:r>
              <a:rPr lang="en-CA" noProof="0" err="1"/>
              <a:t>Liste</a:t>
            </a:r>
            <a:r>
              <a:rPr lang="en-CA" noProof="0"/>
              <a:t> </a:t>
            </a:r>
            <a:r>
              <a:rPr lang="en-CA" noProof="0" err="1"/>
              <a:t>niveau</a:t>
            </a:r>
            <a:r>
              <a:rPr lang="en-CA" noProof="0"/>
              <a:t> quatre</a:t>
            </a:r>
          </a:p>
        </p:txBody>
      </p:sp>
      <p:sp>
        <p:nvSpPr>
          <p:cNvPr id="12" name="Content Placeholder 3">
            <a:extLst>
              <a:ext uri="{FF2B5EF4-FFF2-40B4-BE49-F238E27FC236}">
                <a16:creationId xmlns:a16="http://schemas.microsoft.com/office/drawing/2014/main" id="{8CF72D2D-E488-E845-A55D-5E91A93C2714}"/>
              </a:ext>
            </a:extLst>
          </p:cNvPr>
          <p:cNvSpPr>
            <a:spLocks noGrp="1"/>
          </p:cNvSpPr>
          <p:nvPr>
            <p:ph sz="half" idx="18" hasCustomPrompt="1"/>
          </p:nvPr>
        </p:nvSpPr>
        <p:spPr>
          <a:xfrm>
            <a:off x="3420639" y="1638299"/>
            <a:ext cx="2209800" cy="3295651"/>
          </a:xfrm>
          <a:prstGeom prst="rect">
            <a:avLst/>
          </a:prstGeom>
        </p:spPr>
        <p:txBody>
          <a:bodyPr>
            <a:noAutofit/>
          </a:bodyPr>
          <a:lstStyle>
            <a:lvl1pPr marL="266667" indent="-266667">
              <a:buClr>
                <a:srgbClr val="434343"/>
              </a:buClr>
              <a:buFont typeface="ArialMT" charset="0"/>
              <a:buChar char="—"/>
              <a:tabLst/>
              <a:defRPr sz="1400">
                <a:solidFill>
                  <a:srgbClr val="434343"/>
                </a:solidFill>
                <a:latin typeface="+mn-lt"/>
                <a:ea typeface="Open Sans" panose="020B0606030504020204" pitchFamily="34" charset="0"/>
                <a:cs typeface="Open Sans" panose="020B0606030504020204" pitchFamily="34" charset="0"/>
              </a:defRPr>
            </a:lvl1pPr>
            <a:lvl2pPr marL="405954" indent="-214287">
              <a:buClr>
                <a:srgbClr val="7C878E"/>
              </a:buClr>
              <a:buFont typeface="Wingdings" charset="2"/>
              <a:buChar char="§"/>
              <a:defRPr sz="1400">
                <a:solidFill>
                  <a:srgbClr val="434343"/>
                </a:solidFill>
                <a:latin typeface="+mn-lt"/>
                <a:ea typeface="Open Sans" panose="020B0606030504020204" pitchFamily="34" charset="0"/>
                <a:cs typeface="Open Sans" panose="020B0606030504020204" pitchFamily="34" charset="0"/>
              </a:defRPr>
            </a:lvl2pPr>
            <a:lvl3pPr marL="603571" indent="-171428">
              <a:buClr>
                <a:srgbClr val="7C878E"/>
              </a:buClr>
              <a:buFont typeface="Courier New" charset="0"/>
              <a:buChar char="o"/>
              <a:defRPr sz="1400">
                <a:solidFill>
                  <a:srgbClr val="434343"/>
                </a:solidFill>
                <a:latin typeface="+mn-lt"/>
                <a:ea typeface="Open Sans" panose="020B0606030504020204" pitchFamily="34" charset="0"/>
                <a:cs typeface="Open Sans" panose="020B0606030504020204" pitchFamily="34" charset="0"/>
              </a:defRPr>
            </a:lvl3pPr>
            <a:lvl4pPr marL="809523" marR="0"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sz="1400">
                <a:solidFill>
                  <a:srgbClr val="434343"/>
                </a:solidFill>
                <a:latin typeface="+mn-lt"/>
                <a:ea typeface="Open Sans" panose="020B0606030504020204" pitchFamily="34" charset="0"/>
                <a:cs typeface="Open Sans" panose="020B0606030504020204" pitchFamily="34" charset="0"/>
              </a:defRPr>
            </a:lvl4pPr>
            <a:lvl5pPr>
              <a:defRPr sz="1350"/>
            </a:lvl5pPr>
            <a:lvl6pPr>
              <a:defRPr sz="1200"/>
            </a:lvl6pPr>
            <a:lvl7pPr>
              <a:defRPr sz="1200"/>
            </a:lvl7pPr>
            <a:lvl8pPr>
              <a:defRPr sz="1200"/>
            </a:lvl8pPr>
            <a:lvl9pPr>
              <a:defRPr sz="1200"/>
            </a:lvl9pPr>
          </a:lstStyle>
          <a:p>
            <a:pPr lvl="0"/>
            <a:r>
              <a:rPr lang="en-CA" noProof="0" err="1"/>
              <a:t>Cliquez</a:t>
            </a:r>
            <a:r>
              <a:rPr lang="en-CA" noProof="0"/>
              <a:t> pour </a:t>
            </a:r>
            <a:r>
              <a:rPr lang="en-CA" noProof="0" err="1"/>
              <a:t>ajouter</a:t>
            </a:r>
            <a:r>
              <a:rPr lang="en-CA" noProof="0"/>
              <a:t> du </a:t>
            </a:r>
            <a:r>
              <a:rPr lang="en-CA" noProof="0" err="1"/>
              <a:t>texte</a:t>
            </a:r>
            <a:endParaRPr lang="en-CA" noProof="0"/>
          </a:p>
          <a:p>
            <a:pPr lvl="1"/>
            <a:r>
              <a:rPr lang="en-CA" noProof="0" err="1"/>
              <a:t>Liste</a:t>
            </a:r>
            <a:r>
              <a:rPr lang="en-CA" noProof="0"/>
              <a:t> de </a:t>
            </a:r>
            <a:r>
              <a:rPr lang="en-CA" noProof="0" err="1"/>
              <a:t>niveau</a:t>
            </a:r>
            <a:r>
              <a:rPr lang="en-CA" noProof="0"/>
              <a:t> deux</a:t>
            </a:r>
          </a:p>
          <a:p>
            <a:pPr lvl="2"/>
            <a:r>
              <a:rPr lang="en-CA" noProof="0" err="1"/>
              <a:t>Liste</a:t>
            </a:r>
            <a:r>
              <a:rPr lang="en-CA" noProof="0"/>
              <a:t> </a:t>
            </a:r>
            <a:r>
              <a:rPr lang="en-CA" noProof="0" err="1"/>
              <a:t>niveau</a:t>
            </a:r>
            <a:r>
              <a:rPr lang="en-CA" noProof="0"/>
              <a:t> trois</a:t>
            </a:r>
          </a:p>
          <a:p>
            <a:pPr marL="809523" marR="0" lvl="3"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a:pPr>
            <a:r>
              <a:rPr lang="en-CA" noProof="0" err="1"/>
              <a:t>Liste</a:t>
            </a:r>
            <a:r>
              <a:rPr lang="en-CA" noProof="0"/>
              <a:t> </a:t>
            </a:r>
            <a:r>
              <a:rPr lang="en-CA" noProof="0" err="1"/>
              <a:t>niveau</a:t>
            </a:r>
            <a:r>
              <a:rPr lang="en-CA" noProof="0"/>
              <a:t> quatre</a:t>
            </a:r>
          </a:p>
        </p:txBody>
      </p:sp>
      <p:sp>
        <p:nvSpPr>
          <p:cNvPr id="13" name="Content Placeholder 3">
            <a:extLst>
              <a:ext uri="{FF2B5EF4-FFF2-40B4-BE49-F238E27FC236}">
                <a16:creationId xmlns:a16="http://schemas.microsoft.com/office/drawing/2014/main" id="{A1F647D7-4D66-CE45-A91F-147D89768941}"/>
              </a:ext>
            </a:extLst>
          </p:cNvPr>
          <p:cNvSpPr>
            <a:spLocks noGrp="1"/>
          </p:cNvSpPr>
          <p:nvPr>
            <p:ph sz="half" idx="19" hasCustomPrompt="1"/>
          </p:nvPr>
        </p:nvSpPr>
        <p:spPr>
          <a:xfrm>
            <a:off x="6384078" y="1638299"/>
            <a:ext cx="2209800" cy="3295651"/>
          </a:xfrm>
          <a:prstGeom prst="rect">
            <a:avLst/>
          </a:prstGeom>
        </p:spPr>
        <p:txBody>
          <a:bodyPr>
            <a:noAutofit/>
          </a:bodyPr>
          <a:lstStyle>
            <a:lvl1pPr marL="266667" indent="-266667">
              <a:buClr>
                <a:srgbClr val="434343"/>
              </a:buClr>
              <a:buFont typeface="ArialMT" charset="0"/>
              <a:buChar char="—"/>
              <a:tabLst/>
              <a:defRPr sz="1400">
                <a:solidFill>
                  <a:srgbClr val="434343"/>
                </a:solidFill>
                <a:latin typeface="+mn-lt"/>
                <a:ea typeface="Open Sans" panose="020B0606030504020204" pitchFamily="34" charset="0"/>
                <a:cs typeface="Open Sans" panose="020B0606030504020204" pitchFamily="34" charset="0"/>
              </a:defRPr>
            </a:lvl1pPr>
            <a:lvl2pPr marL="405954" indent="-214287">
              <a:buClr>
                <a:srgbClr val="7C878E"/>
              </a:buClr>
              <a:buFont typeface="Wingdings" charset="2"/>
              <a:buChar char="§"/>
              <a:defRPr sz="1400">
                <a:solidFill>
                  <a:srgbClr val="434343"/>
                </a:solidFill>
                <a:latin typeface="+mn-lt"/>
                <a:ea typeface="Open Sans" panose="020B0606030504020204" pitchFamily="34" charset="0"/>
                <a:cs typeface="Open Sans" panose="020B0606030504020204" pitchFamily="34" charset="0"/>
              </a:defRPr>
            </a:lvl2pPr>
            <a:lvl3pPr marL="603571" indent="-171428">
              <a:buClr>
                <a:srgbClr val="7C878E"/>
              </a:buClr>
              <a:buFont typeface="Courier New" charset="0"/>
              <a:buChar char="o"/>
              <a:defRPr sz="1400">
                <a:solidFill>
                  <a:srgbClr val="434343"/>
                </a:solidFill>
                <a:latin typeface="+mn-lt"/>
                <a:ea typeface="Open Sans" panose="020B0606030504020204" pitchFamily="34" charset="0"/>
                <a:cs typeface="Open Sans" panose="020B0606030504020204" pitchFamily="34" charset="0"/>
              </a:defRPr>
            </a:lvl3pPr>
            <a:lvl4pPr marL="809523" marR="0"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sz="1400">
                <a:solidFill>
                  <a:srgbClr val="434343"/>
                </a:solidFill>
                <a:latin typeface="+mn-lt"/>
                <a:ea typeface="Open Sans" panose="020B0606030504020204" pitchFamily="34" charset="0"/>
                <a:cs typeface="Open Sans" panose="020B0606030504020204" pitchFamily="34" charset="0"/>
              </a:defRPr>
            </a:lvl4pPr>
            <a:lvl5pPr>
              <a:defRPr sz="1350"/>
            </a:lvl5pPr>
            <a:lvl6pPr>
              <a:defRPr sz="1200"/>
            </a:lvl6pPr>
            <a:lvl7pPr>
              <a:defRPr sz="1200"/>
            </a:lvl7pPr>
            <a:lvl8pPr>
              <a:defRPr sz="1200"/>
            </a:lvl8pPr>
            <a:lvl9pPr>
              <a:defRPr sz="1200"/>
            </a:lvl9pPr>
          </a:lstStyle>
          <a:p>
            <a:pPr lvl="0"/>
            <a:r>
              <a:rPr lang="en-CA" noProof="0" err="1"/>
              <a:t>Cliquez</a:t>
            </a:r>
            <a:r>
              <a:rPr lang="en-CA" noProof="0"/>
              <a:t> pour </a:t>
            </a:r>
            <a:r>
              <a:rPr lang="en-CA" noProof="0" err="1"/>
              <a:t>ajouter</a:t>
            </a:r>
            <a:r>
              <a:rPr lang="en-CA" noProof="0"/>
              <a:t> du </a:t>
            </a:r>
            <a:r>
              <a:rPr lang="en-CA" noProof="0" err="1"/>
              <a:t>texte</a:t>
            </a:r>
            <a:endParaRPr lang="en-CA" noProof="0"/>
          </a:p>
          <a:p>
            <a:pPr lvl="1"/>
            <a:r>
              <a:rPr lang="en-CA" noProof="0" err="1"/>
              <a:t>Liste</a:t>
            </a:r>
            <a:r>
              <a:rPr lang="en-CA" noProof="0"/>
              <a:t> de </a:t>
            </a:r>
            <a:r>
              <a:rPr lang="en-CA" noProof="0" err="1"/>
              <a:t>niveau</a:t>
            </a:r>
            <a:r>
              <a:rPr lang="en-CA" noProof="0"/>
              <a:t> deux</a:t>
            </a:r>
          </a:p>
          <a:p>
            <a:pPr lvl="2"/>
            <a:r>
              <a:rPr lang="en-CA" noProof="0" err="1"/>
              <a:t>Liste</a:t>
            </a:r>
            <a:r>
              <a:rPr lang="en-CA" noProof="0"/>
              <a:t> </a:t>
            </a:r>
            <a:r>
              <a:rPr lang="en-CA" noProof="0" err="1"/>
              <a:t>niveau</a:t>
            </a:r>
            <a:r>
              <a:rPr lang="en-CA" noProof="0"/>
              <a:t> trois</a:t>
            </a:r>
          </a:p>
          <a:p>
            <a:pPr marL="809523" marR="0" lvl="3"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a:pPr>
            <a:r>
              <a:rPr lang="en-CA" noProof="0" err="1"/>
              <a:t>Liste</a:t>
            </a:r>
            <a:r>
              <a:rPr lang="en-CA" noProof="0"/>
              <a:t> </a:t>
            </a:r>
            <a:r>
              <a:rPr lang="en-CA" noProof="0" err="1"/>
              <a:t>niveau</a:t>
            </a:r>
            <a:r>
              <a:rPr lang="en-CA" noProof="0"/>
              <a:t> quatre</a:t>
            </a:r>
          </a:p>
        </p:txBody>
      </p:sp>
      <p:sp>
        <p:nvSpPr>
          <p:cNvPr id="9" name="Text Placeholder 4">
            <a:extLst>
              <a:ext uri="{FF2B5EF4-FFF2-40B4-BE49-F238E27FC236}">
                <a16:creationId xmlns:a16="http://schemas.microsoft.com/office/drawing/2014/main" id="{CA548073-0FCA-5449-800C-FBB3021C9C2F}"/>
              </a:ext>
            </a:extLst>
          </p:cNvPr>
          <p:cNvSpPr>
            <a:spLocks noGrp="1"/>
          </p:cNvSpPr>
          <p:nvPr>
            <p:ph type="body" sz="quarter" idx="3" hasCustomPrompt="1"/>
          </p:nvPr>
        </p:nvSpPr>
        <p:spPr>
          <a:xfrm>
            <a:off x="457200" y="1066800"/>
            <a:ext cx="2209800" cy="400050"/>
          </a:xfrm>
          <a:prstGeom prst="rect">
            <a:avLst/>
          </a:prstGeom>
        </p:spPr>
        <p:txBody>
          <a:bodyPr anchor="ctr" anchorCtr="0">
            <a:noAutofit/>
          </a:bodyPr>
          <a:lstStyle>
            <a:lvl1pPr marL="0" indent="0" algn="ctr">
              <a:buNone/>
              <a:defRPr sz="1400" b="1">
                <a:solidFill>
                  <a:srgbClr val="003DA5"/>
                </a:solidFill>
                <a:latin typeface="+mn-lt"/>
                <a:ea typeface="Open Sans" panose="020B0606030504020204" pitchFamily="34" charset="0"/>
                <a:cs typeface="Open Sans" panose="020B0606030504020204" pitchFamily="34" charset="0"/>
              </a:defRPr>
            </a:lvl1pPr>
            <a:lvl2pPr marL="342858" indent="0">
              <a:buNone/>
              <a:defRPr sz="1500" b="1"/>
            </a:lvl2pPr>
            <a:lvl3pPr marL="685714" indent="0">
              <a:buNone/>
              <a:defRPr sz="1350" b="1"/>
            </a:lvl3pPr>
            <a:lvl4pPr marL="1028572" indent="0">
              <a:buNone/>
              <a:defRPr sz="1200" b="1"/>
            </a:lvl4pPr>
            <a:lvl5pPr marL="1371428" indent="0">
              <a:buNone/>
              <a:defRPr sz="1200" b="1"/>
            </a:lvl5pPr>
            <a:lvl6pPr marL="1714286" indent="0">
              <a:buNone/>
              <a:defRPr sz="1200" b="1"/>
            </a:lvl6pPr>
            <a:lvl7pPr marL="2057142" indent="0">
              <a:buNone/>
              <a:defRPr sz="1200" b="1"/>
            </a:lvl7pPr>
            <a:lvl8pPr marL="2400000" indent="0">
              <a:buNone/>
              <a:defRPr sz="1200" b="1"/>
            </a:lvl8pPr>
            <a:lvl9pPr marL="2742858" indent="0">
              <a:buNone/>
              <a:defRPr sz="1200" b="1"/>
            </a:lvl9pPr>
          </a:lstStyle>
          <a:p>
            <a:pPr lvl="0"/>
            <a:r>
              <a:rPr lang="en-CA" noProof="0"/>
              <a:t>Titre A</a:t>
            </a:r>
          </a:p>
        </p:txBody>
      </p:sp>
      <p:sp>
        <p:nvSpPr>
          <p:cNvPr id="10" name="Text Placeholder 4">
            <a:extLst>
              <a:ext uri="{FF2B5EF4-FFF2-40B4-BE49-F238E27FC236}">
                <a16:creationId xmlns:a16="http://schemas.microsoft.com/office/drawing/2014/main" id="{DC0B914C-0B37-1446-A693-6781A45A6F40}"/>
              </a:ext>
            </a:extLst>
          </p:cNvPr>
          <p:cNvSpPr>
            <a:spLocks noGrp="1"/>
          </p:cNvSpPr>
          <p:nvPr>
            <p:ph type="body" sz="quarter" idx="20" hasCustomPrompt="1"/>
          </p:nvPr>
        </p:nvSpPr>
        <p:spPr>
          <a:xfrm>
            <a:off x="3392397" y="1066800"/>
            <a:ext cx="2209800" cy="400050"/>
          </a:xfrm>
          <a:prstGeom prst="rect">
            <a:avLst/>
          </a:prstGeom>
        </p:spPr>
        <p:txBody>
          <a:bodyPr anchor="ctr" anchorCtr="0">
            <a:noAutofit/>
          </a:bodyPr>
          <a:lstStyle>
            <a:lvl1pPr marL="0" indent="0" algn="ctr">
              <a:buNone/>
              <a:defRPr sz="1400" b="1">
                <a:solidFill>
                  <a:srgbClr val="003DA5"/>
                </a:solidFill>
                <a:latin typeface="+mn-lt"/>
                <a:ea typeface="Open Sans" panose="020B0606030504020204" pitchFamily="34" charset="0"/>
                <a:cs typeface="Open Sans" panose="020B0606030504020204" pitchFamily="34" charset="0"/>
              </a:defRPr>
            </a:lvl1pPr>
            <a:lvl2pPr marL="342858" indent="0">
              <a:buNone/>
              <a:defRPr sz="1500" b="1"/>
            </a:lvl2pPr>
            <a:lvl3pPr marL="685714" indent="0">
              <a:buNone/>
              <a:defRPr sz="1350" b="1"/>
            </a:lvl3pPr>
            <a:lvl4pPr marL="1028572" indent="0">
              <a:buNone/>
              <a:defRPr sz="1200" b="1"/>
            </a:lvl4pPr>
            <a:lvl5pPr marL="1371428" indent="0">
              <a:buNone/>
              <a:defRPr sz="1200" b="1"/>
            </a:lvl5pPr>
            <a:lvl6pPr marL="1714286" indent="0">
              <a:buNone/>
              <a:defRPr sz="1200" b="1"/>
            </a:lvl6pPr>
            <a:lvl7pPr marL="2057142" indent="0">
              <a:buNone/>
              <a:defRPr sz="1200" b="1"/>
            </a:lvl7pPr>
            <a:lvl8pPr marL="2400000" indent="0">
              <a:buNone/>
              <a:defRPr sz="1200" b="1"/>
            </a:lvl8pPr>
            <a:lvl9pPr marL="2742858" indent="0">
              <a:buNone/>
              <a:defRPr sz="1200" b="1"/>
            </a:lvl9pPr>
          </a:lstStyle>
          <a:p>
            <a:pPr lvl="0"/>
            <a:r>
              <a:rPr lang="en-CA" noProof="0"/>
              <a:t>Titre B</a:t>
            </a:r>
          </a:p>
        </p:txBody>
      </p:sp>
      <p:sp>
        <p:nvSpPr>
          <p:cNvPr id="15" name="Text Placeholder 4">
            <a:extLst>
              <a:ext uri="{FF2B5EF4-FFF2-40B4-BE49-F238E27FC236}">
                <a16:creationId xmlns:a16="http://schemas.microsoft.com/office/drawing/2014/main" id="{E6DCE657-9204-2943-B56C-F84443B690A3}"/>
              </a:ext>
            </a:extLst>
          </p:cNvPr>
          <p:cNvSpPr>
            <a:spLocks noGrp="1"/>
          </p:cNvSpPr>
          <p:nvPr>
            <p:ph type="body" sz="quarter" idx="21" hasCustomPrompt="1"/>
          </p:nvPr>
        </p:nvSpPr>
        <p:spPr>
          <a:xfrm>
            <a:off x="6384078" y="1066800"/>
            <a:ext cx="2209800" cy="400050"/>
          </a:xfrm>
          <a:prstGeom prst="rect">
            <a:avLst/>
          </a:prstGeom>
        </p:spPr>
        <p:txBody>
          <a:bodyPr anchor="ctr" anchorCtr="0">
            <a:noAutofit/>
          </a:bodyPr>
          <a:lstStyle>
            <a:lvl1pPr marL="0" indent="0" algn="ctr">
              <a:buNone/>
              <a:defRPr sz="1400" b="1">
                <a:solidFill>
                  <a:srgbClr val="003DA5"/>
                </a:solidFill>
                <a:latin typeface="+mn-lt"/>
                <a:ea typeface="Open Sans" panose="020B0606030504020204" pitchFamily="34" charset="0"/>
                <a:cs typeface="Open Sans" panose="020B0606030504020204" pitchFamily="34" charset="0"/>
              </a:defRPr>
            </a:lvl1pPr>
            <a:lvl2pPr marL="342858" indent="0">
              <a:buNone/>
              <a:defRPr sz="1500" b="1"/>
            </a:lvl2pPr>
            <a:lvl3pPr marL="685714" indent="0">
              <a:buNone/>
              <a:defRPr sz="1350" b="1"/>
            </a:lvl3pPr>
            <a:lvl4pPr marL="1028572" indent="0">
              <a:buNone/>
              <a:defRPr sz="1200" b="1"/>
            </a:lvl4pPr>
            <a:lvl5pPr marL="1371428" indent="0">
              <a:buNone/>
              <a:defRPr sz="1200" b="1"/>
            </a:lvl5pPr>
            <a:lvl6pPr marL="1714286" indent="0">
              <a:buNone/>
              <a:defRPr sz="1200" b="1"/>
            </a:lvl6pPr>
            <a:lvl7pPr marL="2057142" indent="0">
              <a:buNone/>
              <a:defRPr sz="1200" b="1"/>
            </a:lvl7pPr>
            <a:lvl8pPr marL="2400000" indent="0">
              <a:buNone/>
              <a:defRPr sz="1200" b="1"/>
            </a:lvl8pPr>
            <a:lvl9pPr marL="2742858" indent="0">
              <a:buNone/>
              <a:defRPr sz="1200" b="1"/>
            </a:lvl9pPr>
          </a:lstStyle>
          <a:p>
            <a:pPr lvl="0"/>
            <a:r>
              <a:rPr lang="en-CA" noProof="0"/>
              <a:t>Titre C</a:t>
            </a:r>
          </a:p>
        </p:txBody>
      </p:sp>
    </p:spTree>
    <p:extLst>
      <p:ext uri="{BB962C8B-B14F-4D97-AF65-F5344CB8AC3E}">
        <p14:creationId xmlns:p14="http://schemas.microsoft.com/office/powerpoint/2010/main" val="3368355808"/>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39D951E-8A45-274C-B1F9-A8514E3D25F5}"/>
              </a:ext>
            </a:extLst>
          </p:cNvPr>
          <p:cNvSpPr>
            <a:spLocks noGrp="1"/>
          </p:cNvSpPr>
          <p:nvPr>
            <p:ph type="title"/>
          </p:nvPr>
        </p:nvSpPr>
        <p:spPr/>
        <p:txBody>
          <a:bodyPr/>
          <a:lstStyle/>
          <a:p>
            <a:r>
              <a:rPr lang="fr-FR"/>
              <a:t>Modifiez le style du titre</a:t>
            </a:r>
            <a:endParaRPr lang="fr-CA"/>
          </a:p>
        </p:txBody>
      </p:sp>
      <p:sp>
        <p:nvSpPr>
          <p:cNvPr id="7" name="Espace réservé du graphique 6">
            <a:extLst>
              <a:ext uri="{FF2B5EF4-FFF2-40B4-BE49-F238E27FC236}">
                <a16:creationId xmlns:a16="http://schemas.microsoft.com/office/drawing/2014/main" id="{7B608734-1D2D-0C44-8141-ADF0334A2BFE}"/>
              </a:ext>
            </a:extLst>
          </p:cNvPr>
          <p:cNvSpPr>
            <a:spLocks noGrp="1"/>
          </p:cNvSpPr>
          <p:nvPr>
            <p:ph type="chart" sz="quarter" idx="13"/>
          </p:nvPr>
        </p:nvSpPr>
        <p:spPr>
          <a:xfrm>
            <a:off x="628650" y="1352550"/>
            <a:ext cx="7886700" cy="3516312"/>
          </a:xfrm>
        </p:spPr>
        <p:txBody>
          <a:bodyPr/>
          <a:lstStyle/>
          <a:p>
            <a:endParaRPr lang="fr-CA"/>
          </a:p>
        </p:txBody>
      </p:sp>
    </p:spTree>
    <p:extLst>
      <p:ext uri="{BB962C8B-B14F-4D97-AF65-F5344CB8AC3E}">
        <p14:creationId xmlns:p14="http://schemas.microsoft.com/office/powerpoint/2010/main" val="3952341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7_Disposition personnalisé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1788ACF-2EBB-BD49-B117-014496534D5C}"/>
              </a:ext>
            </a:extLst>
          </p:cNvPr>
          <p:cNvSpPr/>
          <p:nvPr userDrawn="1"/>
        </p:nvSpPr>
        <p:spPr>
          <a:xfrm>
            <a:off x="0" y="0"/>
            <a:ext cx="228600" cy="5143500"/>
          </a:xfrm>
          <a:prstGeom prst="rect">
            <a:avLst/>
          </a:prstGeom>
          <a:solidFill>
            <a:srgbClr val="00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4800" noProof="0">
              <a:solidFill>
                <a:srgbClr val="003DA5"/>
              </a:solidFill>
            </a:endParaRPr>
          </a:p>
        </p:txBody>
      </p:sp>
      <p:sp>
        <p:nvSpPr>
          <p:cNvPr id="9" name="Titre 1">
            <a:extLst>
              <a:ext uri="{FF2B5EF4-FFF2-40B4-BE49-F238E27FC236}">
                <a16:creationId xmlns:a16="http://schemas.microsoft.com/office/drawing/2014/main" id="{22590DAA-19E5-FD4E-B5BE-27CB01C91CF2}"/>
              </a:ext>
            </a:extLst>
          </p:cNvPr>
          <p:cNvSpPr>
            <a:spLocks noGrp="1"/>
          </p:cNvSpPr>
          <p:nvPr>
            <p:ph type="title"/>
          </p:nvPr>
        </p:nvSpPr>
        <p:spPr>
          <a:xfrm>
            <a:off x="381000" y="133350"/>
            <a:ext cx="8534400" cy="993775"/>
          </a:xfrm>
        </p:spPr>
        <p:txBody>
          <a:bodyPr/>
          <a:lstStyle/>
          <a:p>
            <a:r>
              <a:rPr lang="fr-FR"/>
              <a:t>Modifiez le style du titre</a:t>
            </a:r>
            <a:endParaRPr lang="fr-CA"/>
          </a:p>
        </p:txBody>
      </p:sp>
      <p:sp>
        <p:nvSpPr>
          <p:cNvPr id="10" name="Espace réservé du contenu 2">
            <a:extLst>
              <a:ext uri="{FF2B5EF4-FFF2-40B4-BE49-F238E27FC236}">
                <a16:creationId xmlns:a16="http://schemas.microsoft.com/office/drawing/2014/main" id="{E9411033-4B83-3F4F-A088-CD595353D5AE}"/>
              </a:ext>
            </a:extLst>
          </p:cNvPr>
          <p:cNvSpPr>
            <a:spLocks noGrp="1"/>
          </p:cNvSpPr>
          <p:nvPr>
            <p:ph idx="1"/>
          </p:nvPr>
        </p:nvSpPr>
        <p:spPr>
          <a:xfrm>
            <a:off x="381000" y="1228724"/>
            <a:ext cx="3886200" cy="378142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Tree>
    <p:extLst>
      <p:ext uri="{BB962C8B-B14F-4D97-AF65-F5344CB8AC3E}">
        <p14:creationId xmlns:p14="http://schemas.microsoft.com/office/powerpoint/2010/main" val="35337046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5_Disposition personnalisé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1788ACF-2EBB-BD49-B117-014496534D5C}"/>
              </a:ext>
            </a:extLst>
          </p:cNvPr>
          <p:cNvSpPr/>
          <p:nvPr userDrawn="1"/>
        </p:nvSpPr>
        <p:spPr>
          <a:xfrm>
            <a:off x="0" y="0"/>
            <a:ext cx="228600" cy="5143500"/>
          </a:xfrm>
          <a:prstGeom prst="rect">
            <a:avLst/>
          </a:prstGeom>
          <a:solidFill>
            <a:srgbClr val="00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4800" noProof="0">
              <a:solidFill>
                <a:srgbClr val="003DA5"/>
              </a:solidFill>
            </a:endParaRPr>
          </a:p>
        </p:txBody>
      </p:sp>
      <p:sp>
        <p:nvSpPr>
          <p:cNvPr id="9" name="Titre 1">
            <a:extLst>
              <a:ext uri="{FF2B5EF4-FFF2-40B4-BE49-F238E27FC236}">
                <a16:creationId xmlns:a16="http://schemas.microsoft.com/office/drawing/2014/main" id="{22590DAA-19E5-FD4E-B5BE-27CB01C91CF2}"/>
              </a:ext>
            </a:extLst>
          </p:cNvPr>
          <p:cNvSpPr>
            <a:spLocks noGrp="1"/>
          </p:cNvSpPr>
          <p:nvPr>
            <p:ph type="title"/>
          </p:nvPr>
        </p:nvSpPr>
        <p:spPr>
          <a:xfrm>
            <a:off x="381000" y="133350"/>
            <a:ext cx="8534400" cy="993775"/>
          </a:xfrm>
        </p:spPr>
        <p:txBody>
          <a:bodyPr/>
          <a:lstStyle/>
          <a:p>
            <a:r>
              <a:rPr lang="fr-FR"/>
              <a:t>Modifiez le style du titre</a:t>
            </a:r>
            <a:endParaRPr lang="fr-CA"/>
          </a:p>
        </p:txBody>
      </p:sp>
      <p:sp>
        <p:nvSpPr>
          <p:cNvPr id="10" name="Espace réservé du contenu 2">
            <a:extLst>
              <a:ext uri="{FF2B5EF4-FFF2-40B4-BE49-F238E27FC236}">
                <a16:creationId xmlns:a16="http://schemas.microsoft.com/office/drawing/2014/main" id="{E9411033-4B83-3F4F-A088-CD595353D5AE}"/>
              </a:ext>
            </a:extLst>
          </p:cNvPr>
          <p:cNvSpPr>
            <a:spLocks noGrp="1"/>
          </p:cNvSpPr>
          <p:nvPr>
            <p:ph idx="1"/>
          </p:nvPr>
        </p:nvSpPr>
        <p:spPr>
          <a:xfrm>
            <a:off x="381000" y="1228724"/>
            <a:ext cx="3886200" cy="378142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Tree>
    <p:extLst>
      <p:ext uri="{BB962C8B-B14F-4D97-AF65-F5344CB8AC3E}">
        <p14:creationId xmlns:p14="http://schemas.microsoft.com/office/powerpoint/2010/main" val="30720793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6_Disposition personnalisé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1788ACF-2EBB-BD49-B117-014496534D5C}"/>
              </a:ext>
            </a:extLst>
          </p:cNvPr>
          <p:cNvSpPr/>
          <p:nvPr userDrawn="1"/>
        </p:nvSpPr>
        <p:spPr>
          <a:xfrm>
            <a:off x="0" y="0"/>
            <a:ext cx="228600" cy="5143500"/>
          </a:xfrm>
          <a:prstGeom prst="rect">
            <a:avLst/>
          </a:prstGeom>
          <a:solidFill>
            <a:srgbClr val="00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4800" noProof="0">
              <a:solidFill>
                <a:srgbClr val="003DA5"/>
              </a:solidFill>
            </a:endParaRPr>
          </a:p>
        </p:txBody>
      </p:sp>
      <p:sp>
        <p:nvSpPr>
          <p:cNvPr id="9" name="Titre 1">
            <a:extLst>
              <a:ext uri="{FF2B5EF4-FFF2-40B4-BE49-F238E27FC236}">
                <a16:creationId xmlns:a16="http://schemas.microsoft.com/office/drawing/2014/main" id="{22590DAA-19E5-FD4E-B5BE-27CB01C91CF2}"/>
              </a:ext>
            </a:extLst>
          </p:cNvPr>
          <p:cNvSpPr>
            <a:spLocks noGrp="1"/>
          </p:cNvSpPr>
          <p:nvPr>
            <p:ph type="title"/>
          </p:nvPr>
        </p:nvSpPr>
        <p:spPr>
          <a:xfrm>
            <a:off x="381000" y="133350"/>
            <a:ext cx="8534400" cy="993775"/>
          </a:xfrm>
        </p:spPr>
        <p:txBody>
          <a:bodyPr/>
          <a:lstStyle/>
          <a:p>
            <a:r>
              <a:rPr lang="fr-FR"/>
              <a:t>Modifiez le style du titre</a:t>
            </a:r>
            <a:endParaRPr lang="fr-CA"/>
          </a:p>
        </p:txBody>
      </p:sp>
      <p:sp>
        <p:nvSpPr>
          <p:cNvPr id="10" name="Espace réservé du contenu 2">
            <a:extLst>
              <a:ext uri="{FF2B5EF4-FFF2-40B4-BE49-F238E27FC236}">
                <a16:creationId xmlns:a16="http://schemas.microsoft.com/office/drawing/2014/main" id="{E9411033-4B83-3F4F-A088-CD595353D5AE}"/>
              </a:ext>
            </a:extLst>
          </p:cNvPr>
          <p:cNvSpPr>
            <a:spLocks noGrp="1"/>
          </p:cNvSpPr>
          <p:nvPr>
            <p:ph idx="1"/>
          </p:nvPr>
        </p:nvSpPr>
        <p:spPr>
          <a:xfrm>
            <a:off x="381000" y="1228724"/>
            <a:ext cx="5257800" cy="378142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Tree>
    <p:extLst>
      <p:ext uri="{BB962C8B-B14F-4D97-AF65-F5344CB8AC3E}">
        <p14:creationId xmlns:p14="http://schemas.microsoft.com/office/powerpoint/2010/main" val="14670931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2_Chapitre - Chapter 1">
    <p:bg>
      <p:bgPr>
        <a:solidFill>
          <a:schemeClr val="bg1">
            <a:lumMod val="95000"/>
          </a:schemeClr>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9EE2D7C-9C63-564B-8B6D-1FB237BAFC4C}"/>
              </a:ext>
            </a:extLst>
          </p:cNvPr>
          <p:cNvSpPr/>
          <p:nvPr userDrawn="1"/>
        </p:nvSpPr>
        <p:spPr>
          <a:xfrm>
            <a:off x="0" y="0"/>
            <a:ext cx="9144000" cy="5143500"/>
          </a:xfrm>
          <a:prstGeom prst="rect">
            <a:avLst/>
          </a:prstGeom>
          <a:solidFill>
            <a:srgbClr val="00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4800" noProof="0">
              <a:solidFill>
                <a:srgbClr val="003DA5"/>
              </a:solidFill>
            </a:endParaRPr>
          </a:p>
        </p:txBody>
      </p:sp>
      <p:sp>
        <p:nvSpPr>
          <p:cNvPr id="8" name="Titre 1">
            <a:extLst>
              <a:ext uri="{FF2B5EF4-FFF2-40B4-BE49-F238E27FC236}">
                <a16:creationId xmlns:a16="http://schemas.microsoft.com/office/drawing/2014/main" id="{0984613E-1375-3949-891B-11093851F237}"/>
              </a:ext>
            </a:extLst>
          </p:cNvPr>
          <p:cNvSpPr>
            <a:spLocks noGrp="1"/>
          </p:cNvSpPr>
          <p:nvPr>
            <p:ph type="title"/>
          </p:nvPr>
        </p:nvSpPr>
        <p:spPr>
          <a:xfrm>
            <a:off x="304800" y="274638"/>
            <a:ext cx="8610600" cy="993775"/>
          </a:xfrm>
        </p:spPr>
        <p:txBody>
          <a:bodyPr/>
          <a:lstStyle>
            <a:lvl1pPr>
              <a:defRPr>
                <a:solidFill>
                  <a:schemeClr val="bg1"/>
                </a:solidFill>
              </a:defRPr>
            </a:lvl1pPr>
          </a:lstStyle>
          <a:p>
            <a:r>
              <a:rPr lang="fr-FR"/>
              <a:t>Modifiez le style du titre</a:t>
            </a:r>
            <a:endParaRPr lang="fr-CA"/>
          </a:p>
        </p:txBody>
      </p:sp>
      <p:sp>
        <p:nvSpPr>
          <p:cNvPr id="9" name="Sous-titre 2">
            <a:extLst>
              <a:ext uri="{FF2B5EF4-FFF2-40B4-BE49-F238E27FC236}">
                <a16:creationId xmlns:a16="http://schemas.microsoft.com/office/drawing/2014/main" id="{15DF2B5C-DF22-A643-B581-71D52D9586CE}"/>
              </a:ext>
            </a:extLst>
          </p:cNvPr>
          <p:cNvSpPr>
            <a:spLocks noGrp="1"/>
          </p:cNvSpPr>
          <p:nvPr>
            <p:ph type="subTitle" idx="1" hasCustomPrompt="1"/>
          </p:nvPr>
        </p:nvSpPr>
        <p:spPr>
          <a:xfrm>
            <a:off x="304800" y="1428750"/>
            <a:ext cx="8610600" cy="3440112"/>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a:t>
            </a:r>
            <a:br>
              <a:rPr lang="fr-FR"/>
            </a:br>
            <a:r>
              <a:rPr lang="fr-FR"/>
              <a:t>ou du texte du masque</a:t>
            </a:r>
            <a:endParaRPr lang="fr-CA"/>
          </a:p>
        </p:txBody>
      </p:sp>
    </p:spTree>
    <p:extLst>
      <p:ext uri="{BB962C8B-B14F-4D97-AF65-F5344CB8AC3E}">
        <p14:creationId xmlns:p14="http://schemas.microsoft.com/office/powerpoint/2010/main" val="56914338"/>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Message clé - Key message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9EE2D7C-9C63-564B-8B6D-1FB237BAFC4C}"/>
              </a:ext>
            </a:extLst>
          </p:cNvPr>
          <p:cNvSpPr/>
          <p:nvPr userDrawn="1"/>
        </p:nvSpPr>
        <p:spPr>
          <a:xfrm>
            <a:off x="0" y="0"/>
            <a:ext cx="228600" cy="5143500"/>
          </a:xfrm>
          <a:prstGeom prst="rect">
            <a:avLst/>
          </a:prstGeom>
          <a:solidFill>
            <a:srgbClr val="00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4800" noProof="0">
              <a:solidFill>
                <a:srgbClr val="003DA5"/>
              </a:solidFill>
            </a:endParaRPr>
          </a:p>
        </p:txBody>
      </p:sp>
      <p:sp>
        <p:nvSpPr>
          <p:cNvPr id="5" name="Sous-titre 2">
            <a:extLst>
              <a:ext uri="{FF2B5EF4-FFF2-40B4-BE49-F238E27FC236}">
                <a16:creationId xmlns:a16="http://schemas.microsoft.com/office/drawing/2014/main" id="{E12269EF-16EC-F641-A0FC-113447BFE832}"/>
              </a:ext>
            </a:extLst>
          </p:cNvPr>
          <p:cNvSpPr>
            <a:spLocks noGrp="1"/>
          </p:cNvSpPr>
          <p:nvPr>
            <p:ph type="subTitle" idx="1"/>
          </p:nvPr>
        </p:nvSpPr>
        <p:spPr>
          <a:xfrm>
            <a:off x="381000" y="819150"/>
            <a:ext cx="2971800" cy="3505200"/>
          </a:xfrm>
          <a:ln>
            <a:noFill/>
          </a:ln>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fr-FR"/>
          </a:p>
          <a:p>
            <a:endParaRPr lang="fr-FR"/>
          </a:p>
          <a:p>
            <a:r>
              <a:rPr lang="fr-FR"/>
              <a:t>Modifiez le style des textes du masque</a:t>
            </a:r>
            <a:endParaRPr lang="fr-CA"/>
          </a:p>
        </p:txBody>
      </p:sp>
    </p:spTree>
    <p:extLst>
      <p:ext uri="{BB962C8B-B14F-4D97-AF65-F5344CB8AC3E}">
        <p14:creationId xmlns:p14="http://schemas.microsoft.com/office/powerpoint/2010/main" val="4017843438"/>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Message clé - Key message 3">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BE0F8774-24A8-9C4F-BDC6-221C60BA5E0B}"/>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8379291" cy="5143500"/>
          </a:xfrm>
          <a:prstGeom prst="rect">
            <a:avLst/>
          </a:prstGeom>
        </p:spPr>
      </p:pic>
      <p:sp>
        <p:nvSpPr>
          <p:cNvPr id="11" name="Rectangle 10">
            <a:extLst>
              <a:ext uri="{FF2B5EF4-FFF2-40B4-BE49-F238E27FC236}">
                <a16:creationId xmlns:a16="http://schemas.microsoft.com/office/drawing/2014/main" id="{F8FD3851-ACAB-DB4B-80C0-67B430B933A5}"/>
              </a:ext>
            </a:extLst>
          </p:cNvPr>
          <p:cNvSpPr/>
          <p:nvPr userDrawn="1"/>
        </p:nvSpPr>
        <p:spPr>
          <a:xfrm>
            <a:off x="0" y="0"/>
            <a:ext cx="228600" cy="5143500"/>
          </a:xfrm>
          <a:prstGeom prst="rect">
            <a:avLst/>
          </a:prstGeom>
          <a:solidFill>
            <a:srgbClr val="00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4800" noProof="0"/>
          </a:p>
        </p:txBody>
      </p:sp>
      <p:sp>
        <p:nvSpPr>
          <p:cNvPr id="9" name="Titre 1">
            <a:extLst>
              <a:ext uri="{FF2B5EF4-FFF2-40B4-BE49-F238E27FC236}">
                <a16:creationId xmlns:a16="http://schemas.microsoft.com/office/drawing/2014/main" id="{850FCE00-17F3-8545-8A5E-599F97AE3971}"/>
              </a:ext>
            </a:extLst>
          </p:cNvPr>
          <p:cNvSpPr>
            <a:spLocks noGrp="1"/>
          </p:cNvSpPr>
          <p:nvPr>
            <p:ph type="title"/>
          </p:nvPr>
        </p:nvSpPr>
        <p:spPr>
          <a:xfrm>
            <a:off x="4345020" y="285751"/>
            <a:ext cx="4646579" cy="685800"/>
          </a:xfrm>
        </p:spPr>
        <p:txBody>
          <a:bodyPr/>
          <a:lstStyle/>
          <a:p>
            <a:r>
              <a:rPr lang="fr-FR"/>
              <a:t>Modifiez le style du titre</a:t>
            </a:r>
            <a:endParaRPr lang="fr-CA"/>
          </a:p>
        </p:txBody>
      </p:sp>
      <p:sp>
        <p:nvSpPr>
          <p:cNvPr id="10" name="Espace réservé du contenu 2">
            <a:extLst>
              <a:ext uri="{FF2B5EF4-FFF2-40B4-BE49-F238E27FC236}">
                <a16:creationId xmlns:a16="http://schemas.microsoft.com/office/drawing/2014/main" id="{1A114E7E-D9B6-7D45-AF51-50A6ABB3E902}"/>
              </a:ext>
            </a:extLst>
          </p:cNvPr>
          <p:cNvSpPr>
            <a:spLocks noGrp="1"/>
          </p:cNvSpPr>
          <p:nvPr>
            <p:ph idx="1"/>
          </p:nvPr>
        </p:nvSpPr>
        <p:spPr>
          <a:xfrm>
            <a:off x="4343399" y="1123950"/>
            <a:ext cx="4646579" cy="3810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Tree>
    <p:extLst>
      <p:ext uri="{BB962C8B-B14F-4D97-AF65-F5344CB8AC3E}">
        <p14:creationId xmlns:p14="http://schemas.microsoft.com/office/powerpoint/2010/main" val="77801574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Message clé - Key message 5">
    <p:bg>
      <p:bgPr>
        <a:solidFill>
          <a:schemeClr val="bg1"/>
        </a:solidFill>
        <a:effectLst/>
      </p:bgPr>
    </p:bg>
    <p:spTree>
      <p:nvGrpSpPr>
        <p:cNvPr id="1" name=""/>
        <p:cNvGrpSpPr/>
        <p:nvPr/>
      </p:nvGrpSpPr>
      <p:grpSpPr>
        <a:xfrm>
          <a:off x="0" y="0"/>
          <a:ext cx="0" cy="0"/>
          <a:chOff x="0" y="0"/>
          <a:chExt cx="0" cy="0"/>
        </a:xfrm>
      </p:grpSpPr>
      <p:pic>
        <p:nvPicPr>
          <p:cNvPr id="4" name="Graphic 3" descr="Circle with left arrow outline">
            <a:extLst>
              <a:ext uri="{FF2B5EF4-FFF2-40B4-BE49-F238E27FC236}">
                <a16:creationId xmlns:a16="http://schemas.microsoft.com/office/drawing/2014/main" id="{C42E5827-5981-9F46-BCC2-090CE9C247EE}"/>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329684" y="1735191"/>
            <a:ext cx="457200" cy="457200"/>
          </a:xfrm>
          <a:prstGeom prst="rect">
            <a:avLst/>
          </a:prstGeom>
        </p:spPr>
      </p:pic>
      <p:pic>
        <p:nvPicPr>
          <p:cNvPr id="13" name="Graphic 12" descr="Circle with left arrow outline">
            <a:extLst>
              <a:ext uri="{FF2B5EF4-FFF2-40B4-BE49-F238E27FC236}">
                <a16:creationId xmlns:a16="http://schemas.microsoft.com/office/drawing/2014/main" id="{426DD812-7A79-8848-92F1-72CF6B27B78E}"/>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329684" y="2876121"/>
            <a:ext cx="457200" cy="457200"/>
          </a:xfrm>
          <a:prstGeom prst="rect">
            <a:avLst/>
          </a:prstGeom>
        </p:spPr>
      </p:pic>
      <p:pic>
        <p:nvPicPr>
          <p:cNvPr id="14" name="Graphic 13" descr="Circle with left arrow outline">
            <a:extLst>
              <a:ext uri="{FF2B5EF4-FFF2-40B4-BE49-F238E27FC236}">
                <a16:creationId xmlns:a16="http://schemas.microsoft.com/office/drawing/2014/main" id="{CED3E46A-D28B-3D49-A172-FA037FD83E7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329684" y="4010664"/>
            <a:ext cx="457200" cy="457200"/>
          </a:xfrm>
          <a:prstGeom prst="rect">
            <a:avLst/>
          </a:prstGeom>
        </p:spPr>
      </p:pic>
      <p:pic>
        <p:nvPicPr>
          <p:cNvPr id="19" name="Graphic 18" descr="Circle with left arrow outline">
            <a:extLst>
              <a:ext uri="{FF2B5EF4-FFF2-40B4-BE49-F238E27FC236}">
                <a16:creationId xmlns:a16="http://schemas.microsoft.com/office/drawing/2014/main" id="{7ADDF37D-3AB2-624D-87FC-AB07B9C8040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329684" y="596504"/>
            <a:ext cx="457200" cy="457200"/>
          </a:xfrm>
          <a:prstGeom prst="rect">
            <a:avLst/>
          </a:prstGeom>
        </p:spPr>
      </p:pic>
      <p:sp>
        <p:nvSpPr>
          <p:cNvPr id="20" name="Rectangle 19">
            <a:extLst>
              <a:ext uri="{FF2B5EF4-FFF2-40B4-BE49-F238E27FC236}">
                <a16:creationId xmlns:a16="http://schemas.microsoft.com/office/drawing/2014/main" id="{5624A572-01A1-514C-B3C8-ABAD5EE1D072}"/>
              </a:ext>
            </a:extLst>
          </p:cNvPr>
          <p:cNvSpPr/>
          <p:nvPr userDrawn="1"/>
        </p:nvSpPr>
        <p:spPr>
          <a:xfrm>
            <a:off x="0" y="0"/>
            <a:ext cx="228600" cy="5143500"/>
          </a:xfrm>
          <a:prstGeom prst="rect">
            <a:avLst/>
          </a:prstGeom>
          <a:solidFill>
            <a:srgbClr val="00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4800" noProof="0"/>
          </a:p>
        </p:txBody>
      </p:sp>
      <p:pic>
        <p:nvPicPr>
          <p:cNvPr id="6" name="Image 5" descr="Une image contenant personne, mur, intérieur, souriant&#10;&#10;Description générée automatiquement">
            <a:extLst>
              <a:ext uri="{FF2B5EF4-FFF2-40B4-BE49-F238E27FC236}">
                <a16:creationId xmlns:a16="http://schemas.microsoft.com/office/drawing/2014/main" id="{04AE7760-FE59-CC42-A28F-2675135F53EF}"/>
              </a:ext>
            </a:extLst>
          </p:cNvPr>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228600" y="0"/>
            <a:ext cx="5228819" cy="5143500"/>
          </a:xfrm>
          <a:prstGeom prst="rect">
            <a:avLst/>
          </a:prstGeom>
        </p:spPr>
      </p:pic>
      <p:sp>
        <p:nvSpPr>
          <p:cNvPr id="12" name="Content Placeholder 3">
            <a:extLst>
              <a:ext uri="{FF2B5EF4-FFF2-40B4-BE49-F238E27FC236}">
                <a16:creationId xmlns:a16="http://schemas.microsoft.com/office/drawing/2014/main" id="{7658727A-2189-B648-A4DC-82391FB730C5}"/>
              </a:ext>
            </a:extLst>
          </p:cNvPr>
          <p:cNvSpPr>
            <a:spLocks noGrp="1"/>
          </p:cNvSpPr>
          <p:nvPr>
            <p:ph sz="half" idx="14" hasCustomPrompt="1"/>
          </p:nvPr>
        </p:nvSpPr>
        <p:spPr>
          <a:xfrm>
            <a:off x="4267200" y="195235"/>
            <a:ext cx="4626057" cy="1065159"/>
          </a:xfrm>
          <a:prstGeom prst="rect">
            <a:avLst/>
          </a:prstGeom>
        </p:spPr>
        <p:txBody>
          <a:bodyPr>
            <a:noAutofit/>
          </a:bodyPr>
          <a:lstStyle>
            <a:lvl1pPr marL="266667" indent="-266667">
              <a:buClr>
                <a:srgbClr val="434343"/>
              </a:buClr>
              <a:buFont typeface="ArialMT" charset="0"/>
              <a:buChar char="—"/>
              <a:tabLst/>
              <a:defRPr sz="1400">
                <a:solidFill>
                  <a:srgbClr val="434343"/>
                </a:solidFill>
                <a:latin typeface="+mn-lt"/>
                <a:ea typeface="Open Sans" panose="020B0606030504020204" pitchFamily="34" charset="0"/>
                <a:cs typeface="Open Sans" panose="020B0606030504020204" pitchFamily="34" charset="0"/>
              </a:defRPr>
            </a:lvl1pPr>
            <a:lvl2pPr marL="405954" indent="-214287">
              <a:buClr>
                <a:srgbClr val="7C878E"/>
              </a:buClr>
              <a:buFont typeface="Wingdings" charset="2"/>
              <a:buChar char="§"/>
              <a:defRPr sz="1400">
                <a:solidFill>
                  <a:srgbClr val="434343"/>
                </a:solidFill>
                <a:latin typeface="+mn-lt"/>
                <a:ea typeface="Open Sans" panose="020B0606030504020204" pitchFamily="34" charset="0"/>
                <a:cs typeface="Open Sans" panose="020B0606030504020204" pitchFamily="34" charset="0"/>
              </a:defRPr>
            </a:lvl2pPr>
            <a:lvl3pPr marL="603571" indent="-171428">
              <a:buClr>
                <a:srgbClr val="7C878E"/>
              </a:buClr>
              <a:buFont typeface="Courier New" charset="0"/>
              <a:buChar char="o"/>
              <a:defRPr sz="1400">
                <a:solidFill>
                  <a:srgbClr val="434343"/>
                </a:solidFill>
                <a:latin typeface="+mn-lt"/>
                <a:ea typeface="Open Sans" panose="020B0606030504020204" pitchFamily="34" charset="0"/>
                <a:cs typeface="Open Sans" panose="020B0606030504020204" pitchFamily="34" charset="0"/>
              </a:defRPr>
            </a:lvl3pPr>
            <a:lvl4pPr marL="809523" marR="0"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sz="1400">
                <a:solidFill>
                  <a:srgbClr val="434343"/>
                </a:solidFill>
                <a:latin typeface="+mn-lt"/>
                <a:ea typeface="Open Sans" panose="020B0606030504020204" pitchFamily="34" charset="0"/>
                <a:cs typeface="Open Sans" panose="020B0606030504020204" pitchFamily="34" charset="0"/>
              </a:defRPr>
            </a:lvl4pPr>
            <a:lvl5pPr>
              <a:defRPr sz="1350"/>
            </a:lvl5pPr>
            <a:lvl6pPr>
              <a:defRPr sz="1200"/>
            </a:lvl6pPr>
            <a:lvl7pPr>
              <a:defRPr sz="1200"/>
            </a:lvl7pPr>
            <a:lvl8pPr>
              <a:defRPr sz="1200"/>
            </a:lvl8pPr>
            <a:lvl9pPr>
              <a:defRPr sz="1200"/>
            </a:lvl9pPr>
          </a:lstStyle>
          <a:p>
            <a:pPr lvl="0"/>
            <a:r>
              <a:rPr lang="en-CA" noProof="0" err="1"/>
              <a:t>Cliquez</a:t>
            </a:r>
            <a:r>
              <a:rPr lang="en-CA" noProof="0"/>
              <a:t> pour </a:t>
            </a:r>
            <a:r>
              <a:rPr lang="en-CA" noProof="0" err="1"/>
              <a:t>ajouter</a:t>
            </a:r>
            <a:r>
              <a:rPr lang="en-CA" noProof="0"/>
              <a:t> du </a:t>
            </a:r>
            <a:r>
              <a:rPr lang="en-CA" noProof="0" err="1"/>
              <a:t>texte</a:t>
            </a:r>
            <a:endParaRPr lang="en-CA" noProof="0"/>
          </a:p>
          <a:p>
            <a:pPr lvl="1"/>
            <a:r>
              <a:rPr lang="en-CA" noProof="0" err="1"/>
              <a:t>Liste</a:t>
            </a:r>
            <a:r>
              <a:rPr lang="en-CA" noProof="0"/>
              <a:t> de </a:t>
            </a:r>
            <a:r>
              <a:rPr lang="en-CA" noProof="0" err="1"/>
              <a:t>niveau</a:t>
            </a:r>
            <a:r>
              <a:rPr lang="en-CA" noProof="0"/>
              <a:t> deux</a:t>
            </a:r>
          </a:p>
          <a:p>
            <a:pPr lvl="2"/>
            <a:r>
              <a:rPr lang="en-CA" noProof="0" err="1"/>
              <a:t>Liste</a:t>
            </a:r>
            <a:r>
              <a:rPr lang="en-CA" noProof="0"/>
              <a:t> </a:t>
            </a:r>
            <a:r>
              <a:rPr lang="en-CA" noProof="0" err="1"/>
              <a:t>niveau</a:t>
            </a:r>
            <a:r>
              <a:rPr lang="en-CA" noProof="0"/>
              <a:t> trois</a:t>
            </a:r>
          </a:p>
          <a:p>
            <a:pPr marL="809523" marR="0" lvl="3"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a:pPr>
            <a:r>
              <a:rPr lang="en-CA" noProof="0" err="1"/>
              <a:t>Liste</a:t>
            </a:r>
            <a:r>
              <a:rPr lang="en-CA" noProof="0"/>
              <a:t> </a:t>
            </a:r>
            <a:r>
              <a:rPr lang="en-CA" noProof="0" err="1"/>
              <a:t>niveau</a:t>
            </a:r>
            <a:r>
              <a:rPr lang="en-CA" noProof="0"/>
              <a:t> quatre</a:t>
            </a:r>
          </a:p>
        </p:txBody>
      </p:sp>
      <p:sp>
        <p:nvSpPr>
          <p:cNvPr id="18" name="Content Placeholder 3">
            <a:extLst>
              <a:ext uri="{FF2B5EF4-FFF2-40B4-BE49-F238E27FC236}">
                <a16:creationId xmlns:a16="http://schemas.microsoft.com/office/drawing/2014/main" id="{EE549447-2F83-9C48-B0B1-26139B710C81}"/>
              </a:ext>
            </a:extLst>
          </p:cNvPr>
          <p:cNvSpPr>
            <a:spLocks noGrp="1"/>
          </p:cNvSpPr>
          <p:nvPr>
            <p:ph sz="half" idx="15" hasCustomPrompt="1"/>
          </p:nvPr>
        </p:nvSpPr>
        <p:spPr>
          <a:xfrm>
            <a:off x="4267200" y="1419346"/>
            <a:ext cx="4626057" cy="1065159"/>
          </a:xfrm>
          <a:prstGeom prst="rect">
            <a:avLst/>
          </a:prstGeom>
        </p:spPr>
        <p:txBody>
          <a:bodyPr>
            <a:noAutofit/>
          </a:bodyPr>
          <a:lstStyle>
            <a:lvl1pPr marL="266667" indent="-266667">
              <a:buClr>
                <a:srgbClr val="434343"/>
              </a:buClr>
              <a:buFont typeface="ArialMT" charset="0"/>
              <a:buChar char="—"/>
              <a:tabLst/>
              <a:defRPr sz="1400">
                <a:solidFill>
                  <a:srgbClr val="434343"/>
                </a:solidFill>
                <a:latin typeface="+mn-lt"/>
                <a:ea typeface="Open Sans" panose="020B0606030504020204" pitchFamily="34" charset="0"/>
                <a:cs typeface="Open Sans" panose="020B0606030504020204" pitchFamily="34" charset="0"/>
              </a:defRPr>
            </a:lvl1pPr>
            <a:lvl2pPr marL="405954" indent="-214287">
              <a:buClr>
                <a:srgbClr val="7C878E"/>
              </a:buClr>
              <a:buFont typeface="Wingdings" charset="2"/>
              <a:buChar char="§"/>
              <a:defRPr sz="1400">
                <a:solidFill>
                  <a:srgbClr val="434343"/>
                </a:solidFill>
                <a:latin typeface="+mn-lt"/>
                <a:ea typeface="Open Sans" panose="020B0606030504020204" pitchFamily="34" charset="0"/>
                <a:cs typeface="Open Sans" panose="020B0606030504020204" pitchFamily="34" charset="0"/>
              </a:defRPr>
            </a:lvl2pPr>
            <a:lvl3pPr marL="603571" indent="-171428">
              <a:buClr>
                <a:srgbClr val="7C878E"/>
              </a:buClr>
              <a:buFont typeface="Courier New" charset="0"/>
              <a:buChar char="o"/>
              <a:defRPr sz="1400">
                <a:solidFill>
                  <a:srgbClr val="434343"/>
                </a:solidFill>
                <a:latin typeface="+mn-lt"/>
                <a:ea typeface="Open Sans" panose="020B0606030504020204" pitchFamily="34" charset="0"/>
                <a:cs typeface="Open Sans" panose="020B0606030504020204" pitchFamily="34" charset="0"/>
              </a:defRPr>
            </a:lvl3pPr>
            <a:lvl4pPr marL="809523" marR="0"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sz="1400">
                <a:solidFill>
                  <a:srgbClr val="434343"/>
                </a:solidFill>
                <a:latin typeface="+mn-lt"/>
                <a:ea typeface="Open Sans" panose="020B0606030504020204" pitchFamily="34" charset="0"/>
                <a:cs typeface="Open Sans" panose="020B0606030504020204" pitchFamily="34" charset="0"/>
              </a:defRPr>
            </a:lvl4pPr>
            <a:lvl5pPr>
              <a:defRPr sz="1350"/>
            </a:lvl5pPr>
            <a:lvl6pPr>
              <a:defRPr sz="1200"/>
            </a:lvl6pPr>
            <a:lvl7pPr>
              <a:defRPr sz="1200"/>
            </a:lvl7pPr>
            <a:lvl8pPr>
              <a:defRPr sz="1200"/>
            </a:lvl8pPr>
            <a:lvl9pPr>
              <a:defRPr sz="1200"/>
            </a:lvl9pPr>
          </a:lstStyle>
          <a:p>
            <a:pPr lvl="0"/>
            <a:r>
              <a:rPr lang="en-CA" noProof="0" err="1"/>
              <a:t>Cliquez</a:t>
            </a:r>
            <a:r>
              <a:rPr lang="en-CA" noProof="0"/>
              <a:t> pour </a:t>
            </a:r>
            <a:r>
              <a:rPr lang="en-CA" noProof="0" err="1"/>
              <a:t>ajouter</a:t>
            </a:r>
            <a:r>
              <a:rPr lang="en-CA" noProof="0"/>
              <a:t> du </a:t>
            </a:r>
            <a:r>
              <a:rPr lang="en-CA" noProof="0" err="1"/>
              <a:t>texte</a:t>
            </a:r>
            <a:endParaRPr lang="en-CA" noProof="0"/>
          </a:p>
          <a:p>
            <a:pPr lvl="1"/>
            <a:r>
              <a:rPr lang="en-CA" noProof="0" err="1"/>
              <a:t>Liste</a:t>
            </a:r>
            <a:r>
              <a:rPr lang="en-CA" noProof="0"/>
              <a:t> de </a:t>
            </a:r>
            <a:r>
              <a:rPr lang="en-CA" noProof="0" err="1"/>
              <a:t>niveau</a:t>
            </a:r>
            <a:r>
              <a:rPr lang="en-CA" noProof="0"/>
              <a:t> deux</a:t>
            </a:r>
          </a:p>
          <a:p>
            <a:pPr lvl="2"/>
            <a:r>
              <a:rPr lang="en-CA" noProof="0" err="1"/>
              <a:t>Liste</a:t>
            </a:r>
            <a:r>
              <a:rPr lang="en-CA" noProof="0"/>
              <a:t> </a:t>
            </a:r>
            <a:r>
              <a:rPr lang="en-CA" noProof="0" err="1"/>
              <a:t>niveau</a:t>
            </a:r>
            <a:r>
              <a:rPr lang="en-CA" noProof="0"/>
              <a:t> trois</a:t>
            </a:r>
          </a:p>
          <a:p>
            <a:pPr marL="809523" marR="0" lvl="3"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a:pPr>
            <a:r>
              <a:rPr lang="en-CA" noProof="0" err="1"/>
              <a:t>Liste</a:t>
            </a:r>
            <a:r>
              <a:rPr lang="en-CA" noProof="0"/>
              <a:t> </a:t>
            </a:r>
            <a:r>
              <a:rPr lang="en-CA" noProof="0" err="1"/>
              <a:t>niveau</a:t>
            </a:r>
            <a:r>
              <a:rPr lang="en-CA" noProof="0"/>
              <a:t> quatre</a:t>
            </a:r>
          </a:p>
        </p:txBody>
      </p:sp>
      <p:sp>
        <p:nvSpPr>
          <p:cNvPr id="22" name="Content Placeholder 3">
            <a:extLst>
              <a:ext uri="{FF2B5EF4-FFF2-40B4-BE49-F238E27FC236}">
                <a16:creationId xmlns:a16="http://schemas.microsoft.com/office/drawing/2014/main" id="{4CF7525A-5EF2-6E4D-A45A-DE292CF06929}"/>
              </a:ext>
            </a:extLst>
          </p:cNvPr>
          <p:cNvSpPr>
            <a:spLocks noGrp="1"/>
          </p:cNvSpPr>
          <p:nvPr>
            <p:ph sz="half" idx="16" hasCustomPrompt="1"/>
          </p:nvPr>
        </p:nvSpPr>
        <p:spPr>
          <a:xfrm>
            <a:off x="4267200" y="2643248"/>
            <a:ext cx="4626057" cy="1065159"/>
          </a:xfrm>
          <a:prstGeom prst="rect">
            <a:avLst/>
          </a:prstGeom>
        </p:spPr>
        <p:txBody>
          <a:bodyPr>
            <a:noAutofit/>
          </a:bodyPr>
          <a:lstStyle>
            <a:lvl1pPr marL="266667" indent="-266667">
              <a:buClr>
                <a:srgbClr val="434343"/>
              </a:buClr>
              <a:buFont typeface="ArialMT" charset="0"/>
              <a:buChar char="—"/>
              <a:tabLst/>
              <a:defRPr sz="1400">
                <a:solidFill>
                  <a:srgbClr val="434343"/>
                </a:solidFill>
                <a:latin typeface="+mn-lt"/>
                <a:ea typeface="Open Sans" panose="020B0606030504020204" pitchFamily="34" charset="0"/>
                <a:cs typeface="Open Sans" panose="020B0606030504020204" pitchFamily="34" charset="0"/>
              </a:defRPr>
            </a:lvl1pPr>
            <a:lvl2pPr marL="405954" indent="-214287">
              <a:buClr>
                <a:srgbClr val="7C878E"/>
              </a:buClr>
              <a:buFont typeface="Wingdings" charset="2"/>
              <a:buChar char="§"/>
              <a:defRPr sz="1400">
                <a:solidFill>
                  <a:srgbClr val="434343"/>
                </a:solidFill>
                <a:latin typeface="+mn-lt"/>
                <a:ea typeface="Open Sans" panose="020B0606030504020204" pitchFamily="34" charset="0"/>
                <a:cs typeface="Open Sans" panose="020B0606030504020204" pitchFamily="34" charset="0"/>
              </a:defRPr>
            </a:lvl2pPr>
            <a:lvl3pPr marL="603571" indent="-171428">
              <a:buClr>
                <a:srgbClr val="7C878E"/>
              </a:buClr>
              <a:buFont typeface="Courier New" charset="0"/>
              <a:buChar char="o"/>
              <a:defRPr sz="1400">
                <a:solidFill>
                  <a:srgbClr val="434343"/>
                </a:solidFill>
                <a:latin typeface="+mn-lt"/>
                <a:ea typeface="Open Sans" panose="020B0606030504020204" pitchFamily="34" charset="0"/>
                <a:cs typeface="Open Sans" panose="020B0606030504020204" pitchFamily="34" charset="0"/>
              </a:defRPr>
            </a:lvl3pPr>
            <a:lvl4pPr marL="809523" marR="0"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sz="1400">
                <a:solidFill>
                  <a:srgbClr val="434343"/>
                </a:solidFill>
                <a:latin typeface="+mn-lt"/>
                <a:ea typeface="Open Sans" panose="020B0606030504020204" pitchFamily="34" charset="0"/>
                <a:cs typeface="Open Sans" panose="020B0606030504020204" pitchFamily="34" charset="0"/>
              </a:defRPr>
            </a:lvl4pPr>
            <a:lvl5pPr>
              <a:defRPr sz="1350"/>
            </a:lvl5pPr>
            <a:lvl6pPr>
              <a:defRPr sz="1200"/>
            </a:lvl6pPr>
            <a:lvl7pPr>
              <a:defRPr sz="1200"/>
            </a:lvl7pPr>
            <a:lvl8pPr>
              <a:defRPr sz="1200"/>
            </a:lvl8pPr>
            <a:lvl9pPr>
              <a:defRPr sz="1200"/>
            </a:lvl9pPr>
          </a:lstStyle>
          <a:p>
            <a:pPr lvl="0"/>
            <a:r>
              <a:rPr lang="en-CA" noProof="0" err="1"/>
              <a:t>Cliquez</a:t>
            </a:r>
            <a:r>
              <a:rPr lang="en-CA" noProof="0"/>
              <a:t> pour </a:t>
            </a:r>
            <a:r>
              <a:rPr lang="en-CA" noProof="0" err="1"/>
              <a:t>ajouter</a:t>
            </a:r>
            <a:r>
              <a:rPr lang="en-CA" noProof="0"/>
              <a:t> du </a:t>
            </a:r>
            <a:r>
              <a:rPr lang="en-CA" noProof="0" err="1"/>
              <a:t>texte</a:t>
            </a:r>
            <a:endParaRPr lang="en-CA" noProof="0"/>
          </a:p>
          <a:p>
            <a:pPr lvl="1"/>
            <a:r>
              <a:rPr lang="en-CA" noProof="0" err="1"/>
              <a:t>Liste</a:t>
            </a:r>
            <a:r>
              <a:rPr lang="en-CA" noProof="0"/>
              <a:t> de </a:t>
            </a:r>
            <a:r>
              <a:rPr lang="en-CA" noProof="0" err="1"/>
              <a:t>niveau</a:t>
            </a:r>
            <a:r>
              <a:rPr lang="en-CA" noProof="0"/>
              <a:t> deux</a:t>
            </a:r>
          </a:p>
          <a:p>
            <a:pPr lvl="2"/>
            <a:r>
              <a:rPr lang="en-CA" noProof="0" err="1"/>
              <a:t>Liste</a:t>
            </a:r>
            <a:r>
              <a:rPr lang="en-CA" noProof="0"/>
              <a:t> </a:t>
            </a:r>
            <a:r>
              <a:rPr lang="en-CA" noProof="0" err="1"/>
              <a:t>niveau</a:t>
            </a:r>
            <a:r>
              <a:rPr lang="en-CA" noProof="0"/>
              <a:t> trois</a:t>
            </a:r>
          </a:p>
          <a:p>
            <a:pPr marL="809523" marR="0" lvl="3"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a:pPr>
            <a:r>
              <a:rPr lang="en-CA" noProof="0" err="1"/>
              <a:t>Liste</a:t>
            </a:r>
            <a:r>
              <a:rPr lang="en-CA" noProof="0"/>
              <a:t> </a:t>
            </a:r>
            <a:r>
              <a:rPr lang="en-CA" noProof="0" err="1"/>
              <a:t>niveau</a:t>
            </a:r>
            <a:r>
              <a:rPr lang="en-CA" noProof="0"/>
              <a:t> quatre</a:t>
            </a:r>
          </a:p>
        </p:txBody>
      </p:sp>
      <p:sp>
        <p:nvSpPr>
          <p:cNvPr id="23" name="Content Placeholder 3">
            <a:extLst>
              <a:ext uri="{FF2B5EF4-FFF2-40B4-BE49-F238E27FC236}">
                <a16:creationId xmlns:a16="http://schemas.microsoft.com/office/drawing/2014/main" id="{A91B877B-C2D0-5F4F-A09B-8E10D84F0114}"/>
              </a:ext>
            </a:extLst>
          </p:cNvPr>
          <p:cNvSpPr>
            <a:spLocks noGrp="1"/>
          </p:cNvSpPr>
          <p:nvPr>
            <p:ph sz="half" idx="17" hasCustomPrompt="1"/>
          </p:nvPr>
        </p:nvSpPr>
        <p:spPr>
          <a:xfrm>
            <a:off x="4267200" y="3867150"/>
            <a:ext cx="4626057" cy="1065159"/>
          </a:xfrm>
          <a:prstGeom prst="rect">
            <a:avLst/>
          </a:prstGeom>
        </p:spPr>
        <p:txBody>
          <a:bodyPr>
            <a:noAutofit/>
          </a:bodyPr>
          <a:lstStyle>
            <a:lvl1pPr marL="266667" indent="-266667">
              <a:buClr>
                <a:srgbClr val="434343"/>
              </a:buClr>
              <a:buFont typeface="ArialMT" charset="0"/>
              <a:buChar char="—"/>
              <a:tabLst/>
              <a:defRPr sz="1400">
                <a:solidFill>
                  <a:srgbClr val="434343"/>
                </a:solidFill>
                <a:latin typeface="+mn-lt"/>
                <a:ea typeface="Open Sans" panose="020B0606030504020204" pitchFamily="34" charset="0"/>
                <a:cs typeface="Open Sans" panose="020B0606030504020204" pitchFamily="34" charset="0"/>
              </a:defRPr>
            </a:lvl1pPr>
            <a:lvl2pPr marL="405954" indent="-214287">
              <a:buClr>
                <a:srgbClr val="7C878E"/>
              </a:buClr>
              <a:buFont typeface="Wingdings" charset="2"/>
              <a:buChar char="§"/>
              <a:defRPr sz="1400">
                <a:solidFill>
                  <a:srgbClr val="434343"/>
                </a:solidFill>
                <a:latin typeface="+mn-lt"/>
                <a:ea typeface="Open Sans" panose="020B0606030504020204" pitchFamily="34" charset="0"/>
                <a:cs typeface="Open Sans" panose="020B0606030504020204" pitchFamily="34" charset="0"/>
              </a:defRPr>
            </a:lvl2pPr>
            <a:lvl3pPr marL="603571" indent="-171428">
              <a:buClr>
                <a:srgbClr val="7C878E"/>
              </a:buClr>
              <a:buFont typeface="Courier New" charset="0"/>
              <a:buChar char="o"/>
              <a:defRPr sz="1400">
                <a:solidFill>
                  <a:srgbClr val="434343"/>
                </a:solidFill>
                <a:latin typeface="+mn-lt"/>
                <a:ea typeface="Open Sans" panose="020B0606030504020204" pitchFamily="34" charset="0"/>
                <a:cs typeface="Open Sans" panose="020B0606030504020204" pitchFamily="34" charset="0"/>
              </a:defRPr>
            </a:lvl3pPr>
            <a:lvl4pPr marL="809523" marR="0"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sz="1400">
                <a:solidFill>
                  <a:srgbClr val="434343"/>
                </a:solidFill>
                <a:latin typeface="+mn-lt"/>
                <a:ea typeface="Open Sans" panose="020B0606030504020204" pitchFamily="34" charset="0"/>
                <a:cs typeface="Open Sans" panose="020B0606030504020204" pitchFamily="34" charset="0"/>
              </a:defRPr>
            </a:lvl4pPr>
            <a:lvl5pPr>
              <a:defRPr sz="1350"/>
            </a:lvl5pPr>
            <a:lvl6pPr>
              <a:defRPr sz="1200"/>
            </a:lvl6pPr>
            <a:lvl7pPr>
              <a:defRPr sz="1200"/>
            </a:lvl7pPr>
            <a:lvl8pPr>
              <a:defRPr sz="1200"/>
            </a:lvl8pPr>
            <a:lvl9pPr>
              <a:defRPr sz="1200"/>
            </a:lvl9pPr>
          </a:lstStyle>
          <a:p>
            <a:pPr lvl="0"/>
            <a:r>
              <a:rPr lang="en-CA" noProof="0" err="1"/>
              <a:t>Cliquez</a:t>
            </a:r>
            <a:r>
              <a:rPr lang="en-CA" noProof="0"/>
              <a:t> pour </a:t>
            </a:r>
            <a:r>
              <a:rPr lang="en-CA" noProof="0" err="1"/>
              <a:t>ajouter</a:t>
            </a:r>
            <a:r>
              <a:rPr lang="en-CA" noProof="0"/>
              <a:t> du </a:t>
            </a:r>
            <a:r>
              <a:rPr lang="en-CA" noProof="0" err="1"/>
              <a:t>texte</a:t>
            </a:r>
            <a:endParaRPr lang="en-CA" noProof="0"/>
          </a:p>
          <a:p>
            <a:pPr lvl="1"/>
            <a:r>
              <a:rPr lang="en-CA" noProof="0" err="1"/>
              <a:t>Liste</a:t>
            </a:r>
            <a:r>
              <a:rPr lang="en-CA" noProof="0"/>
              <a:t> de </a:t>
            </a:r>
            <a:r>
              <a:rPr lang="en-CA" noProof="0" err="1"/>
              <a:t>niveau</a:t>
            </a:r>
            <a:r>
              <a:rPr lang="en-CA" noProof="0"/>
              <a:t> deux</a:t>
            </a:r>
          </a:p>
          <a:p>
            <a:pPr lvl="2"/>
            <a:r>
              <a:rPr lang="en-CA" noProof="0" err="1"/>
              <a:t>Liste</a:t>
            </a:r>
            <a:r>
              <a:rPr lang="en-CA" noProof="0"/>
              <a:t> </a:t>
            </a:r>
            <a:r>
              <a:rPr lang="en-CA" noProof="0" err="1"/>
              <a:t>niveau</a:t>
            </a:r>
            <a:r>
              <a:rPr lang="en-CA" noProof="0"/>
              <a:t> trois</a:t>
            </a:r>
          </a:p>
          <a:p>
            <a:pPr marL="809523" marR="0" lvl="3"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a:pPr>
            <a:r>
              <a:rPr lang="en-CA" noProof="0" err="1"/>
              <a:t>Liste</a:t>
            </a:r>
            <a:r>
              <a:rPr lang="en-CA" noProof="0"/>
              <a:t> </a:t>
            </a:r>
            <a:r>
              <a:rPr lang="en-CA" noProof="0" err="1"/>
              <a:t>niveau</a:t>
            </a:r>
            <a:r>
              <a:rPr lang="en-CA" noProof="0"/>
              <a:t> quatre</a:t>
            </a:r>
          </a:p>
        </p:txBody>
      </p:sp>
    </p:spTree>
    <p:extLst>
      <p:ext uri="{BB962C8B-B14F-4D97-AF65-F5344CB8AC3E}">
        <p14:creationId xmlns:p14="http://schemas.microsoft.com/office/powerpoint/2010/main" val="92134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_Message clé - Key message 7">
    <p:bg>
      <p:bgPr>
        <a:solidFill>
          <a:schemeClr val="bg1"/>
        </a:solidFill>
        <a:effectLst/>
      </p:bgPr>
    </p:bg>
    <p:spTree>
      <p:nvGrpSpPr>
        <p:cNvPr id="1" name=""/>
        <p:cNvGrpSpPr/>
        <p:nvPr/>
      </p:nvGrpSpPr>
      <p:grpSpPr>
        <a:xfrm>
          <a:off x="0" y="0"/>
          <a:ext cx="0" cy="0"/>
          <a:chOff x="0" y="0"/>
          <a:chExt cx="0" cy="0"/>
        </a:xfrm>
      </p:grpSpPr>
      <p:pic>
        <p:nvPicPr>
          <p:cNvPr id="3" name="Image 2" descr="Une image contenant personne, homme, complet, habits&#10;&#10;Description générée automatiquement">
            <a:extLst>
              <a:ext uri="{FF2B5EF4-FFF2-40B4-BE49-F238E27FC236}">
                <a16:creationId xmlns:a16="http://schemas.microsoft.com/office/drawing/2014/main" id="{87FCBFE9-B017-AD40-B976-FBC58C29D7CE}"/>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5036513" y="0"/>
            <a:ext cx="4107487" cy="5143500"/>
          </a:xfrm>
          <a:prstGeom prst="rect">
            <a:avLst/>
          </a:prstGeom>
        </p:spPr>
      </p:pic>
      <p:sp>
        <p:nvSpPr>
          <p:cNvPr id="15" name="Rectangle 14">
            <a:extLst>
              <a:ext uri="{FF2B5EF4-FFF2-40B4-BE49-F238E27FC236}">
                <a16:creationId xmlns:a16="http://schemas.microsoft.com/office/drawing/2014/main" id="{F0B8F80E-1FB5-5D47-AC03-1184EBED628D}"/>
              </a:ext>
            </a:extLst>
          </p:cNvPr>
          <p:cNvSpPr/>
          <p:nvPr userDrawn="1"/>
        </p:nvSpPr>
        <p:spPr>
          <a:xfrm>
            <a:off x="0" y="0"/>
            <a:ext cx="228600" cy="5143500"/>
          </a:xfrm>
          <a:prstGeom prst="rect">
            <a:avLst/>
          </a:prstGeom>
          <a:solidFill>
            <a:srgbClr val="00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4800" noProof="0"/>
          </a:p>
        </p:txBody>
      </p:sp>
      <p:sp>
        <p:nvSpPr>
          <p:cNvPr id="12" name="Content Placeholder 3">
            <a:extLst>
              <a:ext uri="{FF2B5EF4-FFF2-40B4-BE49-F238E27FC236}">
                <a16:creationId xmlns:a16="http://schemas.microsoft.com/office/drawing/2014/main" id="{D08F591F-13EA-0F44-95F2-A87D8A4EA548}"/>
              </a:ext>
            </a:extLst>
          </p:cNvPr>
          <p:cNvSpPr>
            <a:spLocks noGrp="1"/>
          </p:cNvSpPr>
          <p:nvPr>
            <p:ph sz="half" idx="14" hasCustomPrompt="1"/>
          </p:nvPr>
        </p:nvSpPr>
        <p:spPr>
          <a:xfrm>
            <a:off x="945776" y="195235"/>
            <a:ext cx="4045913" cy="1065159"/>
          </a:xfrm>
          <a:prstGeom prst="rect">
            <a:avLst/>
          </a:prstGeom>
        </p:spPr>
        <p:txBody>
          <a:bodyPr>
            <a:noAutofit/>
          </a:bodyPr>
          <a:lstStyle>
            <a:lvl1pPr marL="266667" indent="-266667">
              <a:buClr>
                <a:srgbClr val="434343"/>
              </a:buClr>
              <a:buFont typeface="ArialMT" charset="0"/>
              <a:buChar char="—"/>
              <a:tabLst/>
              <a:defRPr sz="1400">
                <a:solidFill>
                  <a:srgbClr val="434343"/>
                </a:solidFill>
                <a:latin typeface="+mn-lt"/>
                <a:ea typeface="Open Sans" panose="020B0606030504020204" pitchFamily="34" charset="0"/>
                <a:cs typeface="Open Sans" panose="020B0606030504020204" pitchFamily="34" charset="0"/>
              </a:defRPr>
            </a:lvl1pPr>
            <a:lvl2pPr marL="405954" indent="-214287">
              <a:buClr>
                <a:srgbClr val="7C878E"/>
              </a:buClr>
              <a:buFont typeface="Wingdings" charset="2"/>
              <a:buChar char="§"/>
              <a:defRPr sz="1400">
                <a:solidFill>
                  <a:srgbClr val="434343"/>
                </a:solidFill>
                <a:latin typeface="+mn-lt"/>
                <a:ea typeface="Open Sans" panose="020B0606030504020204" pitchFamily="34" charset="0"/>
                <a:cs typeface="Open Sans" panose="020B0606030504020204" pitchFamily="34" charset="0"/>
              </a:defRPr>
            </a:lvl2pPr>
            <a:lvl3pPr marL="603571" indent="-171428">
              <a:buClr>
                <a:srgbClr val="7C878E"/>
              </a:buClr>
              <a:buFont typeface="Courier New" charset="0"/>
              <a:buChar char="o"/>
              <a:defRPr sz="1400">
                <a:solidFill>
                  <a:srgbClr val="434343"/>
                </a:solidFill>
                <a:latin typeface="+mn-lt"/>
                <a:ea typeface="Open Sans" panose="020B0606030504020204" pitchFamily="34" charset="0"/>
                <a:cs typeface="Open Sans" panose="020B0606030504020204" pitchFamily="34" charset="0"/>
              </a:defRPr>
            </a:lvl3pPr>
            <a:lvl4pPr marL="809523" marR="0"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sz="1400">
                <a:solidFill>
                  <a:srgbClr val="434343"/>
                </a:solidFill>
                <a:latin typeface="+mn-lt"/>
                <a:ea typeface="Open Sans" panose="020B0606030504020204" pitchFamily="34" charset="0"/>
                <a:cs typeface="Open Sans" panose="020B0606030504020204" pitchFamily="34" charset="0"/>
              </a:defRPr>
            </a:lvl4pPr>
            <a:lvl5pPr>
              <a:defRPr sz="1350"/>
            </a:lvl5pPr>
            <a:lvl6pPr>
              <a:defRPr sz="1200"/>
            </a:lvl6pPr>
            <a:lvl7pPr>
              <a:defRPr sz="1200"/>
            </a:lvl7pPr>
            <a:lvl8pPr>
              <a:defRPr sz="1200"/>
            </a:lvl8pPr>
            <a:lvl9pPr>
              <a:defRPr sz="1200"/>
            </a:lvl9pPr>
          </a:lstStyle>
          <a:p>
            <a:pPr lvl="0"/>
            <a:r>
              <a:rPr lang="en-CA" noProof="0" err="1"/>
              <a:t>Cliquez</a:t>
            </a:r>
            <a:r>
              <a:rPr lang="en-CA" noProof="0"/>
              <a:t> pour </a:t>
            </a:r>
            <a:r>
              <a:rPr lang="en-CA" noProof="0" err="1"/>
              <a:t>ajouter</a:t>
            </a:r>
            <a:r>
              <a:rPr lang="en-CA" noProof="0"/>
              <a:t> du </a:t>
            </a:r>
            <a:r>
              <a:rPr lang="en-CA" noProof="0" err="1"/>
              <a:t>texte</a:t>
            </a:r>
            <a:endParaRPr lang="en-CA" noProof="0"/>
          </a:p>
          <a:p>
            <a:pPr lvl="1"/>
            <a:r>
              <a:rPr lang="en-CA" noProof="0" err="1"/>
              <a:t>Liste</a:t>
            </a:r>
            <a:r>
              <a:rPr lang="en-CA" noProof="0"/>
              <a:t> de </a:t>
            </a:r>
            <a:r>
              <a:rPr lang="en-CA" noProof="0" err="1"/>
              <a:t>niveau</a:t>
            </a:r>
            <a:r>
              <a:rPr lang="en-CA" noProof="0"/>
              <a:t> deux</a:t>
            </a:r>
          </a:p>
          <a:p>
            <a:pPr lvl="2"/>
            <a:r>
              <a:rPr lang="en-CA" noProof="0" err="1"/>
              <a:t>Liste</a:t>
            </a:r>
            <a:r>
              <a:rPr lang="en-CA" noProof="0"/>
              <a:t> </a:t>
            </a:r>
            <a:r>
              <a:rPr lang="en-CA" noProof="0" err="1"/>
              <a:t>niveau</a:t>
            </a:r>
            <a:r>
              <a:rPr lang="en-CA" noProof="0"/>
              <a:t> trois</a:t>
            </a:r>
          </a:p>
          <a:p>
            <a:pPr marL="809523" marR="0" lvl="3"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a:pPr>
            <a:r>
              <a:rPr lang="en-CA" noProof="0" err="1"/>
              <a:t>Liste</a:t>
            </a:r>
            <a:r>
              <a:rPr lang="en-CA" noProof="0"/>
              <a:t> </a:t>
            </a:r>
            <a:r>
              <a:rPr lang="en-CA" noProof="0" err="1"/>
              <a:t>niveau</a:t>
            </a:r>
            <a:r>
              <a:rPr lang="en-CA" noProof="0"/>
              <a:t> quatre</a:t>
            </a:r>
          </a:p>
        </p:txBody>
      </p:sp>
      <p:sp>
        <p:nvSpPr>
          <p:cNvPr id="18" name="Content Placeholder 3">
            <a:extLst>
              <a:ext uri="{FF2B5EF4-FFF2-40B4-BE49-F238E27FC236}">
                <a16:creationId xmlns:a16="http://schemas.microsoft.com/office/drawing/2014/main" id="{EC52EFCD-3700-D744-98B0-4E777B656B85}"/>
              </a:ext>
            </a:extLst>
          </p:cNvPr>
          <p:cNvSpPr>
            <a:spLocks noGrp="1"/>
          </p:cNvSpPr>
          <p:nvPr>
            <p:ph sz="half" idx="15" hasCustomPrompt="1"/>
          </p:nvPr>
        </p:nvSpPr>
        <p:spPr>
          <a:xfrm>
            <a:off x="945776" y="1419346"/>
            <a:ext cx="4045913" cy="1065159"/>
          </a:xfrm>
          <a:prstGeom prst="rect">
            <a:avLst/>
          </a:prstGeom>
        </p:spPr>
        <p:txBody>
          <a:bodyPr>
            <a:noAutofit/>
          </a:bodyPr>
          <a:lstStyle>
            <a:lvl1pPr marL="266667" indent="-266667">
              <a:buClr>
                <a:srgbClr val="434343"/>
              </a:buClr>
              <a:buFont typeface="ArialMT" charset="0"/>
              <a:buChar char="—"/>
              <a:tabLst/>
              <a:defRPr sz="1400">
                <a:solidFill>
                  <a:srgbClr val="434343"/>
                </a:solidFill>
                <a:latin typeface="+mn-lt"/>
                <a:ea typeface="Open Sans" panose="020B0606030504020204" pitchFamily="34" charset="0"/>
                <a:cs typeface="Open Sans" panose="020B0606030504020204" pitchFamily="34" charset="0"/>
              </a:defRPr>
            </a:lvl1pPr>
            <a:lvl2pPr marL="405954" indent="-214287">
              <a:buClr>
                <a:srgbClr val="7C878E"/>
              </a:buClr>
              <a:buFont typeface="Wingdings" charset="2"/>
              <a:buChar char="§"/>
              <a:defRPr sz="1400">
                <a:solidFill>
                  <a:srgbClr val="434343"/>
                </a:solidFill>
                <a:latin typeface="+mn-lt"/>
                <a:ea typeface="Open Sans" panose="020B0606030504020204" pitchFamily="34" charset="0"/>
                <a:cs typeface="Open Sans" panose="020B0606030504020204" pitchFamily="34" charset="0"/>
              </a:defRPr>
            </a:lvl2pPr>
            <a:lvl3pPr marL="603571" indent="-171428">
              <a:buClr>
                <a:srgbClr val="7C878E"/>
              </a:buClr>
              <a:buFont typeface="Courier New" charset="0"/>
              <a:buChar char="o"/>
              <a:defRPr sz="1400">
                <a:solidFill>
                  <a:srgbClr val="434343"/>
                </a:solidFill>
                <a:latin typeface="+mn-lt"/>
                <a:ea typeface="Open Sans" panose="020B0606030504020204" pitchFamily="34" charset="0"/>
                <a:cs typeface="Open Sans" panose="020B0606030504020204" pitchFamily="34" charset="0"/>
              </a:defRPr>
            </a:lvl3pPr>
            <a:lvl4pPr marL="809523" marR="0"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sz="1400">
                <a:solidFill>
                  <a:srgbClr val="434343"/>
                </a:solidFill>
                <a:latin typeface="+mn-lt"/>
                <a:ea typeface="Open Sans" panose="020B0606030504020204" pitchFamily="34" charset="0"/>
                <a:cs typeface="Open Sans" panose="020B0606030504020204" pitchFamily="34" charset="0"/>
              </a:defRPr>
            </a:lvl4pPr>
            <a:lvl5pPr>
              <a:defRPr sz="1350"/>
            </a:lvl5pPr>
            <a:lvl6pPr>
              <a:defRPr sz="1200"/>
            </a:lvl6pPr>
            <a:lvl7pPr>
              <a:defRPr sz="1200"/>
            </a:lvl7pPr>
            <a:lvl8pPr>
              <a:defRPr sz="1200"/>
            </a:lvl8pPr>
            <a:lvl9pPr>
              <a:defRPr sz="1200"/>
            </a:lvl9pPr>
          </a:lstStyle>
          <a:p>
            <a:pPr lvl="0"/>
            <a:r>
              <a:rPr lang="en-CA" noProof="0" err="1"/>
              <a:t>Cliquez</a:t>
            </a:r>
            <a:r>
              <a:rPr lang="en-CA" noProof="0"/>
              <a:t> pour </a:t>
            </a:r>
            <a:r>
              <a:rPr lang="en-CA" noProof="0" err="1"/>
              <a:t>ajouter</a:t>
            </a:r>
            <a:r>
              <a:rPr lang="en-CA" noProof="0"/>
              <a:t> du </a:t>
            </a:r>
            <a:r>
              <a:rPr lang="en-CA" noProof="0" err="1"/>
              <a:t>texte</a:t>
            </a:r>
            <a:endParaRPr lang="en-CA" noProof="0"/>
          </a:p>
          <a:p>
            <a:pPr lvl="1"/>
            <a:r>
              <a:rPr lang="en-CA" noProof="0" err="1"/>
              <a:t>Liste</a:t>
            </a:r>
            <a:r>
              <a:rPr lang="en-CA" noProof="0"/>
              <a:t> de </a:t>
            </a:r>
            <a:r>
              <a:rPr lang="en-CA" noProof="0" err="1"/>
              <a:t>niveau</a:t>
            </a:r>
            <a:r>
              <a:rPr lang="en-CA" noProof="0"/>
              <a:t> deux</a:t>
            </a:r>
          </a:p>
          <a:p>
            <a:pPr lvl="2"/>
            <a:r>
              <a:rPr lang="en-CA" noProof="0" err="1"/>
              <a:t>Liste</a:t>
            </a:r>
            <a:r>
              <a:rPr lang="en-CA" noProof="0"/>
              <a:t> </a:t>
            </a:r>
            <a:r>
              <a:rPr lang="en-CA" noProof="0" err="1"/>
              <a:t>niveau</a:t>
            </a:r>
            <a:r>
              <a:rPr lang="en-CA" noProof="0"/>
              <a:t> trois</a:t>
            </a:r>
          </a:p>
          <a:p>
            <a:pPr marL="809523" marR="0" lvl="3"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a:pPr>
            <a:r>
              <a:rPr lang="en-CA" noProof="0" err="1"/>
              <a:t>Liste</a:t>
            </a:r>
            <a:r>
              <a:rPr lang="en-CA" noProof="0"/>
              <a:t> </a:t>
            </a:r>
            <a:r>
              <a:rPr lang="en-CA" noProof="0" err="1"/>
              <a:t>niveau</a:t>
            </a:r>
            <a:r>
              <a:rPr lang="en-CA" noProof="0"/>
              <a:t> quatre</a:t>
            </a:r>
          </a:p>
        </p:txBody>
      </p:sp>
      <p:sp>
        <p:nvSpPr>
          <p:cNvPr id="22" name="Content Placeholder 3">
            <a:extLst>
              <a:ext uri="{FF2B5EF4-FFF2-40B4-BE49-F238E27FC236}">
                <a16:creationId xmlns:a16="http://schemas.microsoft.com/office/drawing/2014/main" id="{0206FD36-622A-794B-B1E3-1E9E83934656}"/>
              </a:ext>
            </a:extLst>
          </p:cNvPr>
          <p:cNvSpPr>
            <a:spLocks noGrp="1"/>
          </p:cNvSpPr>
          <p:nvPr>
            <p:ph sz="half" idx="16" hasCustomPrompt="1"/>
          </p:nvPr>
        </p:nvSpPr>
        <p:spPr>
          <a:xfrm>
            <a:off x="945776" y="2643248"/>
            <a:ext cx="4045913" cy="1065159"/>
          </a:xfrm>
          <a:prstGeom prst="rect">
            <a:avLst/>
          </a:prstGeom>
        </p:spPr>
        <p:txBody>
          <a:bodyPr>
            <a:noAutofit/>
          </a:bodyPr>
          <a:lstStyle>
            <a:lvl1pPr marL="266667" indent="-266667">
              <a:buClr>
                <a:srgbClr val="434343"/>
              </a:buClr>
              <a:buFont typeface="ArialMT" charset="0"/>
              <a:buChar char="—"/>
              <a:tabLst/>
              <a:defRPr sz="1400">
                <a:solidFill>
                  <a:srgbClr val="434343"/>
                </a:solidFill>
                <a:latin typeface="+mn-lt"/>
                <a:ea typeface="Open Sans" panose="020B0606030504020204" pitchFamily="34" charset="0"/>
                <a:cs typeface="Open Sans" panose="020B0606030504020204" pitchFamily="34" charset="0"/>
              </a:defRPr>
            </a:lvl1pPr>
            <a:lvl2pPr marL="405954" indent="-214287">
              <a:buClr>
                <a:srgbClr val="7C878E"/>
              </a:buClr>
              <a:buFont typeface="Wingdings" charset="2"/>
              <a:buChar char="§"/>
              <a:defRPr sz="1400">
                <a:solidFill>
                  <a:srgbClr val="434343"/>
                </a:solidFill>
                <a:latin typeface="+mn-lt"/>
                <a:ea typeface="Open Sans" panose="020B0606030504020204" pitchFamily="34" charset="0"/>
                <a:cs typeface="Open Sans" panose="020B0606030504020204" pitchFamily="34" charset="0"/>
              </a:defRPr>
            </a:lvl2pPr>
            <a:lvl3pPr marL="603571" indent="-171428">
              <a:buClr>
                <a:srgbClr val="7C878E"/>
              </a:buClr>
              <a:buFont typeface="Courier New" charset="0"/>
              <a:buChar char="o"/>
              <a:defRPr sz="1400">
                <a:solidFill>
                  <a:srgbClr val="434343"/>
                </a:solidFill>
                <a:latin typeface="+mn-lt"/>
                <a:ea typeface="Open Sans" panose="020B0606030504020204" pitchFamily="34" charset="0"/>
                <a:cs typeface="Open Sans" panose="020B0606030504020204" pitchFamily="34" charset="0"/>
              </a:defRPr>
            </a:lvl3pPr>
            <a:lvl4pPr marL="809523" marR="0"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sz="1400">
                <a:solidFill>
                  <a:srgbClr val="434343"/>
                </a:solidFill>
                <a:latin typeface="+mn-lt"/>
                <a:ea typeface="Open Sans" panose="020B0606030504020204" pitchFamily="34" charset="0"/>
                <a:cs typeface="Open Sans" panose="020B0606030504020204" pitchFamily="34" charset="0"/>
              </a:defRPr>
            </a:lvl4pPr>
            <a:lvl5pPr>
              <a:defRPr sz="1350"/>
            </a:lvl5pPr>
            <a:lvl6pPr>
              <a:defRPr sz="1200"/>
            </a:lvl6pPr>
            <a:lvl7pPr>
              <a:defRPr sz="1200"/>
            </a:lvl7pPr>
            <a:lvl8pPr>
              <a:defRPr sz="1200"/>
            </a:lvl8pPr>
            <a:lvl9pPr>
              <a:defRPr sz="1200"/>
            </a:lvl9pPr>
          </a:lstStyle>
          <a:p>
            <a:pPr lvl="0"/>
            <a:r>
              <a:rPr lang="en-CA" noProof="0" err="1"/>
              <a:t>Cliquez</a:t>
            </a:r>
            <a:r>
              <a:rPr lang="en-CA" noProof="0"/>
              <a:t> pour </a:t>
            </a:r>
            <a:r>
              <a:rPr lang="en-CA" noProof="0" err="1"/>
              <a:t>ajouter</a:t>
            </a:r>
            <a:r>
              <a:rPr lang="en-CA" noProof="0"/>
              <a:t> du </a:t>
            </a:r>
            <a:r>
              <a:rPr lang="en-CA" noProof="0" err="1"/>
              <a:t>texte</a:t>
            </a:r>
            <a:endParaRPr lang="en-CA" noProof="0"/>
          </a:p>
          <a:p>
            <a:pPr lvl="1"/>
            <a:r>
              <a:rPr lang="en-CA" noProof="0" err="1"/>
              <a:t>Liste</a:t>
            </a:r>
            <a:r>
              <a:rPr lang="en-CA" noProof="0"/>
              <a:t> de </a:t>
            </a:r>
            <a:r>
              <a:rPr lang="en-CA" noProof="0" err="1"/>
              <a:t>niveau</a:t>
            </a:r>
            <a:r>
              <a:rPr lang="en-CA" noProof="0"/>
              <a:t> deux</a:t>
            </a:r>
          </a:p>
          <a:p>
            <a:pPr lvl="2"/>
            <a:r>
              <a:rPr lang="en-CA" noProof="0" err="1"/>
              <a:t>Liste</a:t>
            </a:r>
            <a:r>
              <a:rPr lang="en-CA" noProof="0"/>
              <a:t> </a:t>
            </a:r>
            <a:r>
              <a:rPr lang="en-CA" noProof="0" err="1"/>
              <a:t>niveau</a:t>
            </a:r>
            <a:r>
              <a:rPr lang="en-CA" noProof="0"/>
              <a:t> trois</a:t>
            </a:r>
          </a:p>
          <a:p>
            <a:pPr marL="809523" marR="0" lvl="3"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a:pPr>
            <a:r>
              <a:rPr lang="en-CA" noProof="0" err="1"/>
              <a:t>Liste</a:t>
            </a:r>
            <a:r>
              <a:rPr lang="en-CA" noProof="0"/>
              <a:t> </a:t>
            </a:r>
            <a:r>
              <a:rPr lang="en-CA" noProof="0" err="1"/>
              <a:t>niveau</a:t>
            </a:r>
            <a:r>
              <a:rPr lang="en-CA" noProof="0"/>
              <a:t> quatre</a:t>
            </a:r>
          </a:p>
        </p:txBody>
      </p:sp>
      <p:sp>
        <p:nvSpPr>
          <p:cNvPr id="23" name="Content Placeholder 3">
            <a:extLst>
              <a:ext uri="{FF2B5EF4-FFF2-40B4-BE49-F238E27FC236}">
                <a16:creationId xmlns:a16="http://schemas.microsoft.com/office/drawing/2014/main" id="{33FB9E6A-CBE7-8343-BFF2-2F70A623B4C9}"/>
              </a:ext>
            </a:extLst>
          </p:cNvPr>
          <p:cNvSpPr>
            <a:spLocks noGrp="1"/>
          </p:cNvSpPr>
          <p:nvPr>
            <p:ph sz="half" idx="17" hasCustomPrompt="1"/>
          </p:nvPr>
        </p:nvSpPr>
        <p:spPr>
          <a:xfrm>
            <a:off x="945776" y="3867150"/>
            <a:ext cx="4045913" cy="1065159"/>
          </a:xfrm>
          <a:prstGeom prst="rect">
            <a:avLst/>
          </a:prstGeom>
        </p:spPr>
        <p:txBody>
          <a:bodyPr>
            <a:noAutofit/>
          </a:bodyPr>
          <a:lstStyle>
            <a:lvl1pPr marL="266667" indent="-266667">
              <a:buClr>
                <a:srgbClr val="434343"/>
              </a:buClr>
              <a:buFont typeface="ArialMT" charset="0"/>
              <a:buChar char="—"/>
              <a:tabLst/>
              <a:defRPr sz="1400">
                <a:solidFill>
                  <a:srgbClr val="434343"/>
                </a:solidFill>
                <a:latin typeface="+mn-lt"/>
                <a:ea typeface="Open Sans" panose="020B0606030504020204" pitchFamily="34" charset="0"/>
                <a:cs typeface="Open Sans" panose="020B0606030504020204" pitchFamily="34" charset="0"/>
              </a:defRPr>
            </a:lvl1pPr>
            <a:lvl2pPr marL="405954" indent="-214287">
              <a:buClr>
                <a:srgbClr val="7C878E"/>
              </a:buClr>
              <a:buFont typeface="Wingdings" charset="2"/>
              <a:buChar char="§"/>
              <a:defRPr sz="1400">
                <a:solidFill>
                  <a:srgbClr val="434343"/>
                </a:solidFill>
                <a:latin typeface="+mn-lt"/>
                <a:ea typeface="Open Sans" panose="020B0606030504020204" pitchFamily="34" charset="0"/>
                <a:cs typeface="Open Sans" panose="020B0606030504020204" pitchFamily="34" charset="0"/>
              </a:defRPr>
            </a:lvl2pPr>
            <a:lvl3pPr marL="603571" indent="-171428">
              <a:buClr>
                <a:srgbClr val="7C878E"/>
              </a:buClr>
              <a:buFont typeface="Courier New" charset="0"/>
              <a:buChar char="o"/>
              <a:defRPr sz="1400">
                <a:solidFill>
                  <a:srgbClr val="434343"/>
                </a:solidFill>
                <a:latin typeface="+mn-lt"/>
                <a:ea typeface="Open Sans" panose="020B0606030504020204" pitchFamily="34" charset="0"/>
                <a:cs typeface="Open Sans" panose="020B0606030504020204" pitchFamily="34" charset="0"/>
              </a:defRPr>
            </a:lvl3pPr>
            <a:lvl4pPr marL="809523" marR="0"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sz="1400">
                <a:solidFill>
                  <a:srgbClr val="434343"/>
                </a:solidFill>
                <a:latin typeface="+mn-lt"/>
                <a:ea typeface="Open Sans" panose="020B0606030504020204" pitchFamily="34" charset="0"/>
                <a:cs typeface="Open Sans" panose="020B0606030504020204" pitchFamily="34" charset="0"/>
              </a:defRPr>
            </a:lvl4pPr>
            <a:lvl5pPr>
              <a:defRPr sz="1350"/>
            </a:lvl5pPr>
            <a:lvl6pPr>
              <a:defRPr sz="1200"/>
            </a:lvl6pPr>
            <a:lvl7pPr>
              <a:defRPr sz="1200"/>
            </a:lvl7pPr>
            <a:lvl8pPr>
              <a:defRPr sz="1200"/>
            </a:lvl8pPr>
            <a:lvl9pPr>
              <a:defRPr sz="1200"/>
            </a:lvl9pPr>
          </a:lstStyle>
          <a:p>
            <a:pPr lvl="0"/>
            <a:r>
              <a:rPr lang="en-CA" noProof="0" err="1"/>
              <a:t>Cliquez</a:t>
            </a:r>
            <a:r>
              <a:rPr lang="en-CA" noProof="0"/>
              <a:t> pour </a:t>
            </a:r>
            <a:r>
              <a:rPr lang="en-CA" noProof="0" err="1"/>
              <a:t>ajouter</a:t>
            </a:r>
            <a:r>
              <a:rPr lang="en-CA" noProof="0"/>
              <a:t> du </a:t>
            </a:r>
            <a:r>
              <a:rPr lang="en-CA" noProof="0" err="1"/>
              <a:t>texte</a:t>
            </a:r>
            <a:endParaRPr lang="en-CA" noProof="0"/>
          </a:p>
          <a:p>
            <a:pPr lvl="1"/>
            <a:r>
              <a:rPr lang="en-CA" noProof="0" err="1"/>
              <a:t>Liste</a:t>
            </a:r>
            <a:r>
              <a:rPr lang="en-CA" noProof="0"/>
              <a:t> de </a:t>
            </a:r>
            <a:r>
              <a:rPr lang="en-CA" noProof="0" err="1"/>
              <a:t>niveau</a:t>
            </a:r>
            <a:r>
              <a:rPr lang="en-CA" noProof="0"/>
              <a:t> deux</a:t>
            </a:r>
          </a:p>
          <a:p>
            <a:pPr lvl="2"/>
            <a:r>
              <a:rPr lang="en-CA" noProof="0" err="1"/>
              <a:t>Liste</a:t>
            </a:r>
            <a:r>
              <a:rPr lang="en-CA" noProof="0"/>
              <a:t> </a:t>
            </a:r>
            <a:r>
              <a:rPr lang="en-CA" noProof="0" err="1"/>
              <a:t>niveau</a:t>
            </a:r>
            <a:r>
              <a:rPr lang="en-CA" noProof="0"/>
              <a:t> trois</a:t>
            </a:r>
          </a:p>
          <a:p>
            <a:pPr marL="809523" marR="0" lvl="3"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a:pPr>
            <a:r>
              <a:rPr lang="en-CA" noProof="0" err="1"/>
              <a:t>Liste</a:t>
            </a:r>
            <a:r>
              <a:rPr lang="en-CA" noProof="0"/>
              <a:t> </a:t>
            </a:r>
            <a:r>
              <a:rPr lang="en-CA" noProof="0" err="1"/>
              <a:t>niveau</a:t>
            </a:r>
            <a:r>
              <a:rPr lang="en-CA" noProof="0"/>
              <a:t> quatre</a:t>
            </a:r>
          </a:p>
        </p:txBody>
      </p:sp>
    </p:spTree>
    <p:extLst>
      <p:ext uri="{BB962C8B-B14F-4D97-AF65-F5344CB8AC3E}">
        <p14:creationId xmlns:p14="http://schemas.microsoft.com/office/powerpoint/2010/main" val="351169591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Message clé - Key message 7">
    <p:bg>
      <p:bgPr>
        <a:solidFill>
          <a:schemeClr val="bg1"/>
        </a:solidFill>
        <a:effectLst/>
      </p:bgPr>
    </p:bg>
    <p:spTree>
      <p:nvGrpSpPr>
        <p:cNvPr id="1" name=""/>
        <p:cNvGrpSpPr/>
        <p:nvPr/>
      </p:nvGrpSpPr>
      <p:grpSpPr>
        <a:xfrm>
          <a:off x="0" y="0"/>
          <a:ext cx="0" cy="0"/>
          <a:chOff x="0" y="0"/>
          <a:chExt cx="0" cy="0"/>
        </a:xfrm>
      </p:grpSpPr>
      <p:pic>
        <p:nvPicPr>
          <p:cNvPr id="3" name="Image 2" descr="Une image contenant personne, homme, complet, habits&#10;&#10;Description générée automatiquement">
            <a:extLst>
              <a:ext uri="{FF2B5EF4-FFF2-40B4-BE49-F238E27FC236}">
                <a16:creationId xmlns:a16="http://schemas.microsoft.com/office/drawing/2014/main" id="{87FCBFE9-B017-AD40-B976-FBC58C29D7CE}"/>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5036513" y="0"/>
            <a:ext cx="4107487" cy="5143500"/>
          </a:xfrm>
          <a:prstGeom prst="rect">
            <a:avLst/>
          </a:prstGeom>
        </p:spPr>
      </p:pic>
      <p:sp>
        <p:nvSpPr>
          <p:cNvPr id="15" name="Rectangle 14">
            <a:extLst>
              <a:ext uri="{FF2B5EF4-FFF2-40B4-BE49-F238E27FC236}">
                <a16:creationId xmlns:a16="http://schemas.microsoft.com/office/drawing/2014/main" id="{F0B8F80E-1FB5-5D47-AC03-1184EBED628D}"/>
              </a:ext>
            </a:extLst>
          </p:cNvPr>
          <p:cNvSpPr/>
          <p:nvPr userDrawn="1"/>
        </p:nvSpPr>
        <p:spPr>
          <a:xfrm>
            <a:off x="0" y="0"/>
            <a:ext cx="228600" cy="5143500"/>
          </a:xfrm>
          <a:prstGeom prst="rect">
            <a:avLst/>
          </a:prstGeom>
          <a:solidFill>
            <a:srgbClr val="00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4800" noProof="0"/>
          </a:p>
        </p:txBody>
      </p:sp>
      <p:sp>
        <p:nvSpPr>
          <p:cNvPr id="12" name="Content Placeholder 3">
            <a:extLst>
              <a:ext uri="{FF2B5EF4-FFF2-40B4-BE49-F238E27FC236}">
                <a16:creationId xmlns:a16="http://schemas.microsoft.com/office/drawing/2014/main" id="{D08F591F-13EA-0F44-95F2-A87D8A4EA548}"/>
              </a:ext>
            </a:extLst>
          </p:cNvPr>
          <p:cNvSpPr>
            <a:spLocks noGrp="1"/>
          </p:cNvSpPr>
          <p:nvPr>
            <p:ph sz="half" idx="14" hasCustomPrompt="1"/>
          </p:nvPr>
        </p:nvSpPr>
        <p:spPr>
          <a:xfrm>
            <a:off x="381000" y="195235"/>
            <a:ext cx="4610689" cy="1065159"/>
          </a:xfrm>
          <a:prstGeom prst="rect">
            <a:avLst/>
          </a:prstGeom>
        </p:spPr>
        <p:txBody>
          <a:bodyPr>
            <a:noAutofit/>
          </a:bodyPr>
          <a:lstStyle>
            <a:lvl1pPr marL="266667" indent="-266667">
              <a:buClr>
                <a:srgbClr val="434343"/>
              </a:buClr>
              <a:buFont typeface="ArialMT" charset="0"/>
              <a:buChar char="—"/>
              <a:tabLst/>
              <a:defRPr sz="1400">
                <a:solidFill>
                  <a:srgbClr val="434343"/>
                </a:solidFill>
                <a:latin typeface="+mn-lt"/>
                <a:ea typeface="Open Sans" panose="020B0606030504020204" pitchFamily="34" charset="0"/>
                <a:cs typeface="Open Sans" panose="020B0606030504020204" pitchFamily="34" charset="0"/>
              </a:defRPr>
            </a:lvl1pPr>
            <a:lvl2pPr marL="405954" indent="-214287">
              <a:buClr>
                <a:srgbClr val="7C878E"/>
              </a:buClr>
              <a:buFont typeface="Wingdings" charset="2"/>
              <a:buChar char="§"/>
              <a:defRPr sz="1400">
                <a:solidFill>
                  <a:srgbClr val="434343"/>
                </a:solidFill>
                <a:latin typeface="+mn-lt"/>
                <a:ea typeface="Open Sans" panose="020B0606030504020204" pitchFamily="34" charset="0"/>
                <a:cs typeface="Open Sans" panose="020B0606030504020204" pitchFamily="34" charset="0"/>
              </a:defRPr>
            </a:lvl2pPr>
            <a:lvl3pPr marL="603571" indent="-171428">
              <a:buClr>
                <a:srgbClr val="7C878E"/>
              </a:buClr>
              <a:buFont typeface="Courier New" charset="0"/>
              <a:buChar char="o"/>
              <a:defRPr sz="1400">
                <a:solidFill>
                  <a:srgbClr val="434343"/>
                </a:solidFill>
                <a:latin typeface="+mn-lt"/>
                <a:ea typeface="Open Sans" panose="020B0606030504020204" pitchFamily="34" charset="0"/>
                <a:cs typeface="Open Sans" panose="020B0606030504020204" pitchFamily="34" charset="0"/>
              </a:defRPr>
            </a:lvl3pPr>
            <a:lvl4pPr marL="809523" marR="0"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sz="1400">
                <a:solidFill>
                  <a:srgbClr val="434343"/>
                </a:solidFill>
                <a:latin typeface="+mn-lt"/>
                <a:ea typeface="Open Sans" panose="020B0606030504020204" pitchFamily="34" charset="0"/>
                <a:cs typeface="Open Sans" panose="020B0606030504020204" pitchFamily="34" charset="0"/>
              </a:defRPr>
            </a:lvl4pPr>
            <a:lvl5pPr>
              <a:defRPr sz="1350"/>
            </a:lvl5pPr>
            <a:lvl6pPr>
              <a:defRPr sz="1200"/>
            </a:lvl6pPr>
            <a:lvl7pPr>
              <a:defRPr sz="1200"/>
            </a:lvl7pPr>
            <a:lvl8pPr>
              <a:defRPr sz="1200"/>
            </a:lvl8pPr>
            <a:lvl9pPr>
              <a:defRPr sz="1200"/>
            </a:lvl9pPr>
          </a:lstStyle>
          <a:p>
            <a:pPr lvl="0"/>
            <a:r>
              <a:rPr lang="en-CA" noProof="0" err="1"/>
              <a:t>Cliquez</a:t>
            </a:r>
            <a:r>
              <a:rPr lang="en-CA" noProof="0"/>
              <a:t> pour </a:t>
            </a:r>
            <a:r>
              <a:rPr lang="en-CA" noProof="0" err="1"/>
              <a:t>ajouter</a:t>
            </a:r>
            <a:r>
              <a:rPr lang="en-CA" noProof="0"/>
              <a:t> du </a:t>
            </a:r>
            <a:r>
              <a:rPr lang="en-CA" noProof="0" err="1"/>
              <a:t>texte</a:t>
            </a:r>
            <a:endParaRPr lang="en-CA" noProof="0"/>
          </a:p>
          <a:p>
            <a:pPr lvl="1"/>
            <a:r>
              <a:rPr lang="en-CA" noProof="0" err="1"/>
              <a:t>Liste</a:t>
            </a:r>
            <a:r>
              <a:rPr lang="en-CA" noProof="0"/>
              <a:t> de </a:t>
            </a:r>
            <a:r>
              <a:rPr lang="en-CA" noProof="0" err="1"/>
              <a:t>niveau</a:t>
            </a:r>
            <a:r>
              <a:rPr lang="en-CA" noProof="0"/>
              <a:t> deux</a:t>
            </a:r>
          </a:p>
          <a:p>
            <a:pPr lvl="2"/>
            <a:r>
              <a:rPr lang="en-CA" noProof="0" err="1"/>
              <a:t>Liste</a:t>
            </a:r>
            <a:r>
              <a:rPr lang="en-CA" noProof="0"/>
              <a:t> </a:t>
            </a:r>
            <a:r>
              <a:rPr lang="en-CA" noProof="0" err="1"/>
              <a:t>niveau</a:t>
            </a:r>
            <a:r>
              <a:rPr lang="en-CA" noProof="0"/>
              <a:t> trois</a:t>
            </a:r>
          </a:p>
          <a:p>
            <a:pPr marL="809523" marR="0" lvl="3"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a:pPr>
            <a:r>
              <a:rPr lang="en-CA" noProof="0" err="1"/>
              <a:t>Liste</a:t>
            </a:r>
            <a:r>
              <a:rPr lang="en-CA" noProof="0"/>
              <a:t> </a:t>
            </a:r>
            <a:r>
              <a:rPr lang="en-CA" noProof="0" err="1"/>
              <a:t>niveau</a:t>
            </a:r>
            <a:r>
              <a:rPr lang="en-CA" noProof="0"/>
              <a:t> quatre</a:t>
            </a:r>
          </a:p>
        </p:txBody>
      </p:sp>
      <p:sp>
        <p:nvSpPr>
          <p:cNvPr id="18" name="Content Placeholder 3">
            <a:extLst>
              <a:ext uri="{FF2B5EF4-FFF2-40B4-BE49-F238E27FC236}">
                <a16:creationId xmlns:a16="http://schemas.microsoft.com/office/drawing/2014/main" id="{EC52EFCD-3700-D744-98B0-4E777B656B85}"/>
              </a:ext>
            </a:extLst>
          </p:cNvPr>
          <p:cNvSpPr>
            <a:spLocks noGrp="1"/>
          </p:cNvSpPr>
          <p:nvPr>
            <p:ph sz="half" idx="15" hasCustomPrompt="1"/>
          </p:nvPr>
        </p:nvSpPr>
        <p:spPr>
          <a:xfrm>
            <a:off x="381000" y="1419346"/>
            <a:ext cx="4610689" cy="1065159"/>
          </a:xfrm>
          <a:prstGeom prst="rect">
            <a:avLst/>
          </a:prstGeom>
        </p:spPr>
        <p:txBody>
          <a:bodyPr>
            <a:noAutofit/>
          </a:bodyPr>
          <a:lstStyle>
            <a:lvl1pPr marL="266667" indent="-266667">
              <a:buClr>
                <a:srgbClr val="434343"/>
              </a:buClr>
              <a:buFont typeface="ArialMT" charset="0"/>
              <a:buChar char="—"/>
              <a:tabLst/>
              <a:defRPr sz="1400">
                <a:solidFill>
                  <a:srgbClr val="434343"/>
                </a:solidFill>
                <a:latin typeface="+mn-lt"/>
                <a:ea typeface="Open Sans" panose="020B0606030504020204" pitchFamily="34" charset="0"/>
                <a:cs typeface="Open Sans" panose="020B0606030504020204" pitchFamily="34" charset="0"/>
              </a:defRPr>
            </a:lvl1pPr>
            <a:lvl2pPr marL="405954" indent="-214287">
              <a:buClr>
                <a:srgbClr val="7C878E"/>
              </a:buClr>
              <a:buFont typeface="Wingdings" charset="2"/>
              <a:buChar char="§"/>
              <a:defRPr sz="1400">
                <a:solidFill>
                  <a:srgbClr val="434343"/>
                </a:solidFill>
                <a:latin typeface="+mn-lt"/>
                <a:ea typeface="Open Sans" panose="020B0606030504020204" pitchFamily="34" charset="0"/>
                <a:cs typeface="Open Sans" panose="020B0606030504020204" pitchFamily="34" charset="0"/>
              </a:defRPr>
            </a:lvl2pPr>
            <a:lvl3pPr marL="603571" indent="-171428">
              <a:buClr>
                <a:srgbClr val="7C878E"/>
              </a:buClr>
              <a:buFont typeface="Courier New" charset="0"/>
              <a:buChar char="o"/>
              <a:defRPr sz="1400">
                <a:solidFill>
                  <a:srgbClr val="434343"/>
                </a:solidFill>
                <a:latin typeface="+mn-lt"/>
                <a:ea typeface="Open Sans" panose="020B0606030504020204" pitchFamily="34" charset="0"/>
                <a:cs typeface="Open Sans" panose="020B0606030504020204" pitchFamily="34" charset="0"/>
              </a:defRPr>
            </a:lvl3pPr>
            <a:lvl4pPr marL="809523" marR="0"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sz="1400">
                <a:solidFill>
                  <a:srgbClr val="434343"/>
                </a:solidFill>
                <a:latin typeface="+mn-lt"/>
                <a:ea typeface="Open Sans" panose="020B0606030504020204" pitchFamily="34" charset="0"/>
                <a:cs typeface="Open Sans" panose="020B0606030504020204" pitchFamily="34" charset="0"/>
              </a:defRPr>
            </a:lvl4pPr>
            <a:lvl5pPr>
              <a:defRPr sz="1350"/>
            </a:lvl5pPr>
            <a:lvl6pPr>
              <a:defRPr sz="1200"/>
            </a:lvl6pPr>
            <a:lvl7pPr>
              <a:defRPr sz="1200"/>
            </a:lvl7pPr>
            <a:lvl8pPr>
              <a:defRPr sz="1200"/>
            </a:lvl8pPr>
            <a:lvl9pPr>
              <a:defRPr sz="1200"/>
            </a:lvl9pPr>
          </a:lstStyle>
          <a:p>
            <a:pPr lvl="0"/>
            <a:r>
              <a:rPr lang="en-CA" noProof="0" err="1"/>
              <a:t>Cliquez</a:t>
            </a:r>
            <a:r>
              <a:rPr lang="en-CA" noProof="0"/>
              <a:t> pour </a:t>
            </a:r>
            <a:r>
              <a:rPr lang="en-CA" noProof="0" err="1"/>
              <a:t>ajouter</a:t>
            </a:r>
            <a:r>
              <a:rPr lang="en-CA" noProof="0"/>
              <a:t> du </a:t>
            </a:r>
            <a:r>
              <a:rPr lang="en-CA" noProof="0" err="1"/>
              <a:t>texte</a:t>
            </a:r>
            <a:endParaRPr lang="en-CA" noProof="0"/>
          </a:p>
          <a:p>
            <a:pPr lvl="1"/>
            <a:r>
              <a:rPr lang="en-CA" noProof="0" err="1"/>
              <a:t>Liste</a:t>
            </a:r>
            <a:r>
              <a:rPr lang="en-CA" noProof="0"/>
              <a:t> de </a:t>
            </a:r>
            <a:r>
              <a:rPr lang="en-CA" noProof="0" err="1"/>
              <a:t>niveau</a:t>
            </a:r>
            <a:r>
              <a:rPr lang="en-CA" noProof="0"/>
              <a:t> deux</a:t>
            </a:r>
          </a:p>
          <a:p>
            <a:pPr lvl="2"/>
            <a:r>
              <a:rPr lang="en-CA" noProof="0" err="1"/>
              <a:t>Liste</a:t>
            </a:r>
            <a:r>
              <a:rPr lang="en-CA" noProof="0"/>
              <a:t> </a:t>
            </a:r>
            <a:r>
              <a:rPr lang="en-CA" noProof="0" err="1"/>
              <a:t>niveau</a:t>
            </a:r>
            <a:r>
              <a:rPr lang="en-CA" noProof="0"/>
              <a:t> trois</a:t>
            </a:r>
          </a:p>
          <a:p>
            <a:pPr marL="809523" marR="0" lvl="3"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a:pPr>
            <a:r>
              <a:rPr lang="en-CA" noProof="0" err="1"/>
              <a:t>Liste</a:t>
            </a:r>
            <a:r>
              <a:rPr lang="en-CA" noProof="0"/>
              <a:t> </a:t>
            </a:r>
            <a:r>
              <a:rPr lang="en-CA" noProof="0" err="1"/>
              <a:t>niveau</a:t>
            </a:r>
            <a:r>
              <a:rPr lang="en-CA" noProof="0"/>
              <a:t> quatre</a:t>
            </a:r>
          </a:p>
        </p:txBody>
      </p:sp>
      <p:sp>
        <p:nvSpPr>
          <p:cNvPr id="22" name="Content Placeholder 3">
            <a:extLst>
              <a:ext uri="{FF2B5EF4-FFF2-40B4-BE49-F238E27FC236}">
                <a16:creationId xmlns:a16="http://schemas.microsoft.com/office/drawing/2014/main" id="{0206FD36-622A-794B-B1E3-1E9E83934656}"/>
              </a:ext>
            </a:extLst>
          </p:cNvPr>
          <p:cNvSpPr>
            <a:spLocks noGrp="1"/>
          </p:cNvSpPr>
          <p:nvPr>
            <p:ph sz="half" idx="16" hasCustomPrompt="1"/>
          </p:nvPr>
        </p:nvSpPr>
        <p:spPr>
          <a:xfrm>
            <a:off x="381000" y="2643248"/>
            <a:ext cx="4610689" cy="1065159"/>
          </a:xfrm>
          <a:prstGeom prst="rect">
            <a:avLst/>
          </a:prstGeom>
        </p:spPr>
        <p:txBody>
          <a:bodyPr>
            <a:noAutofit/>
          </a:bodyPr>
          <a:lstStyle>
            <a:lvl1pPr marL="266667" indent="-266667">
              <a:buClr>
                <a:srgbClr val="434343"/>
              </a:buClr>
              <a:buFont typeface="ArialMT" charset="0"/>
              <a:buChar char="—"/>
              <a:tabLst/>
              <a:defRPr sz="1400">
                <a:solidFill>
                  <a:srgbClr val="434343"/>
                </a:solidFill>
                <a:latin typeface="+mn-lt"/>
                <a:ea typeface="Open Sans" panose="020B0606030504020204" pitchFamily="34" charset="0"/>
                <a:cs typeface="Open Sans" panose="020B0606030504020204" pitchFamily="34" charset="0"/>
              </a:defRPr>
            </a:lvl1pPr>
            <a:lvl2pPr marL="405954" indent="-214287">
              <a:buClr>
                <a:srgbClr val="7C878E"/>
              </a:buClr>
              <a:buFont typeface="Wingdings" charset="2"/>
              <a:buChar char="§"/>
              <a:defRPr sz="1400">
                <a:solidFill>
                  <a:srgbClr val="434343"/>
                </a:solidFill>
                <a:latin typeface="+mn-lt"/>
                <a:ea typeface="Open Sans" panose="020B0606030504020204" pitchFamily="34" charset="0"/>
                <a:cs typeface="Open Sans" panose="020B0606030504020204" pitchFamily="34" charset="0"/>
              </a:defRPr>
            </a:lvl2pPr>
            <a:lvl3pPr marL="603571" indent="-171428">
              <a:buClr>
                <a:srgbClr val="7C878E"/>
              </a:buClr>
              <a:buFont typeface="Courier New" charset="0"/>
              <a:buChar char="o"/>
              <a:defRPr sz="1400">
                <a:solidFill>
                  <a:srgbClr val="434343"/>
                </a:solidFill>
                <a:latin typeface="+mn-lt"/>
                <a:ea typeface="Open Sans" panose="020B0606030504020204" pitchFamily="34" charset="0"/>
                <a:cs typeface="Open Sans" panose="020B0606030504020204" pitchFamily="34" charset="0"/>
              </a:defRPr>
            </a:lvl3pPr>
            <a:lvl4pPr marL="809523" marR="0"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sz="1400">
                <a:solidFill>
                  <a:srgbClr val="434343"/>
                </a:solidFill>
                <a:latin typeface="+mn-lt"/>
                <a:ea typeface="Open Sans" panose="020B0606030504020204" pitchFamily="34" charset="0"/>
                <a:cs typeface="Open Sans" panose="020B0606030504020204" pitchFamily="34" charset="0"/>
              </a:defRPr>
            </a:lvl4pPr>
            <a:lvl5pPr>
              <a:defRPr sz="1350"/>
            </a:lvl5pPr>
            <a:lvl6pPr>
              <a:defRPr sz="1200"/>
            </a:lvl6pPr>
            <a:lvl7pPr>
              <a:defRPr sz="1200"/>
            </a:lvl7pPr>
            <a:lvl8pPr>
              <a:defRPr sz="1200"/>
            </a:lvl8pPr>
            <a:lvl9pPr>
              <a:defRPr sz="1200"/>
            </a:lvl9pPr>
          </a:lstStyle>
          <a:p>
            <a:pPr lvl="0"/>
            <a:r>
              <a:rPr lang="en-CA" noProof="0" err="1"/>
              <a:t>Cliquez</a:t>
            </a:r>
            <a:r>
              <a:rPr lang="en-CA" noProof="0"/>
              <a:t> pour </a:t>
            </a:r>
            <a:r>
              <a:rPr lang="en-CA" noProof="0" err="1"/>
              <a:t>ajouter</a:t>
            </a:r>
            <a:r>
              <a:rPr lang="en-CA" noProof="0"/>
              <a:t> du </a:t>
            </a:r>
            <a:r>
              <a:rPr lang="en-CA" noProof="0" err="1"/>
              <a:t>texte</a:t>
            </a:r>
            <a:endParaRPr lang="en-CA" noProof="0"/>
          </a:p>
          <a:p>
            <a:pPr lvl="1"/>
            <a:r>
              <a:rPr lang="en-CA" noProof="0" err="1"/>
              <a:t>Liste</a:t>
            </a:r>
            <a:r>
              <a:rPr lang="en-CA" noProof="0"/>
              <a:t> de </a:t>
            </a:r>
            <a:r>
              <a:rPr lang="en-CA" noProof="0" err="1"/>
              <a:t>niveau</a:t>
            </a:r>
            <a:r>
              <a:rPr lang="en-CA" noProof="0"/>
              <a:t> deux</a:t>
            </a:r>
          </a:p>
          <a:p>
            <a:pPr lvl="2"/>
            <a:r>
              <a:rPr lang="en-CA" noProof="0" err="1"/>
              <a:t>Liste</a:t>
            </a:r>
            <a:r>
              <a:rPr lang="en-CA" noProof="0"/>
              <a:t> </a:t>
            </a:r>
            <a:r>
              <a:rPr lang="en-CA" noProof="0" err="1"/>
              <a:t>niveau</a:t>
            </a:r>
            <a:r>
              <a:rPr lang="en-CA" noProof="0"/>
              <a:t> trois</a:t>
            </a:r>
          </a:p>
          <a:p>
            <a:pPr marL="809523" marR="0" lvl="3"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a:pPr>
            <a:r>
              <a:rPr lang="en-CA" noProof="0" err="1"/>
              <a:t>Liste</a:t>
            </a:r>
            <a:r>
              <a:rPr lang="en-CA" noProof="0"/>
              <a:t> </a:t>
            </a:r>
            <a:r>
              <a:rPr lang="en-CA" noProof="0" err="1"/>
              <a:t>niveau</a:t>
            </a:r>
            <a:r>
              <a:rPr lang="en-CA" noProof="0"/>
              <a:t> quatre</a:t>
            </a:r>
          </a:p>
        </p:txBody>
      </p:sp>
      <p:sp>
        <p:nvSpPr>
          <p:cNvPr id="23" name="Content Placeholder 3">
            <a:extLst>
              <a:ext uri="{FF2B5EF4-FFF2-40B4-BE49-F238E27FC236}">
                <a16:creationId xmlns:a16="http://schemas.microsoft.com/office/drawing/2014/main" id="{33FB9E6A-CBE7-8343-BFF2-2F70A623B4C9}"/>
              </a:ext>
            </a:extLst>
          </p:cNvPr>
          <p:cNvSpPr>
            <a:spLocks noGrp="1"/>
          </p:cNvSpPr>
          <p:nvPr>
            <p:ph sz="half" idx="17" hasCustomPrompt="1"/>
          </p:nvPr>
        </p:nvSpPr>
        <p:spPr>
          <a:xfrm>
            <a:off x="381000" y="3867150"/>
            <a:ext cx="4610689" cy="1065159"/>
          </a:xfrm>
          <a:prstGeom prst="rect">
            <a:avLst/>
          </a:prstGeom>
        </p:spPr>
        <p:txBody>
          <a:bodyPr>
            <a:noAutofit/>
          </a:bodyPr>
          <a:lstStyle>
            <a:lvl1pPr marL="266667" indent="-266667">
              <a:buClr>
                <a:srgbClr val="434343"/>
              </a:buClr>
              <a:buFont typeface="ArialMT" charset="0"/>
              <a:buChar char="—"/>
              <a:tabLst/>
              <a:defRPr sz="1400">
                <a:solidFill>
                  <a:srgbClr val="434343"/>
                </a:solidFill>
                <a:latin typeface="+mn-lt"/>
                <a:ea typeface="Open Sans" panose="020B0606030504020204" pitchFamily="34" charset="0"/>
                <a:cs typeface="Open Sans" panose="020B0606030504020204" pitchFamily="34" charset="0"/>
              </a:defRPr>
            </a:lvl1pPr>
            <a:lvl2pPr marL="405954" indent="-214287">
              <a:buClr>
                <a:srgbClr val="7C878E"/>
              </a:buClr>
              <a:buFont typeface="Wingdings" charset="2"/>
              <a:buChar char="§"/>
              <a:defRPr sz="1400">
                <a:solidFill>
                  <a:srgbClr val="434343"/>
                </a:solidFill>
                <a:latin typeface="+mn-lt"/>
                <a:ea typeface="Open Sans" panose="020B0606030504020204" pitchFamily="34" charset="0"/>
                <a:cs typeface="Open Sans" panose="020B0606030504020204" pitchFamily="34" charset="0"/>
              </a:defRPr>
            </a:lvl2pPr>
            <a:lvl3pPr marL="603571" indent="-171428">
              <a:buClr>
                <a:srgbClr val="7C878E"/>
              </a:buClr>
              <a:buFont typeface="Courier New" charset="0"/>
              <a:buChar char="o"/>
              <a:defRPr sz="1400">
                <a:solidFill>
                  <a:srgbClr val="434343"/>
                </a:solidFill>
                <a:latin typeface="+mn-lt"/>
                <a:ea typeface="Open Sans" panose="020B0606030504020204" pitchFamily="34" charset="0"/>
                <a:cs typeface="Open Sans" panose="020B0606030504020204" pitchFamily="34" charset="0"/>
              </a:defRPr>
            </a:lvl3pPr>
            <a:lvl4pPr marL="809523" marR="0"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sz="1400">
                <a:solidFill>
                  <a:srgbClr val="434343"/>
                </a:solidFill>
                <a:latin typeface="+mn-lt"/>
                <a:ea typeface="Open Sans" panose="020B0606030504020204" pitchFamily="34" charset="0"/>
                <a:cs typeface="Open Sans" panose="020B0606030504020204" pitchFamily="34" charset="0"/>
              </a:defRPr>
            </a:lvl4pPr>
            <a:lvl5pPr>
              <a:defRPr sz="1350"/>
            </a:lvl5pPr>
            <a:lvl6pPr>
              <a:defRPr sz="1200"/>
            </a:lvl6pPr>
            <a:lvl7pPr>
              <a:defRPr sz="1200"/>
            </a:lvl7pPr>
            <a:lvl8pPr>
              <a:defRPr sz="1200"/>
            </a:lvl8pPr>
            <a:lvl9pPr>
              <a:defRPr sz="1200"/>
            </a:lvl9pPr>
          </a:lstStyle>
          <a:p>
            <a:pPr lvl="0"/>
            <a:r>
              <a:rPr lang="en-CA" noProof="0" err="1"/>
              <a:t>Cliquez</a:t>
            </a:r>
            <a:r>
              <a:rPr lang="en-CA" noProof="0"/>
              <a:t> pour </a:t>
            </a:r>
            <a:r>
              <a:rPr lang="en-CA" noProof="0" err="1"/>
              <a:t>ajouter</a:t>
            </a:r>
            <a:r>
              <a:rPr lang="en-CA" noProof="0"/>
              <a:t> du </a:t>
            </a:r>
            <a:r>
              <a:rPr lang="en-CA" noProof="0" err="1"/>
              <a:t>texte</a:t>
            </a:r>
            <a:endParaRPr lang="en-CA" noProof="0"/>
          </a:p>
          <a:p>
            <a:pPr lvl="1"/>
            <a:r>
              <a:rPr lang="en-CA" noProof="0" err="1"/>
              <a:t>Liste</a:t>
            </a:r>
            <a:r>
              <a:rPr lang="en-CA" noProof="0"/>
              <a:t> de </a:t>
            </a:r>
            <a:r>
              <a:rPr lang="en-CA" noProof="0" err="1"/>
              <a:t>niveau</a:t>
            </a:r>
            <a:r>
              <a:rPr lang="en-CA" noProof="0"/>
              <a:t> deux</a:t>
            </a:r>
          </a:p>
          <a:p>
            <a:pPr lvl="2"/>
            <a:r>
              <a:rPr lang="en-CA" noProof="0" err="1"/>
              <a:t>Liste</a:t>
            </a:r>
            <a:r>
              <a:rPr lang="en-CA" noProof="0"/>
              <a:t> </a:t>
            </a:r>
            <a:r>
              <a:rPr lang="en-CA" noProof="0" err="1"/>
              <a:t>niveau</a:t>
            </a:r>
            <a:r>
              <a:rPr lang="en-CA" noProof="0"/>
              <a:t> trois</a:t>
            </a:r>
          </a:p>
          <a:p>
            <a:pPr marL="809523" marR="0" lvl="3"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a:pPr>
            <a:r>
              <a:rPr lang="en-CA" noProof="0" err="1"/>
              <a:t>Liste</a:t>
            </a:r>
            <a:r>
              <a:rPr lang="en-CA" noProof="0"/>
              <a:t> </a:t>
            </a:r>
            <a:r>
              <a:rPr lang="en-CA" noProof="0" err="1"/>
              <a:t>niveau</a:t>
            </a:r>
            <a:r>
              <a:rPr lang="en-CA" noProof="0"/>
              <a:t> quatre</a:t>
            </a:r>
          </a:p>
        </p:txBody>
      </p:sp>
    </p:spTree>
    <p:extLst>
      <p:ext uri="{BB962C8B-B14F-4D97-AF65-F5344CB8AC3E}">
        <p14:creationId xmlns:p14="http://schemas.microsoft.com/office/powerpoint/2010/main" val="108103832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1_Chapitre - Chapter 1">
    <p:bg>
      <p:bgPr>
        <a:solidFill>
          <a:schemeClr val="bg1">
            <a:lumMod val="95000"/>
          </a:schemeClr>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9EE2D7C-9C63-564B-8B6D-1FB237BAFC4C}"/>
              </a:ext>
            </a:extLst>
          </p:cNvPr>
          <p:cNvSpPr/>
          <p:nvPr userDrawn="1"/>
        </p:nvSpPr>
        <p:spPr>
          <a:xfrm>
            <a:off x="0" y="0"/>
            <a:ext cx="228600" cy="5143500"/>
          </a:xfrm>
          <a:prstGeom prst="rect">
            <a:avLst/>
          </a:prstGeom>
          <a:solidFill>
            <a:srgbClr val="00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4800" noProof="0">
              <a:solidFill>
                <a:srgbClr val="003DA5"/>
              </a:solidFill>
            </a:endParaRPr>
          </a:p>
        </p:txBody>
      </p:sp>
      <p:sp>
        <p:nvSpPr>
          <p:cNvPr id="5" name="Titre 1">
            <a:extLst>
              <a:ext uri="{FF2B5EF4-FFF2-40B4-BE49-F238E27FC236}">
                <a16:creationId xmlns:a16="http://schemas.microsoft.com/office/drawing/2014/main" id="{7FB761F4-093C-C740-97A6-21FC5EFDFFF4}"/>
              </a:ext>
            </a:extLst>
          </p:cNvPr>
          <p:cNvSpPr>
            <a:spLocks noGrp="1"/>
          </p:cNvSpPr>
          <p:nvPr>
            <p:ph type="title"/>
          </p:nvPr>
        </p:nvSpPr>
        <p:spPr>
          <a:xfrm>
            <a:off x="457200" y="285750"/>
            <a:ext cx="8458200" cy="993775"/>
          </a:xfrm>
        </p:spPr>
        <p:txBody>
          <a:bodyPr/>
          <a:lstStyle/>
          <a:p>
            <a:r>
              <a:rPr lang="fr-FR"/>
              <a:t>Modifiez le style du titre</a:t>
            </a:r>
            <a:endParaRPr lang="fr-CA"/>
          </a:p>
        </p:txBody>
      </p:sp>
      <p:sp>
        <p:nvSpPr>
          <p:cNvPr id="8" name="Content Placeholder 3">
            <a:extLst>
              <a:ext uri="{FF2B5EF4-FFF2-40B4-BE49-F238E27FC236}">
                <a16:creationId xmlns:a16="http://schemas.microsoft.com/office/drawing/2014/main" id="{D89D0536-A144-B847-8706-644545D33917}"/>
              </a:ext>
            </a:extLst>
          </p:cNvPr>
          <p:cNvSpPr>
            <a:spLocks noGrp="1"/>
          </p:cNvSpPr>
          <p:nvPr>
            <p:ph sz="half" idx="15" hasCustomPrompt="1"/>
          </p:nvPr>
        </p:nvSpPr>
        <p:spPr>
          <a:xfrm>
            <a:off x="457200" y="1419346"/>
            <a:ext cx="8436057" cy="1065159"/>
          </a:xfrm>
          <a:prstGeom prst="rect">
            <a:avLst/>
          </a:prstGeom>
        </p:spPr>
        <p:txBody>
          <a:bodyPr>
            <a:noAutofit/>
          </a:bodyPr>
          <a:lstStyle>
            <a:lvl1pPr marL="266667" indent="-266667">
              <a:buClr>
                <a:srgbClr val="434343"/>
              </a:buClr>
              <a:buFont typeface="ArialMT" charset="0"/>
              <a:buChar char="—"/>
              <a:tabLst/>
              <a:defRPr sz="1400">
                <a:solidFill>
                  <a:srgbClr val="434343"/>
                </a:solidFill>
                <a:latin typeface="+mn-lt"/>
                <a:ea typeface="Open Sans" panose="020B0606030504020204" pitchFamily="34" charset="0"/>
                <a:cs typeface="Open Sans" panose="020B0606030504020204" pitchFamily="34" charset="0"/>
              </a:defRPr>
            </a:lvl1pPr>
            <a:lvl2pPr marL="405954" indent="-214287">
              <a:buClr>
                <a:srgbClr val="7C878E"/>
              </a:buClr>
              <a:buFont typeface="Wingdings" charset="2"/>
              <a:buChar char="§"/>
              <a:defRPr sz="1400">
                <a:solidFill>
                  <a:srgbClr val="434343"/>
                </a:solidFill>
                <a:latin typeface="+mn-lt"/>
                <a:ea typeface="Open Sans" panose="020B0606030504020204" pitchFamily="34" charset="0"/>
                <a:cs typeface="Open Sans" panose="020B0606030504020204" pitchFamily="34" charset="0"/>
              </a:defRPr>
            </a:lvl2pPr>
            <a:lvl3pPr marL="603571" indent="-171428">
              <a:buClr>
                <a:srgbClr val="7C878E"/>
              </a:buClr>
              <a:buFont typeface="Courier New" charset="0"/>
              <a:buChar char="o"/>
              <a:defRPr sz="1400">
                <a:solidFill>
                  <a:srgbClr val="434343"/>
                </a:solidFill>
                <a:latin typeface="+mn-lt"/>
                <a:ea typeface="Open Sans" panose="020B0606030504020204" pitchFamily="34" charset="0"/>
                <a:cs typeface="Open Sans" panose="020B0606030504020204" pitchFamily="34" charset="0"/>
              </a:defRPr>
            </a:lvl3pPr>
            <a:lvl4pPr marL="809523" marR="0"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sz="1400">
                <a:solidFill>
                  <a:srgbClr val="434343"/>
                </a:solidFill>
                <a:latin typeface="+mn-lt"/>
                <a:ea typeface="Open Sans" panose="020B0606030504020204" pitchFamily="34" charset="0"/>
                <a:cs typeface="Open Sans" panose="020B0606030504020204" pitchFamily="34" charset="0"/>
              </a:defRPr>
            </a:lvl4pPr>
            <a:lvl5pPr>
              <a:defRPr sz="1350"/>
            </a:lvl5pPr>
            <a:lvl6pPr>
              <a:defRPr sz="1200"/>
            </a:lvl6pPr>
            <a:lvl7pPr>
              <a:defRPr sz="1200"/>
            </a:lvl7pPr>
            <a:lvl8pPr>
              <a:defRPr sz="1200"/>
            </a:lvl8pPr>
            <a:lvl9pPr>
              <a:defRPr sz="1200"/>
            </a:lvl9pPr>
          </a:lstStyle>
          <a:p>
            <a:pPr lvl="0"/>
            <a:r>
              <a:rPr lang="en-CA" noProof="0" err="1"/>
              <a:t>Cliquez</a:t>
            </a:r>
            <a:r>
              <a:rPr lang="en-CA" noProof="0"/>
              <a:t> pour </a:t>
            </a:r>
            <a:r>
              <a:rPr lang="en-CA" noProof="0" err="1"/>
              <a:t>ajouter</a:t>
            </a:r>
            <a:r>
              <a:rPr lang="en-CA" noProof="0"/>
              <a:t> du </a:t>
            </a:r>
            <a:r>
              <a:rPr lang="en-CA" noProof="0" err="1"/>
              <a:t>texte</a:t>
            </a:r>
            <a:endParaRPr lang="en-CA" noProof="0"/>
          </a:p>
          <a:p>
            <a:pPr lvl="1"/>
            <a:r>
              <a:rPr lang="en-CA" noProof="0" err="1"/>
              <a:t>Liste</a:t>
            </a:r>
            <a:r>
              <a:rPr lang="en-CA" noProof="0"/>
              <a:t> de </a:t>
            </a:r>
            <a:r>
              <a:rPr lang="en-CA" noProof="0" err="1"/>
              <a:t>niveau</a:t>
            </a:r>
            <a:r>
              <a:rPr lang="en-CA" noProof="0"/>
              <a:t> deux</a:t>
            </a:r>
          </a:p>
          <a:p>
            <a:pPr lvl="2"/>
            <a:r>
              <a:rPr lang="en-CA" noProof="0" err="1"/>
              <a:t>Liste</a:t>
            </a:r>
            <a:r>
              <a:rPr lang="en-CA" noProof="0"/>
              <a:t> </a:t>
            </a:r>
            <a:r>
              <a:rPr lang="en-CA" noProof="0" err="1"/>
              <a:t>niveau</a:t>
            </a:r>
            <a:r>
              <a:rPr lang="en-CA" noProof="0"/>
              <a:t> trois</a:t>
            </a:r>
          </a:p>
          <a:p>
            <a:pPr marL="809523" marR="0" lvl="3"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a:pPr>
            <a:r>
              <a:rPr lang="en-CA" noProof="0" err="1"/>
              <a:t>Liste</a:t>
            </a:r>
            <a:r>
              <a:rPr lang="en-CA" noProof="0"/>
              <a:t> </a:t>
            </a:r>
            <a:r>
              <a:rPr lang="en-CA" noProof="0" err="1"/>
              <a:t>niveau</a:t>
            </a:r>
            <a:r>
              <a:rPr lang="en-CA" noProof="0"/>
              <a:t> quatre</a:t>
            </a:r>
          </a:p>
        </p:txBody>
      </p:sp>
      <p:sp>
        <p:nvSpPr>
          <p:cNvPr id="9" name="Content Placeholder 3">
            <a:extLst>
              <a:ext uri="{FF2B5EF4-FFF2-40B4-BE49-F238E27FC236}">
                <a16:creationId xmlns:a16="http://schemas.microsoft.com/office/drawing/2014/main" id="{0A136591-998A-0F42-A838-1337E2548918}"/>
              </a:ext>
            </a:extLst>
          </p:cNvPr>
          <p:cNvSpPr>
            <a:spLocks noGrp="1"/>
          </p:cNvSpPr>
          <p:nvPr>
            <p:ph sz="half" idx="16" hasCustomPrompt="1"/>
          </p:nvPr>
        </p:nvSpPr>
        <p:spPr>
          <a:xfrm>
            <a:off x="457200" y="2643248"/>
            <a:ext cx="8436057" cy="1065159"/>
          </a:xfrm>
          <a:prstGeom prst="rect">
            <a:avLst/>
          </a:prstGeom>
        </p:spPr>
        <p:txBody>
          <a:bodyPr>
            <a:noAutofit/>
          </a:bodyPr>
          <a:lstStyle>
            <a:lvl1pPr marL="266667" indent="-266667">
              <a:buClr>
                <a:srgbClr val="434343"/>
              </a:buClr>
              <a:buFont typeface="ArialMT" charset="0"/>
              <a:buChar char="—"/>
              <a:tabLst/>
              <a:defRPr sz="1400">
                <a:solidFill>
                  <a:srgbClr val="434343"/>
                </a:solidFill>
                <a:latin typeface="+mn-lt"/>
                <a:ea typeface="Open Sans" panose="020B0606030504020204" pitchFamily="34" charset="0"/>
                <a:cs typeface="Open Sans" panose="020B0606030504020204" pitchFamily="34" charset="0"/>
              </a:defRPr>
            </a:lvl1pPr>
            <a:lvl2pPr marL="405954" indent="-214287">
              <a:buClr>
                <a:srgbClr val="7C878E"/>
              </a:buClr>
              <a:buFont typeface="Wingdings" charset="2"/>
              <a:buChar char="§"/>
              <a:defRPr sz="1400">
                <a:solidFill>
                  <a:srgbClr val="434343"/>
                </a:solidFill>
                <a:latin typeface="+mn-lt"/>
                <a:ea typeface="Open Sans" panose="020B0606030504020204" pitchFamily="34" charset="0"/>
                <a:cs typeface="Open Sans" panose="020B0606030504020204" pitchFamily="34" charset="0"/>
              </a:defRPr>
            </a:lvl2pPr>
            <a:lvl3pPr marL="603571" indent="-171428">
              <a:buClr>
                <a:srgbClr val="7C878E"/>
              </a:buClr>
              <a:buFont typeface="Courier New" charset="0"/>
              <a:buChar char="o"/>
              <a:defRPr sz="1400">
                <a:solidFill>
                  <a:srgbClr val="434343"/>
                </a:solidFill>
                <a:latin typeface="+mn-lt"/>
                <a:ea typeface="Open Sans" panose="020B0606030504020204" pitchFamily="34" charset="0"/>
                <a:cs typeface="Open Sans" panose="020B0606030504020204" pitchFamily="34" charset="0"/>
              </a:defRPr>
            </a:lvl3pPr>
            <a:lvl4pPr marL="809523" marR="0"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sz="1400">
                <a:solidFill>
                  <a:srgbClr val="434343"/>
                </a:solidFill>
                <a:latin typeface="+mn-lt"/>
                <a:ea typeface="Open Sans" panose="020B0606030504020204" pitchFamily="34" charset="0"/>
                <a:cs typeface="Open Sans" panose="020B0606030504020204" pitchFamily="34" charset="0"/>
              </a:defRPr>
            </a:lvl4pPr>
            <a:lvl5pPr>
              <a:defRPr sz="1350"/>
            </a:lvl5pPr>
            <a:lvl6pPr>
              <a:defRPr sz="1200"/>
            </a:lvl6pPr>
            <a:lvl7pPr>
              <a:defRPr sz="1200"/>
            </a:lvl7pPr>
            <a:lvl8pPr>
              <a:defRPr sz="1200"/>
            </a:lvl8pPr>
            <a:lvl9pPr>
              <a:defRPr sz="1200"/>
            </a:lvl9pPr>
          </a:lstStyle>
          <a:p>
            <a:pPr lvl="0"/>
            <a:r>
              <a:rPr lang="en-CA" noProof="0" err="1"/>
              <a:t>Cliquez</a:t>
            </a:r>
            <a:r>
              <a:rPr lang="en-CA" noProof="0"/>
              <a:t> pour </a:t>
            </a:r>
            <a:r>
              <a:rPr lang="en-CA" noProof="0" err="1"/>
              <a:t>ajouter</a:t>
            </a:r>
            <a:r>
              <a:rPr lang="en-CA" noProof="0"/>
              <a:t> du </a:t>
            </a:r>
            <a:r>
              <a:rPr lang="en-CA" noProof="0" err="1"/>
              <a:t>texte</a:t>
            </a:r>
            <a:endParaRPr lang="en-CA" noProof="0"/>
          </a:p>
          <a:p>
            <a:pPr lvl="1"/>
            <a:r>
              <a:rPr lang="en-CA" noProof="0" err="1"/>
              <a:t>Liste</a:t>
            </a:r>
            <a:r>
              <a:rPr lang="en-CA" noProof="0"/>
              <a:t> de </a:t>
            </a:r>
            <a:r>
              <a:rPr lang="en-CA" noProof="0" err="1"/>
              <a:t>niveau</a:t>
            </a:r>
            <a:r>
              <a:rPr lang="en-CA" noProof="0"/>
              <a:t> deux</a:t>
            </a:r>
          </a:p>
          <a:p>
            <a:pPr lvl="2"/>
            <a:r>
              <a:rPr lang="en-CA" noProof="0" err="1"/>
              <a:t>Liste</a:t>
            </a:r>
            <a:r>
              <a:rPr lang="en-CA" noProof="0"/>
              <a:t> </a:t>
            </a:r>
            <a:r>
              <a:rPr lang="en-CA" noProof="0" err="1"/>
              <a:t>niveau</a:t>
            </a:r>
            <a:r>
              <a:rPr lang="en-CA" noProof="0"/>
              <a:t> trois</a:t>
            </a:r>
          </a:p>
          <a:p>
            <a:pPr marL="809523" marR="0" lvl="3"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a:pPr>
            <a:r>
              <a:rPr lang="en-CA" noProof="0" err="1"/>
              <a:t>Liste</a:t>
            </a:r>
            <a:r>
              <a:rPr lang="en-CA" noProof="0"/>
              <a:t> </a:t>
            </a:r>
            <a:r>
              <a:rPr lang="en-CA" noProof="0" err="1"/>
              <a:t>niveau</a:t>
            </a:r>
            <a:r>
              <a:rPr lang="en-CA" noProof="0"/>
              <a:t> quatre</a:t>
            </a:r>
          </a:p>
        </p:txBody>
      </p:sp>
      <p:sp>
        <p:nvSpPr>
          <p:cNvPr id="10" name="Content Placeholder 3">
            <a:extLst>
              <a:ext uri="{FF2B5EF4-FFF2-40B4-BE49-F238E27FC236}">
                <a16:creationId xmlns:a16="http://schemas.microsoft.com/office/drawing/2014/main" id="{2DEDE3D5-4DCD-C84C-95D4-91CCA660FD37}"/>
              </a:ext>
            </a:extLst>
          </p:cNvPr>
          <p:cNvSpPr>
            <a:spLocks noGrp="1"/>
          </p:cNvSpPr>
          <p:nvPr>
            <p:ph sz="half" idx="17" hasCustomPrompt="1"/>
          </p:nvPr>
        </p:nvSpPr>
        <p:spPr>
          <a:xfrm>
            <a:off x="457200" y="3867150"/>
            <a:ext cx="8436057" cy="1065159"/>
          </a:xfrm>
          <a:prstGeom prst="rect">
            <a:avLst/>
          </a:prstGeom>
        </p:spPr>
        <p:txBody>
          <a:bodyPr>
            <a:noAutofit/>
          </a:bodyPr>
          <a:lstStyle>
            <a:lvl1pPr marL="266667" indent="-266667">
              <a:buClr>
                <a:srgbClr val="434343"/>
              </a:buClr>
              <a:buFont typeface="ArialMT" charset="0"/>
              <a:buChar char="—"/>
              <a:tabLst/>
              <a:defRPr sz="1400">
                <a:solidFill>
                  <a:srgbClr val="434343"/>
                </a:solidFill>
                <a:latin typeface="+mn-lt"/>
                <a:ea typeface="Open Sans" panose="020B0606030504020204" pitchFamily="34" charset="0"/>
                <a:cs typeface="Open Sans" panose="020B0606030504020204" pitchFamily="34" charset="0"/>
              </a:defRPr>
            </a:lvl1pPr>
            <a:lvl2pPr marL="405954" indent="-214287">
              <a:buClr>
                <a:srgbClr val="7C878E"/>
              </a:buClr>
              <a:buFont typeface="Wingdings" charset="2"/>
              <a:buChar char="§"/>
              <a:defRPr sz="1400">
                <a:solidFill>
                  <a:srgbClr val="434343"/>
                </a:solidFill>
                <a:latin typeface="+mn-lt"/>
                <a:ea typeface="Open Sans" panose="020B0606030504020204" pitchFamily="34" charset="0"/>
                <a:cs typeface="Open Sans" panose="020B0606030504020204" pitchFamily="34" charset="0"/>
              </a:defRPr>
            </a:lvl2pPr>
            <a:lvl3pPr marL="603571" indent="-171428">
              <a:buClr>
                <a:srgbClr val="7C878E"/>
              </a:buClr>
              <a:buFont typeface="Courier New" charset="0"/>
              <a:buChar char="o"/>
              <a:defRPr sz="1400">
                <a:solidFill>
                  <a:srgbClr val="434343"/>
                </a:solidFill>
                <a:latin typeface="+mn-lt"/>
                <a:ea typeface="Open Sans" panose="020B0606030504020204" pitchFamily="34" charset="0"/>
                <a:cs typeface="Open Sans" panose="020B0606030504020204" pitchFamily="34" charset="0"/>
              </a:defRPr>
            </a:lvl3pPr>
            <a:lvl4pPr marL="809523" marR="0"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sz="1400">
                <a:solidFill>
                  <a:srgbClr val="434343"/>
                </a:solidFill>
                <a:latin typeface="+mn-lt"/>
                <a:ea typeface="Open Sans" panose="020B0606030504020204" pitchFamily="34" charset="0"/>
                <a:cs typeface="Open Sans" panose="020B0606030504020204" pitchFamily="34" charset="0"/>
              </a:defRPr>
            </a:lvl4pPr>
            <a:lvl5pPr>
              <a:defRPr sz="1350"/>
            </a:lvl5pPr>
            <a:lvl6pPr>
              <a:defRPr sz="1200"/>
            </a:lvl6pPr>
            <a:lvl7pPr>
              <a:defRPr sz="1200"/>
            </a:lvl7pPr>
            <a:lvl8pPr>
              <a:defRPr sz="1200"/>
            </a:lvl8pPr>
            <a:lvl9pPr>
              <a:defRPr sz="1200"/>
            </a:lvl9pPr>
          </a:lstStyle>
          <a:p>
            <a:pPr lvl="0"/>
            <a:r>
              <a:rPr lang="en-CA" noProof="0" err="1"/>
              <a:t>Cliquez</a:t>
            </a:r>
            <a:r>
              <a:rPr lang="en-CA" noProof="0"/>
              <a:t> pour </a:t>
            </a:r>
            <a:r>
              <a:rPr lang="en-CA" noProof="0" err="1"/>
              <a:t>ajouter</a:t>
            </a:r>
            <a:r>
              <a:rPr lang="en-CA" noProof="0"/>
              <a:t> du </a:t>
            </a:r>
            <a:r>
              <a:rPr lang="en-CA" noProof="0" err="1"/>
              <a:t>texte</a:t>
            </a:r>
            <a:endParaRPr lang="en-CA" noProof="0"/>
          </a:p>
          <a:p>
            <a:pPr lvl="1"/>
            <a:r>
              <a:rPr lang="en-CA" noProof="0" err="1"/>
              <a:t>Liste</a:t>
            </a:r>
            <a:r>
              <a:rPr lang="en-CA" noProof="0"/>
              <a:t> de </a:t>
            </a:r>
            <a:r>
              <a:rPr lang="en-CA" noProof="0" err="1"/>
              <a:t>niveau</a:t>
            </a:r>
            <a:r>
              <a:rPr lang="en-CA" noProof="0"/>
              <a:t> deux</a:t>
            </a:r>
          </a:p>
          <a:p>
            <a:pPr lvl="2"/>
            <a:r>
              <a:rPr lang="en-CA" noProof="0" err="1"/>
              <a:t>Liste</a:t>
            </a:r>
            <a:r>
              <a:rPr lang="en-CA" noProof="0"/>
              <a:t> </a:t>
            </a:r>
            <a:r>
              <a:rPr lang="en-CA" noProof="0" err="1"/>
              <a:t>niveau</a:t>
            </a:r>
            <a:r>
              <a:rPr lang="en-CA" noProof="0"/>
              <a:t> trois</a:t>
            </a:r>
          </a:p>
          <a:p>
            <a:pPr marL="809523" marR="0" lvl="3"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a:pPr>
            <a:r>
              <a:rPr lang="en-CA" noProof="0" err="1"/>
              <a:t>Liste</a:t>
            </a:r>
            <a:r>
              <a:rPr lang="en-CA" noProof="0"/>
              <a:t> </a:t>
            </a:r>
            <a:r>
              <a:rPr lang="en-CA" noProof="0" err="1"/>
              <a:t>niveau</a:t>
            </a:r>
            <a:r>
              <a:rPr lang="en-CA" noProof="0"/>
              <a:t> quatre</a:t>
            </a:r>
          </a:p>
        </p:txBody>
      </p:sp>
    </p:spTree>
    <p:extLst>
      <p:ext uri="{BB962C8B-B14F-4D97-AF65-F5344CB8AC3E}">
        <p14:creationId xmlns:p14="http://schemas.microsoft.com/office/powerpoint/2010/main" val="1890127722"/>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3_Chapitre - Chapter 1">
    <p:bg>
      <p:bgPr>
        <a:solidFill>
          <a:schemeClr val="bg1">
            <a:lumMod val="95000"/>
          </a:schemeClr>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9EE2D7C-9C63-564B-8B6D-1FB237BAFC4C}"/>
              </a:ext>
            </a:extLst>
          </p:cNvPr>
          <p:cNvSpPr/>
          <p:nvPr userDrawn="1"/>
        </p:nvSpPr>
        <p:spPr>
          <a:xfrm>
            <a:off x="0" y="0"/>
            <a:ext cx="3886200" cy="5143500"/>
          </a:xfrm>
          <a:prstGeom prst="rect">
            <a:avLst/>
          </a:prstGeom>
          <a:solidFill>
            <a:srgbClr val="00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4800" noProof="0">
              <a:solidFill>
                <a:srgbClr val="003DA5"/>
              </a:solidFill>
            </a:endParaRPr>
          </a:p>
        </p:txBody>
      </p:sp>
      <p:sp>
        <p:nvSpPr>
          <p:cNvPr id="5" name="Titre 1">
            <a:extLst>
              <a:ext uri="{FF2B5EF4-FFF2-40B4-BE49-F238E27FC236}">
                <a16:creationId xmlns:a16="http://schemas.microsoft.com/office/drawing/2014/main" id="{7FB761F4-093C-C740-97A6-21FC5EFDFFF4}"/>
              </a:ext>
            </a:extLst>
          </p:cNvPr>
          <p:cNvSpPr>
            <a:spLocks noGrp="1"/>
          </p:cNvSpPr>
          <p:nvPr>
            <p:ph type="title" hasCustomPrompt="1"/>
          </p:nvPr>
        </p:nvSpPr>
        <p:spPr>
          <a:xfrm>
            <a:off x="4200800" y="285750"/>
            <a:ext cx="4714600" cy="993775"/>
          </a:xfrm>
        </p:spPr>
        <p:txBody>
          <a:bodyPr>
            <a:normAutofit/>
          </a:bodyPr>
          <a:lstStyle>
            <a:lvl1pPr>
              <a:defRPr sz="2400"/>
            </a:lvl1pPr>
          </a:lstStyle>
          <a:p>
            <a:r>
              <a:rPr lang="fr-FR"/>
              <a:t>Modifiez le style du sous-titre</a:t>
            </a:r>
            <a:endParaRPr lang="fr-CA"/>
          </a:p>
        </p:txBody>
      </p:sp>
      <p:sp>
        <p:nvSpPr>
          <p:cNvPr id="8" name="Content Placeholder 3">
            <a:extLst>
              <a:ext uri="{FF2B5EF4-FFF2-40B4-BE49-F238E27FC236}">
                <a16:creationId xmlns:a16="http://schemas.microsoft.com/office/drawing/2014/main" id="{D89D0536-A144-B847-8706-644545D33917}"/>
              </a:ext>
            </a:extLst>
          </p:cNvPr>
          <p:cNvSpPr>
            <a:spLocks noGrp="1"/>
          </p:cNvSpPr>
          <p:nvPr>
            <p:ph sz="half" idx="15" hasCustomPrompt="1"/>
          </p:nvPr>
        </p:nvSpPr>
        <p:spPr>
          <a:xfrm>
            <a:off x="4191000" y="1419346"/>
            <a:ext cx="4702257" cy="1065159"/>
          </a:xfrm>
          <a:prstGeom prst="rect">
            <a:avLst/>
          </a:prstGeom>
        </p:spPr>
        <p:txBody>
          <a:bodyPr>
            <a:noAutofit/>
          </a:bodyPr>
          <a:lstStyle>
            <a:lvl1pPr marL="266667" indent="-266667">
              <a:buClr>
                <a:srgbClr val="434343"/>
              </a:buClr>
              <a:buFont typeface="ArialMT" charset="0"/>
              <a:buChar char="—"/>
              <a:tabLst/>
              <a:defRPr sz="1400">
                <a:solidFill>
                  <a:srgbClr val="434343"/>
                </a:solidFill>
                <a:latin typeface="+mn-lt"/>
                <a:ea typeface="Open Sans" panose="020B0606030504020204" pitchFamily="34" charset="0"/>
                <a:cs typeface="Open Sans" panose="020B0606030504020204" pitchFamily="34" charset="0"/>
              </a:defRPr>
            </a:lvl1pPr>
            <a:lvl2pPr marL="405954" indent="-214287">
              <a:buClr>
                <a:srgbClr val="7C878E"/>
              </a:buClr>
              <a:buFont typeface="Wingdings" charset="2"/>
              <a:buChar char="§"/>
              <a:defRPr sz="1400">
                <a:solidFill>
                  <a:srgbClr val="434343"/>
                </a:solidFill>
                <a:latin typeface="+mn-lt"/>
                <a:ea typeface="Open Sans" panose="020B0606030504020204" pitchFamily="34" charset="0"/>
                <a:cs typeface="Open Sans" panose="020B0606030504020204" pitchFamily="34" charset="0"/>
              </a:defRPr>
            </a:lvl2pPr>
            <a:lvl3pPr marL="603571" indent="-171428">
              <a:buClr>
                <a:srgbClr val="7C878E"/>
              </a:buClr>
              <a:buFont typeface="Courier New" charset="0"/>
              <a:buChar char="o"/>
              <a:defRPr sz="1400">
                <a:solidFill>
                  <a:srgbClr val="434343"/>
                </a:solidFill>
                <a:latin typeface="+mn-lt"/>
                <a:ea typeface="Open Sans" panose="020B0606030504020204" pitchFamily="34" charset="0"/>
                <a:cs typeface="Open Sans" panose="020B0606030504020204" pitchFamily="34" charset="0"/>
              </a:defRPr>
            </a:lvl3pPr>
            <a:lvl4pPr marL="809523" marR="0"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sz="1400">
                <a:solidFill>
                  <a:srgbClr val="434343"/>
                </a:solidFill>
                <a:latin typeface="+mn-lt"/>
                <a:ea typeface="Open Sans" panose="020B0606030504020204" pitchFamily="34" charset="0"/>
                <a:cs typeface="Open Sans" panose="020B0606030504020204" pitchFamily="34" charset="0"/>
              </a:defRPr>
            </a:lvl4pPr>
            <a:lvl5pPr>
              <a:defRPr sz="1350"/>
            </a:lvl5pPr>
            <a:lvl6pPr>
              <a:defRPr sz="1200"/>
            </a:lvl6pPr>
            <a:lvl7pPr>
              <a:defRPr sz="1200"/>
            </a:lvl7pPr>
            <a:lvl8pPr>
              <a:defRPr sz="1200"/>
            </a:lvl8pPr>
            <a:lvl9pPr>
              <a:defRPr sz="1200"/>
            </a:lvl9pPr>
          </a:lstStyle>
          <a:p>
            <a:pPr lvl="0"/>
            <a:r>
              <a:rPr lang="en-CA" noProof="0" err="1"/>
              <a:t>Cliquez</a:t>
            </a:r>
            <a:r>
              <a:rPr lang="en-CA" noProof="0"/>
              <a:t> pour </a:t>
            </a:r>
            <a:r>
              <a:rPr lang="en-CA" noProof="0" err="1"/>
              <a:t>ajouter</a:t>
            </a:r>
            <a:r>
              <a:rPr lang="en-CA" noProof="0"/>
              <a:t> du </a:t>
            </a:r>
            <a:r>
              <a:rPr lang="en-CA" noProof="0" err="1"/>
              <a:t>texte</a:t>
            </a:r>
            <a:endParaRPr lang="en-CA" noProof="0"/>
          </a:p>
          <a:p>
            <a:pPr lvl="1"/>
            <a:r>
              <a:rPr lang="en-CA" noProof="0" err="1"/>
              <a:t>Liste</a:t>
            </a:r>
            <a:r>
              <a:rPr lang="en-CA" noProof="0"/>
              <a:t> de </a:t>
            </a:r>
            <a:r>
              <a:rPr lang="en-CA" noProof="0" err="1"/>
              <a:t>niveau</a:t>
            </a:r>
            <a:r>
              <a:rPr lang="en-CA" noProof="0"/>
              <a:t> deux</a:t>
            </a:r>
          </a:p>
          <a:p>
            <a:pPr lvl="2"/>
            <a:r>
              <a:rPr lang="en-CA" noProof="0" err="1"/>
              <a:t>Liste</a:t>
            </a:r>
            <a:r>
              <a:rPr lang="en-CA" noProof="0"/>
              <a:t> </a:t>
            </a:r>
            <a:r>
              <a:rPr lang="en-CA" noProof="0" err="1"/>
              <a:t>niveau</a:t>
            </a:r>
            <a:r>
              <a:rPr lang="en-CA" noProof="0"/>
              <a:t> trois</a:t>
            </a:r>
          </a:p>
          <a:p>
            <a:pPr marL="809523" marR="0" lvl="3"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a:pPr>
            <a:r>
              <a:rPr lang="en-CA" noProof="0" err="1"/>
              <a:t>Liste</a:t>
            </a:r>
            <a:r>
              <a:rPr lang="en-CA" noProof="0"/>
              <a:t> </a:t>
            </a:r>
            <a:r>
              <a:rPr lang="en-CA" noProof="0" err="1"/>
              <a:t>niveau</a:t>
            </a:r>
            <a:r>
              <a:rPr lang="en-CA" noProof="0"/>
              <a:t> quatre</a:t>
            </a:r>
          </a:p>
        </p:txBody>
      </p:sp>
      <p:sp>
        <p:nvSpPr>
          <p:cNvPr id="9" name="Content Placeholder 3">
            <a:extLst>
              <a:ext uri="{FF2B5EF4-FFF2-40B4-BE49-F238E27FC236}">
                <a16:creationId xmlns:a16="http://schemas.microsoft.com/office/drawing/2014/main" id="{0A136591-998A-0F42-A838-1337E2548918}"/>
              </a:ext>
            </a:extLst>
          </p:cNvPr>
          <p:cNvSpPr>
            <a:spLocks noGrp="1"/>
          </p:cNvSpPr>
          <p:nvPr>
            <p:ph sz="half" idx="16" hasCustomPrompt="1"/>
          </p:nvPr>
        </p:nvSpPr>
        <p:spPr>
          <a:xfrm>
            <a:off x="4191000" y="2643248"/>
            <a:ext cx="4702257" cy="1065159"/>
          </a:xfrm>
          <a:prstGeom prst="rect">
            <a:avLst/>
          </a:prstGeom>
        </p:spPr>
        <p:txBody>
          <a:bodyPr>
            <a:noAutofit/>
          </a:bodyPr>
          <a:lstStyle>
            <a:lvl1pPr marL="266667" indent="-266667">
              <a:buClr>
                <a:srgbClr val="434343"/>
              </a:buClr>
              <a:buFont typeface="ArialMT" charset="0"/>
              <a:buChar char="—"/>
              <a:tabLst/>
              <a:defRPr sz="1400">
                <a:solidFill>
                  <a:srgbClr val="434343"/>
                </a:solidFill>
                <a:latin typeface="+mn-lt"/>
                <a:ea typeface="Open Sans" panose="020B0606030504020204" pitchFamily="34" charset="0"/>
                <a:cs typeface="Open Sans" panose="020B0606030504020204" pitchFamily="34" charset="0"/>
              </a:defRPr>
            </a:lvl1pPr>
            <a:lvl2pPr marL="405954" indent="-214287">
              <a:buClr>
                <a:srgbClr val="7C878E"/>
              </a:buClr>
              <a:buFont typeface="Wingdings" charset="2"/>
              <a:buChar char="§"/>
              <a:defRPr sz="1400">
                <a:solidFill>
                  <a:srgbClr val="434343"/>
                </a:solidFill>
                <a:latin typeface="+mn-lt"/>
                <a:ea typeface="Open Sans" panose="020B0606030504020204" pitchFamily="34" charset="0"/>
                <a:cs typeface="Open Sans" panose="020B0606030504020204" pitchFamily="34" charset="0"/>
              </a:defRPr>
            </a:lvl2pPr>
            <a:lvl3pPr marL="603571" indent="-171428">
              <a:buClr>
                <a:srgbClr val="7C878E"/>
              </a:buClr>
              <a:buFont typeface="Courier New" charset="0"/>
              <a:buChar char="o"/>
              <a:defRPr sz="1400">
                <a:solidFill>
                  <a:srgbClr val="434343"/>
                </a:solidFill>
                <a:latin typeface="+mn-lt"/>
                <a:ea typeface="Open Sans" panose="020B0606030504020204" pitchFamily="34" charset="0"/>
                <a:cs typeface="Open Sans" panose="020B0606030504020204" pitchFamily="34" charset="0"/>
              </a:defRPr>
            </a:lvl3pPr>
            <a:lvl4pPr marL="809523" marR="0"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sz="1400">
                <a:solidFill>
                  <a:srgbClr val="434343"/>
                </a:solidFill>
                <a:latin typeface="+mn-lt"/>
                <a:ea typeface="Open Sans" panose="020B0606030504020204" pitchFamily="34" charset="0"/>
                <a:cs typeface="Open Sans" panose="020B0606030504020204" pitchFamily="34" charset="0"/>
              </a:defRPr>
            </a:lvl4pPr>
            <a:lvl5pPr>
              <a:defRPr sz="1350"/>
            </a:lvl5pPr>
            <a:lvl6pPr>
              <a:defRPr sz="1200"/>
            </a:lvl6pPr>
            <a:lvl7pPr>
              <a:defRPr sz="1200"/>
            </a:lvl7pPr>
            <a:lvl8pPr>
              <a:defRPr sz="1200"/>
            </a:lvl8pPr>
            <a:lvl9pPr>
              <a:defRPr sz="1200"/>
            </a:lvl9pPr>
          </a:lstStyle>
          <a:p>
            <a:pPr lvl="0"/>
            <a:r>
              <a:rPr lang="en-CA" noProof="0" err="1"/>
              <a:t>Cliquez</a:t>
            </a:r>
            <a:r>
              <a:rPr lang="en-CA" noProof="0"/>
              <a:t> pour </a:t>
            </a:r>
            <a:r>
              <a:rPr lang="en-CA" noProof="0" err="1"/>
              <a:t>ajouter</a:t>
            </a:r>
            <a:r>
              <a:rPr lang="en-CA" noProof="0"/>
              <a:t> du </a:t>
            </a:r>
            <a:r>
              <a:rPr lang="en-CA" noProof="0" err="1"/>
              <a:t>texte</a:t>
            </a:r>
            <a:endParaRPr lang="en-CA" noProof="0"/>
          </a:p>
          <a:p>
            <a:pPr lvl="1"/>
            <a:r>
              <a:rPr lang="en-CA" noProof="0" err="1"/>
              <a:t>Liste</a:t>
            </a:r>
            <a:r>
              <a:rPr lang="en-CA" noProof="0"/>
              <a:t> de </a:t>
            </a:r>
            <a:r>
              <a:rPr lang="en-CA" noProof="0" err="1"/>
              <a:t>niveau</a:t>
            </a:r>
            <a:r>
              <a:rPr lang="en-CA" noProof="0"/>
              <a:t> deux</a:t>
            </a:r>
          </a:p>
          <a:p>
            <a:pPr lvl="2"/>
            <a:r>
              <a:rPr lang="en-CA" noProof="0" err="1"/>
              <a:t>Liste</a:t>
            </a:r>
            <a:r>
              <a:rPr lang="en-CA" noProof="0"/>
              <a:t> </a:t>
            </a:r>
            <a:r>
              <a:rPr lang="en-CA" noProof="0" err="1"/>
              <a:t>niveau</a:t>
            </a:r>
            <a:r>
              <a:rPr lang="en-CA" noProof="0"/>
              <a:t> trois</a:t>
            </a:r>
          </a:p>
          <a:p>
            <a:pPr marL="809523" marR="0" lvl="3"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a:pPr>
            <a:r>
              <a:rPr lang="en-CA" noProof="0" err="1"/>
              <a:t>Liste</a:t>
            </a:r>
            <a:r>
              <a:rPr lang="en-CA" noProof="0"/>
              <a:t> </a:t>
            </a:r>
            <a:r>
              <a:rPr lang="en-CA" noProof="0" err="1"/>
              <a:t>niveau</a:t>
            </a:r>
            <a:r>
              <a:rPr lang="en-CA" noProof="0"/>
              <a:t> quatre</a:t>
            </a:r>
          </a:p>
        </p:txBody>
      </p:sp>
      <p:sp>
        <p:nvSpPr>
          <p:cNvPr id="10" name="Content Placeholder 3">
            <a:extLst>
              <a:ext uri="{FF2B5EF4-FFF2-40B4-BE49-F238E27FC236}">
                <a16:creationId xmlns:a16="http://schemas.microsoft.com/office/drawing/2014/main" id="{2DEDE3D5-4DCD-C84C-95D4-91CCA660FD37}"/>
              </a:ext>
            </a:extLst>
          </p:cNvPr>
          <p:cNvSpPr>
            <a:spLocks noGrp="1"/>
          </p:cNvSpPr>
          <p:nvPr>
            <p:ph sz="half" idx="17" hasCustomPrompt="1"/>
          </p:nvPr>
        </p:nvSpPr>
        <p:spPr>
          <a:xfrm>
            <a:off x="4191000" y="3867150"/>
            <a:ext cx="4702257" cy="1065159"/>
          </a:xfrm>
          <a:prstGeom prst="rect">
            <a:avLst/>
          </a:prstGeom>
        </p:spPr>
        <p:txBody>
          <a:bodyPr>
            <a:noAutofit/>
          </a:bodyPr>
          <a:lstStyle>
            <a:lvl1pPr marL="266667" indent="-266667">
              <a:buClr>
                <a:srgbClr val="434343"/>
              </a:buClr>
              <a:buFont typeface="ArialMT" charset="0"/>
              <a:buChar char="—"/>
              <a:tabLst/>
              <a:defRPr sz="1400">
                <a:solidFill>
                  <a:srgbClr val="434343"/>
                </a:solidFill>
                <a:latin typeface="+mn-lt"/>
                <a:ea typeface="Open Sans" panose="020B0606030504020204" pitchFamily="34" charset="0"/>
                <a:cs typeface="Open Sans" panose="020B0606030504020204" pitchFamily="34" charset="0"/>
              </a:defRPr>
            </a:lvl1pPr>
            <a:lvl2pPr marL="405954" indent="-214287">
              <a:buClr>
                <a:srgbClr val="7C878E"/>
              </a:buClr>
              <a:buFont typeface="Wingdings" charset="2"/>
              <a:buChar char="§"/>
              <a:defRPr sz="1400">
                <a:solidFill>
                  <a:srgbClr val="434343"/>
                </a:solidFill>
                <a:latin typeface="+mn-lt"/>
                <a:ea typeface="Open Sans" panose="020B0606030504020204" pitchFamily="34" charset="0"/>
                <a:cs typeface="Open Sans" panose="020B0606030504020204" pitchFamily="34" charset="0"/>
              </a:defRPr>
            </a:lvl2pPr>
            <a:lvl3pPr marL="603571" indent="-171428">
              <a:buClr>
                <a:srgbClr val="7C878E"/>
              </a:buClr>
              <a:buFont typeface="Courier New" charset="0"/>
              <a:buChar char="o"/>
              <a:defRPr sz="1400">
                <a:solidFill>
                  <a:srgbClr val="434343"/>
                </a:solidFill>
                <a:latin typeface="+mn-lt"/>
                <a:ea typeface="Open Sans" panose="020B0606030504020204" pitchFamily="34" charset="0"/>
                <a:cs typeface="Open Sans" panose="020B0606030504020204" pitchFamily="34" charset="0"/>
              </a:defRPr>
            </a:lvl3pPr>
            <a:lvl4pPr marL="809523" marR="0"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sz="1400">
                <a:solidFill>
                  <a:srgbClr val="434343"/>
                </a:solidFill>
                <a:latin typeface="+mn-lt"/>
                <a:ea typeface="Open Sans" panose="020B0606030504020204" pitchFamily="34" charset="0"/>
                <a:cs typeface="Open Sans" panose="020B0606030504020204" pitchFamily="34" charset="0"/>
              </a:defRPr>
            </a:lvl4pPr>
            <a:lvl5pPr>
              <a:defRPr sz="1350"/>
            </a:lvl5pPr>
            <a:lvl6pPr>
              <a:defRPr sz="1200"/>
            </a:lvl6pPr>
            <a:lvl7pPr>
              <a:defRPr sz="1200"/>
            </a:lvl7pPr>
            <a:lvl8pPr>
              <a:defRPr sz="1200"/>
            </a:lvl8pPr>
            <a:lvl9pPr>
              <a:defRPr sz="1200"/>
            </a:lvl9pPr>
          </a:lstStyle>
          <a:p>
            <a:pPr lvl="0"/>
            <a:r>
              <a:rPr lang="en-CA" noProof="0" err="1"/>
              <a:t>Cliquez</a:t>
            </a:r>
            <a:r>
              <a:rPr lang="en-CA" noProof="0"/>
              <a:t> pour </a:t>
            </a:r>
            <a:r>
              <a:rPr lang="en-CA" noProof="0" err="1"/>
              <a:t>ajouter</a:t>
            </a:r>
            <a:r>
              <a:rPr lang="en-CA" noProof="0"/>
              <a:t> du </a:t>
            </a:r>
            <a:r>
              <a:rPr lang="en-CA" noProof="0" err="1"/>
              <a:t>texte</a:t>
            </a:r>
            <a:endParaRPr lang="en-CA" noProof="0"/>
          </a:p>
          <a:p>
            <a:pPr lvl="1"/>
            <a:r>
              <a:rPr lang="en-CA" noProof="0" err="1"/>
              <a:t>Liste</a:t>
            </a:r>
            <a:r>
              <a:rPr lang="en-CA" noProof="0"/>
              <a:t> de </a:t>
            </a:r>
            <a:r>
              <a:rPr lang="en-CA" noProof="0" err="1"/>
              <a:t>niveau</a:t>
            </a:r>
            <a:r>
              <a:rPr lang="en-CA" noProof="0"/>
              <a:t> deux</a:t>
            </a:r>
          </a:p>
          <a:p>
            <a:pPr lvl="2"/>
            <a:r>
              <a:rPr lang="en-CA" noProof="0" err="1"/>
              <a:t>Liste</a:t>
            </a:r>
            <a:r>
              <a:rPr lang="en-CA" noProof="0"/>
              <a:t> </a:t>
            </a:r>
            <a:r>
              <a:rPr lang="en-CA" noProof="0" err="1"/>
              <a:t>niveau</a:t>
            </a:r>
            <a:r>
              <a:rPr lang="en-CA" noProof="0"/>
              <a:t> trois</a:t>
            </a:r>
          </a:p>
          <a:p>
            <a:pPr marL="809523" marR="0" lvl="3"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a:pPr>
            <a:r>
              <a:rPr lang="en-CA" noProof="0" err="1"/>
              <a:t>Liste</a:t>
            </a:r>
            <a:r>
              <a:rPr lang="en-CA" noProof="0"/>
              <a:t> </a:t>
            </a:r>
            <a:r>
              <a:rPr lang="en-CA" noProof="0" err="1"/>
              <a:t>niveau</a:t>
            </a:r>
            <a:r>
              <a:rPr lang="en-CA" noProof="0"/>
              <a:t> quatre</a:t>
            </a:r>
          </a:p>
        </p:txBody>
      </p:sp>
      <p:sp>
        <p:nvSpPr>
          <p:cNvPr id="11" name="Sous-titre 2">
            <a:extLst>
              <a:ext uri="{FF2B5EF4-FFF2-40B4-BE49-F238E27FC236}">
                <a16:creationId xmlns:a16="http://schemas.microsoft.com/office/drawing/2014/main" id="{F747ADE3-8580-9349-AFDC-E6F1556B4418}"/>
              </a:ext>
            </a:extLst>
          </p:cNvPr>
          <p:cNvSpPr>
            <a:spLocks noGrp="1"/>
          </p:cNvSpPr>
          <p:nvPr>
            <p:ph type="subTitle" idx="1" hasCustomPrompt="1"/>
          </p:nvPr>
        </p:nvSpPr>
        <p:spPr>
          <a:xfrm>
            <a:off x="250743" y="1428750"/>
            <a:ext cx="3483057" cy="3440112"/>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a:t>
            </a:r>
            <a:br>
              <a:rPr lang="fr-FR"/>
            </a:br>
            <a:r>
              <a:rPr lang="fr-FR"/>
              <a:t>sous-titres ou du texte</a:t>
            </a:r>
            <a:br>
              <a:rPr lang="fr-FR"/>
            </a:br>
            <a:r>
              <a:rPr lang="fr-FR"/>
              <a:t>du masque</a:t>
            </a:r>
            <a:endParaRPr lang="fr-CA"/>
          </a:p>
        </p:txBody>
      </p:sp>
      <p:sp>
        <p:nvSpPr>
          <p:cNvPr id="4" name="Espace réservé du contenu 3">
            <a:extLst>
              <a:ext uri="{FF2B5EF4-FFF2-40B4-BE49-F238E27FC236}">
                <a16:creationId xmlns:a16="http://schemas.microsoft.com/office/drawing/2014/main" id="{EB2E07FB-7DFC-DE4E-972A-5BEF6C7151B7}"/>
              </a:ext>
            </a:extLst>
          </p:cNvPr>
          <p:cNvSpPr>
            <a:spLocks noGrp="1"/>
          </p:cNvSpPr>
          <p:nvPr>
            <p:ph sz="quarter" idx="18" hasCustomPrompt="1"/>
          </p:nvPr>
        </p:nvSpPr>
        <p:spPr>
          <a:xfrm>
            <a:off x="250825" y="209550"/>
            <a:ext cx="3482975" cy="1069975"/>
          </a:xfrm>
        </p:spPr>
        <p:txBody>
          <a:bodyPr>
            <a:normAutofit/>
          </a:bodyPr>
          <a:lstStyle>
            <a:lvl1pPr marL="0" indent="0">
              <a:buNone/>
              <a:defRPr sz="2600">
                <a:solidFill>
                  <a:schemeClr val="bg1"/>
                </a:solidFill>
              </a:defRPr>
            </a:lvl1pPr>
          </a:lstStyle>
          <a:p>
            <a:pPr lvl="0"/>
            <a:r>
              <a:rPr lang="fr-FR"/>
              <a:t>Modifiez le style</a:t>
            </a:r>
            <a:br>
              <a:rPr lang="fr-FR"/>
            </a:br>
            <a:r>
              <a:rPr lang="fr-FR"/>
              <a:t>du titre</a:t>
            </a:r>
            <a:endParaRPr lang="fr-CA"/>
          </a:p>
        </p:txBody>
      </p:sp>
    </p:spTree>
    <p:extLst>
      <p:ext uri="{BB962C8B-B14F-4D97-AF65-F5344CB8AC3E}">
        <p14:creationId xmlns:p14="http://schemas.microsoft.com/office/powerpoint/2010/main" val="3941336214"/>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Message clé - Key message 13">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9EBAD56-46DD-6547-B7F9-3882B77AF550}"/>
              </a:ext>
            </a:extLst>
          </p:cNvPr>
          <p:cNvSpPr/>
          <p:nvPr userDrawn="1"/>
        </p:nvSpPr>
        <p:spPr>
          <a:xfrm>
            <a:off x="0" y="0"/>
            <a:ext cx="228600" cy="5143500"/>
          </a:xfrm>
          <a:prstGeom prst="rect">
            <a:avLst/>
          </a:prstGeom>
          <a:solidFill>
            <a:srgbClr val="00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4800" noProof="0"/>
          </a:p>
        </p:txBody>
      </p:sp>
      <p:sp>
        <p:nvSpPr>
          <p:cNvPr id="7" name="Titre 1">
            <a:extLst>
              <a:ext uri="{FF2B5EF4-FFF2-40B4-BE49-F238E27FC236}">
                <a16:creationId xmlns:a16="http://schemas.microsoft.com/office/drawing/2014/main" id="{4094CEFC-5E38-D74E-884A-B1AB051F3D91}"/>
              </a:ext>
            </a:extLst>
          </p:cNvPr>
          <p:cNvSpPr>
            <a:spLocks noGrp="1"/>
          </p:cNvSpPr>
          <p:nvPr>
            <p:ph type="title"/>
          </p:nvPr>
        </p:nvSpPr>
        <p:spPr>
          <a:xfrm>
            <a:off x="457200" y="285750"/>
            <a:ext cx="3352800" cy="993775"/>
          </a:xfrm>
        </p:spPr>
        <p:txBody>
          <a:bodyPr/>
          <a:lstStyle/>
          <a:p>
            <a:r>
              <a:rPr lang="fr-FR"/>
              <a:t>Modifiez le style du titre</a:t>
            </a:r>
            <a:endParaRPr lang="fr-CA"/>
          </a:p>
        </p:txBody>
      </p:sp>
      <p:sp>
        <p:nvSpPr>
          <p:cNvPr id="8" name="Content Placeholder 3">
            <a:extLst>
              <a:ext uri="{FF2B5EF4-FFF2-40B4-BE49-F238E27FC236}">
                <a16:creationId xmlns:a16="http://schemas.microsoft.com/office/drawing/2014/main" id="{A6CE18B0-67CD-BC4B-BD6E-A3000919A85C}"/>
              </a:ext>
            </a:extLst>
          </p:cNvPr>
          <p:cNvSpPr>
            <a:spLocks noGrp="1"/>
          </p:cNvSpPr>
          <p:nvPr>
            <p:ph sz="half" idx="15" hasCustomPrompt="1"/>
          </p:nvPr>
        </p:nvSpPr>
        <p:spPr>
          <a:xfrm>
            <a:off x="457200" y="1419346"/>
            <a:ext cx="3352800" cy="3514604"/>
          </a:xfrm>
          <a:prstGeom prst="rect">
            <a:avLst/>
          </a:prstGeom>
        </p:spPr>
        <p:txBody>
          <a:bodyPr>
            <a:noAutofit/>
          </a:bodyPr>
          <a:lstStyle>
            <a:lvl1pPr marL="266667" indent="-266667">
              <a:buClr>
                <a:srgbClr val="434343"/>
              </a:buClr>
              <a:buFont typeface="ArialMT" charset="0"/>
              <a:buChar char="—"/>
              <a:tabLst/>
              <a:defRPr sz="1400">
                <a:solidFill>
                  <a:srgbClr val="434343"/>
                </a:solidFill>
                <a:latin typeface="+mn-lt"/>
                <a:ea typeface="Open Sans" panose="020B0606030504020204" pitchFamily="34" charset="0"/>
                <a:cs typeface="Open Sans" panose="020B0606030504020204" pitchFamily="34" charset="0"/>
              </a:defRPr>
            </a:lvl1pPr>
            <a:lvl2pPr marL="405954" indent="-214287">
              <a:buClr>
                <a:srgbClr val="7C878E"/>
              </a:buClr>
              <a:buFont typeface="Wingdings" charset="2"/>
              <a:buChar char="§"/>
              <a:defRPr sz="1400">
                <a:solidFill>
                  <a:srgbClr val="434343"/>
                </a:solidFill>
                <a:latin typeface="+mn-lt"/>
                <a:ea typeface="Open Sans" panose="020B0606030504020204" pitchFamily="34" charset="0"/>
                <a:cs typeface="Open Sans" panose="020B0606030504020204" pitchFamily="34" charset="0"/>
              </a:defRPr>
            </a:lvl2pPr>
            <a:lvl3pPr marL="603571" indent="-171428">
              <a:buClr>
                <a:srgbClr val="7C878E"/>
              </a:buClr>
              <a:buFont typeface="Courier New" charset="0"/>
              <a:buChar char="o"/>
              <a:defRPr sz="1400">
                <a:solidFill>
                  <a:srgbClr val="434343"/>
                </a:solidFill>
                <a:latin typeface="+mn-lt"/>
                <a:ea typeface="Open Sans" panose="020B0606030504020204" pitchFamily="34" charset="0"/>
                <a:cs typeface="Open Sans" panose="020B0606030504020204" pitchFamily="34" charset="0"/>
              </a:defRPr>
            </a:lvl3pPr>
            <a:lvl4pPr marL="809523" marR="0"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sz="1400">
                <a:solidFill>
                  <a:srgbClr val="434343"/>
                </a:solidFill>
                <a:latin typeface="+mn-lt"/>
                <a:ea typeface="Open Sans" panose="020B0606030504020204" pitchFamily="34" charset="0"/>
                <a:cs typeface="Open Sans" panose="020B0606030504020204" pitchFamily="34" charset="0"/>
              </a:defRPr>
            </a:lvl4pPr>
            <a:lvl5pPr>
              <a:defRPr sz="1350"/>
            </a:lvl5pPr>
            <a:lvl6pPr>
              <a:defRPr sz="1200"/>
            </a:lvl6pPr>
            <a:lvl7pPr>
              <a:defRPr sz="1200"/>
            </a:lvl7pPr>
            <a:lvl8pPr>
              <a:defRPr sz="1200"/>
            </a:lvl8pPr>
            <a:lvl9pPr>
              <a:defRPr sz="1200"/>
            </a:lvl9pPr>
          </a:lstStyle>
          <a:p>
            <a:pPr lvl="0"/>
            <a:r>
              <a:rPr lang="en-CA" noProof="0" err="1"/>
              <a:t>Cliquez</a:t>
            </a:r>
            <a:r>
              <a:rPr lang="en-CA" noProof="0"/>
              <a:t> pour </a:t>
            </a:r>
            <a:r>
              <a:rPr lang="en-CA" noProof="0" err="1"/>
              <a:t>ajouter</a:t>
            </a:r>
            <a:r>
              <a:rPr lang="en-CA" noProof="0"/>
              <a:t> du </a:t>
            </a:r>
            <a:r>
              <a:rPr lang="en-CA" noProof="0" err="1"/>
              <a:t>texte</a:t>
            </a:r>
            <a:endParaRPr lang="en-CA" noProof="0"/>
          </a:p>
          <a:p>
            <a:pPr lvl="1"/>
            <a:r>
              <a:rPr lang="en-CA" noProof="0" err="1"/>
              <a:t>Liste</a:t>
            </a:r>
            <a:r>
              <a:rPr lang="en-CA" noProof="0"/>
              <a:t> de </a:t>
            </a:r>
            <a:r>
              <a:rPr lang="en-CA" noProof="0" err="1"/>
              <a:t>niveau</a:t>
            </a:r>
            <a:r>
              <a:rPr lang="en-CA" noProof="0"/>
              <a:t> deux</a:t>
            </a:r>
          </a:p>
          <a:p>
            <a:pPr lvl="2"/>
            <a:r>
              <a:rPr lang="en-CA" noProof="0" err="1"/>
              <a:t>Liste</a:t>
            </a:r>
            <a:r>
              <a:rPr lang="en-CA" noProof="0"/>
              <a:t> </a:t>
            </a:r>
            <a:r>
              <a:rPr lang="en-CA" noProof="0" err="1"/>
              <a:t>niveau</a:t>
            </a:r>
            <a:r>
              <a:rPr lang="en-CA" noProof="0"/>
              <a:t> trois</a:t>
            </a:r>
          </a:p>
          <a:p>
            <a:pPr marL="809523" marR="0" lvl="3"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a:pPr>
            <a:r>
              <a:rPr lang="en-CA" noProof="0" err="1"/>
              <a:t>Liste</a:t>
            </a:r>
            <a:r>
              <a:rPr lang="en-CA" noProof="0"/>
              <a:t> </a:t>
            </a:r>
            <a:r>
              <a:rPr lang="en-CA" noProof="0" err="1"/>
              <a:t>niveau</a:t>
            </a:r>
            <a:r>
              <a:rPr lang="en-CA" noProof="0"/>
              <a:t> quatre</a:t>
            </a:r>
          </a:p>
        </p:txBody>
      </p:sp>
      <p:sp>
        <p:nvSpPr>
          <p:cNvPr id="9" name="Sous-titre 2">
            <a:extLst>
              <a:ext uri="{FF2B5EF4-FFF2-40B4-BE49-F238E27FC236}">
                <a16:creationId xmlns:a16="http://schemas.microsoft.com/office/drawing/2014/main" id="{E0A5BA96-649F-B040-B7AC-9ECF44E2AF70}"/>
              </a:ext>
            </a:extLst>
          </p:cNvPr>
          <p:cNvSpPr>
            <a:spLocks noGrp="1"/>
          </p:cNvSpPr>
          <p:nvPr>
            <p:ph type="subTitle" idx="1" hasCustomPrompt="1"/>
          </p:nvPr>
        </p:nvSpPr>
        <p:spPr>
          <a:xfrm>
            <a:off x="4343400" y="361950"/>
            <a:ext cx="4343400" cy="4301247"/>
          </a:xfrm>
          <a:prstGeom prst="ellipse">
            <a:avLst/>
          </a:prstGeom>
          <a:solidFill>
            <a:schemeClr val="tx1"/>
          </a:solidFill>
        </p:spPr>
        <p:txBody>
          <a:bodyPr anchor="ctr" anchorCtr="0"/>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a:t>
            </a:r>
            <a:br>
              <a:rPr lang="fr-FR"/>
            </a:br>
            <a:r>
              <a:rPr lang="fr-FR"/>
              <a:t>du texte</a:t>
            </a:r>
            <a:endParaRPr lang="fr-CA"/>
          </a:p>
        </p:txBody>
      </p:sp>
    </p:spTree>
    <p:extLst>
      <p:ext uri="{BB962C8B-B14F-4D97-AF65-F5344CB8AC3E}">
        <p14:creationId xmlns:p14="http://schemas.microsoft.com/office/powerpoint/2010/main" val="26421805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Citation - Quote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9EE2D7C-9C63-564B-8B6D-1FB237BAFC4C}"/>
              </a:ext>
            </a:extLst>
          </p:cNvPr>
          <p:cNvSpPr/>
          <p:nvPr userDrawn="1"/>
        </p:nvSpPr>
        <p:spPr>
          <a:xfrm>
            <a:off x="0" y="0"/>
            <a:ext cx="228600" cy="5143500"/>
          </a:xfrm>
          <a:prstGeom prst="rect">
            <a:avLst/>
          </a:prstGeom>
          <a:solidFill>
            <a:srgbClr val="00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4800" noProof="0">
              <a:solidFill>
                <a:srgbClr val="003DA5"/>
              </a:solidFill>
            </a:endParaRPr>
          </a:p>
        </p:txBody>
      </p:sp>
      <p:sp>
        <p:nvSpPr>
          <p:cNvPr id="5" name="Rectangle 4">
            <a:extLst>
              <a:ext uri="{FF2B5EF4-FFF2-40B4-BE49-F238E27FC236}">
                <a16:creationId xmlns:a16="http://schemas.microsoft.com/office/drawing/2014/main" id="{3103E0C5-2306-CA4D-8911-100FC4861A63}"/>
              </a:ext>
            </a:extLst>
          </p:cNvPr>
          <p:cNvSpPr/>
          <p:nvPr userDrawn="1"/>
        </p:nvSpPr>
        <p:spPr>
          <a:xfrm>
            <a:off x="228600" y="0"/>
            <a:ext cx="2822102"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7" name="Sous-titre 2">
            <a:extLst>
              <a:ext uri="{FF2B5EF4-FFF2-40B4-BE49-F238E27FC236}">
                <a16:creationId xmlns:a16="http://schemas.microsoft.com/office/drawing/2014/main" id="{758BFF37-F7B5-8A46-9190-26965C416E4D}"/>
              </a:ext>
            </a:extLst>
          </p:cNvPr>
          <p:cNvSpPr>
            <a:spLocks noGrp="1"/>
          </p:cNvSpPr>
          <p:nvPr>
            <p:ph type="subTitle" idx="1"/>
          </p:nvPr>
        </p:nvSpPr>
        <p:spPr>
          <a:xfrm>
            <a:off x="381000" y="819150"/>
            <a:ext cx="2971800" cy="3505200"/>
          </a:xfrm>
          <a:ln>
            <a:noFill/>
          </a:ln>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fr-FR"/>
          </a:p>
          <a:p>
            <a:endParaRPr lang="fr-FR"/>
          </a:p>
          <a:p>
            <a:r>
              <a:rPr lang="fr-FR"/>
              <a:t>Modifiez le style des textes du masque</a:t>
            </a:r>
            <a:endParaRPr lang="fr-CA"/>
          </a:p>
        </p:txBody>
      </p:sp>
    </p:spTree>
    <p:extLst>
      <p:ext uri="{BB962C8B-B14F-4D97-AF65-F5344CB8AC3E}">
        <p14:creationId xmlns:p14="http://schemas.microsoft.com/office/powerpoint/2010/main" val="1214020778"/>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8_Titre et contenu - énumération">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FD0BC0B-8033-7240-A106-1E296D5C098A}"/>
              </a:ext>
            </a:extLst>
          </p:cNvPr>
          <p:cNvSpPr/>
          <p:nvPr userDrawn="1"/>
        </p:nvSpPr>
        <p:spPr>
          <a:xfrm>
            <a:off x="0" y="0"/>
            <a:ext cx="2209800" cy="5143500"/>
          </a:xfrm>
          <a:prstGeom prst="rect">
            <a:avLst/>
          </a:prstGeom>
          <a:solidFill>
            <a:srgbClr val="00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a:p>
        </p:txBody>
      </p:sp>
      <p:sp>
        <p:nvSpPr>
          <p:cNvPr id="3" name="Text Placeholder 2">
            <a:extLst>
              <a:ext uri="{FF2B5EF4-FFF2-40B4-BE49-F238E27FC236}">
                <a16:creationId xmlns:a16="http://schemas.microsoft.com/office/drawing/2014/main" id="{350D29D3-DD67-1E4D-B234-EB043C614763}"/>
              </a:ext>
            </a:extLst>
          </p:cNvPr>
          <p:cNvSpPr>
            <a:spLocks noGrp="1"/>
          </p:cNvSpPr>
          <p:nvPr>
            <p:ph type="body" sz="quarter" idx="10" hasCustomPrompt="1"/>
          </p:nvPr>
        </p:nvSpPr>
        <p:spPr>
          <a:xfrm>
            <a:off x="3048000" y="3540367"/>
            <a:ext cx="3733800" cy="374408"/>
          </a:xfrm>
          <a:prstGeom prst="rect">
            <a:avLst/>
          </a:prstGeom>
        </p:spPr>
        <p:txBody>
          <a:bodyPr/>
          <a:lstStyle>
            <a:lvl1pPr marL="0" indent="0">
              <a:buNone/>
              <a:defRPr sz="1200">
                <a:solidFill>
                  <a:srgbClr val="003DA5"/>
                </a:solidFill>
                <a:latin typeface="+mn-lt"/>
                <a:ea typeface="Open Sans" panose="020B0606030504020204" pitchFamily="34" charset="0"/>
                <a:cs typeface="Open Sans" panose="020B0606030504020204" pitchFamily="34" charset="0"/>
              </a:defRPr>
            </a:lvl1pPr>
          </a:lstStyle>
          <a:p>
            <a:pPr lvl="0"/>
            <a:r>
              <a:rPr lang="fr-CA" noProof="0"/>
              <a:t>Ajoutez de l’information</a:t>
            </a:r>
          </a:p>
        </p:txBody>
      </p:sp>
      <p:sp>
        <p:nvSpPr>
          <p:cNvPr id="14" name="Text Placeholder 2">
            <a:extLst>
              <a:ext uri="{FF2B5EF4-FFF2-40B4-BE49-F238E27FC236}">
                <a16:creationId xmlns:a16="http://schemas.microsoft.com/office/drawing/2014/main" id="{C1E8E638-DEDB-0B46-84A9-82D7C99359FF}"/>
              </a:ext>
            </a:extLst>
          </p:cNvPr>
          <p:cNvSpPr>
            <a:spLocks noGrp="1"/>
          </p:cNvSpPr>
          <p:nvPr>
            <p:ph type="body" sz="quarter" idx="11" hasCustomPrompt="1"/>
          </p:nvPr>
        </p:nvSpPr>
        <p:spPr>
          <a:xfrm>
            <a:off x="3048000" y="4048367"/>
            <a:ext cx="3733800" cy="374408"/>
          </a:xfrm>
          <a:prstGeom prst="rect">
            <a:avLst/>
          </a:prstGeom>
        </p:spPr>
        <p:txBody>
          <a:bodyPr/>
          <a:lstStyle>
            <a:lvl1pPr marL="0" indent="0">
              <a:buNone/>
              <a:defRPr sz="1200">
                <a:solidFill>
                  <a:srgbClr val="003DA5"/>
                </a:solidFill>
                <a:latin typeface="+mn-lt"/>
                <a:ea typeface="Open Sans" panose="020B0606030504020204" pitchFamily="34" charset="0"/>
                <a:cs typeface="Open Sans" panose="020B0606030504020204" pitchFamily="34" charset="0"/>
              </a:defRPr>
            </a:lvl1pPr>
          </a:lstStyle>
          <a:p>
            <a:pPr lvl="0"/>
            <a:r>
              <a:rPr lang="fr-CA" noProof="0"/>
              <a:t>Ajoutez de l’information</a:t>
            </a:r>
          </a:p>
        </p:txBody>
      </p:sp>
      <p:sp>
        <p:nvSpPr>
          <p:cNvPr id="15" name="Text Placeholder 2">
            <a:extLst>
              <a:ext uri="{FF2B5EF4-FFF2-40B4-BE49-F238E27FC236}">
                <a16:creationId xmlns:a16="http://schemas.microsoft.com/office/drawing/2014/main" id="{79B37F38-214E-874A-A822-D69167292F12}"/>
              </a:ext>
            </a:extLst>
          </p:cNvPr>
          <p:cNvSpPr>
            <a:spLocks noGrp="1"/>
          </p:cNvSpPr>
          <p:nvPr>
            <p:ph type="body" sz="quarter" idx="12" hasCustomPrompt="1"/>
          </p:nvPr>
        </p:nvSpPr>
        <p:spPr>
          <a:xfrm>
            <a:off x="3048000" y="4556367"/>
            <a:ext cx="3733800" cy="374408"/>
          </a:xfrm>
          <a:prstGeom prst="rect">
            <a:avLst/>
          </a:prstGeom>
        </p:spPr>
        <p:txBody>
          <a:bodyPr/>
          <a:lstStyle>
            <a:lvl1pPr marL="0" indent="0">
              <a:buNone/>
              <a:defRPr sz="1200">
                <a:solidFill>
                  <a:srgbClr val="003DA5"/>
                </a:solidFill>
                <a:latin typeface="+mn-lt"/>
                <a:ea typeface="Open Sans" panose="020B0606030504020204" pitchFamily="34" charset="0"/>
                <a:cs typeface="Open Sans" panose="020B0606030504020204" pitchFamily="34" charset="0"/>
              </a:defRPr>
            </a:lvl1pPr>
          </a:lstStyle>
          <a:p>
            <a:pPr lvl="0"/>
            <a:r>
              <a:rPr lang="fr-CA" noProof="0"/>
              <a:t>Ajoutez de l’information</a:t>
            </a:r>
          </a:p>
        </p:txBody>
      </p:sp>
      <p:sp>
        <p:nvSpPr>
          <p:cNvPr id="19" name="Espace réservé du contenu 2">
            <a:extLst>
              <a:ext uri="{FF2B5EF4-FFF2-40B4-BE49-F238E27FC236}">
                <a16:creationId xmlns:a16="http://schemas.microsoft.com/office/drawing/2014/main" id="{5C8A52A0-A83D-B248-A14B-D258781D4FE3}"/>
              </a:ext>
            </a:extLst>
          </p:cNvPr>
          <p:cNvSpPr>
            <a:spLocks noGrp="1"/>
          </p:cNvSpPr>
          <p:nvPr>
            <p:ph idx="1"/>
          </p:nvPr>
        </p:nvSpPr>
        <p:spPr>
          <a:xfrm>
            <a:off x="2540313" y="133350"/>
            <a:ext cx="6324600" cy="326262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texte 3">
            <a:extLst>
              <a:ext uri="{FF2B5EF4-FFF2-40B4-BE49-F238E27FC236}">
                <a16:creationId xmlns:a16="http://schemas.microsoft.com/office/drawing/2014/main" id="{48B9D980-E5C3-1142-B2FB-F44B68469C73}"/>
              </a:ext>
            </a:extLst>
          </p:cNvPr>
          <p:cNvSpPr>
            <a:spLocks noGrp="1"/>
          </p:cNvSpPr>
          <p:nvPr>
            <p:ph type="body" sz="quarter" idx="13" hasCustomPrompt="1"/>
          </p:nvPr>
        </p:nvSpPr>
        <p:spPr>
          <a:xfrm>
            <a:off x="76200" y="133350"/>
            <a:ext cx="2057400" cy="4876800"/>
          </a:xfrm>
        </p:spPr>
        <p:txBody>
          <a:bodyPr/>
          <a:lstStyle>
            <a:lvl1pPr marL="0" indent="0">
              <a:buNone/>
              <a:defRPr>
                <a:solidFill>
                  <a:schemeClr val="bg1"/>
                </a:solidFill>
              </a:defRPr>
            </a:lvl1pPr>
          </a:lstStyle>
          <a:p>
            <a:pPr lvl="0"/>
            <a:r>
              <a:rPr lang="fr-FR"/>
              <a:t>Modifiez le style du titre</a:t>
            </a:r>
            <a:endParaRPr lang="fr-CA"/>
          </a:p>
        </p:txBody>
      </p:sp>
    </p:spTree>
    <p:extLst>
      <p:ext uri="{BB962C8B-B14F-4D97-AF65-F5344CB8AC3E}">
        <p14:creationId xmlns:p14="http://schemas.microsoft.com/office/powerpoint/2010/main" val="136315786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6_Titre et contenu - énumération">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8E701C2-1F0E-6244-B726-BB9B661168BF}"/>
              </a:ext>
            </a:extLst>
          </p:cNvPr>
          <p:cNvSpPr/>
          <p:nvPr userDrawn="1"/>
        </p:nvSpPr>
        <p:spPr>
          <a:xfrm>
            <a:off x="0" y="0"/>
            <a:ext cx="228600" cy="5143500"/>
          </a:xfrm>
          <a:prstGeom prst="rect">
            <a:avLst/>
          </a:prstGeom>
          <a:solidFill>
            <a:srgbClr val="00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a:solidFill>
                <a:srgbClr val="003DA5"/>
              </a:solidFill>
            </a:endParaRPr>
          </a:p>
        </p:txBody>
      </p:sp>
      <p:sp>
        <p:nvSpPr>
          <p:cNvPr id="5" name="Titre 1">
            <a:extLst>
              <a:ext uri="{FF2B5EF4-FFF2-40B4-BE49-F238E27FC236}">
                <a16:creationId xmlns:a16="http://schemas.microsoft.com/office/drawing/2014/main" id="{472085E7-D941-9940-B08A-E49A28086506}"/>
              </a:ext>
            </a:extLst>
          </p:cNvPr>
          <p:cNvSpPr>
            <a:spLocks noGrp="1"/>
          </p:cNvSpPr>
          <p:nvPr>
            <p:ph type="title"/>
          </p:nvPr>
        </p:nvSpPr>
        <p:spPr>
          <a:xfrm>
            <a:off x="381000" y="274638"/>
            <a:ext cx="8534400" cy="993775"/>
          </a:xfrm>
        </p:spPr>
        <p:txBody>
          <a:bodyPr/>
          <a:lstStyle/>
          <a:p>
            <a:r>
              <a:rPr lang="fr-FR"/>
              <a:t>Modifiez le style du titre</a:t>
            </a:r>
            <a:endParaRPr lang="fr-CA"/>
          </a:p>
        </p:txBody>
      </p:sp>
      <p:sp>
        <p:nvSpPr>
          <p:cNvPr id="8" name="Sous-titre 2">
            <a:extLst>
              <a:ext uri="{FF2B5EF4-FFF2-40B4-BE49-F238E27FC236}">
                <a16:creationId xmlns:a16="http://schemas.microsoft.com/office/drawing/2014/main" id="{E28F2670-A4C2-0B4A-8E14-FCB0F2B056D7}"/>
              </a:ext>
            </a:extLst>
          </p:cNvPr>
          <p:cNvSpPr>
            <a:spLocks noGrp="1"/>
          </p:cNvSpPr>
          <p:nvPr>
            <p:ph type="subTitle" idx="1" hasCustomPrompt="1"/>
          </p:nvPr>
        </p:nvSpPr>
        <p:spPr>
          <a:xfrm>
            <a:off x="381000" y="1428750"/>
            <a:ext cx="8534400" cy="3505200"/>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a:t>
            </a:r>
            <a:br>
              <a:rPr lang="fr-FR"/>
            </a:br>
            <a:r>
              <a:rPr lang="fr-FR"/>
              <a:t>ou du texte du masque</a:t>
            </a:r>
            <a:endParaRPr lang="fr-CA"/>
          </a:p>
        </p:txBody>
      </p:sp>
    </p:spTree>
    <p:extLst>
      <p:ext uri="{BB962C8B-B14F-4D97-AF65-F5344CB8AC3E}">
        <p14:creationId xmlns:p14="http://schemas.microsoft.com/office/powerpoint/2010/main" val="326763488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0_Titre et contenu - énumération">
    <p:bg>
      <p:bgPr>
        <a:solidFill>
          <a:schemeClr val="bg1"/>
        </a:solidFill>
        <a:effectLst/>
      </p:bgPr>
    </p:bg>
    <p:spTree>
      <p:nvGrpSpPr>
        <p:cNvPr id="1" name=""/>
        <p:cNvGrpSpPr/>
        <p:nvPr/>
      </p:nvGrpSpPr>
      <p:grpSpPr>
        <a:xfrm>
          <a:off x="0" y="0"/>
          <a:ext cx="0" cy="0"/>
          <a:chOff x="0" y="0"/>
          <a:chExt cx="0" cy="0"/>
        </a:xfrm>
      </p:grpSpPr>
      <p:pic>
        <p:nvPicPr>
          <p:cNvPr id="4" name="Image 3" descr="Une image contenant personne, mur, intérieur, souriant&#10;&#10;Description générée automatiquement">
            <a:extLst>
              <a:ext uri="{FF2B5EF4-FFF2-40B4-BE49-F238E27FC236}">
                <a16:creationId xmlns:a16="http://schemas.microsoft.com/office/drawing/2014/main" id="{B5C9BAFF-64F1-A540-B4B6-80F915EBDD10}"/>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5228819" cy="5143500"/>
          </a:xfrm>
          <a:prstGeom prst="rect">
            <a:avLst/>
          </a:prstGeom>
        </p:spPr>
      </p:pic>
      <p:sp>
        <p:nvSpPr>
          <p:cNvPr id="12" name="Rectangle 11">
            <a:extLst>
              <a:ext uri="{FF2B5EF4-FFF2-40B4-BE49-F238E27FC236}">
                <a16:creationId xmlns:a16="http://schemas.microsoft.com/office/drawing/2014/main" id="{15194E5F-7939-A246-B28E-7BD7E2DCDEAD}"/>
              </a:ext>
            </a:extLst>
          </p:cNvPr>
          <p:cNvSpPr/>
          <p:nvPr userDrawn="1"/>
        </p:nvSpPr>
        <p:spPr>
          <a:xfrm>
            <a:off x="0" y="0"/>
            <a:ext cx="228600" cy="5143500"/>
          </a:xfrm>
          <a:prstGeom prst="rect">
            <a:avLst/>
          </a:prstGeom>
          <a:solidFill>
            <a:srgbClr val="00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a:solidFill>
                <a:srgbClr val="003DA5"/>
              </a:solidFill>
            </a:endParaRPr>
          </a:p>
        </p:txBody>
      </p:sp>
      <p:sp>
        <p:nvSpPr>
          <p:cNvPr id="7" name="Sous-titre 2">
            <a:extLst>
              <a:ext uri="{FF2B5EF4-FFF2-40B4-BE49-F238E27FC236}">
                <a16:creationId xmlns:a16="http://schemas.microsoft.com/office/drawing/2014/main" id="{27BF9462-E1B5-A34E-A2AD-BA09C0E5119B}"/>
              </a:ext>
            </a:extLst>
          </p:cNvPr>
          <p:cNvSpPr>
            <a:spLocks noGrp="1"/>
          </p:cNvSpPr>
          <p:nvPr>
            <p:ph type="subTitle" idx="1"/>
          </p:nvPr>
        </p:nvSpPr>
        <p:spPr>
          <a:xfrm>
            <a:off x="5486400" y="895350"/>
            <a:ext cx="2971800" cy="3200400"/>
          </a:xfrm>
          <a:ln>
            <a:noFill/>
          </a:ln>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fr-FR"/>
          </a:p>
          <a:p>
            <a:endParaRPr lang="fr-FR"/>
          </a:p>
          <a:p>
            <a:r>
              <a:rPr lang="fr-FR"/>
              <a:t>Modifiez le style des textes du masque</a:t>
            </a:r>
            <a:endParaRPr lang="fr-CA"/>
          </a:p>
        </p:txBody>
      </p:sp>
    </p:spTree>
    <p:extLst>
      <p:ext uri="{BB962C8B-B14F-4D97-AF65-F5344CB8AC3E}">
        <p14:creationId xmlns:p14="http://schemas.microsoft.com/office/powerpoint/2010/main" val="48869187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6_Diapositive de titr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9EE2D7C-9C63-564B-8B6D-1FB237BAFC4C}"/>
              </a:ext>
            </a:extLst>
          </p:cNvPr>
          <p:cNvSpPr/>
          <p:nvPr userDrawn="1"/>
        </p:nvSpPr>
        <p:spPr>
          <a:xfrm>
            <a:off x="0" y="0"/>
            <a:ext cx="3505200" cy="5143500"/>
          </a:xfrm>
          <a:prstGeom prst="rect">
            <a:avLst/>
          </a:prstGeom>
          <a:solidFill>
            <a:srgbClr val="00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a:solidFill>
                <a:srgbClr val="003DA5"/>
              </a:solidFill>
            </a:endParaRPr>
          </a:p>
        </p:txBody>
      </p:sp>
      <p:sp>
        <p:nvSpPr>
          <p:cNvPr id="5" name="Espace réservé du texte 2">
            <a:extLst>
              <a:ext uri="{FF2B5EF4-FFF2-40B4-BE49-F238E27FC236}">
                <a16:creationId xmlns:a16="http://schemas.microsoft.com/office/drawing/2014/main" id="{5BD7971C-2E9D-0E49-AF41-68AED313FF84}"/>
              </a:ext>
            </a:extLst>
          </p:cNvPr>
          <p:cNvSpPr>
            <a:spLocks noGrp="1"/>
          </p:cNvSpPr>
          <p:nvPr>
            <p:ph type="body" sz="quarter" idx="10" hasCustomPrompt="1"/>
          </p:nvPr>
        </p:nvSpPr>
        <p:spPr>
          <a:xfrm>
            <a:off x="76200" y="133350"/>
            <a:ext cx="3276600" cy="838200"/>
          </a:xfrm>
        </p:spPr>
        <p:txBody>
          <a:bodyPr>
            <a:normAutofit/>
          </a:bodyPr>
          <a:lstStyle>
            <a:lvl1pPr marL="0" indent="0">
              <a:buNone/>
              <a:defRPr sz="2600">
                <a:solidFill>
                  <a:schemeClr val="bg1"/>
                </a:solidFill>
                <a:latin typeface="+mj-lt"/>
              </a:defRPr>
            </a:lvl1pPr>
          </a:lstStyle>
          <a:p>
            <a:pPr lvl="0"/>
            <a:r>
              <a:rPr lang="fr-FR"/>
              <a:t>Modifiez le style du titre ou du texte</a:t>
            </a:r>
            <a:endParaRPr lang="fr-CA"/>
          </a:p>
        </p:txBody>
      </p:sp>
      <p:sp>
        <p:nvSpPr>
          <p:cNvPr id="6" name="Espace réservé du texte 2">
            <a:extLst>
              <a:ext uri="{FF2B5EF4-FFF2-40B4-BE49-F238E27FC236}">
                <a16:creationId xmlns:a16="http://schemas.microsoft.com/office/drawing/2014/main" id="{CBF0357A-32BA-9A45-84B1-0B7EDBF08986}"/>
              </a:ext>
            </a:extLst>
          </p:cNvPr>
          <p:cNvSpPr>
            <a:spLocks noGrp="1"/>
          </p:cNvSpPr>
          <p:nvPr>
            <p:ph type="body" sz="quarter" idx="11" hasCustomPrompt="1"/>
          </p:nvPr>
        </p:nvSpPr>
        <p:spPr>
          <a:xfrm>
            <a:off x="76200" y="1104900"/>
            <a:ext cx="3276600" cy="3905250"/>
          </a:xfrm>
        </p:spPr>
        <p:txBody>
          <a:bodyPr>
            <a:normAutofit/>
          </a:bodyPr>
          <a:lstStyle>
            <a:lvl1pPr marL="0" indent="0">
              <a:buNone/>
              <a:defRPr sz="1800">
                <a:solidFill>
                  <a:schemeClr val="bg1"/>
                </a:solidFill>
                <a:latin typeface="+mj-lt"/>
              </a:defRPr>
            </a:lvl1pPr>
          </a:lstStyle>
          <a:p>
            <a:pPr lvl="0"/>
            <a:r>
              <a:rPr lang="fr-FR"/>
              <a:t>Modifiez le style du texte</a:t>
            </a:r>
            <a:endParaRPr lang="fr-CA"/>
          </a:p>
        </p:txBody>
      </p:sp>
    </p:spTree>
    <p:extLst>
      <p:ext uri="{BB962C8B-B14F-4D97-AF65-F5344CB8AC3E}">
        <p14:creationId xmlns:p14="http://schemas.microsoft.com/office/powerpoint/2010/main" val="4213922831"/>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73_Titre et contenu - énuméra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89AC7D0-F917-C94C-B54C-C6E40BFD5E4C}"/>
              </a:ext>
            </a:extLst>
          </p:cNvPr>
          <p:cNvSpPr/>
          <p:nvPr userDrawn="1"/>
        </p:nvSpPr>
        <p:spPr>
          <a:xfrm>
            <a:off x="0" y="0"/>
            <a:ext cx="3886200"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ous-titre 2">
            <a:extLst>
              <a:ext uri="{FF2B5EF4-FFF2-40B4-BE49-F238E27FC236}">
                <a16:creationId xmlns:a16="http://schemas.microsoft.com/office/drawing/2014/main" id="{82809428-A383-D64A-B10E-509A97B5E572}"/>
              </a:ext>
            </a:extLst>
          </p:cNvPr>
          <p:cNvSpPr>
            <a:spLocks noGrp="1"/>
          </p:cNvSpPr>
          <p:nvPr>
            <p:ph type="subTitle" idx="1"/>
          </p:nvPr>
        </p:nvSpPr>
        <p:spPr>
          <a:xfrm>
            <a:off x="381000" y="857250"/>
            <a:ext cx="3124200" cy="3429000"/>
          </a:xfrm>
          <a:noFill/>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fr-FR"/>
          </a:p>
          <a:p>
            <a:r>
              <a:rPr lang="fr-FR"/>
              <a:t>Modifiez le style des textes</a:t>
            </a:r>
            <a:br>
              <a:rPr lang="fr-FR"/>
            </a:br>
            <a:r>
              <a:rPr lang="fr-FR"/>
              <a:t>du masque</a:t>
            </a:r>
            <a:endParaRPr lang="fr-CA"/>
          </a:p>
        </p:txBody>
      </p:sp>
    </p:spTree>
    <p:extLst>
      <p:ext uri="{BB962C8B-B14F-4D97-AF65-F5344CB8AC3E}">
        <p14:creationId xmlns:p14="http://schemas.microsoft.com/office/powerpoint/2010/main" val="203220137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Fermetu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ECAAB67-6E12-1041-ABDB-E3341C80B073}"/>
              </a:ext>
            </a:extLst>
          </p:cNvPr>
          <p:cNvSpPr/>
          <p:nvPr userDrawn="1"/>
        </p:nvSpPr>
        <p:spPr>
          <a:xfrm>
            <a:off x="0" y="0"/>
            <a:ext cx="228600" cy="5143500"/>
          </a:xfrm>
          <a:prstGeom prst="rect">
            <a:avLst/>
          </a:prstGeom>
          <a:solidFill>
            <a:srgbClr val="00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a:p>
        </p:txBody>
      </p:sp>
    </p:spTree>
    <p:extLst>
      <p:ext uri="{BB962C8B-B14F-4D97-AF65-F5344CB8AC3E}">
        <p14:creationId xmlns:p14="http://schemas.microsoft.com/office/powerpoint/2010/main" val="222719039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Titre de sec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Rectangle 8"/>
          <p:cNvSpPr>
            <a:spLocks noChangeArrowheads="1"/>
          </p:cNvSpPr>
          <p:nvPr userDrawn="1"/>
        </p:nvSpPr>
        <p:spPr bwMode="auto">
          <a:xfrm>
            <a:off x="71438" y="4880113"/>
            <a:ext cx="690562" cy="228600"/>
          </a:xfrm>
          <a:prstGeom prst="rect">
            <a:avLst/>
          </a:prstGeom>
          <a:noFill/>
          <a:ln w="9525">
            <a:noFill/>
            <a:miter lim="800000"/>
            <a:headEnd/>
            <a:tailEnd/>
          </a:ln>
          <a:effectLst/>
        </p:spPr>
        <p:txBody>
          <a:bodyPr>
            <a:noAutofit/>
          </a:bodyPr>
          <a:lstStyle/>
          <a:p>
            <a:pPr>
              <a:defRPr/>
            </a:pPr>
            <a:fld id="{E8969A4D-7066-489B-89A2-4307E180FE3E}" type="slidenum">
              <a:rPr lang="en-CA" sz="1050" b="0">
                <a:solidFill>
                  <a:srgbClr val="000080"/>
                </a:solidFill>
                <a:latin typeface="Arial" pitchFamily="34" charset="0"/>
                <a:cs typeface="Arial" pitchFamily="34" charset="0"/>
              </a:rPr>
              <a:pPr>
                <a:defRPr/>
              </a:pPr>
              <a:t>‹#›</a:t>
            </a:fld>
            <a:endParaRPr lang="en-CA" sz="1050" b="0">
              <a:solidFill>
                <a:srgbClr val="000080"/>
              </a:solidFill>
              <a:latin typeface="Arial" pitchFamily="34" charset="0"/>
              <a:cs typeface="Arial" pitchFamily="34" charset="0"/>
            </a:endParaRPr>
          </a:p>
        </p:txBody>
      </p:sp>
      <p:sp>
        <p:nvSpPr>
          <p:cNvPr id="4" name="Title 1">
            <a:extLst>
              <a:ext uri="{FF2B5EF4-FFF2-40B4-BE49-F238E27FC236}">
                <a16:creationId xmlns:a16="http://schemas.microsoft.com/office/drawing/2014/main" id="{C36BB592-8B05-C44A-A3DB-DB78CBC8E7D1}"/>
              </a:ext>
            </a:extLst>
          </p:cNvPr>
          <p:cNvSpPr>
            <a:spLocks noGrp="1"/>
          </p:cNvSpPr>
          <p:nvPr>
            <p:ph type="title" hasCustomPrompt="1"/>
          </p:nvPr>
        </p:nvSpPr>
        <p:spPr>
          <a:xfrm>
            <a:off x="609600" y="2160000"/>
            <a:ext cx="6781800" cy="2571750"/>
          </a:xfrm>
          <a:prstGeom prst="rect">
            <a:avLst/>
          </a:prstGeom>
        </p:spPr>
        <p:txBody>
          <a:bodyPr anchor="t">
            <a:noAutofit/>
          </a:bodyPr>
          <a:lstStyle>
            <a:lvl1pPr>
              <a:lnSpc>
                <a:spcPts val="4000"/>
              </a:lnSpc>
              <a:defRPr sz="4000" b="1">
                <a:solidFill>
                  <a:srgbClr val="003EA5"/>
                </a:solidFill>
                <a:latin typeface="+mn-lt"/>
              </a:defRPr>
            </a:lvl1pPr>
          </a:lstStyle>
          <a:p>
            <a:r>
              <a:rPr lang="fr-CA" noProof="0"/>
              <a:t>Cliquez pour ajouter</a:t>
            </a:r>
            <a:br>
              <a:rPr lang="fr-CA" noProof="0"/>
            </a:br>
            <a:r>
              <a:rPr lang="fr-CA" noProof="0"/>
              <a:t>un titre</a:t>
            </a:r>
          </a:p>
        </p:txBody>
      </p:sp>
    </p:spTree>
    <p:extLst>
      <p:ext uri="{BB962C8B-B14F-4D97-AF65-F5344CB8AC3E}">
        <p14:creationId xmlns:p14="http://schemas.microsoft.com/office/powerpoint/2010/main" val="2731751180"/>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DB91BFAB-1641-0E40-B3D7-548914EFB070}"/>
              </a:ext>
            </a:extLst>
          </p:cNvPr>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fr-FR"/>
              <a:t>Modifiez le style du titre</a:t>
            </a:r>
            <a:endParaRPr lang="fr-CA"/>
          </a:p>
        </p:txBody>
      </p:sp>
      <p:sp>
        <p:nvSpPr>
          <p:cNvPr id="3" name="Espace réservé du texte 2">
            <a:extLst>
              <a:ext uri="{FF2B5EF4-FFF2-40B4-BE49-F238E27FC236}">
                <a16:creationId xmlns:a16="http://schemas.microsoft.com/office/drawing/2014/main" id="{D5BCB3B1-A3B5-354D-B9B9-5616DD6296ED}"/>
              </a:ext>
            </a:extLst>
          </p:cNvPr>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F5B0D97A-DE79-3443-8C78-13872A20494B}"/>
              </a:ext>
            </a:extLst>
          </p:cNvPr>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fld id="{0325A6CB-548C-3647-84CB-A0411F59A6BA}" type="datetimeFigureOut">
              <a:rPr lang="fr-CA" smtClean="0"/>
              <a:t>2026-01-16</a:t>
            </a:fld>
            <a:endParaRPr lang="fr-CA"/>
          </a:p>
        </p:txBody>
      </p:sp>
      <p:sp>
        <p:nvSpPr>
          <p:cNvPr id="5" name="Espace réservé du pied de page 4">
            <a:extLst>
              <a:ext uri="{FF2B5EF4-FFF2-40B4-BE49-F238E27FC236}">
                <a16:creationId xmlns:a16="http://schemas.microsoft.com/office/drawing/2014/main" id="{73CA89CD-A725-7442-85BD-0DA6350D2E39}"/>
              </a:ext>
            </a:extLst>
          </p:cNvPr>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CA"/>
          </a:p>
        </p:txBody>
      </p:sp>
      <p:sp>
        <p:nvSpPr>
          <p:cNvPr id="6" name="Espace réservé du numéro de diapositive 5">
            <a:extLst>
              <a:ext uri="{FF2B5EF4-FFF2-40B4-BE49-F238E27FC236}">
                <a16:creationId xmlns:a16="http://schemas.microsoft.com/office/drawing/2014/main" id="{F53C084D-F64A-AE45-ACA2-18E4F106DBBD}"/>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80C219AB-6948-F34E-8E4E-7EEF56D88C6D}" type="slidenum">
              <a:rPr lang="fr-CA" smtClean="0"/>
              <a:t>‹#›</a:t>
            </a:fld>
            <a:endParaRPr lang="fr-CA"/>
          </a:p>
        </p:txBody>
      </p:sp>
    </p:spTree>
    <p:extLst>
      <p:ext uri="{BB962C8B-B14F-4D97-AF65-F5344CB8AC3E}">
        <p14:creationId xmlns:p14="http://schemas.microsoft.com/office/powerpoint/2010/main" val="2443159424"/>
      </p:ext>
    </p:extLst>
  </p:cSld>
  <p:clrMap bg1="lt1" tx1="dk1" bg2="lt2" tx2="dk2" accent1="accent1" accent2="accent2" accent3="accent3" accent4="accent4" accent5="accent5" accent6="accent6" hlink="hlink" folHlink="folHlink"/>
  <p:sldLayoutIdLst>
    <p:sldLayoutId id="2147483678" r:id="rId1"/>
    <p:sldLayoutId id="2147483680" r:id="rId2"/>
    <p:sldLayoutId id="2147483713"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1" r:id="rId13"/>
    <p:sldLayoutId id="2147483690" r:id="rId14"/>
    <p:sldLayoutId id="2147483692" r:id="rId15"/>
    <p:sldLayoutId id="2147483694" r:id="rId16"/>
    <p:sldLayoutId id="2147483721" r:id="rId17"/>
    <p:sldLayoutId id="2147483718" r:id="rId18"/>
    <p:sldLayoutId id="2147483719" r:id="rId19"/>
    <p:sldLayoutId id="2147483698" r:id="rId20"/>
    <p:sldLayoutId id="2147483699" r:id="rId21"/>
    <p:sldLayoutId id="2147483700" r:id="rId22"/>
    <p:sldLayoutId id="2147483701" r:id="rId23"/>
    <p:sldLayoutId id="2147483714" r:id="rId24"/>
    <p:sldLayoutId id="2147483703" r:id="rId25"/>
    <p:sldLayoutId id="2147483693" r:id="rId26"/>
    <p:sldLayoutId id="2147483704" r:id="rId27"/>
    <p:sldLayoutId id="2147483705" r:id="rId28"/>
    <p:sldLayoutId id="2147483715" r:id="rId29"/>
    <p:sldLayoutId id="2147483722" r:id="rId30"/>
    <p:sldLayoutId id="2147483708" r:id="rId31"/>
    <p:sldLayoutId id="2147483716" r:id="rId32"/>
    <p:sldLayoutId id="2147483710" r:id="rId33"/>
    <p:sldLayoutId id="2147483711" r:id="rId34"/>
    <p:sldLayoutId id="2147483712" r:id="rId35"/>
    <p:sldLayoutId id="2147483723" r:id="rId36"/>
  </p:sldLayoutIdLst>
  <p:txStyles>
    <p:titleStyle>
      <a:lvl1pPr algn="l" defTabSz="914400"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2">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2">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2">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2">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2">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8" Type="http://schemas.microsoft.com/office/2007/relationships/diagramDrawing" Target="../diagrams/drawing3.xml"/><Relationship Id="rId3" Type="http://schemas.microsoft.com/office/2018/10/relationships/comments" Target="../comments/modernComment_123_8DF937F4.xml"/><Relationship Id="rId7" Type="http://schemas.openxmlformats.org/officeDocument/2006/relationships/diagramColors" Target="../diagrams/colors3.xml"/><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6.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8" Type="http://schemas.microsoft.com/office/2007/relationships/diagramDrawing" Target="../diagrams/drawing4.xml"/><Relationship Id="rId3" Type="http://schemas.microsoft.com/office/2018/10/relationships/comments" Target="../comments/modernComment_7FFFCAD7_385C72E7.xml"/><Relationship Id="rId7" Type="http://schemas.openxmlformats.org/officeDocument/2006/relationships/diagramColors" Target="../diagrams/colors4.xml"/><Relationship Id="rId2" Type="http://schemas.openxmlformats.org/officeDocument/2006/relationships/notesSlide" Target="../notesSlides/notesSlide8.xml"/><Relationship Id="rId1" Type="http://schemas.openxmlformats.org/officeDocument/2006/relationships/slideLayout" Target="../slideLayouts/slideLayout14.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9.xml.rels><?xml version="1.0" encoding="UTF-8" standalone="yes"?>
<Relationships xmlns="http://schemas.openxmlformats.org/package/2006/relationships"><Relationship Id="rId3" Type="http://schemas.microsoft.com/office/2018/10/relationships/comments" Target="../comments/modernComment_7FFFF31D_EA819035.xml"/><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microsoft.com/office/2018/10/relationships/comments" Target="../comments/modernComment_7FFFCAEB_C1061E66.xml"/><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8" Type="http://schemas.microsoft.com/office/2007/relationships/diagramDrawing" Target="../diagrams/drawing5.xml"/><Relationship Id="rId3" Type="http://schemas.microsoft.com/office/2018/10/relationships/comments" Target="../comments/modernComment_7FFFF31E_1A1F7C8D.xml"/><Relationship Id="rId7" Type="http://schemas.openxmlformats.org/officeDocument/2006/relationships/diagramColors" Target="../diagrams/colors5.xml"/><Relationship Id="rId2" Type="http://schemas.openxmlformats.org/officeDocument/2006/relationships/notesSlide" Target="../notesSlides/notesSlide11.xml"/><Relationship Id="rId1" Type="http://schemas.openxmlformats.org/officeDocument/2006/relationships/slideLayout" Target="../slideLayouts/slideLayout14.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12.xml.rels><?xml version="1.0" encoding="UTF-8" standalone="yes"?>
<Relationships xmlns="http://schemas.openxmlformats.org/package/2006/relationships"><Relationship Id="rId3" Type="http://schemas.microsoft.com/office/2018/10/relationships/comments" Target="../comments/modernComment_7FFFCAE6_EACB2E18.xml"/><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microsoft.com/office/2018/10/relationships/comments" Target="../comments/modernComment_7FFFF31F_AC77EA5F.xml"/><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microsoft.com/office/2018/10/relationships/comments" Target="../comments/modernComment_7FFFF324_A4367F37.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microsoft.com/office/2018/10/relationships/comments" Target="../comments/modernComment_7FFFCAD9_20C71D92.xml"/><Relationship Id="rId1" Type="http://schemas.openxmlformats.org/officeDocument/2006/relationships/slideLayout" Target="../slideLayouts/slideLayout14.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slides/_rels/slide17.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microsoft.com/office/2018/10/relationships/comments" Target="../comments/modernComment_7FFFF325_BA793242.xml"/><Relationship Id="rId1" Type="http://schemas.openxmlformats.org/officeDocument/2006/relationships/slideLayout" Target="../slideLayouts/slideLayout14.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microsoft.com/office/2018/10/relationships/comments" Target="../comments/modernComment_7FFFF326_A40C615C.xml"/><Relationship Id="rId1" Type="http://schemas.openxmlformats.org/officeDocument/2006/relationships/slideLayout" Target="../slideLayouts/slideLayout14.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14.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26.svg"/></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26.svg"/></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26.svg"/></Relationships>
</file>

<file path=ppt/slides/_rels/slide26.xml.rels><?xml version="1.0" encoding="UTF-8" standalone="yes"?>
<Relationships xmlns="http://schemas.openxmlformats.org/package/2006/relationships"><Relationship Id="rId3" Type="http://schemas.microsoft.com/office/2018/10/relationships/comments" Target="../comments/modernComment_7FFFF32C_88CC2790.xml"/><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hyperlink" Target="https://indall.sharepoint.com/:p:/r/teams/CorporateTreasuryProgram/_layouts/15/Doc.aspx?sourcedoc=%7B226DDE5D-8AC2-45E5-83C8-772B13FEDE29%7D&amp;file=013_POSI-0010_Outils%20consultation%20et%20saisie%20de%20paiements%20CFO.pptx&amp;wdOrigin=TEAMS-MAGLEV.p2p_ns.rwc&amp;action=edit&amp;mobileredirect=true" TargetMode="External"/><Relationship Id="rId4" Type="http://schemas.openxmlformats.org/officeDocument/2006/relationships/hyperlink" Target="https://indall.sharepoint.com/:p:/r/teams/CorporateTreasuryProgram/Documents%20partages/General/02%20Bancaire/02%20Affaires/Documents%20de%20travail/Coordonn%C3%A9es%20bancaires/Gestion%20des%20coordonn%C3%A9es%20bancaires%20v2.0.pptx?d=wda158735002b4d77910547c7fc192f3b&amp;csf=1&amp;web=1&amp;e=2Zchch" TargetMode="Externa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hyperlink" Target="https://indall.sharepoint.com/:p:/r/teams/CorporateTreasuryProgram/Documents%20partages/General/02%20Bancaire/02%20Affaires/Documents%20de%20travail/01%20Architecture%20d%C3%A9taill%C3%A9e/Strat%C3%A9gie%20de%20livraison%20des%20ch%C3%A8ques.pptx?d=wdb77114996134695aa23dbb28719e832&amp;csf=1&amp;web=1&amp;e=l8XFUu" TargetMode="External"/><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microsoft.com/office/2018/10/relationships/comments" Target="../comments/modernComment_7FFFCAE8_E10D1098.xml"/><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microsoft.com/office/2007/relationships/diagramDrawing" Target="../diagrams/drawing9.xml"/><Relationship Id="rId3" Type="http://schemas.microsoft.com/office/2018/10/relationships/comments" Target="../comments/modernComment_7FFFF32D_29899808.xml"/><Relationship Id="rId7" Type="http://schemas.openxmlformats.org/officeDocument/2006/relationships/diagramColors" Target="../diagrams/colors9.xml"/><Relationship Id="rId2" Type="http://schemas.openxmlformats.org/officeDocument/2006/relationships/notesSlide" Target="../notesSlides/notesSlide21.xml"/><Relationship Id="rId1" Type="http://schemas.openxmlformats.org/officeDocument/2006/relationships/slideLayout" Target="../slideLayouts/slideLayout6.xml"/><Relationship Id="rId6" Type="http://schemas.openxmlformats.org/officeDocument/2006/relationships/diagramQuickStyle" Target="../diagrams/quickStyle9.xml"/><Relationship Id="rId5" Type="http://schemas.openxmlformats.org/officeDocument/2006/relationships/diagramLayout" Target="../diagrams/layout9.xml"/><Relationship Id="rId4" Type="http://schemas.openxmlformats.org/officeDocument/2006/relationships/diagramData" Target="../diagrams/data9.xml"/></Relationships>
</file>

<file path=ppt/slides/_rels/slide31.xml.rels><?xml version="1.0" encoding="UTF-8" standalone="yes"?>
<Relationships xmlns="http://schemas.openxmlformats.org/package/2006/relationships"><Relationship Id="rId3" Type="http://schemas.microsoft.com/office/2018/10/relationships/comments" Target="../comments/modernComment_7FFFF33E_3A442DCD.xml"/><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microsoft.com/office/2018/10/relationships/comments" Target="../comments/modernComment_7FFFF32F_595809B5.xml"/><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microsoft.com/office/2018/10/relationships/comments" Target="../comments/modernComment_7FFFF330_7F6E51DA.xml"/><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microsoft.com/office/2018/10/relationships/comments" Target="../comments/modernComment_7FFFF335_C9BE1988.xml"/><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microsoft.com/office/2018/10/relationships/comments" Target="../comments/modernComment_12C_9CE8506C.xml"/><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microsoft.com/office/2018/10/relationships/comments" Target="../comments/modernComment_7FFFF340_D5273233.xml"/><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microsoft.com/office/2018/10/relationships/comments" Target="../comments/modernComment_7FFFF336_F8621731.xml"/><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3" Type="http://schemas.openxmlformats.org/officeDocument/2006/relationships/hyperlink" Target="https://indall.sharepoint.com/:u:/r/teams/CorporateTreasuryProgram/Documents%20partages/General/02%20Bancaire/02%20Affaires/Documents%20de%20travail/01%20Architecture%20d%C3%A9taill%C3%A9e/125_Vues%20int%C3%A9gr%C3%A9es%20Processus%20Syst%C3%A8mes%20Bancaire.vsdx?d=w8e9271d0a6b440e8b3e4a7201b1b5ecf&amp;csf=1&amp;web=1&amp;e=nI1hr7" TargetMode="External"/><Relationship Id="rId2" Type="http://schemas.openxmlformats.org/officeDocument/2006/relationships/notesSlide" Target="../notesSlides/notesSlide46.xml"/><Relationship Id="rId1" Type="http://schemas.openxmlformats.org/officeDocument/2006/relationships/slideLayout" Target="../slideLayouts/slideLayout6.xml"/><Relationship Id="rId4" Type="http://schemas.openxmlformats.org/officeDocument/2006/relationships/image" Target="../media/image27.png"/></Relationships>
</file>

<file path=ppt/slides/_rels/slide56.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6.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57.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6.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58.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6.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59.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6.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60.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6.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61.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6.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0.xml"/></Relationships>
</file>

<file path=ppt/slides/_rels/slide72.xml.rels><?xml version="1.0" encoding="UTF-8" standalone="yes"?>
<Relationships xmlns="http://schemas.openxmlformats.org/package/2006/relationships"><Relationship Id="rId8" Type="http://schemas.openxmlformats.org/officeDocument/2006/relationships/hyperlink" Target="https://indall.sharepoint.com/:p:/r/teams/Projet-quipevolutionetIntgration/_layouts/15/Doc2.aspx?action=edit&amp;sourcedoc=%7B7da30542-228d-4355-9a9e-bbe8dfb92f44%7D&amp;wdOrigin=TEAMS-MAGLEV.teamsSdk_ns.rwc&amp;wdExp=TEAMS-TREATMENT&amp;wdhostclicktime=1762182878915&amp;web=1" TargetMode="External"/><Relationship Id="rId3" Type="http://schemas.microsoft.com/office/2018/10/relationships/comments" Target="../comments/modernComment_7FFFCAE2_B1434D54.xml"/><Relationship Id="rId7" Type="http://schemas.openxmlformats.org/officeDocument/2006/relationships/hyperlink" Target="https://indall.sharepoint.com/:p:/r/teams/Projet-quipevolutionetIntgration/_layouts/15/Doc2.aspx?action=edit&amp;sourcedoc=%7B87f43047-59d0-4fb6-9414-bf89ed7c3c48%7D&amp;wdOrigin=TEAMS-MAGLEV.teamsSdk_ns.rwc&amp;wdExp=TEAMS-TREATMENT&amp;wdhostclicktime=1762203892665&amp;web=1" TargetMode="External"/><Relationship Id="rId2" Type="http://schemas.openxmlformats.org/officeDocument/2006/relationships/notesSlide" Target="../notesSlides/notesSlide53.xml"/><Relationship Id="rId1" Type="http://schemas.openxmlformats.org/officeDocument/2006/relationships/slideLayout" Target="../slideLayouts/slideLayout6.xml"/><Relationship Id="rId6" Type="http://schemas.openxmlformats.org/officeDocument/2006/relationships/hyperlink" Target="https://indall.sharepoint.com/:p:/r/teams/Projet-quipevolutionetIntgration/_layouts/15/Doc2.aspx?action=edit&amp;sourcedoc=%7Bc126e763-1b66-4402-ab76-59b04d59771d%7D&amp;wdOrigin=TEAMS-MAGLEV.teamsSdk_ns.rwc&amp;wdExp=TEAMS-TREATMENT&amp;wdhostclicktime=1762204169790&amp;web=1" TargetMode="External"/><Relationship Id="rId5" Type="http://schemas.openxmlformats.org/officeDocument/2006/relationships/hyperlink" Target="https://indall.sharepoint.com/:p:/r/teams/Projet-quipevolutionetIntgration/_layouts/15/Doc2.aspx?action=edit&amp;sourcedoc=%7Bf2838e6e-2255-445c-b22e-d50168a7fa87%7D&amp;wdOrigin=TEAMS-MAGLEV.teamsSdk_ns.rwc&amp;wdExp=TEAMS-TREATMENT&amp;wdhostclicktime=1762205058306&amp;web=1" TargetMode="External"/><Relationship Id="rId4" Type="http://schemas.openxmlformats.org/officeDocument/2006/relationships/hyperlink" Target="https://indall.sharepoint.com/:p:/r/teams/Projet-quipevolutionetIntgration/_layouts/15/Doc2.aspx?action=edit&amp;sourcedoc=%7B8f2a3c9f-9003-4a05-8311-d70cb323030c%7D&amp;wdOrigin=TEAMS-MAGLEV.teamsSdk_ns.rwc&amp;wdExp=TEAMS-TREATMENT&amp;wdhostclicktime=1762206303939&amp;web=1" TargetMode="Externa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5.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0730D8E-92A9-5849-884D-3F29BCD173C9}"/>
              </a:ext>
            </a:extLst>
          </p:cNvPr>
          <p:cNvSpPr>
            <a:spLocks noGrp="1"/>
          </p:cNvSpPr>
          <p:nvPr>
            <p:ph type="title"/>
          </p:nvPr>
        </p:nvSpPr>
        <p:spPr/>
        <p:txBody>
          <a:bodyPr/>
          <a:lstStyle/>
          <a:p>
            <a:r>
              <a:rPr lang="fr-CA" noProof="0" err="1"/>
              <a:t>Corporate</a:t>
            </a:r>
            <a:r>
              <a:rPr lang="fr-CA" noProof="0"/>
              <a:t> </a:t>
            </a:r>
            <a:r>
              <a:rPr lang="fr-CA" noProof="0" err="1"/>
              <a:t>Treasury</a:t>
            </a:r>
            <a:r>
              <a:rPr lang="fr-CA" noProof="0"/>
              <a:t> Program </a:t>
            </a:r>
          </a:p>
        </p:txBody>
      </p:sp>
      <p:sp>
        <p:nvSpPr>
          <p:cNvPr id="3" name="Sous-titre 2">
            <a:extLst>
              <a:ext uri="{FF2B5EF4-FFF2-40B4-BE49-F238E27FC236}">
                <a16:creationId xmlns:a16="http://schemas.microsoft.com/office/drawing/2014/main" id="{E06389CB-4C07-9F41-BEA6-CB63CC38BA12}"/>
              </a:ext>
            </a:extLst>
          </p:cNvPr>
          <p:cNvSpPr>
            <a:spLocks noGrp="1"/>
          </p:cNvSpPr>
          <p:nvPr>
            <p:ph type="subTitle" idx="1"/>
          </p:nvPr>
        </p:nvSpPr>
        <p:spPr>
          <a:xfrm>
            <a:off x="3429000" y="1428750"/>
            <a:ext cx="5486400" cy="1143000"/>
          </a:xfrm>
        </p:spPr>
        <p:txBody>
          <a:bodyPr>
            <a:normAutofit fontScale="85000" lnSpcReduction="20000"/>
          </a:bodyPr>
          <a:lstStyle/>
          <a:p>
            <a:r>
              <a:rPr lang="fr-CA" sz="2800" noProof="0"/>
              <a:t>015 – Architecture détaillée</a:t>
            </a:r>
          </a:p>
          <a:p>
            <a:r>
              <a:rPr lang="fr-CA" sz="2800" noProof="0"/>
              <a:t>Sujet : CSP Bancaire</a:t>
            </a:r>
          </a:p>
          <a:p>
            <a:r>
              <a:rPr lang="fr-CA" sz="2800" noProof="0"/>
              <a:t>ID BATS: ARCH-0012</a:t>
            </a:r>
          </a:p>
          <a:p>
            <a:endParaRPr lang="fr-CA" noProof="0"/>
          </a:p>
          <a:p>
            <a:endParaRPr lang="fr-CA" noProof="0"/>
          </a:p>
        </p:txBody>
      </p:sp>
      <p:sp>
        <p:nvSpPr>
          <p:cNvPr id="4" name="ZoneTexte 3">
            <a:extLst>
              <a:ext uri="{FF2B5EF4-FFF2-40B4-BE49-F238E27FC236}">
                <a16:creationId xmlns:a16="http://schemas.microsoft.com/office/drawing/2014/main" id="{DBD0DA1A-958E-6BB3-9344-73717702732E}"/>
              </a:ext>
            </a:extLst>
          </p:cNvPr>
          <p:cNvSpPr txBox="1"/>
          <p:nvPr/>
        </p:nvSpPr>
        <p:spPr>
          <a:xfrm>
            <a:off x="3429000" y="3077111"/>
            <a:ext cx="5486400" cy="1569660"/>
          </a:xfrm>
          <a:prstGeom prst="rect">
            <a:avLst/>
          </a:prstGeom>
          <a:noFill/>
        </p:spPr>
        <p:txBody>
          <a:bodyPr wrap="square" rtlCol="0">
            <a:spAutoFit/>
          </a:bodyPr>
          <a:lstStyle/>
          <a:p>
            <a:r>
              <a:rPr lang="fr-CA" sz="1600" noProof="0">
                <a:solidFill>
                  <a:schemeClr val="tx2">
                    <a:lumMod val="50000"/>
                  </a:schemeClr>
                </a:solidFill>
              </a:rPr>
              <a:t>Version: 1.0</a:t>
            </a:r>
          </a:p>
          <a:p>
            <a:r>
              <a:rPr lang="fr-CA" sz="1600" noProof="0">
                <a:solidFill>
                  <a:schemeClr val="tx2">
                    <a:lumMod val="50000"/>
                  </a:schemeClr>
                </a:solidFill>
              </a:rPr>
              <a:t>Dernière date de mise à jour: 2026-10-12</a:t>
            </a:r>
          </a:p>
          <a:p>
            <a:r>
              <a:rPr lang="fr-CA" sz="1600" noProof="0">
                <a:solidFill>
                  <a:schemeClr val="tx2">
                    <a:lumMod val="50000"/>
                  </a:schemeClr>
                </a:solidFill>
              </a:rPr>
              <a:t>Produit par: Amin Berriri</a:t>
            </a:r>
          </a:p>
          <a:p>
            <a:r>
              <a:rPr lang="fr-CA" sz="1600" noProof="0">
                <a:solidFill>
                  <a:schemeClr val="tx2">
                    <a:lumMod val="50000"/>
                  </a:schemeClr>
                </a:solidFill>
              </a:rPr>
              <a:t>Collaborateurs : Yves Ricard, Vincent Roy et Céline Seret</a:t>
            </a:r>
          </a:p>
          <a:p>
            <a:r>
              <a:rPr lang="fr-CA" sz="1600" noProof="0">
                <a:solidFill>
                  <a:schemeClr val="tx2">
                    <a:lumMod val="50000"/>
                  </a:schemeClr>
                </a:solidFill>
              </a:rPr>
              <a:t>Validé par : Camilia Bellanger , Andréanne Blais-Boilard</a:t>
            </a:r>
          </a:p>
          <a:p>
            <a:r>
              <a:rPr lang="fr-CA" sz="1600" noProof="0">
                <a:solidFill>
                  <a:schemeClr val="tx2">
                    <a:lumMod val="50000"/>
                  </a:schemeClr>
                </a:solidFill>
              </a:rPr>
              <a:t>Approuvé par : Josianne Cloutier</a:t>
            </a:r>
          </a:p>
        </p:txBody>
      </p:sp>
    </p:spTree>
    <p:extLst>
      <p:ext uri="{BB962C8B-B14F-4D97-AF65-F5344CB8AC3E}">
        <p14:creationId xmlns:p14="http://schemas.microsoft.com/office/powerpoint/2010/main" val="25385711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a:extLst>
              <a:ext uri="{FF2B5EF4-FFF2-40B4-BE49-F238E27FC236}">
                <a16:creationId xmlns:a16="http://schemas.microsoft.com/office/drawing/2014/main" id="{7AD91094-B57F-51F2-62FA-B79E7BFA7AF1}"/>
              </a:ext>
            </a:extLst>
          </p:cNvPr>
          <p:cNvGraphicFramePr>
            <a:graphicFrameLocks noGrp="1"/>
          </p:cNvGraphicFramePr>
          <p:nvPr>
            <p:extLst>
              <p:ext uri="{D42A27DB-BD31-4B8C-83A1-F6EECF244321}">
                <p14:modId xmlns:p14="http://schemas.microsoft.com/office/powerpoint/2010/main" val="2987779735"/>
              </p:ext>
            </p:extLst>
          </p:nvPr>
        </p:nvGraphicFramePr>
        <p:xfrm>
          <a:off x="302217" y="464949"/>
          <a:ext cx="8787539" cy="4646241"/>
        </p:xfrm>
        <a:graphic>
          <a:graphicData uri="http://schemas.openxmlformats.org/drawingml/2006/table">
            <a:tbl>
              <a:tblPr/>
              <a:tblGrid>
                <a:gridCol w="223224">
                  <a:extLst>
                    <a:ext uri="{9D8B030D-6E8A-4147-A177-3AD203B41FA5}">
                      <a16:colId xmlns:a16="http://schemas.microsoft.com/office/drawing/2014/main" val="1415628063"/>
                    </a:ext>
                  </a:extLst>
                </a:gridCol>
                <a:gridCol w="3512385">
                  <a:extLst>
                    <a:ext uri="{9D8B030D-6E8A-4147-A177-3AD203B41FA5}">
                      <a16:colId xmlns:a16="http://schemas.microsoft.com/office/drawing/2014/main" val="3178835933"/>
                    </a:ext>
                  </a:extLst>
                </a:gridCol>
                <a:gridCol w="507206">
                  <a:extLst>
                    <a:ext uri="{9D8B030D-6E8A-4147-A177-3AD203B41FA5}">
                      <a16:colId xmlns:a16="http://schemas.microsoft.com/office/drawing/2014/main" val="2108306156"/>
                    </a:ext>
                  </a:extLst>
                </a:gridCol>
                <a:gridCol w="370341">
                  <a:extLst>
                    <a:ext uri="{9D8B030D-6E8A-4147-A177-3AD203B41FA5}">
                      <a16:colId xmlns:a16="http://schemas.microsoft.com/office/drawing/2014/main" val="1602699465"/>
                    </a:ext>
                  </a:extLst>
                </a:gridCol>
                <a:gridCol w="475002">
                  <a:extLst>
                    <a:ext uri="{9D8B030D-6E8A-4147-A177-3AD203B41FA5}">
                      <a16:colId xmlns:a16="http://schemas.microsoft.com/office/drawing/2014/main" val="910403920"/>
                    </a:ext>
                  </a:extLst>
                </a:gridCol>
                <a:gridCol w="2637002">
                  <a:extLst>
                    <a:ext uri="{9D8B030D-6E8A-4147-A177-3AD203B41FA5}">
                      <a16:colId xmlns:a16="http://schemas.microsoft.com/office/drawing/2014/main" val="3164035529"/>
                    </a:ext>
                  </a:extLst>
                </a:gridCol>
                <a:gridCol w="1062379">
                  <a:extLst>
                    <a:ext uri="{9D8B030D-6E8A-4147-A177-3AD203B41FA5}">
                      <a16:colId xmlns:a16="http://schemas.microsoft.com/office/drawing/2014/main" val="1915820908"/>
                    </a:ext>
                  </a:extLst>
                </a:gridCol>
              </a:tblGrid>
              <a:tr h="144699">
                <a:tc gridSpan="2">
                  <a:txBody>
                    <a:bodyPr/>
                    <a:lstStyle/>
                    <a:p>
                      <a:pPr algn="l" fontAlgn="b">
                        <a:buNone/>
                      </a:pPr>
                      <a:endParaRPr lang="fr-CA" sz="700" b="0" i="0" u="none" strike="noStrike">
                        <a:solidFill>
                          <a:srgbClr val="000000"/>
                        </a:solidFill>
                        <a:effectLst/>
                        <a:latin typeface="Calibri" panose="020F0502020204030204" pitchFamily="34" charset="0"/>
                      </a:endParaRPr>
                    </a:p>
                  </a:txBody>
                  <a:tcPr marL="3747" marR="3747" marT="3747" marB="22479"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hMerge="1">
                  <a:txBody>
                    <a:bodyPr/>
                    <a:lstStyle/>
                    <a:p>
                      <a:endParaRPr lang="fr-FR"/>
                    </a:p>
                  </a:txBody>
                  <a:tcPr/>
                </a:tc>
                <a:tc gridSpan="3">
                  <a:txBody>
                    <a:bodyPr/>
                    <a:lstStyle/>
                    <a:p>
                      <a:pPr algn="ctr" fontAlgn="ctr">
                        <a:buNone/>
                      </a:pPr>
                      <a:r>
                        <a:rPr lang="fr-CA" sz="700" b="1" i="0" u="none" strike="noStrike">
                          <a:solidFill>
                            <a:srgbClr val="000000"/>
                          </a:solidFill>
                          <a:effectLst/>
                          <a:latin typeface="Calibri" panose="020F0502020204030204" pitchFamily="34" charset="0"/>
                        </a:rPr>
                        <a:t>Critères d'évaluation</a:t>
                      </a:r>
                    </a:p>
                  </a:txBody>
                  <a:tcPr marL="3747" marR="3747" marT="3747" marB="22479"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hMerge="1">
                  <a:txBody>
                    <a:bodyPr/>
                    <a:lstStyle/>
                    <a:p>
                      <a:endParaRPr lang="fr-FR"/>
                    </a:p>
                  </a:txBody>
                  <a:tcPr/>
                </a:tc>
                <a:tc hMerge="1">
                  <a:txBody>
                    <a:bodyPr/>
                    <a:lstStyle/>
                    <a:p>
                      <a:endParaRPr lang="fr-FR"/>
                    </a:p>
                  </a:txBody>
                  <a:tcPr/>
                </a:tc>
                <a:tc>
                  <a:txBody>
                    <a:bodyPr/>
                    <a:lstStyle/>
                    <a:p>
                      <a:pPr algn="l" fontAlgn="b">
                        <a:buNone/>
                      </a:pPr>
                      <a:endParaRPr lang="fr-CA" sz="700" b="0" i="0" u="none" strike="noStrike">
                        <a:solidFill>
                          <a:srgbClr val="000000"/>
                        </a:solidFill>
                        <a:effectLst/>
                        <a:latin typeface="Calibri" panose="020F0502020204030204" pitchFamily="34" charset="0"/>
                      </a:endParaRPr>
                    </a:p>
                  </a:txBody>
                  <a:tcPr marL="3747" marR="3747" marT="3747" marB="22479"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fr-CA" sz="700" b="0" i="0" u="none" strike="noStrike">
                        <a:solidFill>
                          <a:srgbClr val="000000"/>
                        </a:solidFill>
                        <a:effectLst/>
                        <a:latin typeface="Calibri" panose="020F0502020204030204" pitchFamily="34" charset="0"/>
                      </a:endParaRPr>
                    </a:p>
                  </a:txBody>
                  <a:tcPr marL="3747" marR="3747" marT="3747" marB="22479"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97922609"/>
                  </a:ext>
                </a:extLst>
              </a:tr>
              <a:tr h="144699">
                <a:tc>
                  <a:txBody>
                    <a:bodyPr/>
                    <a:lstStyle/>
                    <a:p>
                      <a:pPr algn="ctr" fontAlgn="ctr">
                        <a:buNone/>
                      </a:pPr>
                      <a:r>
                        <a:rPr lang="fr-CA" sz="700" b="1" i="0" u="none" strike="noStrike">
                          <a:solidFill>
                            <a:srgbClr val="000000"/>
                          </a:solidFill>
                          <a:effectLst/>
                          <a:latin typeface="Calibri" panose="020F0502020204030204" pitchFamily="34" charset="0"/>
                        </a:rPr>
                        <a:t>#</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buNone/>
                      </a:pPr>
                      <a:r>
                        <a:rPr lang="fr-CA" sz="700" b="1" i="0" u="none" strike="noStrike">
                          <a:solidFill>
                            <a:srgbClr val="000000"/>
                          </a:solidFill>
                          <a:effectLst/>
                          <a:latin typeface="Calibri" panose="020F0502020204030204" pitchFamily="34" charset="0"/>
                        </a:rPr>
                        <a:t>Critères</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buNone/>
                      </a:pPr>
                      <a:r>
                        <a:rPr lang="fr-CA" sz="700" b="1" i="0" u="none" strike="noStrike">
                          <a:solidFill>
                            <a:srgbClr val="000000"/>
                          </a:solidFill>
                          <a:effectLst/>
                          <a:latin typeface="Calibri" panose="020F0502020204030204" pitchFamily="34" charset="0"/>
                        </a:rPr>
                        <a:t>AA</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buNone/>
                      </a:pPr>
                      <a:r>
                        <a:rPr lang="fr-CA" sz="700" b="1" i="0" u="none" strike="noStrike">
                          <a:solidFill>
                            <a:srgbClr val="000000"/>
                          </a:solidFill>
                          <a:effectLst/>
                          <a:latin typeface="Calibri" panose="020F0502020204030204" pitchFamily="34" charset="0"/>
                        </a:rPr>
                        <a:t>AF</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buNone/>
                      </a:pPr>
                      <a:r>
                        <a:rPr lang="fr-CA" sz="700" b="1" i="0" u="none" strike="noStrike">
                          <a:solidFill>
                            <a:srgbClr val="000000"/>
                          </a:solidFill>
                          <a:effectLst/>
                          <a:latin typeface="Calibri" panose="020F0502020204030204" pitchFamily="34" charset="0"/>
                        </a:rPr>
                        <a:t>ATI</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buNone/>
                      </a:pPr>
                      <a:r>
                        <a:rPr lang="fr-CA" sz="700" b="1" i="0" u="none" strike="noStrike">
                          <a:solidFill>
                            <a:srgbClr val="000000"/>
                          </a:solidFill>
                          <a:effectLst/>
                          <a:latin typeface="Calibri" panose="020F0502020204030204" pitchFamily="34" charset="0"/>
                        </a:rPr>
                        <a:t>Notes</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buNone/>
                      </a:pPr>
                      <a:r>
                        <a:rPr lang="fr-CA" sz="700" b="1" i="0" u="none" strike="noStrike">
                          <a:solidFill>
                            <a:srgbClr val="000000"/>
                          </a:solidFill>
                          <a:effectLst/>
                          <a:latin typeface="Calibri" panose="020F0502020204030204" pitchFamily="34" charset="0"/>
                        </a:rPr>
                        <a:t>Commentaires</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3569473098"/>
                  </a:ext>
                </a:extLst>
              </a:tr>
              <a:tr h="144699">
                <a:tc>
                  <a:txBody>
                    <a:bodyPr/>
                    <a:lstStyle/>
                    <a:p>
                      <a:pPr algn="ctr" fontAlgn="ctr">
                        <a:buNone/>
                      </a:pPr>
                      <a:r>
                        <a:rPr lang="fr-CA" sz="700" b="0" i="0" u="none" strike="noStrike">
                          <a:solidFill>
                            <a:srgbClr val="000000"/>
                          </a:solidFill>
                          <a:effectLst/>
                          <a:latin typeface="Calibri" panose="020F0502020204030204" pitchFamily="34" charset="0"/>
                        </a:rPr>
                        <a:t>1</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CA" sz="700" b="0" i="0" u="none" strike="noStrike">
                          <a:solidFill>
                            <a:srgbClr val="000000"/>
                          </a:solidFill>
                          <a:effectLst/>
                          <a:latin typeface="Calibri" panose="020F0502020204030204" pitchFamily="34" charset="0"/>
                        </a:rPr>
                        <a:t>Projets impactés ont été identifié?</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highlight>
                          <a:srgbClr val="FFFF00"/>
                        </a:highligh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85395084"/>
                  </a:ext>
                </a:extLst>
              </a:tr>
              <a:tr h="144699">
                <a:tc>
                  <a:txBody>
                    <a:bodyPr/>
                    <a:lstStyle/>
                    <a:p>
                      <a:pPr algn="ctr" fontAlgn="ctr">
                        <a:buNone/>
                      </a:pPr>
                      <a:r>
                        <a:rPr lang="fr-CA" sz="700" b="0" i="0" u="none" strike="noStrike">
                          <a:solidFill>
                            <a:srgbClr val="000000"/>
                          </a:solidFill>
                          <a:effectLst/>
                          <a:latin typeface="Calibri" panose="020F0502020204030204" pitchFamily="34" charset="0"/>
                        </a:rPr>
                        <a:t>2</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CA" sz="700" b="0" i="0" u="none" strike="noStrike">
                          <a:solidFill>
                            <a:srgbClr val="000000"/>
                          </a:solidFill>
                          <a:effectLst/>
                          <a:latin typeface="Calibri" panose="020F0502020204030204" pitchFamily="34" charset="0"/>
                        </a:rPr>
                        <a:t>Impacts inter-projet ont été identifié?</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FF0000"/>
                        </a:solidFill>
                        <a:effectLst/>
                        <a:highlight>
                          <a:srgbClr val="FFFF00"/>
                        </a:highligh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94422405"/>
                  </a:ext>
                </a:extLst>
              </a:tr>
              <a:tr h="144699">
                <a:tc>
                  <a:txBody>
                    <a:bodyPr/>
                    <a:lstStyle/>
                    <a:p>
                      <a:pPr algn="ctr" fontAlgn="ctr">
                        <a:buNone/>
                      </a:pPr>
                      <a:r>
                        <a:rPr lang="fr-CA" sz="700" b="0" i="0" u="none" strike="noStrike">
                          <a:solidFill>
                            <a:srgbClr val="000000"/>
                          </a:solidFill>
                          <a:effectLst/>
                          <a:latin typeface="Calibri" panose="020F0502020204030204" pitchFamily="34" charset="0"/>
                        </a:rPr>
                        <a:t>3</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CA" sz="700" b="0" i="0" u="none" strike="noStrike">
                          <a:solidFill>
                            <a:srgbClr val="000000"/>
                          </a:solidFill>
                          <a:effectLst/>
                          <a:latin typeface="Calibri" panose="020F0502020204030204" pitchFamily="34" charset="0"/>
                        </a:rPr>
                        <a:t>L'architecture d'affaires a été définie?</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1653897"/>
                  </a:ext>
                </a:extLst>
              </a:tr>
              <a:tr h="144699">
                <a:tc>
                  <a:txBody>
                    <a:bodyPr/>
                    <a:lstStyle/>
                    <a:p>
                      <a:pPr algn="ctr" fontAlgn="ctr">
                        <a:buNone/>
                      </a:pPr>
                      <a:r>
                        <a:rPr lang="fr-CA" sz="700" b="0" i="0" u="none" strike="noStrike">
                          <a:solidFill>
                            <a:srgbClr val="000000"/>
                          </a:solidFill>
                          <a:effectLst/>
                          <a:latin typeface="Calibri" panose="020F0502020204030204" pitchFamily="34" charset="0"/>
                        </a:rPr>
                        <a:t>5.1</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CA" sz="700" b="0" i="0" u="none" strike="noStrike">
                          <a:solidFill>
                            <a:srgbClr val="000000"/>
                          </a:solidFill>
                          <a:effectLst/>
                          <a:latin typeface="Calibri" panose="020F0502020204030204" pitchFamily="34" charset="0"/>
                        </a:rPr>
                        <a:t>     Situation actuelle a été identifié?</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68271618"/>
                  </a:ext>
                </a:extLst>
              </a:tr>
              <a:tr h="144699">
                <a:tc>
                  <a:txBody>
                    <a:bodyPr/>
                    <a:lstStyle/>
                    <a:p>
                      <a:pPr algn="ctr" fontAlgn="ctr">
                        <a:buNone/>
                      </a:pPr>
                      <a:r>
                        <a:rPr lang="fr-CA" sz="700" b="0" i="0" u="none" strike="noStrike">
                          <a:solidFill>
                            <a:srgbClr val="000000"/>
                          </a:solidFill>
                          <a:effectLst/>
                          <a:latin typeface="Calibri" panose="020F0502020204030204" pitchFamily="34" charset="0"/>
                        </a:rPr>
                        <a:t>5.2</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CA" sz="700" b="0" i="0" u="none" strike="noStrike">
                          <a:solidFill>
                            <a:srgbClr val="000000"/>
                          </a:solidFill>
                          <a:effectLst/>
                          <a:latin typeface="Calibri" panose="020F0502020204030204" pitchFamily="34" charset="0"/>
                        </a:rPr>
                        <a:t>     Besoins d'affaires ont été identifié?</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69620177"/>
                  </a:ext>
                </a:extLst>
              </a:tr>
              <a:tr h="144699">
                <a:tc>
                  <a:txBody>
                    <a:bodyPr/>
                    <a:lstStyle/>
                    <a:p>
                      <a:pPr algn="ctr" fontAlgn="ctr">
                        <a:buNone/>
                      </a:pPr>
                      <a:r>
                        <a:rPr lang="fr-CA" sz="700" b="0" i="0" u="none" strike="noStrike">
                          <a:solidFill>
                            <a:srgbClr val="000000"/>
                          </a:solidFill>
                          <a:effectLst/>
                          <a:latin typeface="Calibri" panose="020F0502020204030204" pitchFamily="34" charset="0"/>
                        </a:rPr>
                        <a:t>5.3</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CA" sz="700" b="0" i="0" u="none" strike="noStrike">
                          <a:solidFill>
                            <a:srgbClr val="000000"/>
                          </a:solidFill>
                          <a:effectLst/>
                          <a:latin typeface="Calibri" panose="020F0502020204030204" pitchFamily="34" charset="0"/>
                        </a:rPr>
                        <a:t>     Orientations d'affaires ont été identifié?</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81586910"/>
                  </a:ext>
                </a:extLst>
              </a:tr>
              <a:tr h="144699">
                <a:tc>
                  <a:txBody>
                    <a:bodyPr/>
                    <a:lstStyle/>
                    <a:p>
                      <a:pPr algn="ctr" fontAlgn="ctr">
                        <a:buNone/>
                      </a:pPr>
                      <a:r>
                        <a:rPr lang="fr-CA" sz="700" b="0" i="0" u="none" strike="noStrike">
                          <a:solidFill>
                            <a:srgbClr val="000000"/>
                          </a:solidFill>
                          <a:effectLst/>
                          <a:latin typeface="Calibri" panose="020F0502020204030204" pitchFamily="34" charset="0"/>
                        </a:rPr>
                        <a:t>5.4</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CA" sz="700" b="0" i="0" u="none" strike="noStrike">
                          <a:solidFill>
                            <a:srgbClr val="000000"/>
                          </a:solidFill>
                          <a:effectLst/>
                          <a:latin typeface="Calibri" panose="020F0502020204030204" pitchFamily="34" charset="0"/>
                        </a:rPr>
                        <a:t>     Capacité d'affaires a été identifié? </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09857999"/>
                  </a:ext>
                </a:extLst>
              </a:tr>
              <a:tr h="144699">
                <a:tc>
                  <a:txBody>
                    <a:bodyPr/>
                    <a:lstStyle/>
                    <a:p>
                      <a:pPr algn="ctr" fontAlgn="ctr">
                        <a:buNone/>
                      </a:pPr>
                      <a:r>
                        <a:rPr lang="fr-CA" sz="700" b="0" i="0" u="none" strike="noStrike">
                          <a:solidFill>
                            <a:srgbClr val="000000"/>
                          </a:solidFill>
                          <a:effectLst/>
                          <a:latin typeface="Calibri" panose="020F0502020204030204" pitchFamily="34" charset="0"/>
                        </a:rPr>
                        <a:t>5.5</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CA" sz="700" b="0" i="0" u="none" strike="noStrike">
                          <a:solidFill>
                            <a:srgbClr val="000000"/>
                          </a:solidFill>
                          <a:effectLst/>
                          <a:latin typeface="Calibri" panose="020F0502020204030204" pitchFamily="34" charset="0"/>
                        </a:rPr>
                        <a:t>     Processus d'affaires a été défini ou identifié? </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00428700"/>
                  </a:ext>
                </a:extLst>
              </a:tr>
              <a:tr h="144699">
                <a:tc>
                  <a:txBody>
                    <a:bodyPr/>
                    <a:lstStyle/>
                    <a:p>
                      <a:pPr algn="ctr" fontAlgn="ctr">
                        <a:buNone/>
                      </a:pPr>
                      <a:r>
                        <a:rPr lang="fr-CA" sz="700" b="0" i="0" u="none" strike="noStrike">
                          <a:solidFill>
                            <a:srgbClr val="000000"/>
                          </a:solidFill>
                          <a:effectLst/>
                          <a:latin typeface="Calibri" panose="020F0502020204030204" pitchFamily="34" charset="0"/>
                        </a:rPr>
                        <a:t>6</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CA" sz="700" b="0" i="0" u="none" strike="noStrike">
                          <a:solidFill>
                            <a:srgbClr val="000000"/>
                          </a:solidFill>
                          <a:effectLst/>
                          <a:latin typeface="Calibri" panose="020F0502020204030204" pitchFamily="34" charset="0"/>
                        </a:rPr>
                        <a:t>Solution</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6048344"/>
                  </a:ext>
                </a:extLst>
              </a:tr>
              <a:tr h="144699">
                <a:tc>
                  <a:txBody>
                    <a:bodyPr/>
                    <a:lstStyle/>
                    <a:p>
                      <a:pPr algn="ctr" fontAlgn="ctr">
                        <a:buNone/>
                      </a:pPr>
                      <a:r>
                        <a:rPr lang="fr-CA" sz="700" b="0" i="0" u="none" strike="noStrike">
                          <a:solidFill>
                            <a:srgbClr val="000000"/>
                          </a:solidFill>
                          <a:effectLst/>
                          <a:latin typeface="Calibri" panose="020F0502020204030204" pitchFamily="34" charset="0"/>
                        </a:rPr>
                        <a:t>6.1</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CA" sz="700" b="0" i="0" u="none" strike="noStrike">
                          <a:solidFill>
                            <a:srgbClr val="000000"/>
                          </a:solidFill>
                          <a:effectLst/>
                          <a:latin typeface="Calibri" panose="020F0502020204030204" pitchFamily="34" charset="0"/>
                        </a:rPr>
                        <a:t>   Toutes les options de solution ont été identifié?</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81567467"/>
                  </a:ext>
                </a:extLst>
              </a:tr>
              <a:tr h="144699">
                <a:tc>
                  <a:txBody>
                    <a:bodyPr/>
                    <a:lstStyle/>
                    <a:p>
                      <a:pPr algn="ctr" fontAlgn="ctr">
                        <a:buNone/>
                      </a:pPr>
                      <a:r>
                        <a:rPr lang="fr-CA" sz="700" b="0" i="0" u="none" strike="noStrike">
                          <a:solidFill>
                            <a:srgbClr val="000000"/>
                          </a:solidFill>
                          <a:effectLst/>
                          <a:latin typeface="Calibri" panose="020F0502020204030204" pitchFamily="34" charset="0"/>
                        </a:rPr>
                        <a:t>6.1</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CA" sz="700" b="0" i="0" u="none" strike="noStrike">
                          <a:solidFill>
                            <a:srgbClr val="000000"/>
                          </a:solidFill>
                          <a:effectLst/>
                          <a:latin typeface="Calibri" panose="020F0502020204030204" pitchFamily="34" charset="0"/>
                        </a:rPr>
                        <a:t>     Activités et coûts de projet ont été identifié?</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CA" sz="700" b="0" i="0" u="none" strike="noStrike">
                          <a:solidFill>
                            <a:srgbClr val="000000"/>
                          </a:solidFill>
                          <a:effectLst/>
                          <a:latin typeface="Calibri" panose="020F0502020204030204" pitchFamily="34" charset="0"/>
                        </a:rPr>
                        <a:t>Activités : Fait</a:t>
                      </a:r>
                    </a:p>
                    <a:p>
                      <a:pPr marL="0" marR="0" lvl="0" indent="0" algn="ctr" defTabSz="914400" rtl="0" eaLnBrk="1" fontAlgn="ctr" latinLnBrk="0" hangingPunct="1">
                        <a:lnSpc>
                          <a:spcPct val="100000"/>
                        </a:lnSpc>
                        <a:spcBef>
                          <a:spcPts val="0"/>
                        </a:spcBef>
                        <a:spcAft>
                          <a:spcPts val="0"/>
                        </a:spcAft>
                        <a:buClrTx/>
                        <a:buSzTx/>
                        <a:buFontTx/>
                        <a:buNone/>
                        <a:tabLst/>
                        <a:defRPr/>
                      </a:pPr>
                      <a:r>
                        <a:rPr lang="fr-CA" sz="700" b="0" i="0" u="none" strike="noStrike">
                          <a:solidFill>
                            <a:srgbClr val="000000"/>
                          </a:solidFill>
                          <a:effectLst/>
                          <a:latin typeface="Calibri" panose="020F0502020204030204" pitchFamily="34" charset="0"/>
                        </a:rPr>
                        <a:t>Coup du projet : Fait et suivi dans le SBC</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62474053"/>
                  </a:ext>
                </a:extLst>
              </a:tr>
              <a:tr h="144699">
                <a:tc>
                  <a:txBody>
                    <a:bodyPr/>
                    <a:lstStyle/>
                    <a:p>
                      <a:pPr algn="ctr" fontAlgn="ctr">
                        <a:buNone/>
                      </a:pPr>
                      <a:r>
                        <a:rPr lang="fr-CA" sz="700" b="0" i="0" u="none" strike="noStrike">
                          <a:solidFill>
                            <a:srgbClr val="000000"/>
                          </a:solidFill>
                          <a:effectLst/>
                          <a:latin typeface="Calibri" panose="020F0502020204030204" pitchFamily="34" charset="0"/>
                        </a:rPr>
                        <a:t>6.2</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CA" sz="700" b="0" i="0" u="none" strike="noStrike">
                          <a:solidFill>
                            <a:srgbClr val="000000"/>
                          </a:solidFill>
                          <a:effectLst/>
                          <a:latin typeface="Calibri" panose="020F0502020204030204" pitchFamily="34" charset="0"/>
                        </a:rPr>
                        <a:t>     Risques identifiés et réévalués?</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49111151"/>
                  </a:ext>
                </a:extLst>
              </a:tr>
              <a:tr h="144699">
                <a:tc>
                  <a:txBody>
                    <a:bodyPr/>
                    <a:lstStyle/>
                    <a:p>
                      <a:pPr algn="ctr" fontAlgn="ctr">
                        <a:buNone/>
                      </a:pPr>
                      <a:r>
                        <a:rPr lang="fr-CA" sz="700" b="0" i="0" u="none" strike="noStrike">
                          <a:solidFill>
                            <a:srgbClr val="000000"/>
                          </a:solidFill>
                          <a:effectLst/>
                          <a:latin typeface="Calibri" panose="020F0502020204030204" pitchFamily="34" charset="0"/>
                        </a:rPr>
                        <a:t>6.3</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CA" sz="700" b="0" i="0" u="none" strike="noStrike">
                          <a:solidFill>
                            <a:srgbClr val="000000"/>
                          </a:solidFill>
                          <a:effectLst/>
                          <a:latin typeface="Calibri" panose="020F0502020204030204" pitchFamily="34" charset="0"/>
                        </a:rPr>
                        <a:t>     Changements apportés par la recommandation ont été identifié?</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84043711"/>
                  </a:ext>
                </a:extLst>
              </a:tr>
              <a:tr h="144699">
                <a:tc>
                  <a:txBody>
                    <a:bodyPr/>
                    <a:lstStyle/>
                    <a:p>
                      <a:pPr algn="ctr" fontAlgn="ctr">
                        <a:buNone/>
                      </a:pPr>
                      <a:r>
                        <a:rPr lang="fr-CA" sz="700" b="0" i="0" u="none" strike="noStrike">
                          <a:solidFill>
                            <a:srgbClr val="000000"/>
                          </a:solidFill>
                          <a:effectLst/>
                          <a:latin typeface="Calibri" panose="020F0502020204030204" pitchFamily="34" charset="0"/>
                        </a:rPr>
                        <a:t>6.4</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CA" sz="700" b="0" i="0" u="none" strike="noStrike">
                          <a:solidFill>
                            <a:srgbClr val="000000"/>
                          </a:solidFill>
                          <a:effectLst/>
                          <a:latin typeface="Calibri" panose="020F0502020204030204" pitchFamily="34" charset="0"/>
                        </a:rPr>
                        <a:t>     Recommandation a été formulés suivant les cibles AA?</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46665753"/>
                  </a:ext>
                </a:extLst>
              </a:tr>
              <a:tr h="144699">
                <a:tc>
                  <a:txBody>
                    <a:bodyPr/>
                    <a:lstStyle/>
                    <a:p>
                      <a:pPr algn="ctr" fontAlgn="ctr">
                        <a:buNone/>
                      </a:pPr>
                      <a:r>
                        <a:rPr lang="fr-CA" sz="700" b="0" i="0" u="none" strike="noStrike">
                          <a:solidFill>
                            <a:srgbClr val="000000"/>
                          </a:solidFill>
                          <a:effectLst/>
                          <a:latin typeface="Calibri" panose="020F0502020204030204" pitchFamily="34" charset="0"/>
                        </a:rPr>
                        <a:t>6.5</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CA" sz="700" b="0" i="0" u="none" strike="noStrike">
                          <a:solidFill>
                            <a:srgbClr val="000000"/>
                          </a:solidFill>
                          <a:effectLst/>
                          <a:latin typeface="Calibri" panose="020F0502020204030204" pitchFamily="34" charset="0"/>
                        </a:rPr>
                        <a:t>     Gains financiers anticipés dans le Run identifiés?</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38887887"/>
                  </a:ext>
                </a:extLst>
              </a:tr>
              <a:tr h="144699">
                <a:tc>
                  <a:txBody>
                    <a:bodyPr/>
                    <a:lstStyle/>
                    <a:p>
                      <a:pPr algn="ctr" fontAlgn="ctr">
                        <a:buNone/>
                      </a:pPr>
                      <a:r>
                        <a:rPr lang="fr-CA" sz="700" b="0" i="0" u="none" strike="noStrike">
                          <a:solidFill>
                            <a:srgbClr val="000000"/>
                          </a:solidFill>
                          <a:effectLst/>
                          <a:latin typeface="Calibri" panose="020F0502020204030204" pitchFamily="34" charset="0"/>
                        </a:rPr>
                        <a:t>6.6</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CA" sz="700" b="0" i="0" u="none" strike="noStrike">
                          <a:solidFill>
                            <a:srgbClr val="000000"/>
                          </a:solidFill>
                          <a:effectLst/>
                          <a:latin typeface="Calibri" panose="020F0502020204030204" pitchFamily="34" charset="0"/>
                        </a:rPr>
                        <a:t>     Bénéfices qualitatifs</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43289850"/>
                  </a:ext>
                </a:extLst>
              </a:tr>
              <a:tr h="162163">
                <a:tc>
                  <a:txBody>
                    <a:bodyPr/>
                    <a:lstStyle/>
                    <a:p>
                      <a:pPr algn="ctr" fontAlgn="ctr">
                        <a:buNone/>
                      </a:pPr>
                      <a:r>
                        <a:rPr lang="fr-CA" sz="700" b="0" i="0" u="none" strike="noStrike">
                          <a:solidFill>
                            <a:srgbClr val="000000"/>
                          </a:solidFill>
                          <a:effectLst/>
                          <a:latin typeface="Calibri" panose="020F0502020204030204" pitchFamily="34" charset="0"/>
                        </a:rPr>
                        <a:t>7</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CA" sz="700" b="0" i="0" u="none" strike="noStrike">
                          <a:solidFill>
                            <a:srgbClr val="000000"/>
                          </a:solidFill>
                          <a:effectLst/>
                          <a:latin typeface="Calibri" panose="020F0502020204030204" pitchFamily="34" charset="0"/>
                        </a:rPr>
                        <a:t>L'architecture a été validé par les tables d'architecture respectives</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kern="1200">
                        <a:solidFill>
                          <a:srgbClr val="000000"/>
                        </a:solidFill>
                        <a:effectLst/>
                        <a:latin typeface="Calibri" panose="020F0502020204030204" pitchFamily="34" charset="0"/>
                        <a:ea typeface="+mn-ea"/>
                        <a:cs typeface="+mn-cs"/>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CA" sz="700" b="0" i="0" u="none" strike="noStrike">
                          <a:solidFill>
                            <a:srgbClr val="000000"/>
                          </a:solidFill>
                          <a:effectLst/>
                          <a:latin typeface="Calibri" panose="020F0502020204030204" pitchFamily="34" charset="0"/>
                        </a:rPr>
                        <a:t>Table d'architecture le 12 janvier 2026</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63084021"/>
                  </a:ext>
                </a:extLst>
              </a:tr>
              <a:tr h="157171">
                <a:tc>
                  <a:txBody>
                    <a:bodyPr/>
                    <a:lstStyle/>
                    <a:p>
                      <a:pPr algn="ctr" fontAlgn="ctr">
                        <a:buNone/>
                      </a:pPr>
                      <a:r>
                        <a:rPr lang="fr-CA" sz="700" b="0" i="0" u="none" strike="noStrike">
                          <a:solidFill>
                            <a:srgbClr val="000000"/>
                          </a:solidFill>
                          <a:effectLst/>
                          <a:latin typeface="Calibri" panose="020F0502020204030204" pitchFamily="34" charset="0"/>
                        </a:rPr>
                        <a:t>8</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CA" sz="700" b="0" i="0" u="none" strike="noStrike">
                          <a:solidFill>
                            <a:srgbClr val="000000"/>
                          </a:solidFill>
                          <a:effectLst/>
                          <a:latin typeface="Calibri" panose="020F0502020204030204" pitchFamily="34" charset="0"/>
                        </a:rPr>
                        <a:t>Orientations d'affaires sont-elles respectées?</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71138039"/>
                  </a:ext>
                </a:extLst>
              </a:tr>
              <a:tr h="149689">
                <a:tc>
                  <a:txBody>
                    <a:bodyPr/>
                    <a:lstStyle/>
                    <a:p>
                      <a:pPr algn="ctr" fontAlgn="ctr">
                        <a:buNone/>
                      </a:pPr>
                      <a:r>
                        <a:rPr lang="fr-CA" sz="700" b="0" i="0" u="none" strike="noStrike">
                          <a:solidFill>
                            <a:srgbClr val="000000"/>
                          </a:solidFill>
                          <a:effectLst/>
                          <a:latin typeface="Calibri" panose="020F0502020204030204" pitchFamily="34" charset="0"/>
                        </a:rPr>
                        <a:t>8.1</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CA" sz="700" b="0" i="0" u="none" strike="noStrike">
                          <a:solidFill>
                            <a:srgbClr val="000000"/>
                          </a:solidFill>
                          <a:effectLst/>
                          <a:latin typeface="Calibri" panose="020F0502020204030204" pitchFamily="34" charset="0"/>
                        </a:rPr>
                        <a:t>     Les principes directeurs de projets ont été validées? </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6113924"/>
                  </a:ext>
                </a:extLst>
              </a:tr>
              <a:tr h="174636">
                <a:tc>
                  <a:txBody>
                    <a:bodyPr/>
                    <a:lstStyle/>
                    <a:p>
                      <a:pPr algn="ctr" fontAlgn="ctr">
                        <a:buNone/>
                      </a:pPr>
                      <a:r>
                        <a:rPr lang="fr-CA" sz="700" b="0" i="0" u="none" strike="noStrike">
                          <a:solidFill>
                            <a:srgbClr val="000000"/>
                          </a:solidFill>
                          <a:effectLst/>
                          <a:latin typeface="Calibri" panose="020F0502020204030204" pitchFamily="34" charset="0"/>
                        </a:rPr>
                        <a:t>8.2</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CA" sz="700" b="0" i="0" u="none" strike="noStrike">
                          <a:solidFill>
                            <a:srgbClr val="000000"/>
                          </a:solidFill>
                          <a:effectLst/>
                          <a:latin typeface="Calibri" panose="020F0502020204030204" pitchFamily="34" charset="0"/>
                        </a:rPr>
                        <a:t>     Si non respect, 018 Avis AA devra être produit</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91763526"/>
                  </a:ext>
                </a:extLst>
              </a:tr>
              <a:tr h="168400">
                <a:tc>
                  <a:txBody>
                    <a:bodyPr/>
                    <a:lstStyle/>
                    <a:p>
                      <a:pPr algn="ctr" fontAlgn="ctr">
                        <a:buNone/>
                      </a:pPr>
                      <a:r>
                        <a:rPr lang="fr-CA" sz="700" b="0" i="0" u="none" strike="noStrike">
                          <a:solidFill>
                            <a:srgbClr val="000000"/>
                          </a:solidFill>
                          <a:effectLst/>
                          <a:latin typeface="Calibri" panose="020F0502020204030204" pitchFamily="34" charset="0"/>
                        </a:rPr>
                        <a:t>8.3</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CA" sz="700" b="0" i="0" u="none" strike="noStrike">
                          <a:solidFill>
                            <a:srgbClr val="000000"/>
                          </a:solidFill>
                          <a:effectLst/>
                          <a:latin typeface="Calibri" panose="020F0502020204030204" pitchFamily="34" charset="0"/>
                        </a:rPr>
                        <a:t>     Les principes d'architectue d'entreprise sont-ils respectés?</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00234822"/>
                  </a:ext>
                </a:extLst>
              </a:tr>
              <a:tr h="180875">
                <a:tc>
                  <a:txBody>
                    <a:bodyPr/>
                    <a:lstStyle/>
                    <a:p>
                      <a:pPr algn="ctr" fontAlgn="ctr">
                        <a:buNone/>
                      </a:pPr>
                      <a:r>
                        <a:rPr lang="fr-CA" sz="700" b="0" i="0" u="none" strike="noStrike">
                          <a:solidFill>
                            <a:srgbClr val="000000"/>
                          </a:solidFill>
                          <a:effectLst/>
                          <a:latin typeface="Calibri" panose="020F0502020204030204" pitchFamily="34" charset="0"/>
                        </a:rPr>
                        <a:t>8.4</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CA" sz="700" b="0" i="0" u="none" strike="noStrike">
                          <a:solidFill>
                            <a:srgbClr val="000000"/>
                          </a:solidFill>
                          <a:effectLst/>
                          <a:latin typeface="Calibri" panose="020F0502020204030204" pitchFamily="34" charset="0"/>
                        </a:rPr>
                        <a:t>    Si les principes d'architecture d'entreprise ne sont pas respectés, passage à l'ARB</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r>
                        <a:rPr lang="fr-CA" sz="700" b="0" i="0" u="none" strike="noStrike">
                          <a:solidFill>
                            <a:srgbClr val="000000"/>
                          </a:solidFill>
                          <a:effectLst/>
                          <a:latin typeface="Calibri" panose="020F0502020204030204" pitchFamily="34" charset="0"/>
                        </a:rPr>
                        <a:t>Un passage à L’ARB a été fait par Yves Ricard et la solution a été approuvé </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42603397"/>
                  </a:ext>
                </a:extLst>
              </a:tr>
              <a:tr h="149689">
                <a:tc>
                  <a:txBody>
                    <a:bodyPr/>
                    <a:lstStyle/>
                    <a:p>
                      <a:pPr algn="ctr" fontAlgn="ctr">
                        <a:buNone/>
                      </a:pPr>
                      <a:r>
                        <a:rPr lang="fr-CA" sz="700" b="0" i="0" u="none" strike="noStrike">
                          <a:solidFill>
                            <a:srgbClr val="000000"/>
                          </a:solidFill>
                          <a:effectLst/>
                          <a:latin typeface="Calibri" panose="020F0502020204030204" pitchFamily="34" charset="0"/>
                        </a:rPr>
                        <a:t>9</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CA" sz="700" b="0" i="0" u="none" strike="noStrike">
                          <a:solidFill>
                            <a:srgbClr val="000000"/>
                          </a:solidFill>
                          <a:effectLst/>
                          <a:latin typeface="Calibri" panose="020F0502020204030204" pitchFamily="34" charset="0"/>
                        </a:rPr>
                        <a:t>Validé avec le/les leaders de processus touchés?</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buNone/>
                      </a:pPr>
                      <a:r>
                        <a:rPr lang="fr-CA" sz="700" b="0" i="0" u="none" strike="noStrike">
                          <a:solidFill>
                            <a:srgbClr val="000000"/>
                          </a:solidFill>
                          <a:effectLst/>
                          <a:latin typeface="Calibri" panose="020F0502020204030204" pitchFamily="34" charset="0"/>
                        </a:rPr>
                        <a:t>Pas fait avec lead de processus des lignes d’affaire</a:t>
                      </a:r>
                    </a:p>
                    <a:p>
                      <a:pPr algn="ctr" fontAlgn="ctr">
                        <a:buNone/>
                      </a:pPr>
                      <a:r>
                        <a:rPr lang="fr-CA" sz="700" b="0" i="0" u="none" strike="noStrike">
                          <a:solidFill>
                            <a:srgbClr val="000000"/>
                          </a:solidFill>
                          <a:effectLst/>
                          <a:latin typeface="Calibri" panose="020F0502020204030204" pitchFamily="34" charset="0"/>
                        </a:rPr>
                        <a:t>Josianne voulait être en maitrise de son offre de service plus que s’adapter aux différentes exceptions</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82049671"/>
                  </a:ext>
                </a:extLst>
              </a:tr>
              <a:tr h="255720">
                <a:tc>
                  <a:txBody>
                    <a:bodyPr/>
                    <a:lstStyle/>
                    <a:p>
                      <a:pPr algn="ctr" fontAlgn="ctr">
                        <a:buNone/>
                      </a:pPr>
                      <a:r>
                        <a:rPr lang="fr-CA" sz="700" b="0" i="0" u="none" strike="noStrike">
                          <a:solidFill>
                            <a:srgbClr val="000000"/>
                          </a:solidFill>
                          <a:effectLst/>
                          <a:latin typeface="Calibri" panose="020F0502020204030204" pitchFamily="34" charset="0"/>
                        </a:rPr>
                        <a:t>10</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CA" sz="700" b="0" i="0" u="none" strike="noStrike">
                          <a:solidFill>
                            <a:srgbClr val="000000"/>
                          </a:solidFill>
                          <a:effectLst/>
                          <a:latin typeface="Calibri" panose="020F0502020204030204" pitchFamily="34" charset="0"/>
                        </a:rPr>
                        <a:t>Identifier les risques supplémentaires au fait que la vision et les orientations d'affaires ne sont pas totalement défini</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kern="1200">
                        <a:solidFill>
                          <a:srgbClr val="000000"/>
                        </a:solidFill>
                        <a:effectLst/>
                        <a:latin typeface="Calibri" panose="020F0502020204030204" pitchFamily="34" charset="0"/>
                        <a:ea typeface="+mn-ea"/>
                        <a:cs typeface="+mn-cs"/>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18816263"/>
                  </a:ext>
                </a:extLst>
              </a:tr>
              <a:tr h="293141">
                <a:tc>
                  <a:txBody>
                    <a:bodyPr/>
                    <a:lstStyle/>
                    <a:p>
                      <a:pPr algn="ctr" fontAlgn="ctr">
                        <a:buNone/>
                      </a:pPr>
                      <a:r>
                        <a:rPr lang="fr-CA" sz="700" b="0" i="0" u="none" strike="noStrike">
                          <a:solidFill>
                            <a:srgbClr val="000000"/>
                          </a:solidFill>
                          <a:effectLst/>
                          <a:latin typeface="Calibri" panose="020F0502020204030204" pitchFamily="34" charset="0"/>
                        </a:rPr>
                        <a:t>11</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CA" sz="700" b="0" i="0" u="none" strike="noStrike">
                          <a:solidFill>
                            <a:srgbClr val="000000"/>
                          </a:solidFill>
                          <a:effectLst/>
                          <a:latin typeface="Calibri" panose="020F0502020204030204" pitchFamily="34" charset="0"/>
                        </a:rPr>
                        <a:t>S'assurer que la recommandation pourrait s'appliquer dans une approche holistique et cohérente à l'ensemble de l'organisation, tout en respectant la spécificité sectorielle (PDA-2)</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03920286"/>
                  </a:ext>
                </a:extLst>
              </a:tr>
            </a:tbl>
          </a:graphicData>
        </a:graphic>
      </p:graphicFrame>
      <p:sp>
        <p:nvSpPr>
          <p:cNvPr id="7" name="Titre 1">
            <a:extLst>
              <a:ext uri="{FF2B5EF4-FFF2-40B4-BE49-F238E27FC236}">
                <a16:creationId xmlns:a16="http://schemas.microsoft.com/office/drawing/2014/main" id="{0A4AC49E-61DA-F31E-A206-C593132DE485}"/>
              </a:ext>
            </a:extLst>
          </p:cNvPr>
          <p:cNvSpPr txBox="1">
            <a:spLocks/>
          </p:cNvSpPr>
          <p:nvPr/>
        </p:nvSpPr>
        <p:spPr>
          <a:xfrm>
            <a:off x="193964" y="0"/>
            <a:ext cx="8950036" cy="381000"/>
          </a:xfrm>
          <a:prstGeom prst="rect">
            <a:avLst/>
          </a:prstGeom>
          <a:solidFill>
            <a:schemeClr val="tx1"/>
          </a:solidFill>
        </p:spPr>
        <p:txBody>
          <a:bodyPr vert="horz" lIns="91440" tIns="45720" rIns="91440" bIns="45720" rtlCol="0" anchor="ctr">
            <a:no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fr-CA" sz="2000" b="1">
                <a:solidFill>
                  <a:schemeClr val="bg1"/>
                </a:solidFill>
              </a:rPr>
              <a:t>Critères d’évaluation</a:t>
            </a:r>
            <a:endParaRPr lang="fr-CA" sz="1600" b="1">
              <a:solidFill>
                <a:schemeClr val="bg1"/>
              </a:solidFill>
            </a:endParaRPr>
          </a:p>
        </p:txBody>
      </p:sp>
    </p:spTree>
    <p:extLst>
      <p:ext uri="{BB962C8B-B14F-4D97-AF65-F5344CB8AC3E}">
        <p14:creationId xmlns:p14="http://schemas.microsoft.com/office/powerpoint/2010/main" val="37895304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F517346-09DA-9F4E-82E5-83A93E2DA32D}"/>
              </a:ext>
            </a:extLst>
          </p:cNvPr>
          <p:cNvSpPr>
            <a:spLocks noGrp="1"/>
          </p:cNvSpPr>
          <p:nvPr>
            <p:ph type="title"/>
          </p:nvPr>
        </p:nvSpPr>
        <p:spPr>
          <a:xfrm>
            <a:off x="2819400" y="11171"/>
            <a:ext cx="6172200" cy="993775"/>
          </a:xfrm>
        </p:spPr>
        <p:txBody>
          <a:bodyPr/>
          <a:lstStyle/>
          <a:p>
            <a:r>
              <a:rPr lang="fr-CA" noProof="0"/>
              <a:t>Table des matières</a:t>
            </a:r>
          </a:p>
        </p:txBody>
      </p:sp>
      <p:sp>
        <p:nvSpPr>
          <p:cNvPr id="3" name="Espace réservé du contenu 2">
            <a:extLst>
              <a:ext uri="{FF2B5EF4-FFF2-40B4-BE49-F238E27FC236}">
                <a16:creationId xmlns:a16="http://schemas.microsoft.com/office/drawing/2014/main" id="{0D5853DE-D059-F241-8476-2EF8BDE8D7D3}"/>
              </a:ext>
            </a:extLst>
          </p:cNvPr>
          <p:cNvSpPr>
            <a:spLocks noGrp="1"/>
          </p:cNvSpPr>
          <p:nvPr>
            <p:ph idx="1"/>
          </p:nvPr>
        </p:nvSpPr>
        <p:spPr>
          <a:xfrm>
            <a:off x="2819400" y="761203"/>
            <a:ext cx="6172200" cy="3903786"/>
          </a:xfrm>
        </p:spPr>
        <p:txBody>
          <a:bodyPr>
            <a:noAutofit/>
          </a:bodyPr>
          <a:lstStyle/>
          <a:p>
            <a:pPr>
              <a:lnSpc>
                <a:spcPct val="100000"/>
              </a:lnSpc>
              <a:spcBef>
                <a:spcPts val="0"/>
              </a:spcBef>
            </a:pPr>
            <a:r>
              <a:rPr lang="fr-CA" sz="1200" noProof="0"/>
              <a:t>Contexte de l’initiative</a:t>
            </a:r>
          </a:p>
          <a:p>
            <a:pPr>
              <a:lnSpc>
                <a:spcPct val="100000"/>
              </a:lnSpc>
              <a:spcBef>
                <a:spcPts val="0"/>
              </a:spcBef>
            </a:pPr>
            <a:r>
              <a:rPr lang="fr-CA" sz="1200" noProof="0"/>
              <a:t>Objectifs de création de valeur et bénéfices</a:t>
            </a:r>
          </a:p>
          <a:p>
            <a:pPr>
              <a:lnSpc>
                <a:spcPct val="100000"/>
              </a:lnSpc>
              <a:spcBef>
                <a:spcPts val="0"/>
              </a:spcBef>
            </a:pPr>
            <a:r>
              <a:rPr lang="fr-CA" sz="1200"/>
              <a:t>Capacités d’affaires impactées</a:t>
            </a:r>
            <a:endParaRPr lang="fr-CA" sz="1200" noProof="0"/>
          </a:p>
          <a:p>
            <a:pPr>
              <a:lnSpc>
                <a:spcPct val="100000"/>
              </a:lnSpc>
              <a:spcBef>
                <a:spcPts val="0"/>
              </a:spcBef>
            </a:pPr>
            <a:r>
              <a:rPr lang="fr-CA" sz="1200" noProof="0"/>
              <a:t>Bénéfices attendus</a:t>
            </a:r>
          </a:p>
          <a:p>
            <a:pPr>
              <a:lnSpc>
                <a:spcPct val="100000"/>
              </a:lnSpc>
              <a:spcBef>
                <a:spcPts val="0"/>
              </a:spcBef>
            </a:pPr>
            <a:r>
              <a:rPr lang="fr-CA" sz="1200" noProof="0"/>
              <a:t>Indicateurs de performance</a:t>
            </a:r>
          </a:p>
          <a:p>
            <a:pPr>
              <a:lnSpc>
                <a:spcPct val="100000"/>
              </a:lnSpc>
              <a:spcBef>
                <a:spcPts val="0"/>
              </a:spcBef>
            </a:pPr>
            <a:r>
              <a:rPr lang="fr-CA" sz="1200" noProof="0"/>
              <a:t>Clarifier la portée, les contraintes et les dépendances</a:t>
            </a:r>
          </a:p>
          <a:p>
            <a:pPr>
              <a:lnSpc>
                <a:spcPct val="100000"/>
              </a:lnSpc>
              <a:spcBef>
                <a:spcPts val="0"/>
              </a:spcBef>
            </a:pPr>
            <a:r>
              <a:rPr lang="fr-CA" sz="1200" noProof="0"/>
              <a:t>Conditions de succès</a:t>
            </a:r>
          </a:p>
          <a:p>
            <a:pPr>
              <a:lnSpc>
                <a:spcPct val="100000"/>
              </a:lnSpc>
              <a:spcBef>
                <a:spcPts val="0"/>
              </a:spcBef>
            </a:pPr>
            <a:r>
              <a:rPr lang="fr-CA" sz="1200" noProof="0"/>
              <a:t>Processus impactés / Cartographie de processus cible </a:t>
            </a:r>
          </a:p>
          <a:p>
            <a:pPr>
              <a:lnSpc>
                <a:spcPct val="100000"/>
              </a:lnSpc>
              <a:spcBef>
                <a:spcPts val="0"/>
              </a:spcBef>
            </a:pPr>
            <a:r>
              <a:rPr lang="fr-CA" sz="1200" noProof="0"/>
              <a:t>Orientations d’affaires CFO</a:t>
            </a:r>
          </a:p>
          <a:p>
            <a:pPr>
              <a:lnSpc>
                <a:spcPct val="100000"/>
              </a:lnSpc>
              <a:spcBef>
                <a:spcPts val="0"/>
              </a:spcBef>
            </a:pPr>
            <a:r>
              <a:rPr lang="fr-CA" sz="1200"/>
              <a:t>Positionnements pris</a:t>
            </a:r>
          </a:p>
          <a:p>
            <a:pPr>
              <a:lnSpc>
                <a:spcPct val="100000"/>
              </a:lnSpc>
              <a:spcBef>
                <a:spcPts val="0"/>
              </a:spcBef>
            </a:pPr>
            <a:r>
              <a:rPr lang="fr-CA" sz="1200" noProof="0"/>
              <a:t>Décisions projets prises</a:t>
            </a:r>
          </a:p>
          <a:p>
            <a:pPr>
              <a:lnSpc>
                <a:spcPct val="100000"/>
              </a:lnSpc>
              <a:spcBef>
                <a:spcPts val="0"/>
              </a:spcBef>
            </a:pPr>
            <a:r>
              <a:rPr lang="fr-CA" sz="1200" noProof="0"/>
              <a:t>Positionnements  à venir</a:t>
            </a:r>
          </a:p>
          <a:p>
            <a:pPr>
              <a:lnSpc>
                <a:spcPct val="100000"/>
              </a:lnSpc>
              <a:spcBef>
                <a:spcPts val="0"/>
              </a:spcBef>
            </a:pPr>
            <a:r>
              <a:rPr lang="fr-CA" sz="1200" noProof="0"/>
              <a:t>Découpage de projet</a:t>
            </a:r>
          </a:p>
          <a:p>
            <a:pPr>
              <a:lnSpc>
                <a:spcPct val="100000"/>
              </a:lnSpc>
              <a:spcBef>
                <a:spcPts val="0"/>
              </a:spcBef>
            </a:pPr>
            <a:r>
              <a:rPr lang="fr-CA" sz="1200" noProof="0"/>
              <a:t>Besoins d’affaires</a:t>
            </a:r>
          </a:p>
          <a:p>
            <a:pPr>
              <a:lnSpc>
                <a:spcPct val="100000"/>
              </a:lnSpc>
              <a:spcBef>
                <a:spcPts val="0"/>
              </a:spcBef>
            </a:pPr>
            <a:r>
              <a:rPr lang="fr-CA" sz="1200" noProof="0"/>
              <a:t>Cas d’utilisation</a:t>
            </a:r>
          </a:p>
          <a:p>
            <a:pPr>
              <a:lnSpc>
                <a:spcPct val="100000"/>
              </a:lnSpc>
              <a:spcBef>
                <a:spcPts val="0"/>
              </a:spcBef>
            </a:pPr>
            <a:r>
              <a:rPr lang="fr-CA" sz="1200"/>
              <a:t>Impacts affaires identifiés CFO &amp; principaux changements</a:t>
            </a:r>
          </a:p>
          <a:p>
            <a:pPr>
              <a:lnSpc>
                <a:spcPct val="100000"/>
              </a:lnSpc>
              <a:spcBef>
                <a:spcPts val="0"/>
              </a:spcBef>
            </a:pPr>
            <a:r>
              <a:rPr lang="fr-CA" sz="1200" noProof="0"/>
              <a:t>Principaux risques – processus cible</a:t>
            </a:r>
          </a:p>
          <a:p>
            <a:pPr>
              <a:lnSpc>
                <a:spcPct val="100000"/>
              </a:lnSpc>
              <a:spcBef>
                <a:spcPts val="0"/>
              </a:spcBef>
            </a:pPr>
            <a:r>
              <a:rPr lang="fr-CA" sz="1200" noProof="0"/>
              <a:t>Impact sur les données </a:t>
            </a:r>
          </a:p>
          <a:p>
            <a:pPr>
              <a:lnSpc>
                <a:spcPct val="100000"/>
              </a:lnSpc>
              <a:spcBef>
                <a:spcPts val="0"/>
              </a:spcBef>
            </a:pPr>
            <a:r>
              <a:rPr lang="fr-CA" sz="1200" noProof="0"/>
              <a:t>Principaux risques des processus</a:t>
            </a:r>
          </a:p>
          <a:p>
            <a:pPr>
              <a:lnSpc>
                <a:spcPct val="100000"/>
              </a:lnSpc>
              <a:spcBef>
                <a:spcPts val="0"/>
              </a:spcBef>
            </a:pPr>
            <a:r>
              <a:rPr lang="fr-CA" sz="1200" noProof="0"/>
              <a:t>Projets impactés, impacts inter-projets et risques</a:t>
            </a:r>
          </a:p>
          <a:p>
            <a:pPr>
              <a:lnSpc>
                <a:spcPct val="100000"/>
              </a:lnSpc>
              <a:spcBef>
                <a:spcPts val="0"/>
              </a:spcBef>
            </a:pPr>
            <a:r>
              <a:rPr lang="fr-CA" sz="1200" noProof="0"/>
              <a:t>Design de l’architecture cible</a:t>
            </a:r>
          </a:p>
          <a:p>
            <a:pPr>
              <a:lnSpc>
                <a:spcPct val="100000"/>
              </a:lnSpc>
              <a:spcBef>
                <a:spcPts val="0"/>
              </a:spcBef>
            </a:pPr>
            <a:r>
              <a:rPr lang="fr-CA" sz="1200" noProof="0"/>
              <a:t>Roadmap </a:t>
            </a:r>
          </a:p>
        </p:txBody>
      </p:sp>
    </p:spTree>
    <p:extLst>
      <p:ext uri="{BB962C8B-B14F-4D97-AF65-F5344CB8AC3E}">
        <p14:creationId xmlns:p14="http://schemas.microsoft.com/office/powerpoint/2010/main" val="4626162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8E291D1-7205-1D42-ABE9-3D8208A1E26D}"/>
              </a:ext>
            </a:extLst>
          </p:cNvPr>
          <p:cNvSpPr>
            <a:spLocks noGrp="1"/>
          </p:cNvSpPr>
          <p:nvPr>
            <p:ph type="title"/>
          </p:nvPr>
        </p:nvSpPr>
        <p:spPr>
          <a:xfrm>
            <a:off x="235528" y="0"/>
            <a:ext cx="8908472" cy="554182"/>
          </a:xfrm>
          <a:solidFill>
            <a:schemeClr val="tx1"/>
          </a:solidFill>
        </p:spPr>
        <p:txBody>
          <a:bodyPr>
            <a:normAutofit/>
          </a:bodyPr>
          <a:lstStyle/>
          <a:p>
            <a:r>
              <a:rPr lang="fr-CA" sz="2400" b="1" noProof="0">
                <a:solidFill>
                  <a:schemeClr val="bg1"/>
                </a:solidFill>
              </a:rPr>
              <a:t>Contexte l’initiative</a:t>
            </a:r>
          </a:p>
        </p:txBody>
      </p:sp>
      <p:sp>
        <p:nvSpPr>
          <p:cNvPr id="3" name="Espace réservé du contenu 2">
            <a:extLst>
              <a:ext uri="{FF2B5EF4-FFF2-40B4-BE49-F238E27FC236}">
                <a16:creationId xmlns:a16="http://schemas.microsoft.com/office/drawing/2014/main" id="{476A4037-EADF-9E4C-9D11-9A40BC3F8193}"/>
              </a:ext>
            </a:extLst>
          </p:cNvPr>
          <p:cNvSpPr>
            <a:spLocks noGrp="1"/>
          </p:cNvSpPr>
          <p:nvPr>
            <p:ph idx="1"/>
          </p:nvPr>
        </p:nvSpPr>
        <p:spPr>
          <a:xfrm>
            <a:off x="367147" y="614794"/>
            <a:ext cx="4047116" cy="871105"/>
          </a:xfrm>
          <a:solidFill>
            <a:schemeClr val="accent1"/>
          </a:solidFill>
          <a:ln>
            <a:noFill/>
          </a:ln>
        </p:spPr>
        <p:style>
          <a:lnRef idx="0">
            <a:scrgbClr r="0" g="0" b="0"/>
          </a:lnRef>
          <a:fillRef idx="0">
            <a:scrgbClr r="0" g="0" b="0"/>
          </a:fillRef>
          <a:effectRef idx="0">
            <a:scrgbClr r="0" g="0" b="0"/>
          </a:effectRef>
          <a:fontRef idx="minor">
            <a:schemeClr val="lt1"/>
          </a:fontRef>
        </p:style>
        <p:txBody>
          <a:bodyPr>
            <a:normAutofit/>
          </a:bodyPr>
          <a:lstStyle/>
          <a:p>
            <a:pPr marL="0" indent="0" algn="ctr">
              <a:buNone/>
            </a:pPr>
            <a:r>
              <a:rPr lang="fr-CA" sz="2000" noProof="0">
                <a:solidFill>
                  <a:srgbClr val="262626"/>
                </a:solidFill>
              </a:rPr>
              <a:t>Phase 1 </a:t>
            </a:r>
            <a:r>
              <a:rPr lang="fr-CA" sz="2000" u="sng" noProof="0">
                <a:solidFill>
                  <a:srgbClr val="262626"/>
                </a:solidFill>
              </a:rPr>
              <a:t>Poser les fondations </a:t>
            </a:r>
            <a:r>
              <a:rPr lang="fr-CA" sz="2000" noProof="0">
                <a:solidFill>
                  <a:srgbClr val="262626"/>
                </a:solidFill>
              </a:rPr>
              <a:t>d’une fonction de trésorerie.</a:t>
            </a:r>
          </a:p>
          <a:p>
            <a:pPr lvl="1" algn="ctr"/>
            <a:endParaRPr lang="fr-CA" sz="1800" noProof="0">
              <a:solidFill>
                <a:srgbClr val="262626"/>
              </a:solidFill>
            </a:endParaRPr>
          </a:p>
        </p:txBody>
      </p:sp>
      <p:graphicFrame>
        <p:nvGraphicFramePr>
          <p:cNvPr id="4" name="Espace réservé du contenu 6">
            <a:extLst>
              <a:ext uri="{FF2B5EF4-FFF2-40B4-BE49-F238E27FC236}">
                <a16:creationId xmlns:a16="http://schemas.microsoft.com/office/drawing/2014/main" id="{E7FB4526-0D41-CD34-B144-839E3D9F038E}"/>
              </a:ext>
            </a:extLst>
          </p:cNvPr>
          <p:cNvGraphicFramePr>
            <a:graphicFrameLocks/>
          </p:cNvGraphicFramePr>
          <p:nvPr>
            <p:extLst>
              <p:ext uri="{D42A27DB-BD31-4B8C-83A1-F6EECF244321}">
                <p14:modId xmlns:p14="http://schemas.microsoft.com/office/powerpoint/2010/main" val="1458057351"/>
              </p:ext>
            </p:extLst>
          </p:nvPr>
        </p:nvGraphicFramePr>
        <p:xfrm>
          <a:off x="4591988" y="1619249"/>
          <a:ext cx="3963988" cy="3505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5" name="Diagramme 4">
            <a:extLst>
              <a:ext uri="{FF2B5EF4-FFF2-40B4-BE49-F238E27FC236}">
                <a16:creationId xmlns:a16="http://schemas.microsoft.com/office/drawing/2014/main" id="{B93390D2-5A28-CADB-5668-1D86C8EF479F}"/>
              </a:ext>
            </a:extLst>
          </p:cNvPr>
          <p:cNvGraphicFramePr/>
          <p:nvPr>
            <p:extLst>
              <p:ext uri="{D42A27DB-BD31-4B8C-83A1-F6EECF244321}">
                <p14:modId xmlns:p14="http://schemas.microsoft.com/office/powerpoint/2010/main" val="337467637"/>
              </p:ext>
            </p:extLst>
          </p:nvPr>
        </p:nvGraphicFramePr>
        <p:xfrm>
          <a:off x="537660" y="1678131"/>
          <a:ext cx="3706090" cy="307109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6" name="Espace réservé du contenu 2">
            <a:extLst>
              <a:ext uri="{FF2B5EF4-FFF2-40B4-BE49-F238E27FC236}">
                <a16:creationId xmlns:a16="http://schemas.microsoft.com/office/drawing/2014/main" id="{A4E5EE53-25CA-3F57-04B0-D5BFE1C2EC79}"/>
              </a:ext>
            </a:extLst>
          </p:cNvPr>
          <p:cNvSpPr txBox="1">
            <a:spLocks/>
          </p:cNvSpPr>
          <p:nvPr/>
        </p:nvSpPr>
        <p:spPr>
          <a:xfrm>
            <a:off x="4647803" y="614795"/>
            <a:ext cx="3852358" cy="871105"/>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ormAutofit lnSpcReduction="10000"/>
          </a:bodyPr>
          <a:lstStyle>
            <a:lvl1pPr indent="0" algn="ctr" defTabSz="914400">
              <a:lnSpc>
                <a:spcPct val="90000"/>
              </a:lnSpc>
              <a:spcBef>
                <a:spcPts val="1000"/>
              </a:spcBef>
              <a:buFont typeface="Arial" panose="020B0604020202020204" pitchFamily="34" charset="0"/>
              <a:buNone/>
              <a:defRPr sz="2000">
                <a:solidFill>
                  <a:srgbClr val="262626"/>
                </a:solidFill>
              </a:defRPr>
            </a:lvl1pPr>
            <a:lvl2pPr marL="685800" lvl="1" indent="-228600" algn="ctr" defTabSz="914400">
              <a:lnSpc>
                <a:spcPct val="90000"/>
              </a:lnSpc>
              <a:spcBef>
                <a:spcPts val="500"/>
              </a:spcBef>
              <a:buFont typeface="Arial" panose="020B0604020202020204" pitchFamily="34" charset="0"/>
              <a:buChar char="•"/>
              <a:defRPr>
                <a:solidFill>
                  <a:srgbClr val="262626"/>
                </a:solidFill>
              </a:defRPr>
            </a:lvl2pPr>
            <a:lvl3pPr marL="1143000" indent="-228600" defTabSz="914400">
              <a:lnSpc>
                <a:spcPct val="90000"/>
              </a:lnSpc>
              <a:spcBef>
                <a:spcPts val="500"/>
              </a:spcBef>
              <a:buFont typeface="Arial" panose="020B0604020202020204" pitchFamily="34" charset="0"/>
              <a:buChar char="•"/>
              <a:defRPr>
                <a:solidFill>
                  <a:schemeClr val="lt1"/>
                </a:solidFill>
              </a:defRPr>
            </a:lvl3pPr>
            <a:lvl4pPr marL="1600200" indent="-228600" defTabSz="914400">
              <a:lnSpc>
                <a:spcPct val="90000"/>
              </a:lnSpc>
              <a:spcBef>
                <a:spcPts val="500"/>
              </a:spcBef>
              <a:buFont typeface="Arial" panose="020B0604020202020204" pitchFamily="34" charset="0"/>
              <a:buChar char="•"/>
              <a:defRPr sz="1600">
                <a:solidFill>
                  <a:schemeClr val="lt1"/>
                </a:solidFill>
              </a:defRPr>
            </a:lvl4pPr>
            <a:lvl5pPr marL="2057400" indent="-228600" defTabSz="914400">
              <a:lnSpc>
                <a:spcPct val="90000"/>
              </a:lnSpc>
              <a:spcBef>
                <a:spcPts val="500"/>
              </a:spcBef>
              <a:buFont typeface="Arial" panose="020B0604020202020204" pitchFamily="34" charset="0"/>
              <a:buChar char="•"/>
              <a:defRPr sz="1400">
                <a:solidFill>
                  <a:schemeClr val="lt1"/>
                </a:solidFill>
              </a:defRPr>
            </a:lvl5pPr>
            <a:lvl6pPr marL="2514600" indent="-228600" defTabSz="914400">
              <a:lnSpc>
                <a:spcPct val="90000"/>
              </a:lnSpc>
              <a:spcBef>
                <a:spcPts val="500"/>
              </a:spcBef>
              <a:buFont typeface="Arial" panose="020B0604020202020204" pitchFamily="34" charset="0"/>
              <a:buChar char="•"/>
              <a:defRPr>
                <a:solidFill>
                  <a:schemeClr val="lt1"/>
                </a:solidFill>
              </a:defRPr>
            </a:lvl6pPr>
            <a:lvl7pPr marL="2971800" indent="-228600" defTabSz="914400">
              <a:lnSpc>
                <a:spcPct val="90000"/>
              </a:lnSpc>
              <a:spcBef>
                <a:spcPts val="500"/>
              </a:spcBef>
              <a:buFont typeface="Arial" panose="020B0604020202020204" pitchFamily="34" charset="0"/>
              <a:buChar char="•"/>
              <a:defRPr>
                <a:solidFill>
                  <a:schemeClr val="lt1"/>
                </a:solidFill>
              </a:defRPr>
            </a:lvl7pPr>
            <a:lvl8pPr marL="3429000" indent="-228600" defTabSz="914400">
              <a:lnSpc>
                <a:spcPct val="90000"/>
              </a:lnSpc>
              <a:spcBef>
                <a:spcPts val="500"/>
              </a:spcBef>
              <a:buFont typeface="Arial" panose="020B0604020202020204" pitchFamily="34" charset="0"/>
              <a:buChar char="•"/>
              <a:defRPr>
                <a:solidFill>
                  <a:schemeClr val="lt1"/>
                </a:solidFill>
              </a:defRPr>
            </a:lvl8pPr>
            <a:lvl9pPr marL="3886200" indent="-228600" defTabSz="914400">
              <a:lnSpc>
                <a:spcPct val="90000"/>
              </a:lnSpc>
              <a:spcBef>
                <a:spcPts val="500"/>
              </a:spcBef>
              <a:buFont typeface="Arial" panose="020B0604020202020204" pitchFamily="34" charset="0"/>
              <a:buChar char="•"/>
              <a:defRPr>
                <a:solidFill>
                  <a:schemeClr val="lt1"/>
                </a:solidFill>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CA" sz="2000" b="0" i="0" u="none" strike="noStrike" kern="1200" cap="none" spc="0" normalizeH="0" baseline="0" noProof="0">
                <a:ln>
                  <a:noFill/>
                </a:ln>
                <a:solidFill>
                  <a:srgbClr val="262626"/>
                </a:solidFill>
                <a:effectLst/>
                <a:uLnTx/>
                <a:uFillTx/>
                <a:latin typeface="Calibri" panose="020F0502020204030204"/>
                <a:ea typeface="+mn-ea"/>
                <a:cs typeface="+mn-cs"/>
              </a:rPr>
              <a:t>Phase 2 vers une meilleure gestion des </a:t>
            </a:r>
            <a:r>
              <a:rPr kumimoji="0" lang="fr-CA" sz="2000" b="0" i="0" u="sng" strike="noStrike" kern="1200" cap="none" spc="0" normalizeH="0" baseline="0" noProof="0">
                <a:ln>
                  <a:noFill/>
                </a:ln>
                <a:solidFill>
                  <a:srgbClr val="262626"/>
                </a:solidFill>
                <a:effectLst/>
                <a:uLnTx/>
                <a:uFillTx/>
                <a:latin typeface="Calibri" panose="020F0502020204030204"/>
                <a:ea typeface="+mn-ea"/>
                <a:cs typeface="+mn-cs"/>
              </a:rPr>
              <a:t>liquidités et du capital </a:t>
            </a:r>
            <a:r>
              <a:rPr kumimoji="0" lang="fr-CA" sz="2000" b="0" i="0" u="none" strike="noStrike" kern="1200" cap="none" spc="0" normalizeH="0" baseline="0" noProof="0">
                <a:ln>
                  <a:noFill/>
                </a:ln>
                <a:solidFill>
                  <a:srgbClr val="262626"/>
                </a:solidFill>
                <a:effectLst/>
                <a:uLnTx/>
                <a:uFillTx/>
                <a:latin typeface="Calibri" panose="020F0502020204030204"/>
                <a:ea typeface="+mn-ea"/>
                <a:cs typeface="+mn-cs"/>
              </a:rPr>
              <a:t>de l’entreprise.</a:t>
            </a:r>
          </a:p>
          <a:p>
            <a:pPr marL="685800" marR="0" lvl="1" indent="-228600" algn="ctr"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fr-CA" sz="1800" b="0" i="0" u="none" strike="noStrike" kern="1200" cap="none" spc="0" normalizeH="0" baseline="0" noProof="0">
              <a:ln>
                <a:noFill/>
              </a:ln>
              <a:solidFill>
                <a:srgbClr val="262626"/>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969317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me 2">
            <a:extLst>
              <a:ext uri="{FF2B5EF4-FFF2-40B4-BE49-F238E27FC236}">
                <a16:creationId xmlns:a16="http://schemas.microsoft.com/office/drawing/2014/main" id="{77A99E82-70E4-6102-5FB1-61790C5E5E5E}"/>
              </a:ext>
            </a:extLst>
          </p:cNvPr>
          <p:cNvGraphicFramePr/>
          <p:nvPr>
            <p:extLst>
              <p:ext uri="{D42A27DB-BD31-4B8C-83A1-F6EECF244321}">
                <p14:modId xmlns:p14="http://schemas.microsoft.com/office/powerpoint/2010/main" val="50969167"/>
              </p:ext>
            </p:extLst>
          </p:nvPr>
        </p:nvGraphicFramePr>
        <p:xfrm>
          <a:off x="1037664" y="1077893"/>
          <a:ext cx="7297272" cy="332422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 name="ZoneTexte 4">
            <a:extLst>
              <a:ext uri="{FF2B5EF4-FFF2-40B4-BE49-F238E27FC236}">
                <a16:creationId xmlns:a16="http://schemas.microsoft.com/office/drawing/2014/main" id="{2D9921F1-02FB-7A27-8DDE-11F38F713D20}"/>
              </a:ext>
            </a:extLst>
          </p:cNvPr>
          <p:cNvSpPr txBox="1"/>
          <p:nvPr/>
        </p:nvSpPr>
        <p:spPr>
          <a:xfrm>
            <a:off x="1348223" y="1496434"/>
            <a:ext cx="268942" cy="400110"/>
          </a:xfrm>
          <a:prstGeom prst="rect">
            <a:avLst/>
          </a:prstGeom>
          <a:noFill/>
        </p:spPr>
        <p:txBody>
          <a:bodyPr wrap="square" rtlCol="0">
            <a:spAutoFit/>
          </a:bodyPr>
          <a:lstStyle/>
          <a:p>
            <a:r>
              <a:rPr lang="fr-CA" sz="2000" b="1" noProof="0"/>
              <a:t>1</a:t>
            </a:r>
          </a:p>
        </p:txBody>
      </p:sp>
      <p:sp>
        <p:nvSpPr>
          <p:cNvPr id="6" name="ZoneTexte 5">
            <a:extLst>
              <a:ext uri="{FF2B5EF4-FFF2-40B4-BE49-F238E27FC236}">
                <a16:creationId xmlns:a16="http://schemas.microsoft.com/office/drawing/2014/main" id="{6C4EEED4-D843-B82F-5083-D0C773965803}"/>
              </a:ext>
            </a:extLst>
          </p:cNvPr>
          <p:cNvSpPr txBox="1"/>
          <p:nvPr/>
        </p:nvSpPr>
        <p:spPr>
          <a:xfrm>
            <a:off x="1586169" y="2519501"/>
            <a:ext cx="268942" cy="400110"/>
          </a:xfrm>
          <a:prstGeom prst="rect">
            <a:avLst/>
          </a:prstGeom>
          <a:noFill/>
        </p:spPr>
        <p:txBody>
          <a:bodyPr wrap="square" rtlCol="0">
            <a:spAutoFit/>
          </a:bodyPr>
          <a:lstStyle/>
          <a:p>
            <a:r>
              <a:rPr lang="fr-CA" sz="2000" b="1" noProof="0"/>
              <a:t>2</a:t>
            </a:r>
          </a:p>
        </p:txBody>
      </p:sp>
      <p:sp>
        <p:nvSpPr>
          <p:cNvPr id="8" name="ZoneTexte 7">
            <a:extLst>
              <a:ext uri="{FF2B5EF4-FFF2-40B4-BE49-F238E27FC236}">
                <a16:creationId xmlns:a16="http://schemas.microsoft.com/office/drawing/2014/main" id="{D9AD849C-A5D1-A650-86CD-33C4051FD2F7}"/>
              </a:ext>
            </a:extLst>
          </p:cNvPr>
          <p:cNvSpPr txBox="1"/>
          <p:nvPr/>
        </p:nvSpPr>
        <p:spPr>
          <a:xfrm>
            <a:off x="1348223" y="3542568"/>
            <a:ext cx="268942" cy="400110"/>
          </a:xfrm>
          <a:prstGeom prst="rect">
            <a:avLst/>
          </a:prstGeom>
          <a:noFill/>
        </p:spPr>
        <p:txBody>
          <a:bodyPr wrap="square" rtlCol="0">
            <a:spAutoFit/>
          </a:bodyPr>
          <a:lstStyle/>
          <a:p>
            <a:r>
              <a:rPr lang="fr-CA" sz="2000" b="1" noProof="0"/>
              <a:t>3</a:t>
            </a:r>
          </a:p>
        </p:txBody>
      </p:sp>
      <p:sp>
        <p:nvSpPr>
          <p:cNvPr id="4" name="Titre 1">
            <a:extLst>
              <a:ext uri="{FF2B5EF4-FFF2-40B4-BE49-F238E27FC236}">
                <a16:creationId xmlns:a16="http://schemas.microsoft.com/office/drawing/2014/main" id="{27A2EED4-9B43-9E03-E034-77DE5ED4C5C0}"/>
              </a:ext>
            </a:extLst>
          </p:cNvPr>
          <p:cNvSpPr txBox="1">
            <a:spLocks/>
          </p:cNvSpPr>
          <p:nvPr/>
        </p:nvSpPr>
        <p:spPr>
          <a:xfrm>
            <a:off x="228600" y="0"/>
            <a:ext cx="8915400" cy="475385"/>
          </a:xfrm>
          <a:prstGeom prst="rect">
            <a:avLst/>
          </a:prstGeom>
          <a:solidFill>
            <a:schemeClr val="tx1"/>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fr-CA" sz="2400" b="1">
                <a:solidFill>
                  <a:schemeClr val="bg1"/>
                </a:solidFill>
              </a:rPr>
              <a:t>Objectifs de création de valeur du WS4</a:t>
            </a:r>
          </a:p>
        </p:txBody>
      </p:sp>
    </p:spTree>
    <p:extLst>
      <p:ext uri="{BB962C8B-B14F-4D97-AF65-F5344CB8AC3E}">
        <p14:creationId xmlns:p14="http://schemas.microsoft.com/office/powerpoint/2010/main" val="2381920244"/>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A4869-4DBC-860E-3B01-7DDB91658F5F}"/>
            </a:ext>
          </a:extLst>
        </p:cNvPr>
        <p:cNvGrpSpPr/>
        <p:nvPr/>
      </p:nvGrpSpPr>
      <p:grpSpPr>
        <a:xfrm>
          <a:off x="0" y="0"/>
          <a:ext cx="0" cy="0"/>
          <a:chOff x="0" y="0"/>
          <a:chExt cx="0" cy="0"/>
        </a:xfrm>
      </p:grpSpPr>
      <p:sp>
        <p:nvSpPr>
          <p:cNvPr id="4" name="Titre 1">
            <a:extLst>
              <a:ext uri="{FF2B5EF4-FFF2-40B4-BE49-F238E27FC236}">
                <a16:creationId xmlns:a16="http://schemas.microsoft.com/office/drawing/2014/main" id="{91CF3308-DC6A-DCC6-2039-988ABAD97174}"/>
              </a:ext>
            </a:extLst>
          </p:cNvPr>
          <p:cNvSpPr txBox="1">
            <a:spLocks/>
          </p:cNvSpPr>
          <p:nvPr/>
        </p:nvSpPr>
        <p:spPr>
          <a:xfrm>
            <a:off x="228600" y="0"/>
            <a:ext cx="8915400" cy="475385"/>
          </a:xfrm>
          <a:prstGeom prst="rect">
            <a:avLst/>
          </a:prstGeom>
          <a:solidFill>
            <a:schemeClr val="tx1"/>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fr-CA" sz="2400" b="1">
                <a:solidFill>
                  <a:schemeClr val="bg1"/>
                </a:solidFill>
              </a:rPr>
              <a:t>Capacités d’affaires impactées</a:t>
            </a:r>
          </a:p>
        </p:txBody>
      </p:sp>
      <p:pic>
        <p:nvPicPr>
          <p:cNvPr id="14" name="Image 13">
            <a:extLst>
              <a:ext uri="{FF2B5EF4-FFF2-40B4-BE49-F238E27FC236}">
                <a16:creationId xmlns:a16="http://schemas.microsoft.com/office/drawing/2014/main" id="{37922050-861C-1595-8DC4-AAFC76A66AD2}"/>
              </a:ext>
            </a:extLst>
          </p:cNvPr>
          <p:cNvPicPr>
            <a:picLocks noChangeAspect="1"/>
          </p:cNvPicPr>
          <p:nvPr/>
        </p:nvPicPr>
        <p:blipFill>
          <a:blip r:embed="rId3"/>
          <a:stretch>
            <a:fillRect/>
          </a:stretch>
        </p:blipFill>
        <p:spPr>
          <a:xfrm>
            <a:off x="1684421" y="475385"/>
            <a:ext cx="5775157" cy="4668115"/>
          </a:xfrm>
          <a:prstGeom prst="rect">
            <a:avLst/>
          </a:prstGeom>
        </p:spPr>
      </p:pic>
    </p:spTree>
    <p:extLst>
      <p:ext uri="{BB962C8B-B14F-4D97-AF65-F5344CB8AC3E}">
        <p14:creationId xmlns:p14="http://schemas.microsoft.com/office/powerpoint/2010/main" val="16122872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 coins arrondis 5">
            <a:extLst>
              <a:ext uri="{FF2B5EF4-FFF2-40B4-BE49-F238E27FC236}">
                <a16:creationId xmlns:a16="http://schemas.microsoft.com/office/drawing/2014/main" id="{E4F5C96A-84F9-FF9B-1D3D-7CBAF02E9810}"/>
              </a:ext>
            </a:extLst>
          </p:cNvPr>
          <p:cNvSpPr/>
          <p:nvPr/>
        </p:nvSpPr>
        <p:spPr>
          <a:xfrm>
            <a:off x="6731609" y="992872"/>
            <a:ext cx="1884220" cy="3989302"/>
          </a:xfrm>
          <a:prstGeom prst="roundRect">
            <a:avLst/>
          </a:prstGeom>
          <a:solidFill>
            <a:schemeClr val="accent1">
              <a:lumMod val="20000"/>
              <a:lumOff val="80000"/>
            </a:schemeClr>
          </a:solidFill>
          <a:ln w="28575">
            <a:solidFill>
              <a:schemeClr val="tx1">
                <a:lumMod val="20000"/>
                <a:lumOff val="8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fr-CA"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5" name="Rectangle : coins arrondis 4">
            <a:extLst>
              <a:ext uri="{FF2B5EF4-FFF2-40B4-BE49-F238E27FC236}">
                <a16:creationId xmlns:a16="http://schemas.microsoft.com/office/drawing/2014/main" id="{064F17D5-3FCF-C762-E09E-DCBFD5BFBB5F}"/>
              </a:ext>
            </a:extLst>
          </p:cNvPr>
          <p:cNvSpPr/>
          <p:nvPr/>
        </p:nvSpPr>
        <p:spPr>
          <a:xfrm>
            <a:off x="4708829" y="993401"/>
            <a:ext cx="1884220" cy="3989303"/>
          </a:xfrm>
          <a:prstGeom prst="roundRect">
            <a:avLst/>
          </a:prstGeom>
          <a:solidFill>
            <a:schemeClr val="accent1">
              <a:lumMod val="20000"/>
              <a:lumOff val="80000"/>
            </a:schemeClr>
          </a:solidFill>
          <a:ln w="28575">
            <a:solidFill>
              <a:schemeClr val="tx1">
                <a:lumMod val="20000"/>
                <a:lumOff val="8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0" tIns="756000" rIns="91440" bIns="46800" rtlCol="0" anchor="t"/>
          <a:lstStyle/>
          <a:p>
            <a:pPr marL="271463" indent="-271463">
              <a:buFont typeface="Wingdings" panose="05000000000000000000" pitchFamily="2" charset="2"/>
              <a:buChar char="Ø"/>
            </a:pPr>
            <a:r>
              <a:rPr lang="fr-CA" sz="1200">
                <a:solidFill>
                  <a:srgbClr val="434343"/>
                </a:solidFill>
                <a:ea typeface="Open Sans"/>
                <a:cs typeface="Open Sans"/>
              </a:rPr>
              <a:t>Facilité d’intégration des filiales via une solution agile et intégrée</a:t>
            </a:r>
          </a:p>
        </p:txBody>
      </p:sp>
      <p:sp>
        <p:nvSpPr>
          <p:cNvPr id="6" name="Rectangle : coins arrondis 3">
            <a:extLst>
              <a:ext uri="{FF2B5EF4-FFF2-40B4-BE49-F238E27FC236}">
                <a16:creationId xmlns:a16="http://schemas.microsoft.com/office/drawing/2014/main" id="{E4848796-EE09-B2BC-0A0E-84315D7B82C3}"/>
              </a:ext>
            </a:extLst>
          </p:cNvPr>
          <p:cNvSpPr/>
          <p:nvPr/>
        </p:nvSpPr>
        <p:spPr>
          <a:xfrm>
            <a:off x="2594279" y="993402"/>
            <a:ext cx="1884220" cy="3989303"/>
          </a:xfrm>
          <a:prstGeom prst="roundRect">
            <a:avLst/>
          </a:prstGeom>
          <a:solidFill>
            <a:schemeClr val="accent1">
              <a:lumMod val="20000"/>
              <a:lumOff val="80000"/>
            </a:schemeClr>
          </a:solidFill>
          <a:ln w="28575">
            <a:solidFill>
              <a:schemeClr val="tx1">
                <a:lumMod val="20000"/>
                <a:lumOff val="8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fr-CA"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7" name="Rectangle : coins arrondis 2">
            <a:extLst>
              <a:ext uri="{FF2B5EF4-FFF2-40B4-BE49-F238E27FC236}">
                <a16:creationId xmlns:a16="http://schemas.microsoft.com/office/drawing/2014/main" id="{DD99F6A1-A6E7-1855-FD28-76E46A5B739D}"/>
              </a:ext>
            </a:extLst>
          </p:cNvPr>
          <p:cNvSpPr/>
          <p:nvPr/>
        </p:nvSpPr>
        <p:spPr>
          <a:xfrm>
            <a:off x="479729" y="993402"/>
            <a:ext cx="1884220" cy="3989303"/>
          </a:xfrm>
          <a:prstGeom prst="roundRect">
            <a:avLst/>
          </a:prstGeom>
          <a:solidFill>
            <a:schemeClr val="accent1">
              <a:lumMod val="20000"/>
              <a:lumOff val="80000"/>
            </a:schemeClr>
          </a:solidFill>
          <a:ln w="28575">
            <a:solidFill>
              <a:schemeClr val="tx1">
                <a:lumMod val="20000"/>
                <a:lumOff val="8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fr-CA"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8" name="Content Placeholder 2">
            <a:extLst>
              <a:ext uri="{FF2B5EF4-FFF2-40B4-BE49-F238E27FC236}">
                <a16:creationId xmlns:a16="http://schemas.microsoft.com/office/drawing/2014/main" id="{D53D95A9-43C0-DBA3-D0D2-973A59C6BB6D}"/>
              </a:ext>
            </a:extLst>
          </p:cNvPr>
          <p:cNvSpPr txBox="1">
            <a:spLocks/>
          </p:cNvSpPr>
          <p:nvPr/>
        </p:nvSpPr>
        <p:spPr>
          <a:xfrm>
            <a:off x="523875" y="1847177"/>
            <a:ext cx="1795925" cy="272329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2">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2">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2">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2">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2">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buFont typeface="Wingdings" panose="05000000000000000000" pitchFamily="2" charset="2"/>
              <a:buChar char="Ø"/>
            </a:pPr>
            <a:r>
              <a:rPr lang="fr-CA" sz="1200" noProof="0"/>
              <a:t>Fiabilité des transactions</a:t>
            </a:r>
          </a:p>
          <a:p>
            <a:pPr lvl="0">
              <a:buFont typeface="Wingdings" panose="05000000000000000000" pitchFamily="2" charset="2"/>
              <a:buChar char="Ø"/>
            </a:pPr>
            <a:r>
              <a:rPr lang="fr-CA" sz="1200" noProof="0"/>
              <a:t>Réduction des incidents</a:t>
            </a:r>
          </a:p>
          <a:p>
            <a:pPr lvl="0">
              <a:buFont typeface="Wingdings" panose="05000000000000000000" pitchFamily="2" charset="2"/>
              <a:buChar char="Ø"/>
            </a:pPr>
            <a:r>
              <a:rPr lang="fr-CA" sz="1200" noProof="0"/>
              <a:t>Contribue à une expérience fluide</a:t>
            </a:r>
          </a:p>
        </p:txBody>
      </p:sp>
      <p:sp>
        <p:nvSpPr>
          <p:cNvPr id="9" name="ZoneTexte 25">
            <a:extLst>
              <a:ext uri="{FF2B5EF4-FFF2-40B4-BE49-F238E27FC236}">
                <a16:creationId xmlns:a16="http://schemas.microsoft.com/office/drawing/2014/main" id="{AD66D79D-94F7-36C2-0733-FCB49EF91B43}"/>
              </a:ext>
            </a:extLst>
          </p:cNvPr>
          <p:cNvSpPr txBox="1"/>
          <p:nvPr/>
        </p:nvSpPr>
        <p:spPr>
          <a:xfrm>
            <a:off x="4833811" y="1099860"/>
            <a:ext cx="1634256" cy="641651"/>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marL="0" marR="0" lvl="0" indent="0" algn="ctr" defTabSz="914286" rtl="0" eaLnBrk="1" fontAlgn="auto" latinLnBrk="0" hangingPunct="1">
              <a:lnSpc>
                <a:spcPct val="100000"/>
              </a:lnSpc>
              <a:spcBef>
                <a:spcPts val="0"/>
              </a:spcBef>
              <a:spcAft>
                <a:spcPts val="0"/>
              </a:spcAft>
              <a:buClrTx/>
              <a:buSzTx/>
              <a:buFontTx/>
              <a:buNone/>
              <a:tabLst/>
              <a:defRPr/>
            </a:pPr>
            <a:r>
              <a:rPr kumimoji="0" lang="fr-CA" sz="1800" b="0" i="0" u="none" strike="noStrike" kern="1200" cap="none" spc="0" normalizeH="0" baseline="0" noProof="0">
                <a:ln>
                  <a:noFill/>
                </a:ln>
                <a:solidFill>
                  <a:srgbClr val="FFFFFF"/>
                </a:solidFill>
                <a:effectLst/>
                <a:uLnTx/>
                <a:uFillTx/>
                <a:latin typeface="Calibri" panose="020F0502020204030204"/>
                <a:ea typeface="+mn-ea"/>
                <a:cs typeface="+mn-cs"/>
              </a:rPr>
              <a:t>Capital </a:t>
            </a:r>
            <a:r>
              <a:rPr kumimoji="0" lang="fr-CA" sz="1800" b="0" i="0" u="none" strike="noStrike" kern="1200" cap="none" spc="0" normalizeH="0" baseline="0" noProof="0" err="1">
                <a:ln>
                  <a:noFill/>
                </a:ln>
                <a:solidFill>
                  <a:srgbClr val="FFFFFF"/>
                </a:solidFill>
                <a:effectLst/>
                <a:uLnTx/>
                <a:uFillTx/>
                <a:latin typeface="Calibri" panose="020F0502020204030204"/>
                <a:ea typeface="+mn-ea"/>
                <a:cs typeface="+mn-cs"/>
              </a:rPr>
              <a:t>Deployment</a:t>
            </a:r>
            <a:endParaRPr kumimoji="0" lang="fr-CA"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0" name="ZoneTexte 27">
            <a:extLst>
              <a:ext uri="{FF2B5EF4-FFF2-40B4-BE49-F238E27FC236}">
                <a16:creationId xmlns:a16="http://schemas.microsoft.com/office/drawing/2014/main" id="{549D11BB-E2AB-2E82-C820-9564858100E5}"/>
              </a:ext>
            </a:extLst>
          </p:cNvPr>
          <p:cNvSpPr txBox="1"/>
          <p:nvPr/>
        </p:nvSpPr>
        <p:spPr>
          <a:xfrm>
            <a:off x="2711716" y="1099860"/>
            <a:ext cx="1649346" cy="646331"/>
          </a:xfrm>
          <a:prstGeom prst="rect">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marL="0" marR="0" lvl="0" indent="0" algn="ctr" defTabSz="914286" rtl="0" eaLnBrk="1" fontAlgn="auto" latinLnBrk="0" hangingPunct="1">
              <a:lnSpc>
                <a:spcPct val="100000"/>
              </a:lnSpc>
              <a:spcBef>
                <a:spcPts val="0"/>
              </a:spcBef>
              <a:spcAft>
                <a:spcPts val="0"/>
              </a:spcAft>
              <a:buClrTx/>
              <a:buSzTx/>
              <a:buFontTx/>
              <a:buNone/>
              <a:tabLst/>
              <a:defRPr/>
            </a:pPr>
            <a:r>
              <a:rPr kumimoji="0" lang="fr-CA" sz="1800" b="0" i="0" u="none" strike="noStrike" kern="1200" cap="none" spc="0" normalizeH="0" baseline="0" noProof="0" err="1">
                <a:ln>
                  <a:noFill/>
                </a:ln>
                <a:solidFill>
                  <a:srgbClr val="FFFFFF"/>
                </a:solidFill>
                <a:effectLst/>
                <a:uLnTx/>
                <a:uFillTx/>
                <a:latin typeface="Calibri" panose="020F0502020204030204"/>
                <a:ea typeface="+mn-ea"/>
                <a:cs typeface="+mn-cs"/>
              </a:rPr>
              <a:t>Operational</a:t>
            </a:r>
            <a:r>
              <a:rPr kumimoji="0" lang="fr-CA" sz="1800" b="0" i="0" u="none" strike="noStrike" kern="1200" cap="none" spc="0" normalizeH="0" baseline="0" noProof="0">
                <a:ln>
                  <a:noFill/>
                </a:ln>
                <a:solidFill>
                  <a:srgbClr val="FFFFFF"/>
                </a:solidFill>
                <a:effectLst/>
                <a:uLnTx/>
                <a:uFillTx/>
                <a:latin typeface="Calibri" panose="020F0502020204030204"/>
                <a:ea typeface="+mn-ea"/>
                <a:cs typeface="+mn-cs"/>
              </a:rPr>
              <a:t> </a:t>
            </a:r>
            <a:r>
              <a:rPr kumimoji="0" lang="fr-CA" sz="1800" b="0" i="0" u="none" strike="noStrike" kern="1200" cap="none" spc="0" normalizeH="0" baseline="0" noProof="0" err="1">
                <a:ln>
                  <a:noFill/>
                </a:ln>
                <a:solidFill>
                  <a:srgbClr val="FFFFFF"/>
                </a:solidFill>
                <a:effectLst/>
                <a:uLnTx/>
                <a:uFillTx/>
                <a:latin typeface="Calibri" panose="020F0502020204030204"/>
                <a:ea typeface="+mn-ea"/>
                <a:cs typeface="+mn-cs"/>
              </a:rPr>
              <a:t>Efficiency</a:t>
            </a:r>
            <a:endParaRPr kumimoji="0" lang="fr-CA"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1" name="ZoneTexte 28">
            <a:extLst>
              <a:ext uri="{FF2B5EF4-FFF2-40B4-BE49-F238E27FC236}">
                <a16:creationId xmlns:a16="http://schemas.microsoft.com/office/drawing/2014/main" id="{5B2DD122-5FAA-3B13-A3E9-018F00E29518}"/>
              </a:ext>
            </a:extLst>
          </p:cNvPr>
          <p:cNvSpPr txBox="1"/>
          <p:nvPr/>
        </p:nvSpPr>
        <p:spPr>
          <a:xfrm>
            <a:off x="434670" y="543735"/>
            <a:ext cx="8158629" cy="369332"/>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marL="0" marR="0" lvl="0" indent="0" algn="ctr" defTabSz="914286" rtl="0" eaLnBrk="1" fontAlgn="auto" latinLnBrk="0" hangingPunct="1">
              <a:lnSpc>
                <a:spcPct val="100000"/>
              </a:lnSpc>
              <a:spcBef>
                <a:spcPts val="0"/>
              </a:spcBef>
              <a:spcAft>
                <a:spcPts val="0"/>
              </a:spcAft>
              <a:buClrTx/>
              <a:buSzTx/>
              <a:buFontTx/>
              <a:buNone/>
              <a:tabLst/>
              <a:defRPr/>
            </a:pPr>
            <a:r>
              <a:rPr kumimoji="0" lang="fr-CA" sz="1800" b="0" i="0" u="none" strike="noStrike" kern="1200" cap="none" spc="0" normalizeH="0" baseline="0" noProof="0" err="1">
                <a:ln>
                  <a:noFill/>
                </a:ln>
                <a:solidFill>
                  <a:srgbClr val="FFFFFF"/>
                </a:solidFill>
                <a:effectLst/>
                <a:uLnTx/>
                <a:uFillTx/>
                <a:latin typeface="Calibri" panose="020F0502020204030204"/>
                <a:ea typeface="+mn-ea"/>
                <a:cs typeface="+mn-cs"/>
              </a:rPr>
              <a:t>iA</a:t>
            </a:r>
            <a:r>
              <a:rPr kumimoji="0" lang="fr-CA" sz="1800" b="0" i="0" u="none" strike="noStrike" kern="1200" cap="none" spc="0" normalizeH="0" baseline="0" noProof="0">
                <a:ln>
                  <a:noFill/>
                </a:ln>
                <a:solidFill>
                  <a:srgbClr val="FFFFFF"/>
                </a:solidFill>
                <a:effectLst/>
                <a:uLnTx/>
                <a:uFillTx/>
                <a:latin typeface="Calibri" panose="020F0502020204030204"/>
                <a:ea typeface="+mn-ea"/>
                <a:cs typeface="+mn-cs"/>
              </a:rPr>
              <a:t> Strategic </a:t>
            </a:r>
            <a:r>
              <a:rPr kumimoji="0" lang="fr-CA" sz="1800" b="0" i="0" u="none" strike="noStrike" kern="1200" cap="none" spc="0" normalizeH="0" baseline="0" noProof="0" err="1">
                <a:ln>
                  <a:noFill/>
                </a:ln>
                <a:solidFill>
                  <a:srgbClr val="FFFFFF"/>
                </a:solidFill>
                <a:effectLst/>
                <a:uLnTx/>
                <a:uFillTx/>
                <a:latin typeface="Calibri" panose="020F0502020204030204"/>
                <a:ea typeface="+mn-ea"/>
                <a:cs typeface="+mn-cs"/>
              </a:rPr>
              <a:t>Priorities</a:t>
            </a:r>
            <a:r>
              <a:rPr kumimoji="0" lang="fr-CA" sz="1800" b="0" i="0" u="none" strike="noStrike" kern="1200" cap="none" spc="0" normalizeH="0" baseline="0" noProof="0">
                <a:ln>
                  <a:noFill/>
                </a:ln>
                <a:solidFill>
                  <a:srgbClr val="FFFFFF"/>
                </a:solidFill>
                <a:effectLst/>
                <a:uLnTx/>
                <a:uFillTx/>
                <a:latin typeface="Calibri" panose="020F0502020204030204"/>
                <a:ea typeface="+mn-ea"/>
                <a:cs typeface="+mn-cs"/>
              </a:rPr>
              <a:t> 2030</a:t>
            </a:r>
            <a:endParaRPr kumimoji="0" lang="fr-CA" sz="16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2" name="Content Placeholder 2">
            <a:extLst>
              <a:ext uri="{FF2B5EF4-FFF2-40B4-BE49-F238E27FC236}">
                <a16:creationId xmlns:a16="http://schemas.microsoft.com/office/drawing/2014/main" id="{4A53DCD1-3BBF-B43D-8700-B3C07358F0CA}"/>
              </a:ext>
            </a:extLst>
          </p:cNvPr>
          <p:cNvSpPr txBox="1">
            <a:spLocks/>
          </p:cNvSpPr>
          <p:nvPr/>
        </p:nvSpPr>
        <p:spPr>
          <a:xfrm>
            <a:off x="2618856" y="1847177"/>
            <a:ext cx="1835066" cy="2752588"/>
          </a:xfrm>
          <a:prstGeom prst="rect">
            <a:avLst/>
          </a:prstGeom>
        </p:spPr>
        <p:txBody>
          <a:bodyPr vert="horz" lIns="91440" tIns="45720" rIns="91440" bIns="45720" rtlCol="0">
            <a:noAutofit/>
          </a:bodyPr>
          <a:lstStyle>
            <a:lvl1pPr marL="266667" indent="-266667" algn="l" defTabSz="914400" rtl="0" eaLnBrk="1" latinLnBrk="0" hangingPunct="1">
              <a:lnSpc>
                <a:spcPct val="90000"/>
              </a:lnSpc>
              <a:spcBef>
                <a:spcPts val="1000"/>
              </a:spcBef>
              <a:buClr>
                <a:srgbClr val="434343"/>
              </a:buClr>
              <a:buFont typeface="ArialMT" charset="0"/>
              <a:buChar char="—"/>
              <a:tabLst/>
              <a:defRPr sz="1400" kern="1200">
                <a:solidFill>
                  <a:srgbClr val="434343"/>
                </a:solidFill>
                <a:latin typeface="+mn-lt"/>
                <a:ea typeface="Open Sans" panose="020B0606030504020204" pitchFamily="34" charset="0"/>
                <a:cs typeface="Open Sans" panose="020B0606030504020204" pitchFamily="34" charset="0"/>
              </a:defRPr>
            </a:lvl1pPr>
            <a:lvl2pPr marL="405954" indent="-214287" algn="l" defTabSz="914400" rtl="0" eaLnBrk="1" latinLnBrk="0" hangingPunct="1">
              <a:lnSpc>
                <a:spcPct val="90000"/>
              </a:lnSpc>
              <a:spcBef>
                <a:spcPts val="500"/>
              </a:spcBef>
              <a:buClr>
                <a:srgbClr val="7C878E"/>
              </a:buClr>
              <a:buFont typeface="Wingdings" charset="2"/>
              <a:buChar char="§"/>
              <a:defRPr sz="1400" kern="1200">
                <a:solidFill>
                  <a:srgbClr val="434343"/>
                </a:solidFill>
                <a:latin typeface="+mn-lt"/>
                <a:ea typeface="Open Sans" panose="020B0606030504020204" pitchFamily="34" charset="0"/>
                <a:cs typeface="Open Sans" panose="020B0606030504020204" pitchFamily="34" charset="0"/>
              </a:defRPr>
            </a:lvl2pPr>
            <a:lvl3pPr marL="603571" indent="-171428" algn="l" defTabSz="914400" rtl="0" eaLnBrk="1" latinLnBrk="0" hangingPunct="1">
              <a:lnSpc>
                <a:spcPct val="90000"/>
              </a:lnSpc>
              <a:spcBef>
                <a:spcPts val="500"/>
              </a:spcBef>
              <a:buClr>
                <a:srgbClr val="7C878E"/>
              </a:buClr>
              <a:buFont typeface="Courier New" charset="0"/>
              <a:buChar char="o"/>
              <a:defRPr sz="1400" kern="1200">
                <a:solidFill>
                  <a:srgbClr val="434343"/>
                </a:solidFill>
                <a:latin typeface="+mn-lt"/>
                <a:ea typeface="Open Sans" panose="020B0606030504020204" pitchFamily="34" charset="0"/>
                <a:cs typeface="Open Sans" panose="020B0606030504020204" pitchFamily="34" charset="0"/>
              </a:defRPr>
            </a:lvl3pPr>
            <a:lvl4pPr marL="809523" marR="0"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sz="1400" kern="1200">
                <a:solidFill>
                  <a:srgbClr val="434343"/>
                </a:solidFill>
                <a:latin typeface="+mn-lt"/>
                <a:ea typeface="Open Sans" panose="020B0606030504020204" pitchFamily="34" charset="0"/>
                <a:cs typeface="Open Sans" panose="020B06060305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350" kern="1200">
                <a:solidFill>
                  <a:schemeClr val="tx2">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9pPr>
          </a:lstStyle>
          <a:p>
            <a:pPr marL="266667" marR="0" lvl="0" indent="-266667" algn="l" defTabSz="914400" rtl="0" eaLnBrk="1" fontAlgn="auto" latinLnBrk="0" hangingPunct="1">
              <a:lnSpc>
                <a:spcPct val="90000"/>
              </a:lnSpc>
              <a:spcBef>
                <a:spcPts val="300"/>
              </a:spcBef>
              <a:spcAft>
                <a:spcPts val="0"/>
              </a:spcAft>
              <a:buClr>
                <a:srgbClr val="434343"/>
              </a:buClr>
              <a:buSzTx/>
              <a:buFont typeface="Wingdings" panose="05000000000000000000" pitchFamily="2" charset="2"/>
              <a:buChar char="Ø"/>
              <a:tabLst/>
              <a:defRPr/>
            </a:pPr>
            <a:r>
              <a:rPr kumimoji="0" lang="fr-CA" sz="1000" b="0" i="0" u="none" strike="noStrike" kern="1200" cap="none" spc="0" normalizeH="0" baseline="0" noProof="0">
                <a:ln>
                  <a:noFill/>
                </a:ln>
                <a:solidFill>
                  <a:srgbClr val="434343"/>
                </a:solidFill>
                <a:effectLst/>
                <a:uLnTx/>
                <a:uFillTx/>
                <a:latin typeface="Calibri" panose="020F0502020204030204"/>
              </a:rPr>
              <a:t>Nouveaux processus optimisés et nouveaux outils pour supporter notre croissance à moindre coûts</a:t>
            </a:r>
          </a:p>
          <a:p>
            <a:pPr marL="266667" marR="0" lvl="0" indent="-266667" algn="l" defTabSz="914400" rtl="0" eaLnBrk="1" fontAlgn="auto" latinLnBrk="0" hangingPunct="1">
              <a:lnSpc>
                <a:spcPct val="90000"/>
              </a:lnSpc>
              <a:spcBef>
                <a:spcPts val="1000"/>
              </a:spcBef>
              <a:spcAft>
                <a:spcPts val="0"/>
              </a:spcAft>
              <a:buClr>
                <a:srgbClr val="434343"/>
              </a:buClr>
              <a:buSzTx/>
              <a:buFont typeface="Wingdings" panose="05000000000000000000" pitchFamily="2" charset="2"/>
              <a:buChar char="Ø"/>
              <a:tabLst/>
              <a:defRPr/>
            </a:pPr>
            <a:r>
              <a:rPr kumimoji="0" lang="fr-CA" sz="1000" b="0" i="0" u="none" strike="noStrike" kern="1200" cap="none" spc="0" normalizeH="0" baseline="0" noProof="0">
                <a:ln>
                  <a:noFill/>
                </a:ln>
                <a:solidFill>
                  <a:srgbClr val="434343"/>
                </a:solidFill>
                <a:effectLst/>
                <a:uLnTx/>
                <a:uFillTx/>
                <a:latin typeface="Calibri" panose="020F0502020204030204"/>
              </a:rPr>
              <a:t>Gestion du risque par une détection de fraude de paiement</a:t>
            </a:r>
          </a:p>
          <a:p>
            <a:pPr marL="266667" marR="0" lvl="0" indent="-266667" algn="l" defTabSz="914400" rtl="0" eaLnBrk="1" fontAlgn="auto" latinLnBrk="0" hangingPunct="1">
              <a:lnSpc>
                <a:spcPct val="90000"/>
              </a:lnSpc>
              <a:spcBef>
                <a:spcPts val="1000"/>
              </a:spcBef>
              <a:spcAft>
                <a:spcPts val="0"/>
              </a:spcAft>
              <a:buClr>
                <a:srgbClr val="434343"/>
              </a:buClr>
              <a:buSzTx/>
              <a:buFont typeface="Wingdings" panose="05000000000000000000" pitchFamily="2" charset="2"/>
              <a:buChar char="Ø"/>
              <a:tabLst/>
              <a:defRPr/>
            </a:pPr>
            <a:r>
              <a:rPr kumimoji="0" lang="fr-CA" sz="1000" b="0" i="0" u="none" strike="noStrike" kern="1200" cap="none" spc="0" normalizeH="0" baseline="0" noProof="0">
                <a:ln>
                  <a:noFill/>
                </a:ln>
                <a:solidFill>
                  <a:srgbClr val="434343"/>
                </a:solidFill>
                <a:effectLst/>
                <a:uLnTx/>
                <a:uFillTx/>
                <a:latin typeface="Calibri" panose="020F0502020204030204"/>
              </a:rPr>
              <a:t>Optimisation de notre structure bancaire et de ses frais</a:t>
            </a:r>
          </a:p>
          <a:p>
            <a:pPr lvl="0">
              <a:buFont typeface="Wingdings" panose="05000000000000000000" pitchFamily="2" charset="2"/>
              <a:buChar char="Ø"/>
            </a:pPr>
            <a:r>
              <a:rPr lang="fr-CA" sz="1000" noProof="0"/>
              <a:t>Automatisation et standardisation des paiements​</a:t>
            </a:r>
          </a:p>
          <a:p>
            <a:pPr lvl="0">
              <a:buFont typeface="Wingdings" panose="05000000000000000000" pitchFamily="2" charset="2"/>
              <a:buChar char="Ø"/>
            </a:pPr>
            <a:r>
              <a:rPr lang="fr-CA" sz="1000"/>
              <a:t>Utilisation les expertises métiers au bon moment du processus</a:t>
            </a:r>
            <a:endParaRPr lang="fr-CA" sz="1000" noProof="0"/>
          </a:p>
        </p:txBody>
      </p:sp>
      <p:sp>
        <p:nvSpPr>
          <p:cNvPr id="13" name="ZoneTexte 34">
            <a:extLst>
              <a:ext uri="{FF2B5EF4-FFF2-40B4-BE49-F238E27FC236}">
                <a16:creationId xmlns:a16="http://schemas.microsoft.com/office/drawing/2014/main" id="{1C42108F-5FF1-9C0D-E170-E5E0A9D0E3BC}"/>
              </a:ext>
            </a:extLst>
          </p:cNvPr>
          <p:cNvSpPr txBox="1"/>
          <p:nvPr/>
        </p:nvSpPr>
        <p:spPr>
          <a:xfrm>
            <a:off x="606143" y="1099862"/>
            <a:ext cx="1631391" cy="64633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marL="0" marR="0" lvl="0" indent="0" algn="ctr" defTabSz="914286" rtl="0" eaLnBrk="1" fontAlgn="auto" latinLnBrk="0" hangingPunct="1">
              <a:lnSpc>
                <a:spcPct val="100000"/>
              </a:lnSpc>
              <a:spcBef>
                <a:spcPts val="0"/>
              </a:spcBef>
              <a:spcAft>
                <a:spcPts val="0"/>
              </a:spcAft>
              <a:buClrTx/>
              <a:buSzTx/>
              <a:buFontTx/>
              <a:buNone/>
              <a:tabLst/>
              <a:defRPr/>
            </a:pPr>
            <a:r>
              <a:rPr kumimoji="0" lang="fr-CA" sz="1800" b="0" i="0" u="none" strike="noStrike" kern="1200" cap="none" spc="0" normalizeH="0" baseline="0" noProof="0">
                <a:ln>
                  <a:noFill/>
                </a:ln>
                <a:solidFill>
                  <a:srgbClr val="FFFFFF"/>
                </a:solidFill>
                <a:effectLst/>
                <a:uLnTx/>
                <a:uFillTx/>
                <a:latin typeface="Calibri" panose="020F0502020204030204"/>
                <a:ea typeface="+mn-ea"/>
                <a:cs typeface="+mn-cs"/>
              </a:rPr>
              <a:t>Global </a:t>
            </a:r>
          </a:p>
          <a:p>
            <a:pPr marL="0" marR="0" lvl="0" indent="0" algn="ctr" defTabSz="914286" rtl="0" eaLnBrk="1" fontAlgn="auto" latinLnBrk="0" hangingPunct="1">
              <a:lnSpc>
                <a:spcPct val="100000"/>
              </a:lnSpc>
              <a:spcBef>
                <a:spcPts val="0"/>
              </a:spcBef>
              <a:spcAft>
                <a:spcPts val="0"/>
              </a:spcAft>
              <a:buClrTx/>
              <a:buSzTx/>
              <a:buFontTx/>
              <a:buNone/>
              <a:tabLst/>
              <a:defRPr/>
            </a:pPr>
            <a:r>
              <a:rPr kumimoji="0" lang="fr-CA" sz="1800" b="0" i="0" u="none" strike="noStrike" kern="1200" cap="none" spc="0" normalizeH="0" baseline="0" noProof="0">
                <a:ln>
                  <a:noFill/>
                </a:ln>
                <a:solidFill>
                  <a:srgbClr val="FFFFFF"/>
                </a:solidFill>
                <a:effectLst/>
                <a:uLnTx/>
                <a:uFillTx/>
                <a:latin typeface="Calibri" panose="020F0502020204030204"/>
                <a:ea typeface="+mn-ea"/>
                <a:cs typeface="+mn-cs"/>
              </a:rPr>
              <a:t>CX</a:t>
            </a:r>
          </a:p>
        </p:txBody>
      </p:sp>
      <p:sp>
        <p:nvSpPr>
          <p:cNvPr id="14" name="ZoneTexte 35">
            <a:extLst>
              <a:ext uri="{FF2B5EF4-FFF2-40B4-BE49-F238E27FC236}">
                <a16:creationId xmlns:a16="http://schemas.microsoft.com/office/drawing/2014/main" id="{72768E40-64FB-356F-313B-B6C5B19C0DE3}"/>
              </a:ext>
            </a:extLst>
          </p:cNvPr>
          <p:cNvSpPr txBox="1"/>
          <p:nvPr/>
        </p:nvSpPr>
        <p:spPr>
          <a:xfrm>
            <a:off x="6859746" y="1095180"/>
            <a:ext cx="1627943" cy="646331"/>
          </a:xfrm>
          <a:prstGeom prst="rect">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marL="0" marR="0" lvl="0" indent="0" algn="ctr" defTabSz="914286" rtl="0" eaLnBrk="1" fontAlgn="auto" latinLnBrk="0" hangingPunct="1">
              <a:lnSpc>
                <a:spcPct val="100000"/>
              </a:lnSpc>
              <a:spcBef>
                <a:spcPts val="0"/>
              </a:spcBef>
              <a:spcAft>
                <a:spcPts val="0"/>
              </a:spcAft>
              <a:buClrTx/>
              <a:buSzTx/>
              <a:buFontTx/>
              <a:buNone/>
              <a:tabLst/>
              <a:defRPr/>
            </a:pPr>
            <a:r>
              <a:rPr kumimoji="0" lang="fr-CA" sz="1800" b="0" i="0" u="none" strike="noStrike" kern="1200" cap="none" spc="0" normalizeH="0" baseline="0" noProof="0">
                <a:ln>
                  <a:noFill/>
                </a:ln>
                <a:solidFill>
                  <a:srgbClr val="FFFFFF"/>
                </a:solidFill>
                <a:effectLst/>
                <a:uLnTx/>
                <a:uFillTx/>
                <a:latin typeface="Calibri" panose="020F0502020204030204"/>
                <a:ea typeface="+mn-ea"/>
                <a:cs typeface="+mn-cs"/>
              </a:rPr>
              <a:t>Learning</a:t>
            </a:r>
          </a:p>
          <a:p>
            <a:pPr marL="0" marR="0" lvl="0" indent="0" algn="ctr" defTabSz="914286" rtl="0" eaLnBrk="1" fontAlgn="auto" latinLnBrk="0" hangingPunct="1">
              <a:lnSpc>
                <a:spcPct val="100000"/>
              </a:lnSpc>
              <a:spcBef>
                <a:spcPts val="0"/>
              </a:spcBef>
              <a:spcAft>
                <a:spcPts val="0"/>
              </a:spcAft>
              <a:buClrTx/>
              <a:buSzTx/>
              <a:buFontTx/>
              <a:buNone/>
              <a:tabLst/>
              <a:defRPr/>
            </a:pPr>
            <a:r>
              <a:rPr kumimoji="0" lang="fr-CA" sz="1800" b="0" i="0" u="none" strike="noStrike" kern="1200" cap="none" spc="0" normalizeH="0" baseline="0" noProof="0" err="1">
                <a:ln>
                  <a:noFill/>
                </a:ln>
                <a:solidFill>
                  <a:srgbClr val="FFFFFF"/>
                </a:solidFill>
                <a:effectLst/>
                <a:uLnTx/>
                <a:uFillTx/>
                <a:latin typeface="Calibri" panose="020F0502020204030204"/>
                <a:ea typeface="+mn-ea"/>
                <a:cs typeface="+mn-cs"/>
              </a:rPr>
              <a:t>Organization</a:t>
            </a:r>
            <a:endParaRPr kumimoji="0" lang="fr-CA"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C93DB978-1A84-53BE-A7F9-BA6B5EA0C688}"/>
              </a:ext>
            </a:extLst>
          </p:cNvPr>
          <p:cNvSpPr txBox="1">
            <a:spLocks/>
          </p:cNvSpPr>
          <p:nvPr/>
        </p:nvSpPr>
        <p:spPr>
          <a:xfrm>
            <a:off x="6775754" y="1821316"/>
            <a:ext cx="1795925" cy="191210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2">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2">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2">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2">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2">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buFont typeface="Wingdings" panose="05000000000000000000" pitchFamily="2" charset="2"/>
              <a:buChar char="Ø"/>
            </a:pPr>
            <a:r>
              <a:rPr lang="fr-CA" sz="1050" noProof="0">
                <a:solidFill>
                  <a:srgbClr val="434343"/>
                </a:solidFill>
                <a:ea typeface="Open Sans" panose="020B0606030504020204" pitchFamily="34" charset="0"/>
                <a:cs typeface="Open Sans" panose="020B0606030504020204" pitchFamily="34" charset="0"/>
              </a:rPr>
              <a:t>Nouvelles compétences acquises grâce aux nouveaux processus de révision de la stratégie en lien avec : </a:t>
            </a:r>
          </a:p>
          <a:p>
            <a:pPr marL="357188" lvl="1" indent="-179388">
              <a:buFont typeface="Wingdings" panose="05000000000000000000" pitchFamily="2" charset="2"/>
              <a:buChar char="ü"/>
            </a:pPr>
            <a:r>
              <a:rPr lang="fr-CA" sz="900" noProof="0">
                <a:solidFill>
                  <a:srgbClr val="434343"/>
                </a:solidFill>
                <a:ea typeface="Open Sans" panose="020B0606030504020204" pitchFamily="34" charset="0"/>
                <a:cs typeface="Open Sans" panose="020B0606030504020204" pitchFamily="34" charset="0"/>
              </a:rPr>
              <a:t>La structure de comptes bancaires</a:t>
            </a:r>
          </a:p>
          <a:p>
            <a:pPr marL="357188" lvl="1" indent="-179388">
              <a:buFont typeface="Wingdings" panose="05000000000000000000" pitchFamily="2" charset="2"/>
              <a:buChar char="ü"/>
            </a:pPr>
            <a:r>
              <a:rPr lang="fr-CA" sz="900" noProof="0">
                <a:solidFill>
                  <a:srgbClr val="434343"/>
                </a:solidFill>
                <a:ea typeface="Open Sans" panose="020B0606030504020204" pitchFamily="34" charset="0"/>
                <a:cs typeface="Open Sans" panose="020B0606030504020204" pitchFamily="34" charset="0"/>
              </a:rPr>
              <a:t>Les frais bancaires</a:t>
            </a:r>
          </a:p>
          <a:p>
            <a:pPr marL="357188" lvl="1" indent="-179388">
              <a:buFont typeface="Wingdings" panose="05000000000000000000" pitchFamily="2" charset="2"/>
              <a:buChar char="ü"/>
            </a:pPr>
            <a:r>
              <a:rPr lang="fr-CA" sz="900" noProof="0">
                <a:solidFill>
                  <a:srgbClr val="434343"/>
                </a:solidFill>
                <a:ea typeface="Open Sans" panose="020B0606030504020204" pitchFamily="34" charset="0"/>
                <a:cs typeface="Open Sans" panose="020B0606030504020204" pitchFamily="34" charset="0"/>
              </a:rPr>
              <a:t>Les services bancaires </a:t>
            </a:r>
          </a:p>
          <a:p>
            <a:pPr marL="357188" lvl="1" indent="-179388">
              <a:buFont typeface="Wingdings" panose="05000000000000000000" pitchFamily="2" charset="2"/>
              <a:buChar char="ü"/>
            </a:pPr>
            <a:r>
              <a:rPr lang="fr-CA" sz="900" noProof="0">
                <a:solidFill>
                  <a:srgbClr val="434343"/>
                </a:solidFill>
                <a:ea typeface="Open Sans" panose="020B0606030504020204" pitchFamily="34" charset="0"/>
                <a:cs typeface="Open Sans" panose="020B0606030504020204" pitchFamily="34" charset="0"/>
              </a:rPr>
              <a:t>Les règles de détection de fraude</a:t>
            </a:r>
          </a:p>
        </p:txBody>
      </p:sp>
      <p:sp>
        <p:nvSpPr>
          <p:cNvPr id="16" name="Titre 1">
            <a:extLst>
              <a:ext uri="{FF2B5EF4-FFF2-40B4-BE49-F238E27FC236}">
                <a16:creationId xmlns:a16="http://schemas.microsoft.com/office/drawing/2014/main" id="{162344FD-B5FB-50D9-5B13-F2B04765B319}"/>
              </a:ext>
            </a:extLst>
          </p:cNvPr>
          <p:cNvSpPr txBox="1">
            <a:spLocks/>
          </p:cNvSpPr>
          <p:nvPr/>
        </p:nvSpPr>
        <p:spPr>
          <a:xfrm>
            <a:off x="228600" y="0"/>
            <a:ext cx="8915400" cy="475385"/>
          </a:xfrm>
          <a:prstGeom prst="rect">
            <a:avLst/>
          </a:prstGeom>
          <a:solidFill>
            <a:schemeClr val="tx1"/>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fr-CA" sz="2400" b="1">
                <a:solidFill>
                  <a:schemeClr val="bg1"/>
                </a:solidFill>
              </a:rPr>
              <a:t>Objectifs de création de valeur et bénéfices</a:t>
            </a:r>
          </a:p>
        </p:txBody>
      </p:sp>
    </p:spTree>
    <p:extLst>
      <p:ext uri="{BB962C8B-B14F-4D97-AF65-F5344CB8AC3E}">
        <p14:creationId xmlns:p14="http://schemas.microsoft.com/office/powerpoint/2010/main" val="1116061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F549D-DBA4-7147-15A4-A5E8AED0E0A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6CC573B-C76D-63E7-2C72-B1E192E68A7A}"/>
              </a:ext>
            </a:extLst>
          </p:cNvPr>
          <p:cNvSpPr>
            <a:spLocks noGrp="1"/>
          </p:cNvSpPr>
          <p:nvPr>
            <p:ph type="title"/>
          </p:nvPr>
        </p:nvSpPr>
        <p:spPr>
          <a:xfrm>
            <a:off x="228600" y="0"/>
            <a:ext cx="8915400" cy="475385"/>
          </a:xfrm>
          <a:solidFill>
            <a:schemeClr val="tx1"/>
          </a:solidFill>
        </p:spPr>
        <p:txBody>
          <a:bodyPr vert="horz" lIns="91440" tIns="45720" rIns="91440" bIns="45720" rtlCol="0" anchor="ctr">
            <a:normAutofit/>
          </a:bodyPr>
          <a:lstStyle/>
          <a:p>
            <a:r>
              <a:rPr lang="fr-CA" sz="2400" b="1" noProof="0">
                <a:solidFill>
                  <a:schemeClr val="bg1"/>
                </a:solidFill>
              </a:rPr>
              <a:t>Bénéfices attendus</a:t>
            </a:r>
          </a:p>
        </p:txBody>
      </p:sp>
      <p:graphicFrame>
        <p:nvGraphicFramePr>
          <p:cNvPr id="7" name="Diagramme 6">
            <a:extLst>
              <a:ext uri="{FF2B5EF4-FFF2-40B4-BE49-F238E27FC236}">
                <a16:creationId xmlns:a16="http://schemas.microsoft.com/office/drawing/2014/main" id="{547710A2-82F2-59F9-E82E-C828A9D67C58}"/>
              </a:ext>
            </a:extLst>
          </p:cNvPr>
          <p:cNvGraphicFramePr/>
          <p:nvPr>
            <p:extLst>
              <p:ext uri="{D42A27DB-BD31-4B8C-83A1-F6EECF244321}">
                <p14:modId xmlns:p14="http://schemas.microsoft.com/office/powerpoint/2010/main" val="2942178658"/>
              </p:ext>
            </p:extLst>
          </p:nvPr>
        </p:nvGraphicFramePr>
        <p:xfrm>
          <a:off x="497031" y="691649"/>
          <a:ext cx="8149938" cy="427555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945582823"/>
      </p:ext>
    </p:extLst>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Espace réservé du contenu 3">
            <a:extLst>
              <a:ext uri="{FF2B5EF4-FFF2-40B4-BE49-F238E27FC236}">
                <a16:creationId xmlns:a16="http://schemas.microsoft.com/office/drawing/2014/main" id="{207721DD-2F71-13CF-95A4-4EA327F147D3}"/>
              </a:ext>
            </a:extLst>
          </p:cNvPr>
          <p:cNvGraphicFramePr>
            <a:graphicFrameLocks/>
          </p:cNvGraphicFramePr>
          <p:nvPr>
            <p:extLst>
              <p:ext uri="{D42A27DB-BD31-4B8C-83A1-F6EECF244321}">
                <p14:modId xmlns:p14="http://schemas.microsoft.com/office/powerpoint/2010/main" val="2914457784"/>
              </p:ext>
            </p:extLst>
          </p:nvPr>
        </p:nvGraphicFramePr>
        <p:xfrm>
          <a:off x="394767" y="533996"/>
          <a:ext cx="8583066" cy="4434840"/>
        </p:xfrm>
        <a:graphic>
          <a:graphicData uri="http://schemas.openxmlformats.org/drawingml/2006/table">
            <a:tbl>
              <a:tblPr firstRow="1" bandRow="1">
                <a:tableStyleId>{5C22544A-7EE6-4342-B048-85BDC9FD1C3A}</a:tableStyleId>
              </a:tblPr>
              <a:tblGrid>
                <a:gridCol w="3048981">
                  <a:extLst>
                    <a:ext uri="{9D8B030D-6E8A-4147-A177-3AD203B41FA5}">
                      <a16:colId xmlns:a16="http://schemas.microsoft.com/office/drawing/2014/main" val="1634281488"/>
                    </a:ext>
                  </a:extLst>
                </a:gridCol>
                <a:gridCol w="836390">
                  <a:extLst>
                    <a:ext uri="{9D8B030D-6E8A-4147-A177-3AD203B41FA5}">
                      <a16:colId xmlns:a16="http://schemas.microsoft.com/office/drawing/2014/main" val="1920467996"/>
                    </a:ext>
                  </a:extLst>
                </a:gridCol>
                <a:gridCol w="1036656">
                  <a:extLst>
                    <a:ext uri="{9D8B030D-6E8A-4147-A177-3AD203B41FA5}">
                      <a16:colId xmlns:a16="http://schemas.microsoft.com/office/drawing/2014/main" val="4195016044"/>
                    </a:ext>
                  </a:extLst>
                </a:gridCol>
                <a:gridCol w="1047135">
                  <a:extLst>
                    <a:ext uri="{9D8B030D-6E8A-4147-A177-3AD203B41FA5}">
                      <a16:colId xmlns:a16="http://schemas.microsoft.com/office/drawing/2014/main" val="1582077737"/>
                    </a:ext>
                  </a:extLst>
                </a:gridCol>
                <a:gridCol w="2613904">
                  <a:extLst>
                    <a:ext uri="{9D8B030D-6E8A-4147-A177-3AD203B41FA5}">
                      <a16:colId xmlns:a16="http://schemas.microsoft.com/office/drawing/2014/main" val="3035159770"/>
                    </a:ext>
                  </a:extLst>
                </a:gridCol>
              </a:tblGrid>
              <a:tr h="370840">
                <a:tc>
                  <a:txBody>
                    <a:bodyPr/>
                    <a:lstStyle/>
                    <a:p>
                      <a:pPr algn="ctr"/>
                      <a:r>
                        <a:rPr lang="fr-CA" sz="1600" b="1" noProof="0"/>
                        <a:t>Description</a:t>
                      </a:r>
                    </a:p>
                  </a:txBody>
                  <a:tcPr anchor="ctr"/>
                </a:tc>
                <a:tc>
                  <a:txBody>
                    <a:bodyPr/>
                    <a:lstStyle/>
                    <a:p>
                      <a:pPr algn="ctr"/>
                      <a:r>
                        <a:rPr lang="fr-CA" sz="1600" b="1" noProof="0"/>
                        <a:t>Actuel</a:t>
                      </a:r>
                    </a:p>
                  </a:txBody>
                  <a:tcPr anchor="ctr"/>
                </a:tc>
                <a:tc>
                  <a:txBody>
                    <a:bodyPr/>
                    <a:lstStyle/>
                    <a:p>
                      <a:pPr algn="ctr"/>
                      <a:r>
                        <a:rPr lang="fr-CA" sz="1600" b="1" noProof="0"/>
                        <a:t>Attendu</a:t>
                      </a:r>
                    </a:p>
                    <a:p>
                      <a:pPr algn="ctr"/>
                      <a:r>
                        <a:rPr lang="fr-CA" sz="1000" b="0" kern="1200" noProof="0">
                          <a:solidFill>
                            <a:schemeClr val="lt1"/>
                          </a:solidFill>
                          <a:latin typeface="+mn-lt"/>
                          <a:ea typeface="+mn-ea"/>
                          <a:cs typeface="+mn-cs"/>
                        </a:rPr>
                        <a:t>Décembre 2026</a:t>
                      </a:r>
                    </a:p>
                  </a:txBody>
                  <a:tcPr anchor="ctr"/>
                </a:tc>
                <a:tc>
                  <a:txBody>
                    <a:bodyPr/>
                    <a:lstStyle/>
                    <a:p>
                      <a:pPr algn="ctr"/>
                      <a:r>
                        <a:rPr lang="fr-CA" sz="1600" b="1" noProof="0"/>
                        <a:t>Attendu</a:t>
                      </a:r>
                    </a:p>
                    <a:p>
                      <a:pPr algn="ctr"/>
                      <a:r>
                        <a:rPr lang="fr-CA" sz="1000" b="0" noProof="0"/>
                        <a:t>Décembre 2027</a:t>
                      </a:r>
                      <a:endParaRPr lang="fr-CA" sz="1600" b="0" noProof="0"/>
                    </a:p>
                  </a:txBody>
                  <a:tcPr anchor="ctr"/>
                </a:tc>
                <a:tc>
                  <a:txBody>
                    <a:bodyPr/>
                    <a:lstStyle/>
                    <a:p>
                      <a:r>
                        <a:rPr lang="fr-CA" sz="1600" b="1" noProof="0"/>
                        <a:t>Éléments à mettre en place </a:t>
                      </a:r>
                      <a:r>
                        <a:rPr lang="fr-CA" sz="1100" b="0" i="1" noProof="0"/>
                        <a:t>pour mesure KPI</a:t>
                      </a:r>
                      <a:endParaRPr lang="fr-CA" sz="1600" b="0" i="1" noProof="0"/>
                    </a:p>
                  </a:txBody>
                  <a:tcPr/>
                </a:tc>
                <a:extLst>
                  <a:ext uri="{0D108BD9-81ED-4DB2-BD59-A6C34878D82A}">
                    <a16:rowId xmlns:a16="http://schemas.microsoft.com/office/drawing/2014/main" val="1713164466"/>
                  </a:ext>
                </a:extLst>
              </a:tr>
              <a:tr h="370840">
                <a:tc>
                  <a:txBody>
                    <a:bodyPr/>
                    <a:lstStyle/>
                    <a:p>
                      <a:r>
                        <a:rPr lang="fr-CA" sz="1400" noProof="0"/>
                        <a:t>% des transactions bancaires dans Trax vers Kyriba</a:t>
                      </a:r>
                    </a:p>
                  </a:txBody>
                  <a:tcPr/>
                </a:tc>
                <a:tc>
                  <a:txBody>
                    <a:bodyPr/>
                    <a:lstStyle/>
                    <a:p>
                      <a:pPr algn="ctr"/>
                      <a:r>
                        <a:rPr lang="fr-CA" sz="1400" noProof="0"/>
                        <a:t>0 %</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1400" noProof="0"/>
                        <a:t>100 %</a:t>
                      </a:r>
                    </a:p>
                  </a:txBody>
                  <a:tcPr anchor="ctr"/>
                </a:tc>
                <a:tc>
                  <a:txBody>
                    <a:bodyPr/>
                    <a:lstStyle/>
                    <a:p>
                      <a:pPr algn="ctr"/>
                      <a:r>
                        <a:rPr lang="fr-CA" sz="1400" noProof="0"/>
                        <a:t>100 %</a:t>
                      </a:r>
                    </a:p>
                  </a:txBody>
                  <a:tcPr anchor="ctr"/>
                </a:tc>
                <a:tc>
                  <a:txBody>
                    <a:bodyPr/>
                    <a:lstStyle/>
                    <a:p>
                      <a:r>
                        <a:rPr lang="fr-CA" sz="1200" noProof="0"/>
                        <a:t>Décommissionner TRAX</a:t>
                      </a:r>
                    </a:p>
                    <a:p>
                      <a:r>
                        <a:rPr lang="fr-CA" sz="1200" noProof="0"/>
                        <a:t>Un suivi trimestriel durant le projet</a:t>
                      </a:r>
                    </a:p>
                  </a:txBody>
                  <a:tcPr/>
                </a:tc>
                <a:extLst>
                  <a:ext uri="{0D108BD9-81ED-4DB2-BD59-A6C34878D82A}">
                    <a16:rowId xmlns:a16="http://schemas.microsoft.com/office/drawing/2014/main" val="3694237023"/>
                  </a:ext>
                </a:extLst>
              </a:tr>
              <a:tr h="370840">
                <a:tc>
                  <a:txBody>
                    <a:bodyPr/>
                    <a:lstStyle/>
                    <a:p>
                      <a:r>
                        <a:rPr lang="fr-CA" sz="1400" noProof="0"/>
                        <a:t>Nombre d’accès à la plateforme RBC Express</a:t>
                      </a:r>
                    </a:p>
                  </a:txBody>
                  <a:tcPr/>
                </a:tc>
                <a:tc>
                  <a:txBody>
                    <a:bodyPr/>
                    <a:lstStyle/>
                    <a:p>
                      <a:pPr algn="ctr"/>
                      <a:r>
                        <a:rPr lang="fr-CA" sz="1400" noProof="0"/>
                        <a:t>577 </a:t>
                      </a:r>
                      <a:r>
                        <a:rPr lang="fr-CA" sz="1050" noProof="0"/>
                        <a:t>Utilisateurs</a:t>
                      </a:r>
                      <a:endParaRPr lang="fr-CA" sz="1400" noProof="0"/>
                    </a:p>
                  </a:txBody>
                  <a:tcPr anchor="ctr"/>
                </a:tc>
                <a:tc>
                  <a:txBody>
                    <a:bodyPr/>
                    <a:lstStyle/>
                    <a:p>
                      <a:pPr algn="ctr"/>
                      <a:r>
                        <a:rPr lang="fr-CA" sz="1400" noProof="0"/>
                        <a:t>300</a:t>
                      </a:r>
                    </a:p>
                    <a:p>
                      <a:pPr algn="ctr"/>
                      <a:r>
                        <a:rPr lang="fr-CA" sz="1000" kern="1200" noProof="0">
                          <a:solidFill>
                            <a:schemeClr val="dk1"/>
                          </a:solidFill>
                          <a:latin typeface="+mn-lt"/>
                          <a:ea typeface="+mn-ea"/>
                          <a:cs typeface="+mn-cs"/>
                        </a:rPr>
                        <a:t>utilisateurs</a:t>
                      </a:r>
                    </a:p>
                  </a:txBody>
                  <a:tcPr anchor="ctr"/>
                </a:tc>
                <a:tc>
                  <a:txBody>
                    <a:bodyPr/>
                    <a:lstStyle/>
                    <a:p>
                      <a:pPr algn="ctr"/>
                      <a:r>
                        <a:rPr lang="fr-CA" sz="1400" noProof="0"/>
                        <a:t>200 </a:t>
                      </a:r>
                      <a:r>
                        <a:rPr lang="fr-CA" sz="1000" noProof="0"/>
                        <a:t>utilisateurs (équipe </a:t>
                      </a:r>
                      <a:r>
                        <a:rPr lang="fr-CA" sz="1000" noProof="0" err="1"/>
                        <a:t>OpFin</a:t>
                      </a:r>
                      <a:r>
                        <a:rPr lang="fr-CA" sz="1000" noProof="0"/>
                        <a:t> et filiales)</a:t>
                      </a:r>
                      <a:endParaRPr lang="fr-CA" sz="1400" noProof="0"/>
                    </a:p>
                  </a:txBody>
                  <a:tcPr anchor="ctr"/>
                </a:tc>
                <a:tc>
                  <a:txBody>
                    <a:bodyPr/>
                    <a:lstStyle/>
                    <a:p>
                      <a:endParaRPr lang="fr-CA" sz="1200" strike="sngStrike" noProof="0"/>
                    </a:p>
                  </a:txBody>
                  <a:tcPr/>
                </a:tc>
                <a:extLst>
                  <a:ext uri="{0D108BD9-81ED-4DB2-BD59-A6C34878D82A}">
                    <a16:rowId xmlns:a16="http://schemas.microsoft.com/office/drawing/2014/main" val="283279023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400" kern="1200" noProof="0">
                          <a:solidFill>
                            <a:schemeClr val="dk1"/>
                          </a:solidFill>
                          <a:latin typeface="+mn-lt"/>
                          <a:ea typeface="+mn-ea"/>
                          <a:cs typeface="+mn-cs"/>
                        </a:rPr>
                        <a:t>% des chèques corpo, manipulés par le CSP Bancaire avant l’envoi aux bénéficiaires ou aux partenaires</a:t>
                      </a:r>
                    </a:p>
                  </a:txBody>
                  <a:tcPr/>
                </a:tc>
                <a:tc>
                  <a:txBody>
                    <a:bodyPr/>
                    <a:lstStyle/>
                    <a:p>
                      <a:pPr marL="0" algn="ctr" defTabSz="914400" rtl="0" eaLnBrk="1" latinLnBrk="0" hangingPunct="1"/>
                      <a:r>
                        <a:rPr lang="fr-CA" sz="1400" kern="1200" noProof="0">
                          <a:solidFill>
                            <a:schemeClr val="dk1"/>
                          </a:solidFill>
                          <a:latin typeface="+mn-lt"/>
                          <a:ea typeface="+mn-ea"/>
                          <a:cs typeface="+mn-cs"/>
                        </a:rPr>
                        <a:t>90% </a:t>
                      </a:r>
                    </a:p>
                  </a:txBody>
                  <a:tcPr anchor="ctr"/>
                </a:tc>
                <a:tc>
                  <a:txBody>
                    <a:bodyPr/>
                    <a:lstStyle/>
                    <a:p>
                      <a:pPr marL="0" algn="ctr" defTabSz="914400" rtl="0" eaLnBrk="1" latinLnBrk="0" hangingPunct="1"/>
                      <a:r>
                        <a:rPr lang="fr-CA" sz="1400" kern="1200" noProof="0">
                          <a:solidFill>
                            <a:schemeClr val="dk1"/>
                          </a:solidFill>
                          <a:latin typeface="+mn-lt"/>
                          <a:ea typeface="+mn-ea"/>
                          <a:cs typeface="+mn-cs"/>
                        </a:rPr>
                        <a:t>0%</a:t>
                      </a:r>
                    </a:p>
                  </a:txBody>
                  <a:tcPr anchor="ctr"/>
                </a:tc>
                <a:tc>
                  <a:txBody>
                    <a:bodyPr/>
                    <a:lstStyle/>
                    <a:p>
                      <a:pPr marL="0" algn="ctr" defTabSz="914400" rtl="0" eaLnBrk="1" latinLnBrk="0" hangingPunct="1"/>
                      <a:r>
                        <a:rPr lang="fr-CA" sz="1400" kern="1200" noProof="0">
                          <a:solidFill>
                            <a:schemeClr val="dk1"/>
                          </a:solidFill>
                          <a:latin typeface="+mn-lt"/>
                          <a:ea typeface="+mn-ea"/>
                          <a:cs typeface="+mn-cs"/>
                        </a:rPr>
                        <a:t>0%</a:t>
                      </a:r>
                    </a:p>
                  </a:txBody>
                  <a:tcPr anchor="ctr"/>
                </a:tc>
                <a:tc>
                  <a:txBody>
                    <a:bodyPr/>
                    <a:lstStyle/>
                    <a:p>
                      <a:pPr marL="0" algn="l" defTabSz="914400" rtl="0" eaLnBrk="1" latinLnBrk="0" hangingPunct="1"/>
                      <a:endParaRPr lang="fr-CA" sz="1400" kern="1200" noProof="0">
                        <a:solidFill>
                          <a:schemeClr val="dk1"/>
                        </a:solidFill>
                        <a:latin typeface="+mn-lt"/>
                        <a:ea typeface="+mn-ea"/>
                        <a:cs typeface="+mn-cs"/>
                      </a:endParaRPr>
                    </a:p>
                  </a:txBody>
                  <a:tcPr/>
                </a:tc>
                <a:extLst>
                  <a:ext uri="{0D108BD9-81ED-4DB2-BD59-A6C34878D82A}">
                    <a16:rowId xmlns:a16="http://schemas.microsoft.com/office/drawing/2014/main" val="105317375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400" kern="1200" noProof="0">
                          <a:solidFill>
                            <a:schemeClr val="dk1"/>
                          </a:solidFill>
                          <a:latin typeface="+mn-lt"/>
                          <a:ea typeface="+mn-ea"/>
                          <a:cs typeface="+mn-cs"/>
                        </a:rPr>
                        <a:t>% de paiements manuels traités via </a:t>
                      </a:r>
                      <a:r>
                        <a:rPr lang="fr-CA" sz="1400" kern="1200" noProof="0" err="1">
                          <a:solidFill>
                            <a:schemeClr val="dk1"/>
                          </a:solidFill>
                          <a:latin typeface="+mn-lt"/>
                          <a:ea typeface="+mn-ea"/>
                          <a:cs typeface="+mn-cs"/>
                        </a:rPr>
                        <a:t>Kyriba</a:t>
                      </a:r>
                      <a:endParaRPr lang="fr-CA" sz="1400" kern="1200" noProof="0">
                        <a:solidFill>
                          <a:schemeClr val="dk1"/>
                        </a:solidFill>
                        <a:latin typeface="+mn-lt"/>
                        <a:ea typeface="+mn-ea"/>
                        <a:cs typeface="+mn-cs"/>
                      </a:endParaRPr>
                    </a:p>
                  </a:txBody>
                  <a:tcPr/>
                </a:tc>
                <a:tc>
                  <a:txBody>
                    <a:bodyPr/>
                    <a:lstStyle/>
                    <a:p>
                      <a:pPr marL="0" algn="ctr" defTabSz="914400" rtl="0" eaLnBrk="1" latinLnBrk="0" hangingPunct="1"/>
                      <a:r>
                        <a:rPr lang="fr-CA" sz="1400" kern="1200" noProof="0">
                          <a:solidFill>
                            <a:schemeClr val="dk1"/>
                          </a:solidFill>
                          <a:latin typeface="+mn-lt"/>
                          <a:ea typeface="+mn-ea"/>
                          <a:cs typeface="+mn-cs"/>
                        </a:rPr>
                        <a:t>0%</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A" sz="1400" b="0" i="0" u="none" strike="noStrike" kern="1200" cap="none" spc="0" normalizeH="0" baseline="0" noProof="0">
                          <a:ln>
                            <a:noFill/>
                          </a:ln>
                          <a:solidFill>
                            <a:srgbClr val="003DA5"/>
                          </a:solidFill>
                          <a:effectLst/>
                          <a:uLnTx/>
                          <a:uFillTx/>
                          <a:latin typeface="+mn-lt"/>
                          <a:ea typeface="+mn-ea"/>
                          <a:cs typeface="+mn-cs"/>
                        </a:rPr>
                        <a:t>100% </a:t>
                      </a:r>
                      <a:r>
                        <a:rPr kumimoji="0" lang="fr-CA" sz="1050" b="0" i="0" u="none" strike="noStrike" kern="1200" cap="none" spc="0" normalizeH="0" baseline="0" noProof="0">
                          <a:ln>
                            <a:noFill/>
                          </a:ln>
                          <a:solidFill>
                            <a:srgbClr val="003DA5"/>
                          </a:solidFill>
                          <a:effectLst/>
                          <a:uLnTx/>
                          <a:uFillTx/>
                          <a:latin typeface="+mn-lt"/>
                          <a:ea typeface="+mn-ea"/>
                          <a:cs typeface="+mn-cs"/>
                        </a:rPr>
                        <a:t>pour IA (1005)</a:t>
                      </a:r>
                      <a:endParaRPr kumimoji="0" lang="fr-CA" sz="1400" b="0" i="0" u="none" strike="noStrike" kern="1200" cap="none" spc="0" normalizeH="0" baseline="0" noProof="0">
                        <a:ln>
                          <a:noFill/>
                        </a:ln>
                        <a:solidFill>
                          <a:srgbClr val="003DA5"/>
                        </a:solidFill>
                        <a:effectLst/>
                        <a:uLnTx/>
                        <a:uFillTx/>
                        <a:latin typeface="+mn-lt"/>
                        <a:ea typeface="+mn-ea"/>
                        <a:cs typeface="+mn-cs"/>
                      </a:endParaRPr>
                    </a:p>
                  </a:txBody>
                  <a:tcPr anchor="ctr"/>
                </a:tc>
                <a:tc>
                  <a:txBody>
                    <a:bodyPr/>
                    <a:lstStyle/>
                    <a:p>
                      <a:pPr marL="0" algn="ctr" defTabSz="914400" rtl="0" eaLnBrk="1" latinLnBrk="0" hangingPunct="1"/>
                      <a:r>
                        <a:rPr lang="fr-CA" sz="1400" kern="1200" noProof="0">
                          <a:solidFill>
                            <a:schemeClr val="dk1"/>
                          </a:solidFill>
                          <a:latin typeface="+mn-lt"/>
                          <a:ea typeface="+mn-ea"/>
                          <a:cs typeface="+mn-cs"/>
                        </a:rPr>
                        <a:t>100% </a:t>
                      </a:r>
                      <a:r>
                        <a:rPr lang="fr-CA" sz="1050" kern="1200" noProof="0">
                          <a:solidFill>
                            <a:schemeClr val="dk1"/>
                          </a:solidFill>
                          <a:latin typeface="+mn-lt"/>
                          <a:ea typeface="+mn-ea"/>
                          <a:cs typeface="+mn-cs"/>
                        </a:rPr>
                        <a:t>pour IA (1005)</a:t>
                      </a:r>
                      <a:endParaRPr lang="fr-CA" sz="1400" kern="1200" noProof="0">
                        <a:solidFill>
                          <a:schemeClr val="dk1"/>
                        </a:solidFill>
                        <a:latin typeface="+mn-lt"/>
                        <a:ea typeface="+mn-ea"/>
                        <a:cs typeface="+mn-cs"/>
                      </a:endParaRPr>
                    </a:p>
                  </a:txBody>
                  <a:tcPr anchor="ctr"/>
                </a:tc>
                <a:tc>
                  <a:txBody>
                    <a:bodyPr/>
                    <a:lstStyle/>
                    <a:p>
                      <a:pPr marL="0" algn="l" defTabSz="914400" rtl="0" eaLnBrk="1" latinLnBrk="0" hangingPunct="1"/>
                      <a:endParaRPr lang="fr-CA" sz="1400" kern="1200" noProof="0">
                        <a:solidFill>
                          <a:schemeClr val="dk1"/>
                        </a:solidFill>
                        <a:latin typeface="+mn-lt"/>
                        <a:ea typeface="+mn-ea"/>
                        <a:cs typeface="+mn-cs"/>
                      </a:endParaRPr>
                    </a:p>
                  </a:txBody>
                  <a:tcPr/>
                </a:tc>
                <a:extLst>
                  <a:ext uri="{0D108BD9-81ED-4DB2-BD59-A6C34878D82A}">
                    <a16:rowId xmlns:a16="http://schemas.microsoft.com/office/drawing/2014/main" val="263023584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400" kern="1200" noProof="0">
                          <a:solidFill>
                            <a:schemeClr val="dk1"/>
                          </a:solidFill>
                          <a:latin typeface="+mn-lt"/>
                          <a:ea typeface="+mn-ea"/>
                          <a:cs typeface="+mn-cs"/>
                        </a:rPr>
                        <a:t>Nombre de modules bancaires dans Kyriba</a:t>
                      </a:r>
                    </a:p>
                  </a:txBody>
                  <a:tcPr/>
                </a:tc>
                <a:tc>
                  <a:txBody>
                    <a:bodyPr/>
                    <a:lstStyle/>
                    <a:p>
                      <a:pPr marL="0" algn="ctr" defTabSz="914400" rtl="0" eaLnBrk="1" latinLnBrk="0" hangingPunct="1"/>
                      <a:r>
                        <a:rPr lang="fr-CA" sz="1400" kern="1200" noProof="0">
                          <a:solidFill>
                            <a:schemeClr val="dk1"/>
                          </a:solidFill>
                          <a:latin typeface="+mn-lt"/>
                          <a:ea typeface="+mn-ea"/>
                          <a:cs typeface="+mn-cs"/>
                        </a:rPr>
                        <a:t>0</a:t>
                      </a:r>
                    </a:p>
                  </a:txBody>
                  <a:tcPr anchor="ctr"/>
                </a:tc>
                <a:tc>
                  <a:txBody>
                    <a:bodyPr/>
                    <a:lstStyle/>
                    <a:p>
                      <a:pPr marL="0" algn="ctr" defTabSz="914400" rtl="0" eaLnBrk="1" latinLnBrk="0" hangingPunct="1"/>
                      <a:r>
                        <a:rPr lang="fr-CA" sz="1400" kern="1200" noProof="0">
                          <a:solidFill>
                            <a:schemeClr val="dk1"/>
                          </a:solidFill>
                          <a:latin typeface="+mn-lt"/>
                          <a:ea typeface="+mn-ea"/>
                          <a:cs typeface="+mn-cs"/>
                        </a:rPr>
                        <a:t>5</a:t>
                      </a:r>
                    </a:p>
                  </a:txBody>
                  <a:tcPr anchor="ctr"/>
                </a:tc>
                <a:tc>
                  <a:txBody>
                    <a:bodyPr/>
                    <a:lstStyle/>
                    <a:p>
                      <a:pPr marL="0" algn="ctr" defTabSz="914400" rtl="0" eaLnBrk="1" latinLnBrk="0" hangingPunct="1"/>
                      <a:r>
                        <a:rPr lang="fr-CA" sz="1400" kern="1200" noProof="0">
                          <a:solidFill>
                            <a:schemeClr val="dk1"/>
                          </a:solidFill>
                          <a:latin typeface="+mn-lt"/>
                          <a:ea typeface="+mn-ea"/>
                          <a:cs typeface="+mn-cs"/>
                        </a:rPr>
                        <a:t>5</a:t>
                      </a:r>
                    </a:p>
                  </a:txBody>
                  <a:tcPr anchor="ctr"/>
                </a:tc>
                <a:tc>
                  <a:txBody>
                    <a:bodyPr/>
                    <a:lstStyle/>
                    <a:p>
                      <a:pPr marL="0" algn="l" defTabSz="914400" rtl="0" eaLnBrk="1" latinLnBrk="0" hangingPunct="1"/>
                      <a:r>
                        <a:rPr lang="fr-CA" sz="1200" kern="1200" noProof="0">
                          <a:solidFill>
                            <a:schemeClr val="dk1"/>
                          </a:solidFill>
                          <a:latin typeface="+mn-lt"/>
                          <a:ea typeface="+mn-ea"/>
                          <a:cs typeface="+mn-cs"/>
                        </a:rPr>
                        <a:t>Implantation des modules : BAM, BFA, paiement (DD, DPA, Wire, Chèque), Anomalie </a:t>
                      </a:r>
                      <a:r>
                        <a:rPr lang="fr-CA" sz="1200" kern="1200" noProof="0" err="1">
                          <a:solidFill>
                            <a:schemeClr val="dk1"/>
                          </a:solidFill>
                          <a:latin typeface="+mn-lt"/>
                          <a:ea typeface="+mn-ea"/>
                          <a:cs typeface="+mn-cs"/>
                        </a:rPr>
                        <a:t>detection</a:t>
                      </a:r>
                      <a:r>
                        <a:rPr lang="fr-CA" sz="1200" kern="1200" noProof="0">
                          <a:solidFill>
                            <a:schemeClr val="dk1"/>
                          </a:solidFill>
                          <a:latin typeface="+mn-lt"/>
                          <a:ea typeface="+mn-ea"/>
                          <a:cs typeface="+mn-cs"/>
                        </a:rPr>
                        <a:t>, Fraude</a:t>
                      </a:r>
                    </a:p>
                  </a:txBody>
                  <a:tcPr/>
                </a:tc>
                <a:extLst>
                  <a:ext uri="{0D108BD9-81ED-4DB2-BD59-A6C34878D82A}">
                    <a16:rowId xmlns:a16="http://schemas.microsoft.com/office/drawing/2014/main" val="421963659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400" kern="1200" noProof="0">
                          <a:solidFill>
                            <a:schemeClr val="dk1"/>
                          </a:solidFill>
                          <a:latin typeface="+mn-lt"/>
                          <a:ea typeface="+mn-ea"/>
                          <a:cs typeface="+mn-cs"/>
                        </a:rPr>
                        <a:t>Nombre d’actifs dans l’écosystème bancaire</a:t>
                      </a:r>
                    </a:p>
                  </a:txBody>
                  <a:tcPr/>
                </a:tc>
                <a:tc>
                  <a:txBody>
                    <a:bodyPr/>
                    <a:lstStyle/>
                    <a:p>
                      <a:pPr marL="0" algn="ctr" defTabSz="914400" rtl="0" eaLnBrk="1" latinLnBrk="0" hangingPunct="1"/>
                      <a:r>
                        <a:rPr lang="fr-CA" sz="1400" kern="1200" noProof="0">
                          <a:solidFill>
                            <a:schemeClr val="dk1"/>
                          </a:solidFill>
                          <a:latin typeface="+mn-lt"/>
                          <a:ea typeface="+mn-ea"/>
                          <a:cs typeface="+mn-cs"/>
                        </a:rPr>
                        <a:t>7</a:t>
                      </a:r>
                    </a:p>
                  </a:txBody>
                  <a:tcPr anchor="ctr"/>
                </a:tc>
                <a:tc>
                  <a:txBody>
                    <a:bodyPr/>
                    <a:lstStyle/>
                    <a:p>
                      <a:pPr marL="0" algn="ctr" defTabSz="914400" rtl="0" eaLnBrk="1" latinLnBrk="0" hangingPunct="1"/>
                      <a:r>
                        <a:rPr lang="fr-CA" sz="1400" kern="1200" noProof="0">
                          <a:solidFill>
                            <a:schemeClr val="dk1"/>
                          </a:solidFill>
                          <a:latin typeface="+mn-lt"/>
                          <a:ea typeface="+mn-ea"/>
                          <a:cs typeface="+mn-cs"/>
                        </a:rPr>
                        <a:t>4</a:t>
                      </a:r>
                    </a:p>
                    <a:p>
                      <a:pPr marL="0" algn="ctr" defTabSz="914400" rtl="0" eaLnBrk="1" latinLnBrk="0" hangingPunct="1"/>
                      <a:r>
                        <a:rPr lang="fr-CA" sz="1000" kern="1200" noProof="0" err="1">
                          <a:solidFill>
                            <a:schemeClr val="dk1"/>
                          </a:solidFill>
                          <a:latin typeface="+mn-lt"/>
                          <a:ea typeface="+mn-ea"/>
                          <a:cs typeface="+mn-cs"/>
                        </a:rPr>
                        <a:t>PowerBi</a:t>
                      </a:r>
                      <a:r>
                        <a:rPr lang="fr-CA" sz="1000" kern="1200" noProof="0">
                          <a:solidFill>
                            <a:schemeClr val="dk1"/>
                          </a:solidFill>
                          <a:latin typeface="+mn-lt"/>
                          <a:ea typeface="+mn-ea"/>
                          <a:cs typeface="+mn-cs"/>
                        </a:rPr>
                        <a:t> pour chèques périmés</a:t>
                      </a:r>
                    </a:p>
                  </a:txBody>
                  <a:tcPr anchor="ctr"/>
                </a:tc>
                <a:tc>
                  <a:txBody>
                    <a:bodyPr/>
                    <a:lstStyle/>
                    <a:p>
                      <a:pPr marL="0" algn="ctr" defTabSz="914400" rtl="0" eaLnBrk="1" latinLnBrk="0" hangingPunct="1"/>
                      <a:r>
                        <a:rPr lang="fr-CA" sz="1400" kern="1200" noProof="0">
                          <a:solidFill>
                            <a:schemeClr val="dk1"/>
                          </a:solidFill>
                          <a:latin typeface="+mn-lt"/>
                          <a:ea typeface="+mn-ea"/>
                          <a:cs typeface="+mn-cs"/>
                        </a:rPr>
                        <a:t>3</a:t>
                      </a:r>
                    </a:p>
                  </a:txBody>
                  <a:tcPr anchor="ctr"/>
                </a:tc>
                <a:tc>
                  <a:txBody>
                    <a:bodyPr/>
                    <a:lstStyle/>
                    <a:p>
                      <a:pPr marL="0" algn="l" defTabSz="914400" rtl="0" eaLnBrk="1" latinLnBrk="0" hangingPunct="1"/>
                      <a:r>
                        <a:rPr lang="fr-CA" sz="1200" kern="1200" noProof="0">
                          <a:solidFill>
                            <a:schemeClr val="dk1"/>
                          </a:solidFill>
                          <a:latin typeface="+mn-lt"/>
                          <a:ea typeface="+mn-ea"/>
                          <a:cs typeface="+mn-cs"/>
                        </a:rPr>
                        <a:t>Décommissionnement de Trax, Opération sur les chèques, Opération Bancaire et </a:t>
                      </a:r>
                      <a:r>
                        <a:rPr lang="fr-CA" sz="1200" kern="1200" noProof="0" err="1">
                          <a:solidFill>
                            <a:schemeClr val="dk1"/>
                          </a:solidFill>
                          <a:latin typeface="+mn-lt"/>
                          <a:ea typeface="+mn-ea"/>
                          <a:cs typeface="+mn-cs"/>
                        </a:rPr>
                        <a:t>PowerBi</a:t>
                      </a:r>
                      <a:r>
                        <a:rPr lang="fr-CA" sz="1200" kern="1200" noProof="0">
                          <a:solidFill>
                            <a:schemeClr val="dk1"/>
                          </a:solidFill>
                          <a:latin typeface="+mn-lt"/>
                          <a:ea typeface="+mn-ea"/>
                          <a:cs typeface="+mn-cs"/>
                        </a:rPr>
                        <a:t> </a:t>
                      </a:r>
                    </a:p>
                  </a:txBody>
                  <a:tcPr/>
                </a:tc>
                <a:extLst>
                  <a:ext uri="{0D108BD9-81ED-4DB2-BD59-A6C34878D82A}">
                    <a16:rowId xmlns:a16="http://schemas.microsoft.com/office/drawing/2014/main" val="1828865933"/>
                  </a:ext>
                </a:extLst>
              </a:tr>
            </a:tbl>
          </a:graphicData>
        </a:graphic>
      </p:graphicFrame>
      <p:sp>
        <p:nvSpPr>
          <p:cNvPr id="3" name="Titre 1">
            <a:extLst>
              <a:ext uri="{FF2B5EF4-FFF2-40B4-BE49-F238E27FC236}">
                <a16:creationId xmlns:a16="http://schemas.microsoft.com/office/drawing/2014/main" id="{05EA654B-7332-1BFE-55DF-64E3F442B2B2}"/>
              </a:ext>
            </a:extLst>
          </p:cNvPr>
          <p:cNvSpPr txBox="1">
            <a:spLocks/>
          </p:cNvSpPr>
          <p:nvPr/>
        </p:nvSpPr>
        <p:spPr>
          <a:xfrm>
            <a:off x="228600" y="0"/>
            <a:ext cx="8915400" cy="475385"/>
          </a:xfrm>
          <a:prstGeom prst="rect">
            <a:avLst/>
          </a:prstGeom>
          <a:solidFill>
            <a:schemeClr val="tx1"/>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fr-CA" sz="2400" b="1">
                <a:solidFill>
                  <a:schemeClr val="bg1"/>
                </a:solidFill>
              </a:rPr>
              <a:t>Indicateurs de performance en cours d’initiative</a:t>
            </a:r>
          </a:p>
        </p:txBody>
      </p:sp>
    </p:spTree>
    <p:extLst>
      <p:ext uri="{BB962C8B-B14F-4D97-AF65-F5344CB8AC3E}">
        <p14:creationId xmlns:p14="http://schemas.microsoft.com/office/powerpoint/2010/main" val="3934359605"/>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271AE-5DC8-9E49-9F3B-8325DA096DFB}"/>
            </a:ext>
          </a:extLst>
        </p:cNvPr>
        <p:cNvGrpSpPr/>
        <p:nvPr/>
      </p:nvGrpSpPr>
      <p:grpSpPr>
        <a:xfrm>
          <a:off x="0" y="0"/>
          <a:ext cx="0" cy="0"/>
          <a:chOff x="0" y="0"/>
          <a:chExt cx="0" cy="0"/>
        </a:xfrm>
      </p:grpSpPr>
      <p:graphicFrame>
        <p:nvGraphicFramePr>
          <p:cNvPr id="6" name="Espace réservé du contenu 3">
            <a:extLst>
              <a:ext uri="{FF2B5EF4-FFF2-40B4-BE49-F238E27FC236}">
                <a16:creationId xmlns:a16="http://schemas.microsoft.com/office/drawing/2014/main" id="{03163732-64C5-7020-2939-8B8F0D8E8FB9}"/>
              </a:ext>
            </a:extLst>
          </p:cNvPr>
          <p:cNvGraphicFramePr>
            <a:graphicFrameLocks/>
          </p:cNvGraphicFramePr>
          <p:nvPr>
            <p:extLst>
              <p:ext uri="{D42A27DB-BD31-4B8C-83A1-F6EECF244321}">
                <p14:modId xmlns:p14="http://schemas.microsoft.com/office/powerpoint/2010/main" val="400508468"/>
              </p:ext>
            </p:extLst>
          </p:nvPr>
        </p:nvGraphicFramePr>
        <p:xfrm>
          <a:off x="440456" y="654129"/>
          <a:ext cx="8619018" cy="4345940"/>
        </p:xfrm>
        <a:graphic>
          <a:graphicData uri="http://schemas.openxmlformats.org/drawingml/2006/table">
            <a:tbl>
              <a:tblPr firstRow="1" bandRow="1">
                <a:tableStyleId>{5C22544A-7EE6-4342-B048-85BDC9FD1C3A}</a:tableStyleId>
              </a:tblPr>
              <a:tblGrid>
                <a:gridCol w="3335131">
                  <a:extLst>
                    <a:ext uri="{9D8B030D-6E8A-4147-A177-3AD203B41FA5}">
                      <a16:colId xmlns:a16="http://schemas.microsoft.com/office/drawing/2014/main" val="1634281488"/>
                    </a:ext>
                  </a:extLst>
                </a:gridCol>
                <a:gridCol w="783366">
                  <a:extLst>
                    <a:ext uri="{9D8B030D-6E8A-4147-A177-3AD203B41FA5}">
                      <a16:colId xmlns:a16="http://schemas.microsoft.com/office/drawing/2014/main" val="1920467996"/>
                    </a:ext>
                  </a:extLst>
                </a:gridCol>
                <a:gridCol w="868453">
                  <a:extLst>
                    <a:ext uri="{9D8B030D-6E8A-4147-A177-3AD203B41FA5}">
                      <a16:colId xmlns:a16="http://schemas.microsoft.com/office/drawing/2014/main" val="1582077737"/>
                    </a:ext>
                  </a:extLst>
                </a:gridCol>
                <a:gridCol w="1047136">
                  <a:extLst>
                    <a:ext uri="{9D8B030D-6E8A-4147-A177-3AD203B41FA5}">
                      <a16:colId xmlns:a16="http://schemas.microsoft.com/office/drawing/2014/main" val="1764220046"/>
                    </a:ext>
                  </a:extLst>
                </a:gridCol>
                <a:gridCol w="2584932">
                  <a:extLst>
                    <a:ext uri="{9D8B030D-6E8A-4147-A177-3AD203B41FA5}">
                      <a16:colId xmlns:a16="http://schemas.microsoft.com/office/drawing/2014/main" val="3035159770"/>
                    </a:ext>
                  </a:extLst>
                </a:gridCol>
              </a:tblGrid>
              <a:tr h="370840">
                <a:tc>
                  <a:txBody>
                    <a:bodyPr/>
                    <a:lstStyle/>
                    <a:p>
                      <a:pPr algn="ctr"/>
                      <a:r>
                        <a:rPr lang="fr-CA" sz="1400" noProof="0"/>
                        <a:t>Description</a:t>
                      </a:r>
                    </a:p>
                  </a:txBody>
                  <a:tcPr/>
                </a:tc>
                <a:tc>
                  <a:txBody>
                    <a:bodyPr/>
                    <a:lstStyle/>
                    <a:p>
                      <a:pPr algn="ctr"/>
                      <a:r>
                        <a:rPr lang="fr-CA" sz="1400" noProof="0"/>
                        <a:t>Actuel</a:t>
                      </a:r>
                    </a:p>
                  </a:txBody>
                  <a:tcPr/>
                </a:tc>
                <a:tc>
                  <a:txBody>
                    <a:bodyPr/>
                    <a:lstStyle/>
                    <a:p>
                      <a:pPr algn="ctr"/>
                      <a:r>
                        <a:rPr lang="fr-CA" sz="1400" noProof="0"/>
                        <a:t>Attendu</a:t>
                      </a:r>
                    </a:p>
                    <a:p>
                      <a:pPr algn="ctr"/>
                      <a:r>
                        <a:rPr lang="fr-CA" sz="1000" b="0" noProof="0"/>
                        <a:t>Janvier 2028</a:t>
                      </a:r>
                    </a:p>
                  </a:txBody>
                  <a:tcPr/>
                </a:tc>
                <a:tc>
                  <a:txBody>
                    <a:bodyPr/>
                    <a:lstStyle/>
                    <a:p>
                      <a:pPr algn="ctr"/>
                      <a:r>
                        <a:rPr lang="fr-CA" sz="1400" noProof="0"/>
                        <a:t>Attendu</a:t>
                      </a:r>
                    </a:p>
                    <a:p>
                      <a:pPr algn="ctr"/>
                      <a:r>
                        <a:rPr lang="fr-CA" sz="1000" b="0" noProof="0"/>
                        <a:t>Décembre 2028</a:t>
                      </a:r>
                    </a:p>
                  </a:txBody>
                  <a:tcPr/>
                </a:tc>
                <a:tc>
                  <a:txBody>
                    <a:bodyPr/>
                    <a:lstStyle/>
                    <a:p>
                      <a:pPr algn="ctr"/>
                      <a:r>
                        <a:rPr lang="fr-CA" sz="1400" noProof="0"/>
                        <a:t>Éléments à mettre en place </a:t>
                      </a:r>
                    </a:p>
                    <a:p>
                      <a:pPr algn="ctr"/>
                      <a:r>
                        <a:rPr lang="fr-CA" sz="800" noProof="0"/>
                        <a:t>(pour mesure le KPI)</a:t>
                      </a:r>
                      <a:endParaRPr lang="fr-CA" sz="1400" noProof="0"/>
                    </a:p>
                  </a:txBody>
                  <a:tcPr/>
                </a:tc>
                <a:extLst>
                  <a:ext uri="{0D108BD9-81ED-4DB2-BD59-A6C34878D82A}">
                    <a16:rowId xmlns:a16="http://schemas.microsoft.com/office/drawing/2014/main" val="1713164466"/>
                  </a:ext>
                </a:extLst>
              </a:tr>
              <a:tr h="370840">
                <a:tc>
                  <a:txBody>
                    <a:bodyPr/>
                    <a:lstStyle/>
                    <a:p>
                      <a:r>
                        <a:rPr lang="fr-CA" sz="1400" noProof="0"/>
                        <a:t>Nombre de licences utilisateur Trax</a:t>
                      </a:r>
                    </a:p>
                  </a:txBody>
                  <a:tcPr anchor="ctr"/>
                </a:tc>
                <a:tc>
                  <a:txBody>
                    <a:bodyPr/>
                    <a:lstStyle/>
                    <a:p>
                      <a:pPr algn="ctr"/>
                      <a:r>
                        <a:rPr lang="fr-CA" sz="1200" noProof="0"/>
                        <a:t>300</a:t>
                      </a:r>
                    </a:p>
                  </a:txBody>
                  <a:tcPr anchor="ctr"/>
                </a:tc>
                <a:tc>
                  <a:txBody>
                    <a:bodyPr/>
                    <a:lstStyle/>
                    <a:p>
                      <a:pPr algn="ctr"/>
                      <a:r>
                        <a:rPr lang="fr-CA" sz="1200" noProof="0"/>
                        <a:t>0</a:t>
                      </a:r>
                    </a:p>
                  </a:txBody>
                  <a:tcPr anchor="ctr"/>
                </a:tc>
                <a:tc>
                  <a:txBody>
                    <a:bodyPr/>
                    <a:lstStyle/>
                    <a:p>
                      <a:pPr algn="ctr"/>
                      <a:r>
                        <a:rPr lang="fr-CA" sz="1200" noProof="0"/>
                        <a:t>0</a:t>
                      </a:r>
                    </a:p>
                  </a:txBody>
                  <a:tcPr anchor="ctr"/>
                </a:tc>
                <a:tc>
                  <a:txBody>
                    <a:bodyPr/>
                    <a:lstStyle/>
                    <a:p>
                      <a:endParaRPr lang="fr-CA" sz="1100" noProof="0"/>
                    </a:p>
                  </a:txBody>
                  <a:tcPr anchor="ctr"/>
                </a:tc>
                <a:extLst>
                  <a:ext uri="{0D108BD9-81ED-4DB2-BD59-A6C34878D82A}">
                    <a16:rowId xmlns:a16="http://schemas.microsoft.com/office/drawing/2014/main" val="376565910"/>
                  </a:ext>
                </a:extLst>
              </a:tr>
              <a:tr h="370840">
                <a:tc>
                  <a:txBody>
                    <a:bodyPr/>
                    <a:lstStyle/>
                    <a:p>
                      <a:r>
                        <a:rPr lang="fr-CA" sz="1400" noProof="0"/>
                        <a:t>Nombre banques/comptes actifs</a:t>
                      </a:r>
                    </a:p>
                  </a:txBody>
                  <a:tcPr anchor="ctr"/>
                </a:tc>
                <a:tc>
                  <a:txBody>
                    <a:bodyPr/>
                    <a:lstStyle/>
                    <a:p>
                      <a:pPr algn="ctr"/>
                      <a:r>
                        <a:rPr lang="fr-CA" sz="1200" noProof="0"/>
                        <a:t>730 comptes</a:t>
                      </a:r>
                    </a:p>
                  </a:txBody>
                  <a:tcPr anchor="ctr"/>
                </a:tc>
                <a:tc>
                  <a:txBody>
                    <a:bodyPr/>
                    <a:lstStyle/>
                    <a:p>
                      <a:pPr algn="ctr"/>
                      <a:r>
                        <a:rPr lang="fr-CA" sz="1200" noProof="0"/>
                        <a:t>600</a:t>
                      </a:r>
                    </a:p>
                  </a:txBody>
                  <a:tcPr anchor="ctr"/>
                </a:tc>
                <a:tc>
                  <a:txBody>
                    <a:bodyPr/>
                    <a:lstStyle/>
                    <a:p>
                      <a:pPr algn="ctr"/>
                      <a:r>
                        <a:rPr lang="fr-CA" sz="1200" noProof="0"/>
                        <a:t>500</a:t>
                      </a:r>
                    </a:p>
                  </a:txBody>
                  <a:tcPr anchor="ctr"/>
                </a:tc>
                <a:tc>
                  <a:txBody>
                    <a:bodyPr/>
                    <a:lstStyle/>
                    <a:p>
                      <a:r>
                        <a:rPr lang="fr-CA" sz="1100" noProof="0"/>
                        <a:t>Suivi via le module de Bank Account Management</a:t>
                      </a:r>
                    </a:p>
                  </a:txBody>
                  <a:tcPr anchor="ctr"/>
                </a:tc>
                <a:extLst>
                  <a:ext uri="{0D108BD9-81ED-4DB2-BD59-A6C34878D82A}">
                    <a16:rowId xmlns:a16="http://schemas.microsoft.com/office/drawing/2014/main" val="1220485338"/>
                  </a:ext>
                </a:extLst>
              </a:tr>
              <a:tr h="370840">
                <a:tc>
                  <a:txBody>
                    <a:bodyPr/>
                    <a:lstStyle/>
                    <a:p>
                      <a:r>
                        <a:rPr lang="fr-CA" sz="1400" noProof="0"/>
                        <a:t>% de baisse des frais bancaires dès la première année</a:t>
                      </a:r>
                    </a:p>
                  </a:txBody>
                  <a:tcPr anchor="ctr"/>
                </a:tc>
                <a:tc>
                  <a:txBody>
                    <a:bodyPr/>
                    <a:lstStyle/>
                    <a:p>
                      <a:pPr algn="ctr"/>
                      <a:r>
                        <a:rPr lang="fr-CA" sz="1200" noProof="0"/>
                        <a:t>0%</a:t>
                      </a:r>
                    </a:p>
                  </a:txBody>
                  <a:tcPr anchor="ctr"/>
                </a:tc>
                <a:tc>
                  <a:txBody>
                    <a:bodyPr/>
                    <a:lstStyle/>
                    <a:p>
                      <a:pPr algn="ctr"/>
                      <a:r>
                        <a:rPr lang="fr-CA" sz="1200" noProof="0"/>
                        <a:t>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1200" noProof="0"/>
                        <a:t>10%</a:t>
                      </a:r>
                    </a:p>
                  </a:txBody>
                  <a:tcPr anchor="ctr"/>
                </a:tc>
                <a:tc>
                  <a:txBody>
                    <a:bodyPr/>
                    <a:lstStyle/>
                    <a:p>
                      <a:r>
                        <a:rPr lang="fr-CA" sz="1100" noProof="0"/>
                        <a:t>Module de gestion des frais bancaires de Kyriba</a:t>
                      </a:r>
                    </a:p>
                  </a:txBody>
                  <a:tcPr anchor="ctr"/>
                </a:tc>
                <a:extLst>
                  <a:ext uri="{0D108BD9-81ED-4DB2-BD59-A6C34878D82A}">
                    <a16:rowId xmlns:a16="http://schemas.microsoft.com/office/drawing/2014/main" val="311593909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400" noProof="0"/>
                        <a:t>Nombre d’incidents du hub de paiement</a:t>
                      </a:r>
                    </a:p>
                  </a:txBody>
                  <a:tcPr anchor="ctr"/>
                </a:tc>
                <a:tc>
                  <a:txBody>
                    <a:bodyPr/>
                    <a:lstStyle/>
                    <a:p>
                      <a:pPr algn="ctr"/>
                      <a:r>
                        <a:rPr lang="fr-CA" sz="1200" noProof="0"/>
                        <a:t>65/an </a:t>
                      </a:r>
                    </a:p>
                  </a:txBody>
                  <a:tcPr anchor="ctr"/>
                </a:tc>
                <a:tc>
                  <a:txBody>
                    <a:bodyPr/>
                    <a:lstStyle/>
                    <a:p>
                      <a:pPr algn="ctr"/>
                      <a:r>
                        <a:rPr lang="fr-CA" sz="1200" noProof="0"/>
                        <a:t>30/an</a:t>
                      </a:r>
                    </a:p>
                  </a:txBody>
                  <a:tcPr anchor="ctr"/>
                </a:tc>
                <a:tc>
                  <a:txBody>
                    <a:bodyPr/>
                    <a:lstStyle/>
                    <a:p>
                      <a:pPr algn="ctr"/>
                      <a:r>
                        <a:rPr lang="fr-CA" sz="1200" noProof="0"/>
                        <a:t>6,5/an</a:t>
                      </a:r>
                    </a:p>
                  </a:txBody>
                  <a:tcPr anchor="ctr"/>
                </a:tc>
                <a:tc>
                  <a:txBody>
                    <a:bodyPr/>
                    <a:lstStyle/>
                    <a:p>
                      <a:r>
                        <a:rPr lang="fr-CA" sz="1100" noProof="0"/>
                        <a:t>Le relevé d’incident</a:t>
                      </a:r>
                    </a:p>
                  </a:txBody>
                  <a:tcPr anchor="ctr"/>
                </a:tc>
                <a:extLst>
                  <a:ext uri="{0D108BD9-81ED-4DB2-BD59-A6C34878D82A}">
                    <a16:rowId xmlns:a16="http://schemas.microsoft.com/office/drawing/2014/main" val="100855225"/>
                  </a:ext>
                </a:extLst>
              </a:tr>
              <a:tr h="370840">
                <a:tc>
                  <a:txBody>
                    <a:bodyPr/>
                    <a:lstStyle/>
                    <a:p>
                      <a:r>
                        <a:rPr lang="fr-CA" sz="1400" noProof="0"/>
                        <a:t>% de transactions non conformes ou suspectées frauduleuses détectées avant l’envoi à la banque</a:t>
                      </a:r>
                    </a:p>
                  </a:txBody>
                  <a:tcPr anchor="ctr"/>
                </a:tc>
                <a:tc>
                  <a:txBody>
                    <a:bodyPr/>
                    <a:lstStyle/>
                    <a:p>
                      <a:pPr algn="ctr"/>
                      <a:r>
                        <a:rPr lang="fr-CA" sz="1200" noProof="0"/>
                        <a:t>0%</a:t>
                      </a:r>
                    </a:p>
                  </a:txBody>
                  <a:tcPr anchor="ctr"/>
                </a:tc>
                <a:tc>
                  <a:txBody>
                    <a:bodyPr/>
                    <a:lstStyle/>
                    <a:p>
                      <a:pPr algn="ctr"/>
                      <a:r>
                        <a:rPr lang="fr-CA" sz="1200" noProof="0"/>
                        <a:t>0%</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1200" noProof="0"/>
                        <a:t>1%</a:t>
                      </a:r>
                    </a:p>
                  </a:txBody>
                  <a:tcPr anchor="ctr"/>
                </a:tc>
                <a:tc>
                  <a:txBody>
                    <a:bodyPr/>
                    <a:lstStyle/>
                    <a:p>
                      <a:r>
                        <a:rPr lang="fr-CA" sz="1100" noProof="0"/>
                        <a:t>Module de fraude de Kyriba et ses rapports</a:t>
                      </a:r>
                    </a:p>
                  </a:txBody>
                  <a:tcPr anchor="ctr"/>
                </a:tc>
                <a:extLst>
                  <a:ext uri="{0D108BD9-81ED-4DB2-BD59-A6C34878D82A}">
                    <a16:rowId xmlns:a16="http://schemas.microsoft.com/office/drawing/2014/main" val="243361464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400" noProof="0"/>
                        <a:t>Demandes d’exécution de transactions manuelles par le CSP bancaire </a:t>
                      </a:r>
                      <a:r>
                        <a:rPr lang="fr-CA" sz="1050" noProof="0"/>
                        <a:t>(demandes via  le portail/Jira, qui nécessitent une ressaisie)</a:t>
                      </a:r>
                      <a:endParaRPr lang="fr-CA" sz="1400" noProof="0"/>
                    </a:p>
                  </a:txBody>
                  <a:tcPr anchor="ctr"/>
                </a:tc>
                <a:tc>
                  <a:txBody>
                    <a:bodyPr/>
                    <a:lstStyle/>
                    <a:p>
                      <a:pPr algn="ctr"/>
                      <a:r>
                        <a:rPr lang="fr-CA" sz="1200" noProof="0"/>
                        <a:t>12000/an</a:t>
                      </a:r>
                    </a:p>
                  </a:txBody>
                  <a:tcPr anchor="ctr"/>
                </a:tc>
                <a:tc>
                  <a:txBody>
                    <a:bodyPr/>
                    <a:lstStyle/>
                    <a:p>
                      <a:pPr algn="ctr"/>
                      <a:r>
                        <a:rPr lang="fr-CA" sz="1200" noProof="0"/>
                        <a:t>500</a:t>
                      </a:r>
                    </a:p>
                  </a:txBody>
                  <a:tcPr anchor="ctr"/>
                </a:tc>
                <a:tc>
                  <a:txBody>
                    <a:bodyPr/>
                    <a:lstStyle/>
                    <a:p>
                      <a:pPr algn="ctr"/>
                      <a:r>
                        <a:rPr lang="fr-CA" sz="1200" noProof="0"/>
                        <a:t>0</a:t>
                      </a:r>
                    </a:p>
                  </a:txBody>
                  <a:tcPr anchor="ctr"/>
                </a:tc>
                <a:tc>
                  <a:txBody>
                    <a:bodyPr/>
                    <a:lstStyle/>
                    <a:p>
                      <a:r>
                        <a:rPr lang="fr-CA" sz="1100" noProof="0"/>
                        <a:t>Rapports sur les demandes manuelles / nombre de cartes Jira</a:t>
                      </a:r>
                    </a:p>
                  </a:txBody>
                  <a:tcPr anchor="ctr"/>
                </a:tc>
                <a:extLst>
                  <a:ext uri="{0D108BD9-81ED-4DB2-BD59-A6C34878D82A}">
                    <a16:rowId xmlns:a16="http://schemas.microsoft.com/office/drawing/2014/main" val="2837621638"/>
                  </a:ext>
                </a:extLst>
              </a:tr>
              <a:tr h="27715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400" noProof="0"/>
                        <a:t>Temps moyen passé à manipuler des chèques</a:t>
                      </a:r>
                    </a:p>
                  </a:txBody>
                  <a:tcPr anchor="ctr"/>
                </a:tc>
                <a:tc>
                  <a:txBody>
                    <a:bodyPr/>
                    <a:lstStyle/>
                    <a:p>
                      <a:pPr algn="ctr"/>
                      <a:r>
                        <a:rPr lang="fr-CA" sz="1200" noProof="0"/>
                        <a:t>0,4 ETC </a:t>
                      </a:r>
                    </a:p>
                  </a:txBody>
                  <a:tcPr anchor="ctr"/>
                </a:tc>
                <a:tc>
                  <a:txBody>
                    <a:bodyPr/>
                    <a:lstStyle/>
                    <a:p>
                      <a:pPr algn="ctr"/>
                      <a:r>
                        <a:rPr lang="fr-CA" sz="1200" noProof="0"/>
                        <a:t>0,1 ETC</a:t>
                      </a:r>
                    </a:p>
                  </a:txBody>
                  <a:tcPr anchor="ctr"/>
                </a:tc>
                <a:tc>
                  <a:txBody>
                    <a:bodyPr/>
                    <a:lstStyle/>
                    <a:p>
                      <a:pPr algn="ctr"/>
                      <a:r>
                        <a:rPr lang="fr-CA" sz="1200" noProof="0"/>
                        <a:t>0,1ETC</a:t>
                      </a:r>
                    </a:p>
                  </a:txBody>
                  <a:tcPr anchor="ctr"/>
                </a:tc>
                <a:tc>
                  <a:txBody>
                    <a:bodyPr/>
                    <a:lstStyle/>
                    <a:p>
                      <a:r>
                        <a:rPr lang="fr-CA" sz="1100" noProof="0"/>
                        <a:t>Aucun chèque ne doit retourné au CSP</a:t>
                      </a:r>
                    </a:p>
                    <a:p>
                      <a:r>
                        <a:rPr lang="fr-CA" sz="1100" noProof="0"/>
                        <a:t>les chèques seront tout de même manipulés en moindre mesure par le service courrier</a:t>
                      </a:r>
                    </a:p>
                  </a:txBody>
                  <a:tcPr anchor="ctr"/>
                </a:tc>
                <a:extLst>
                  <a:ext uri="{0D108BD9-81ED-4DB2-BD59-A6C34878D82A}">
                    <a16:rowId xmlns:a16="http://schemas.microsoft.com/office/drawing/2014/main" val="3439071198"/>
                  </a:ext>
                </a:extLst>
              </a:tr>
            </a:tbl>
          </a:graphicData>
        </a:graphic>
      </p:graphicFrame>
      <p:sp>
        <p:nvSpPr>
          <p:cNvPr id="3" name="Titre 1">
            <a:extLst>
              <a:ext uri="{FF2B5EF4-FFF2-40B4-BE49-F238E27FC236}">
                <a16:creationId xmlns:a16="http://schemas.microsoft.com/office/drawing/2014/main" id="{C987C19F-8935-0537-1A50-7D77CFFF941D}"/>
              </a:ext>
            </a:extLst>
          </p:cNvPr>
          <p:cNvSpPr txBox="1">
            <a:spLocks/>
          </p:cNvSpPr>
          <p:nvPr/>
        </p:nvSpPr>
        <p:spPr>
          <a:xfrm>
            <a:off x="228600" y="0"/>
            <a:ext cx="8915400" cy="475385"/>
          </a:xfrm>
          <a:prstGeom prst="rect">
            <a:avLst/>
          </a:prstGeom>
          <a:solidFill>
            <a:schemeClr val="tx1"/>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fr-CA" sz="2400" b="1">
                <a:solidFill>
                  <a:schemeClr val="bg1"/>
                </a:solidFill>
              </a:rPr>
              <a:t>Indicateurs de performance post-initiative </a:t>
            </a:r>
          </a:p>
        </p:txBody>
      </p:sp>
    </p:spTree>
    <p:extLst>
      <p:ext uri="{BB962C8B-B14F-4D97-AF65-F5344CB8AC3E}">
        <p14:creationId xmlns:p14="http://schemas.microsoft.com/office/powerpoint/2010/main" val="3238403686"/>
      </p:ext>
    </p:extLst>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66BC3-324C-83DB-F0A2-D83C6FDAC41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C6487DB-79C5-39F7-7836-32531CF992C2}"/>
              </a:ext>
            </a:extLst>
          </p:cNvPr>
          <p:cNvSpPr>
            <a:spLocks noGrp="1"/>
          </p:cNvSpPr>
          <p:nvPr>
            <p:ph type="title"/>
          </p:nvPr>
        </p:nvSpPr>
        <p:spPr>
          <a:xfrm>
            <a:off x="235527" y="1"/>
            <a:ext cx="8908473" cy="462974"/>
          </a:xfrm>
          <a:solidFill>
            <a:schemeClr val="tx1"/>
          </a:solidFill>
        </p:spPr>
        <p:txBody>
          <a:bodyPr vert="horz" lIns="91440" tIns="45720" rIns="91440" bIns="45720" rtlCol="0" anchor="ctr">
            <a:normAutofit/>
          </a:bodyPr>
          <a:lstStyle/>
          <a:p>
            <a:r>
              <a:rPr lang="fr-CA" sz="2400" b="1" noProof="0">
                <a:solidFill>
                  <a:schemeClr val="bg1"/>
                </a:solidFill>
              </a:rPr>
              <a:t>Définition de la portée – WS 4 CSP Bancaire</a:t>
            </a:r>
          </a:p>
        </p:txBody>
      </p:sp>
      <p:graphicFrame>
        <p:nvGraphicFramePr>
          <p:cNvPr id="5" name="Diagramme 4">
            <a:extLst>
              <a:ext uri="{FF2B5EF4-FFF2-40B4-BE49-F238E27FC236}">
                <a16:creationId xmlns:a16="http://schemas.microsoft.com/office/drawing/2014/main" id="{7C52C486-5228-77C9-EFC3-1024D77E1164}"/>
              </a:ext>
            </a:extLst>
          </p:cNvPr>
          <p:cNvGraphicFramePr/>
          <p:nvPr>
            <p:extLst>
              <p:ext uri="{D42A27DB-BD31-4B8C-83A1-F6EECF244321}">
                <p14:modId xmlns:p14="http://schemas.microsoft.com/office/powerpoint/2010/main" val="25415516"/>
              </p:ext>
            </p:extLst>
          </p:nvPr>
        </p:nvGraphicFramePr>
        <p:xfrm>
          <a:off x="673180" y="525979"/>
          <a:ext cx="7243482" cy="441645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38271117"/>
      </p:ext>
    </p:extLst>
  </p:cSld>
  <p:clrMapOvr>
    <a:masterClrMapping/>
  </p:clrMapOvr>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317A1-F3B5-EA07-CC7F-6BDBF927807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F599BF8-1980-BB7C-BFA2-FB134AC43D2D}"/>
              </a:ext>
            </a:extLst>
          </p:cNvPr>
          <p:cNvSpPr>
            <a:spLocks noGrp="1"/>
          </p:cNvSpPr>
          <p:nvPr>
            <p:ph type="title"/>
          </p:nvPr>
        </p:nvSpPr>
        <p:spPr>
          <a:xfrm>
            <a:off x="235527" y="1"/>
            <a:ext cx="8908473" cy="462974"/>
          </a:xfrm>
          <a:solidFill>
            <a:schemeClr val="tx1"/>
          </a:solidFill>
        </p:spPr>
        <p:txBody>
          <a:bodyPr vert="horz" lIns="91440" tIns="45720" rIns="91440" bIns="45720" rtlCol="0" anchor="ctr">
            <a:normAutofit/>
          </a:bodyPr>
          <a:lstStyle/>
          <a:p>
            <a:r>
              <a:rPr lang="fr-CA" sz="2400" b="1" noProof="0">
                <a:solidFill>
                  <a:schemeClr val="bg1"/>
                </a:solidFill>
              </a:rPr>
              <a:t>Définition de la portée – Objectif 1</a:t>
            </a:r>
          </a:p>
        </p:txBody>
      </p:sp>
      <p:sp>
        <p:nvSpPr>
          <p:cNvPr id="3" name="Espace réservé du contenu 2">
            <a:extLst>
              <a:ext uri="{FF2B5EF4-FFF2-40B4-BE49-F238E27FC236}">
                <a16:creationId xmlns:a16="http://schemas.microsoft.com/office/drawing/2014/main" id="{3B35EBC3-EF40-BEBA-476B-460167A7F40F}"/>
              </a:ext>
            </a:extLst>
          </p:cNvPr>
          <p:cNvSpPr>
            <a:spLocks noGrp="1"/>
          </p:cNvSpPr>
          <p:nvPr>
            <p:ph sz="half" idx="14"/>
          </p:nvPr>
        </p:nvSpPr>
        <p:spPr>
          <a:xfrm>
            <a:off x="331299" y="464360"/>
            <a:ext cx="8778065" cy="2576886"/>
          </a:xfrm>
        </p:spPr>
        <p:txBody>
          <a:bodyPr/>
          <a:lstStyle/>
          <a:p>
            <a:pPr marL="191667" lvl="1" indent="0">
              <a:buNone/>
            </a:pPr>
            <a:endParaRPr lang="fr-CA" sz="1200" noProof="0"/>
          </a:p>
          <a:p>
            <a:pPr marL="0" indent="0">
              <a:buNone/>
            </a:pPr>
            <a:endParaRPr lang="fr-CA" b="1" noProof="0">
              <a:effectLst>
                <a:outerShdw blurRad="38100" dist="38100" dir="2700000" algn="tl">
                  <a:srgbClr val="000000">
                    <a:alpha val="43137"/>
                  </a:srgbClr>
                </a:outerShdw>
              </a:effectLst>
            </a:endParaRPr>
          </a:p>
          <a:p>
            <a:pPr marL="0" indent="0">
              <a:buNone/>
            </a:pPr>
            <a:endParaRPr lang="fr-CA" b="1" noProof="0">
              <a:effectLst>
                <a:outerShdw blurRad="38100" dist="38100" dir="2700000" algn="tl">
                  <a:srgbClr val="000000">
                    <a:alpha val="43137"/>
                  </a:srgbClr>
                </a:outerShdw>
              </a:effectLst>
            </a:endParaRPr>
          </a:p>
          <a:p>
            <a:pPr marL="0" indent="0">
              <a:buNone/>
            </a:pPr>
            <a:endParaRPr lang="fr-CA" b="1" noProof="0">
              <a:effectLst>
                <a:outerShdw blurRad="38100" dist="38100" dir="2700000" algn="tl">
                  <a:srgbClr val="000000">
                    <a:alpha val="43137"/>
                  </a:srgbClr>
                </a:outerShdw>
              </a:effectLst>
            </a:endParaRPr>
          </a:p>
          <a:p>
            <a:pPr marL="0" indent="0">
              <a:buNone/>
            </a:pPr>
            <a:endParaRPr lang="fr-CA" b="1" noProof="0">
              <a:effectLst>
                <a:outerShdw blurRad="38100" dist="38100" dir="2700000" algn="tl">
                  <a:srgbClr val="000000">
                    <a:alpha val="43137"/>
                  </a:srgbClr>
                </a:outerShdw>
              </a:effectLst>
            </a:endParaRPr>
          </a:p>
        </p:txBody>
      </p:sp>
      <p:sp>
        <p:nvSpPr>
          <p:cNvPr id="5" name="ZoneTexte 4">
            <a:extLst>
              <a:ext uri="{FF2B5EF4-FFF2-40B4-BE49-F238E27FC236}">
                <a16:creationId xmlns:a16="http://schemas.microsoft.com/office/drawing/2014/main" id="{EE154D39-A99A-0DC8-56BB-CD56AC05F945}"/>
              </a:ext>
            </a:extLst>
          </p:cNvPr>
          <p:cNvSpPr txBox="1"/>
          <p:nvPr/>
        </p:nvSpPr>
        <p:spPr>
          <a:xfrm>
            <a:off x="331299" y="472943"/>
            <a:ext cx="8674156" cy="1238801"/>
          </a:xfrm>
          <a:prstGeom prst="rect">
            <a:avLst/>
          </a:prstGeom>
          <a:noFill/>
        </p:spPr>
        <p:txBody>
          <a:bodyPr wrap="square" lIns="91440" tIns="45720" rIns="91440" bIns="45720" rtlCol="0" anchor="t">
            <a:spAutoFit/>
          </a:bodyPr>
          <a:lstStyle/>
          <a:p>
            <a:pPr marL="0" marR="0" lvl="0" indent="0" algn="l" defTabSz="914286" rtl="0" eaLnBrk="1" fontAlgn="auto" latinLnBrk="0" hangingPunct="1">
              <a:lnSpc>
                <a:spcPct val="100000"/>
              </a:lnSpc>
              <a:spcBef>
                <a:spcPts val="0"/>
              </a:spcBef>
              <a:spcAft>
                <a:spcPts val="0"/>
              </a:spcAft>
              <a:buClrTx/>
              <a:buSzTx/>
              <a:buFontTx/>
              <a:buNone/>
              <a:tabLst/>
              <a:defRPr/>
            </a:pPr>
            <a:r>
              <a:rPr kumimoji="0" lang="fr-CA" sz="1200" b="0" i="0" u="none" strike="noStrike" kern="1200" cap="none" spc="0" normalizeH="0" baseline="0" noProof="0">
                <a:ln>
                  <a:noFill/>
                </a:ln>
                <a:solidFill>
                  <a:srgbClr val="003DA5"/>
                </a:solidFill>
                <a:effectLst/>
                <a:uLnTx/>
                <a:uFillTx/>
                <a:latin typeface="Calibri" panose="020F0502020204030204"/>
                <a:ea typeface="+mn-ea"/>
                <a:cs typeface="+mn-cs"/>
              </a:rPr>
              <a:t>La portée de l’implantation du nouveau Hub comprend 4 volets principaux  : </a:t>
            </a:r>
          </a:p>
          <a:p>
            <a:pPr marL="628015" marR="0" lvl="1" indent="-171450" algn="l" defTabSz="914286"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fr-CA" sz="1200" b="0" i="0" u="none" strike="noStrike" kern="1200" cap="none" spc="0" normalizeH="0" baseline="0" noProof="0">
                <a:ln>
                  <a:noFill/>
                </a:ln>
                <a:solidFill>
                  <a:srgbClr val="003DA5"/>
                </a:solidFill>
                <a:effectLst/>
                <a:uLnTx/>
                <a:uFillTx/>
                <a:latin typeface="Calibri" panose="020F0502020204030204"/>
                <a:ea typeface="+mn-ea"/>
                <a:cs typeface="+mn-cs"/>
              </a:rPr>
              <a:t>Les moyens de paiements et de perceptions ci-dessous. </a:t>
            </a:r>
          </a:p>
          <a:p>
            <a:pPr marL="628015" marR="0" lvl="1" indent="-171450" algn="l" defTabSz="914286"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fr-CA" sz="1200" b="0" i="0" u="none" strike="noStrike" kern="1200" cap="none" spc="0" normalizeH="0" baseline="0" noProof="0">
                <a:ln>
                  <a:noFill/>
                </a:ln>
                <a:solidFill>
                  <a:srgbClr val="003DA5"/>
                </a:solidFill>
                <a:effectLst/>
                <a:uLnTx/>
                <a:uFillTx/>
                <a:latin typeface="Calibri" panose="020F0502020204030204"/>
                <a:ea typeface="Calibri" panose="020F0502020204030204"/>
                <a:cs typeface="Calibri" panose="020F0502020204030204"/>
              </a:rPr>
              <a:t>La comptabilisation GL des transactions de paiements</a:t>
            </a:r>
          </a:p>
          <a:p>
            <a:pPr marL="628015" lvl="1" indent="-171450">
              <a:buFont typeface="Wingdings" panose="05000000000000000000" pitchFamily="2" charset="2"/>
              <a:buChar char="q"/>
              <a:defRPr/>
            </a:pPr>
            <a:r>
              <a:rPr lang="fr-CA" sz="1200" noProof="0">
                <a:solidFill>
                  <a:srgbClr val="003DA5"/>
                </a:solidFill>
                <a:latin typeface="Calibri" panose="020F0502020204030204"/>
                <a:ea typeface="Calibri" panose="020F0502020204030204"/>
                <a:cs typeface="Calibri" panose="020F0502020204030204"/>
              </a:rPr>
              <a:t>La </a:t>
            </a:r>
            <a:r>
              <a:rPr lang="fr-CA" sz="1200" noProof="0">
                <a:solidFill>
                  <a:srgbClr val="003DA5"/>
                </a:solidFill>
                <a:ea typeface="Calibri" panose="020F0502020204030204"/>
                <a:cs typeface="Calibri" panose="020F0502020204030204"/>
              </a:rPr>
              <a:t>conciliation</a:t>
            </a:r>
            <a:r>
              <a:rPr lang="fr-CA" sz="1200" noProof="0">
                <a:solidFill>
                  <a:srgbClr val="003DA5"/>
                </a:solidFill>
                <a:latin typeface="Calibri" panose="020F0502020204030204"/>
                <a:ea typeface="Calibri" panose="020F0502020204030204"/>
                <a:cs typeface="Calibri" panose="020F0502020204030204"/>
              </a:rPr>
              <a:t> bancaire de toutes les transactions conciliées par le CSP bancaire </a:t>
            </a:r>
          </a:p>
          <a:p>
            <a:pPr marL="628015" lvl="1" indent="-171450">
              <a:buFont typeface="Wingdings" panose="05000000000000000000" pitchFamily="2" charset="2"/>
              <a:buChar char="q"/>
              <a:defRPr/>
            </a:pPr>
            <a:r>
              <a:rPr lang="fr-CA" sz="1200" noProof="0">
                <a:solidFill>
                  <a:srgbClr val="003DA5"/>
                </a:solidFill>
                <a:ea typeface="Calibri" panose="020F0502020204030204"/>
                <a:cs typeface="Calibri" panose="020F0502020204030204"/>
              </a:rPr>
              <a:t>La conciliation comptable des comptes transitoires</a:t>
            </a:r>
            <a:endParaRPr kumimoji="0" lang="fr-CA" sz="1100" b="0" i="0" u="none" strike="noStrike" kern="1200" cap="none" spc="0" normalizeH="0" baseline="0" noProof="0">
              <a:ln>
                <a:noFill/>
              </a:ln>
              <a:solidFill>
                <a:srgbClr val="FF0000"/>
              </a:solidFill>
              <a:effectLst/>
              <a:uLnTx/>
              <a:uFillTx/>
              <a:latin typeface="Calibri" panose="020F0502020204030204"/>
              <a:ea typeface="Calibri"/>
              <a:cs typeface="Calibri"/>
            </a:endParaRPr>
          </a:p>
          <a:p>
            <a:pPr marL="0" marR="0" lvl="0" indent="0" algn="l" defTabSz="914286" rtl="0" eaLnBrk="1" fontAlgn="auto" latinLnBrk="0" hangingPunct="1">
              <a:lnSpc>
                <a:spcPct val="100000"/>
              </a:lnSpc>
              <a:spcBef>
                <a:spcPts val="300"/>
              </a:spcBef>
              <a:spcAft>
                <a:spcPts val="0"/>
              </a:spcAft>
              <a:buClrTx/>
              <a:buSzTx/>
              <a:buFontTx/>
              <a:buNone/>
              <a:tabLst/>
              <a:defRPr/>
            </a:pPr>
            <a:r>
              <a:rPr kumimoji="0" lang="fr-CA" sz="1200" b="0" i="0" u="none" strike="noStrike" kern="1200" cap="none" spc="0" normalizeH="0" baseline="0" noProof="0">
                <a:ln>
                  <a:noFill/>
                </a:ln>
                <a:solidFill>
                  <a:srgbClr val="003DA5"/>
                </a:solidFill>
                <a:effectLst/>
                <a:uLnTx/>
                <a:uFillTx/>
                <a:latin typeface="Calibri" panose="020F0502020204030204"/>
                <a:ea typeface="+mn-ea"/>
                <a:cs typeface="+mn-cs"/>
              </a:rPr>
              <a:t>Les moyens de paiements inclus dans la portée phase 2 sont les suivants:</a:t>
            </a:r>
          </a:p>
        </p:txBody>
      </p:sp>
      <p:sp>
        <p:nvSpPr>
          <p:cNvPr id="6" name="Rectangle 1">
            <a:extLst>
              <a:ext uri="{FF2B5EF4-FFF2-40B4-BE49-F238E27FC236}">
                <a16:creationId xmlns:a16="http://schemas.microsoft.com/office/drawing/2014/main" id="{7FCBDBE3-3049-5DCB-2BE2-DCAB661819D3}"/>
              </a:ext>
            </a:extLst>
          </p:cNvPr>
          <p:cNvSpPr>
            <a:spLocks noChangeArrowheads="1"/>
          </p:cNvSpPr>
          <p:nvPr/>
        </p:nvSpPr>
        <p:spPr bwMode="auto">
          <a:xfrm>
            <a:off x="3344863" y="-5032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fr-CA"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endParaRPr kumimoji="0" lang="fr-CA" sz="1800" b="0" i="0" u="none" strike="noStrike" kern="1200" cap="none" spc="0" normalizeH="0" baseline="0" noProof="0">
              <a:ln>
                <a:noFill/>
              </a:ln>
              <a:solidFill>
                <a:srgbClr val="003DA5"/>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CA" sz="1800" b="0" i="0" u="none" strike="noStrike" kern="1200" cap="none" spc="0" normalizeH="0" baseline="0" noProof="0">
              <a:ln>
                <a:noFill/>
              </a:ln>
              <a:solidFill>
                <a:srgbClr val="003DA5"/>
              </a:solidFill>
              <a:effectLst/>
              <a:uLnTx/>
              <a:uFillTx/>
              <a:latin typeface="Arial" panose="020B0604020202020204" pitchFamily="34" charset="0"/>
              <a:ea typeface="+mn-ea"/>
              <a:cs typeface="+mn-cs"/>
            </a:endParaRPr>
          </a:p>
        </p:txBody>
      </p:sp>
      <p:graphicFrame>
        <p:nvGraphicFramePr>
          <p:cNvPr id="8" name="Tableau 7">
            <a:extLst>
              <a:ext uri="{FF2B5EF4-FFF2-40B4-BE49-F238E27FC236}">
                <a16:creationId xmlns:a16="http://schemas.microsoft.com/office/drawing/2014/main" id="{4CB98645-C8FA-EDB7-019A-DD396A9EDA38}"/>
              </a:ext>
            </a:extLst>
          </p:cNvPr>
          <p:cNvGraphicFramePr>
            <a:graphicFrameLocks noGrp="1"/>
          </p:cNvGraphicFramePr>
          <p:nvPr>
            <p:extLst>
              <p:ext uri="{D42A27DB-BD31-4B8C-83A1-F6EECF244321}">
                <p14:modId xmlns:p14="http://schemas.microsoft.com/office/powerpoint/2010/main" val="3017908425"/>
              </p:ext>
            </p:extLst>
          </p:nvPr>
        </p:nvGraphicFramePr>
        <p:xfrm>
          <a:off x="667695" y="1690486"/>
          <a:ext cx="8337761" cy="3148920"/>
        </p:xfrm>
        <a:graphic>
          <a:graphicData uri="http://schemas.openxmlformats.org/drawingml/2006/table">
            <a:tbl>
              <a:tblPr firstRow="1" bandRow="1">
                <a:tableStyleId>{5C22544A-7EE6-4342-B048-85BDC9FD1C3A}</a:tableStyleId>
              </a:tblPr>
              <a:tblGrid>
                <a:gridCol w="1872965">
                  <a:extLst>
                    <a:ext uri="{9D8B030D-6E8A-4147-A177-3AD203B41FA5}">
                      <a16:colId xmlns:a16="http://schemas.microsoft.com/office/drawing/2014/main" val="2375906956"/>
                    </a:ext>
                  </a:extLst>
                </a:gridCol>
                <a:gridCol w="2549847">
                  <a:extLst>
                    <a:ext uri="{9D8B030D-6E8A-4147-A177-3AD203B41FA5}">
                      <a16:colId xmlns:a16="http://schemas.microsoft.com/office/drawing/2014/main" val="3161937322"/>
                    </a:ext>
                  </a:extLst>
                </a:gridCol>
                <a:gridCol w="2216944">
                  <a:extLst>
                    <a:ext uri="{9D8B030D-6E8A-4147-A177-3AD203B41FA5}">
                      <a16:colId xmlns:a16="http://schemas.microsoft.com/office/drawing/2014/main" val="3229427417"/>
                    </a:ext>
                  </a:extLst>
                </a:gridCol>
                <a:gridCol w="1698005">
                  <a:extLst>
                    <a:ext uri="{9D8B030D-6E8A-4147-A177-3AD203B41FA5}">
                      <a16:colId xmlns:a16="http://schemas.microsoft.com/office/drawing/2014/main" val="1163651350"/>
                    </a:ext>
                  </a:extLst>
                </a:gridCol>
              </a:tblGrid>
              <a:tr h="263355">
                <a:tc>
                  <a:txBody>
                    <a:bodyPr/>
                    <a:lstStyle/>
                    <a:p>
                      <a:pPr algn="ctr"/>
                      <a:r>
                        <a:rPr lang="fr-CA" sz="1000" b="1" noProof="0">
                          <a:solidFill>
                            <a:srgbClr val="262626"/>
                          </a:solidFill>
                        </a:rPr>
                        <a:t>Type de paiement</a:t>
                      </a:r>
                    </a:p>
                  </a:txBody>
                  <a:tcPr anchor="ctr"/>
                </a:tc>
                <a:tc>
                  <a:txBody>
                    <a:bodyPr/>
                    <a:lstStyle/>
                    <a:p>
                      <a:pPr algn="ctr"/>
                      <a:r>
                        <a:rPr lang="fr-CA" sz="1000" noProof="0">
                          <a:solidFill>
                            <a:srgbClr val="262626"/>
                          </a:solidFill>
                        </a:rPr>
                        <a:t>Moyen de paiement</a:t>
                      </a:r>
                    </a:p>
                  </a:txBody>
                  <a:tcPr anchor="ctr"/>
                </a:tc>
                <a:tc>
                  <a:txBody>
                    <a:bodyPr/>
                    <a:lstStyle/>
                    <a:p>
                      <a:pPr algn="ctr"/>
                      <a:r>
                        <a:rPr lang="fr-CA" sz="1000" noProof="0">
                          <a:solidFill>
                            <a:srgbClr val="262626"/>
                          </a:solidFill>
                        </a:rPr>
                        <a:t>Parties prenantes dans la portée phase 2</a:t>
                      </a:r>
                    </a:p>
                  </a:txBody>
                  <a:tcPr anchor="ctr"/>
                </a:tc>
                <a:tc>
                  <a:txBody>
                    <a:bodyPr/>
                    <a:lstStyle/>
                    <a:p>
                      <a:pPr algn="l"/>
                      <a:r>
                        <a:rPr lang="fr-CA" sz="1000" noProof="0">
                          <a:solidFill>
                            <a:srgbClr val="262626"/>
                          </a:solidFill>
                        </a:rPr>
                        <a:t>Volumétrie (YTD Q3 2025)</a:t>
                      </a:r>
                    </a:p>
                  </a:txBody>
                  <a:tcPr anchor="ctr"/>
                </a:tc>
                <a:extLst>
                  <a:ext uri="{0D108BD9-81ED-4DB2-BD59-A6C34878D82A}">
                    <a16:rowId xmlns:a16="http://schemas.microsoft.com/office/drawing/2014/main" val="774515336"/>
                  </a:ext>
                </a:extLst>
              </a:tr>
              <a:tr h="243607">
                <a:tc rowSpan="2">
                  <a:txBody>
                    <a:bodyPr/>
                    <a:lstStyle/>
                    <a:p>
                      <a:pPr marL="0" algn="ctr" defTabSz="914400" rtl="0" eaLnBrk="1" fontAlgn="base" latinLnBrk="0" hangingPunct="1">
                        <a:lnSpc>
                          <a:spcPts val="1200"/>
                        </a:lnSpc>
                        <a:buNone/>
                      </a:pPr>
                      <a:r>
                        <a:rPr lang="fr-CA" sz="1050" b="0" i="0" u="none" strike="noStrike" kern="1200" noProof="0">
                          <a:solidFill>
                            <a:srgbClr val="000000"/>
                          </a:solidFill>
                          <a:effectLst/>
                          <a:latin typeface="Calibri" panose="020F0502020204030204" pitchFamily="34" charset="0"/>
                          <a:ea typeface="+mn-ea"/>
                          <a:cs typeface="+mn-cs"/>
                        </a:rPr>
                        <a:t>Moyen de </a:t>
                      </a:r>
                      <a:r>
                        <a:rPr lang="fr-CA" sz="1050" b="1" i="0" u="none" strike="noStrike" kern="1200" noProof="0">
                          <a:solidFill>
                            <a:srgbClr val="000000"/>
                          </a:solidFill>
                          <a:effectLst/>
                          <a:latin typeface="Calibri" panose="020F0502020204030204" pitchFamily="34" charset="0"/>
                          <a:ea typeface="+mn-ea"/>
                          <a:cs typeface="+mn-cs"/>
                        </a:rPr>
                        <a:t>paiements automatisés</a:t>
                      </a:r>
                    </a:p>
                  </a:txBody>
                  <a:tcPr anchor="ctr"/>
                </a:tc>
                <a:tc>
                  <a:txBody>
                    <a:bodyPr/>
                    <a:lstStyle/>
                    <a:p>
                      <a:pPr algn="l" rtl="0" fontAlgn="base">
                        <a:lnSpc>
                          <a:spcPts val="1200"/>
                        </a:lnSpc>
                        <a:buNone/>
                      </a:pPr>
                      <a:r>
                        <a:rPr lang="fr-CA" sz="1000" b="0" i="0" u="none" strike="noStrike" noProof="0">
                          <a:solidFill>
                            <a:srgbClr val="262626"/>
                          </a:solidFill>
                          <a:effectLst/>
                          <a:latin typeface="Calibri" panose="020F0502020204030204" pitchFamily="34" charset="0"/>
                        </a:rPr>
                        <a:t>Dépôt Direct (DD) - Trax</a:t>
                      </a:r>
                      <a:endParaRPr lang="fr-CA" sz="1000" b="0" i="0" noProof="0">
                        <a:solidFill>
                          <a:srgbClr val="262626"/>
                        </a:solidFill>
                        <a:effectLst/>
                      </a:endParaRPr>
                    </a:p>
                  </a:txBody>
                  <a:tcPr anchor="ctr"/>
                </a:tc>
                <a:tc>
                  <a:txBody>
                    <a:bodyPr/>
                    <a:lstStyle/>
                    <a:p>
                      <a:pPr algn="l"/>
                      <a:r>
                        <a:rPr lang="fr-CA" sz="900" noProof="0">
                          <a:solidFill>
                            <a:srgbClr val="262626"/>
                          </a:solidFill>
                        </a:rPr>
                        <a:t>Assurance Vie</a:t>
                      </a:r>
                    </a:p>
                    <a:p>
                      <a:pPr algn="l"/>
                      <a:r>
                        <a:rPr lang="fr-CA" sz="900" noProof="0">
                          <a:solidFill>
                            <a:srgbClr val="262626"/>
                          </a:solidFill>
                        </a:rPr>
                        <a:t>Assurance collective</a:t>
                      </a:r>
                    </a:p>
                  </a:txBody>
                  <a:tcPr anchor="ctr"/>
                </a:tc>
                <a:tc>
                  <a:txBody>
                    <a:bodyPr/>
                    <a:lstStyle/>
                    <a:p>
                      <a:pPr marL="0" algn="l" defTabSz="914400" rtl="0" eaLnBrk="1" latinLnBrk="0" hangingPunct="1"/>
                      <a:r>
                        <a:rPr kumimoji="0" lang="fr-CA" sz="900" b="0" i="0" u="none" strike="noStrike" kern="1200" cap="none" spc="0" normalizeH="0" baseline="0" noProof="0">
                          <a:ln>
                            <a:noFill/>
                          </a:ln>
                          <a:solidFill>
                            <a:srgbClr val="262626"/>
                          </a:solidFill>
                          <a:effectLst/>
                          <a:uLnTx/>
                          <a:uFillTx/>
                          <a:latin typeface="Calibri" panose="020F0502020204030204"/>
                          <a:ea typeface="+mn-ea"/>
                          <a:cs typeface="+mn-cs"/>
                        </a:rPr>
                        <a:t>330 114</a:t>
                      </a:r>
                    </a:p>
                  </a:txBody>
                  <a:tcPr anchor="ctr"/>
                </a:tc>
                <a:extLst>
                  <a:ext uri="{0D108BD9-81ED-4DB2-BD59-A6C34878D82A}">
                    <a16:rowId xmlns:a16="http://schemas.microsoft.com/office/drawing/2014/main" val="2566760826"/>
                  </a:ext>
                </a:extLst>
              </a:tr>
              <a:tr h="347952">
                <a:tc vMerge="1">
                  <a:txBody>
                    <a:bodyPr/>
                    <a:lstStyle/>
                    <a:p>
                      <a:endParaRPr lang="fr-FR"/>
                    </a:p>
                  </a:txBody>
                  <a:tcPr/>
                </a:tc>
                <a:tc>
                  <a:txBody>
                    <a:bodyPr/>
                    <a:lstStyle/>
                    <a:p>
                      <a:pPr algn="l" rtl="0" fontAlgn="base">
                        <a:lnSpc>
                          <a:spcPts val="1200"/>
                        </a:lnSpc>
                        <a:buNone/>
                      </a:pPr>
                      <a:r>
                        <a:rPr lang="fr-CA" sz="1000" b="0" i="0" u="none" strike="noStrike" noProof="0">
                          <a:solidFill>
                            <a:srgbClr val="262626"/>
                          </a:solidFill>
                          <a:effectLst/>
                          <a:latin typeface="Calibri" panose="020F0502020204030204" pitchFamily="34" charset="0"/>
                        </a:rPr>
                        <a:t>Chèques</a:t>
                      </a:r>
                      <a:endParaRPr lang="fr-CA" sz="1000" b="0" i="0" noProof="0">
                        <a:solidFill>
                          <a:srgbClr val="262626"/>
                        </a:solidFill>
                        <a:effectLs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900" noProof="0">
                          <a:solidFill>
                            <a:srgbClr val="262626"/>
                          </a:solidFill>
                        </a:rPr>
                        <a:t>Unités d’affaire IA et certaines filiales*</a:t>
                      </a:r>
                    </a:p>
                  </a:txBody>
                  <a:tcPr anchor="ctr"/>
                </a:tc>
                <a:tc>
                  <a:txBody>
                    <a:bodyPr/>
                    <a:lstStyle/>
                    <a:p>
                      <a:pPr algn="l"/>
                      <a:r>
                        <a:rPr kumimoji="0" lang="fr-CA" sz="900" b="0" i="0" u="none" strike="noStrike" kern="1200" cap="none" spc="0" normalizeH="0" baseline="0" noProof="0">
                          <a:ln>
                            <a:noFill/>
                          </a:ln>
                          <a:solidFill>
                            <a:srgbClr val="262626"/>
                          </a:solidFill>
                          <a:effectLst/>
                          <a:uLnTx/>
                          <a:uFillTx/>
                          <a:latin typeface="Calibri" panose="020F0502020204030204"/>
                          <a:ea typeface="+mn-ea"/>
                          <a:cs typeface="+mn-cs"/>
                        </a:rPr>
                        <a:t>192 263</a:t>
                      </a:r>
                      <a:endParaRPr lang="fr-CA" sz="900" kern="1200" noProof="0">
                        <a:solidFill>
                          <a:srgbClr val="262626"/>
                        </a:solidFill>
                        <a:latin typeface="+mn-lt"/>
                        <a:ea typeface="+mn-ea"/>
                        <a:cs typeface="+mn-cs"/>
                      </a:endParaRPr>
                    </a:p>
                  </a:txBody>
                  <a:tcPr anchor="ctr"/>
                </a:tc>
                <a:extLst>
                  <a:ext uri="{0D108BD9-81ED-4DB2-BD59-A6C34878D82A}">
                    <a16:rowId xmlns:a16="http://schemas.microsoft.com/office/drawing/2014/main" val="1554023476"/>
                  </a:ext>
                </a:extLst>
              </a:tr>
              <a:tr h="371784">
                <a:tc>
                  <a:txBody>
                    <a:bodyPr/>
                    <a:lstStyle/>
                    <a:p>
                      <a:pPr algn="ctr" rtl="0" fontAlgn="base">
                        <a:lnSpc>
                          <a:spcPts val="1200"/>
                        </a:lnSpc>
                        <a:buNone/>
                      </a:pPr>
                      <a:r>
                        <a:rPr lang="fr-CA" sz="1050" b="0" i="0" u="none" strike="noStrike" kern="1200" noProof="0">
                          <a:solidFill>
                            <a:srgbClr val="000000"/>
                          </a:solidFill>
                          <a:effectLst/>
                          <a:latin typeface="Calibri" panose="020F0502020204030204" pitchFamily="34" charset="0"/>
                          <a:ea typeface="+mn-ea"/>
                          <a:cs typeface="+mn-cs"/>
                        </a:rPr>
                        <a:t>Moyen de </a:t>
                      </a:r>
                      <a:r>
                        <a:rPr lang="fr-CA" sz="1050" b="1" i="0" u="none" strike="noStrike" kern="1200" noProof="0">
                          <a:solidFill>
                            <a:srgbClr val="000000"/>
                          </a:solidFill>
                          <a:effectLst/>
                          <a:latin typeface="Calibri" panose="020F0502020204030204" pitchFamily="34" charset="0"/>
                          <a:ea typeface="+mn-ea"/>
                          <a:cs typeface="+mn-cs"/>
                        </a:rPr>
                        <a:t>perception automatisé</a:t>
                      </a:r>
                      <a:endParaRPr lang="fr-CA" sz="1200" b="1" i="0" noProof="0">
                        <a:solidFill>
                          <a:srgbClr val="000000"/>
                        </a:solidFill>
                        <a:effectLst/>
                      </a:endParaRPr>
                    </a:p>
                  </a:txBody>
                  <a:tcPr/>
                </a:tc>
                <a:tc>
                  <a:txBody>
                    <a:bodyPr/>
                    <a:lstStyle/>
                    <a:p>
                      <a:pPr algn="l" rtl="0" fontAlgn="base">
                        <a:lnSpc>
                          <a:spcPts val="1200"/>
                        </a:lnSpc>
                        <a:buNone/>
                      </a:pPr>
                      <a:r>
                        <a:rPr lang="fr-CA" sz="1000" b="0" i="0" u="none" strike="noStrike" noProof="0">
                          <a:solidFill>
                            <a:srgbClr val="262626"/>
                          </a:solidFill>
                          <a:effectLst/>
                          <a:latin typeface="Calibri" panose="020F0502020204030204" pitchFamily="34" charset="0"/>
                        </a:rPr>
                        <a:t>Débit Pré-Autorisé (DPA) - Trax</a:t>
                      </a:r>
                      <a:endParaRPr lang="fr-CA" sz="1000" b="0" i="0" noProof="0">
                        <a:solidFill>
                          <a:srgbClr val="262626"/>
                        </a:solidFill>
                        <a:effectLst/>
                      </a:endParaRPr>
                    </a:p>
                  </a:txBody>
                  <a:tcPr anchor="ctr"/>
                </a:tc>
                <a:tc>
                  <a:txBody>
                    <a:bodyPr/>
                    <a:lstStyle/>
                    <a:p>
                      <a:pPr algn="l"/>
                      <a:r>
                        <a:rPr lang="fr-CA" sz="900" noProof="0">
                          <a:solidFill>
                            <a:srgbClr val="262626"/>
                          </a:solidFill>
                        </a:rPr>
                        <a:t>Assurance Vie</a:t>
                      </a:r>
                    </a:p>
                  </a:txBody>
                  <a:tcPr anchor="ctr"/>
                </a:tc>
                <a:tc>
                  <a:txBody>
                    <a:bodyPr/>
                    <a:lstStyle/>
                    <a:p>
                      <a:pPr algn="l"/>
                      <a:r>
                        <a:rPr kumimoji="0" lang="fr-CA" sz="900" b="0" i="0" u="none" strike="noStrike" kern="1200" cap="none" spc="0" normalizeH="0" baseline="0" noProof="0">
                          <a:ln>
                            <a:noFill/>
                          </a:ln>
                          <a:solidFill>
                            <a:srgbClr val="262626"/>
                          </a:solidFill>
                          <a:effectLst/>
                          <a:uLnTx/>
                          <a:uFillTx/>
                          <a:latin typeface="Calibri" panose="020F0502020204030204"/>
                          <a:ea typeface="+mn-ea"/>
                          <a:cs typeface="+mn-cs"/>
                        </a:rPr>
                        <a:t>126 636</a:t>
                      </a:r>
                    </a:p>
                  </a:txBody>
                  <a:tcPr anchor="ctr"/>
                </a:tc>
                <a:extLst>
                  <a:ext uri="{0D108BD9-81ED-4DB2-BD59-A6C34878D82A}">
                    <a16:rowId xmlns:a16="http://schemas.microsoft.com/office/drawing/2014/main" val="600345640"/>
                  </a:ext>
                </a:extLst>
              </a:tr>
              <a:tr h="371784">
                <a:tc rowSpan="3">
                  <a:txBody>
                    <a:bodyPr/>
                    <a:lstStyle/>
                    <a:p>
                      <a:pPr algn="ctr" rtl="0" fontAlgn="base">
                        <a:lnSpc>
                          <a:spcPts val="1200"/>
                        </a:lnSpc>
                        <a:buNone/>
                      </a:pPr>
                      <a:r>
                        <a:rPr lang="fr-CA" sz="1050" b="0" i="0" u="none" strike="noStrike" kern="1200" noProof="0">
                          <a:solidFill>
                            <a:srgbClr val="000000"/>
                          </a:solidFill>
                          <a:effectLst/>
                          <a:latin typeface="Calibri" panose="020F0502020204030204" pitchFamily="34" charset="0"/>
                          <a:ea typeface="+mn-ea"/>
                          <a:cs typeface="+mn-cs"/>
                        </a:rPr>
                        <a:t>Moyen de </a:t>
                      </a:r>
                      <a:r>
                        <a:rPr lang="fr-CA" sz="1050" b="1" i="0" u="none" strike="noStrike" kern="1200" noProof="0">
                          <a:solidFill>
                            <a:srgbClr val="000000"/>
                          </a:solidFill>
                          <a:effectLst/>
                          <a:latin typeface="Calibri" panose="020F0502020204030204" pitchFamily="34" charset="0"/>
                          <a:ea typeface="+mn-ea"/>
                          <a:cs typeface="+mn-cs"/>
                        </a:rPr>
                        <a:t>paiements</a:t>
                      </a:r>
                      <a:r>
                        <a:rPr lang="fr-CA" sz="1050" b="0" i="0" u="none" strike="noStrike" kern="1200" noProof="0">
                          <a:solidFill>
                            <a:srgbClr val="000000"/>
                          </a:solidFill>
                          <a:effectLst/>
                          <a:latin typeface="Calibri" panose="020F0502020204030204" pitchFamily="34" charset="0"/>
                          <a:ea typeface="+mn-ea"/>
                          <a:cs typeface="+mn-cs"/>
                        </a:rPr>
                        <a:t> à demande </a:t>
                      </a:r>
                      <a:r>
                        <a:rPr lang="fr-CA" sz="1050" b="1" i="0" u="none" strike="noStrike" kern="1200" noProof="0">
                          <a:solidFill>
                            <a:srgbClr val="000000"/>
                          </a:solidFill>
                          <a:effectLst/>
                          <a:latin typeface="Calibri" panose="020F0502020204030204" pitchFamily="34" charset="0"/>
                          <a:ea typeface="+mn-ea"/>
                          <a:cs typeface="+mn-cs"/>
                        </a:rPr>
                        <a:t>manuelle</a:t>
                      </a:r>
                    </a:p>
                  </a:txBody>
                  <a:tcPr anchor="ctr"/>
                </a:tc>
                <a:tc>
                  <a:txBody>
                    <a:bodyPr/>
                    <a:lstStyle/>
                    <a:p>
                      <a:pPr algn="l" rtl="0" fontAlgn="base">
                        <a:lnSpc>
                          <a:spcPts val="1200"/>
                        </a:lnSpc>
                        <a:buNone/>
                      </a:pPr>
                      <a:r>
                        <a:rPr lang="fr-CA" sz="1000" b="0" i="0" u="none" strike="noStrike" noProof="0">
                          <a:solidFill>
                            <a:srgbClr val="262626"/>
                          </a:solidFill>
                          <a:effectLst/>
                          <a:latin typeface="Calibri" panose="020F0502020204030204" pitchFamily="34" charset="0"/>
                        </a:rPr>
                        <a:t>Dépôt Direct (DD)</a:t>
                      </a:r>
                      <a:endParaRPr lang="fr-CA" sz="1000" b="0" i="0" noProof="0">
                        <a:solidFill>
                          <a:srgbClr val="262626"/>
                        </a:solidFill>
                        <a:effectLst/>
                      </a:endParaRPr>
                    </a:p>
                  </a:txBody>
                  <a:tcPr anchor="ctr"/>
                </a:tc>
                <a:tc>
                  <a:txBody>
                    <a:bodyPr/>
                    <a:lstStyle/>
                    <a:p>
                      <a:pPr algn="l"/>
                      <a:r>
                        <a:rPr lang="fr-CA" sz="900" noProof="0">
                          <a:solidFill>
                            <a:srgbClr val="262626"/>
                          </a:solidFill>
                        </a:rPr>
                        <a:t>Unités d’affaire et certaines filiales*</a:t>
                      </a:r>
                    </a:p>
                  </a:txBody>
                  <a:tcPr anchor="ctr"/>
                </a:tc>
                <a:tc>
                  <a:txBody>
                    <a:bodyPr/>
                    <a:lstStyle/>
                    <a:p>
                      <a:pPr algn="l"/>
                      <a:r>
                        <a:rPr kumimoji="0" lang="fr-CA" sz="900" b="0" i="0" u="none" strike="noStrike" kern="1200" cap="none" spc="0" normalizeH="0" baseline="0" noProof="0">
                          <a:ln>
                            <a:noFill/>
                          </a:ln>
                          <a:solidFill>
                            <a:srgbClr val="262626"/>
                          </a:solidFill>
                          <a:effectLst/>
                          <a:uLnTx/>
                          <a:uFillTx/>
                          <a:latin typeface="Calibri" panose="020F0502020204030204"/>
                          <a:ea typeface="+mn-ea"/>
                          <a:cs typeface="+mn-cs"/>
                        </a:rPr>
                        <a:t>&lt; 1000</a:t>
                      </a:r>
                      <a:endParaRPr lang="fr-CA" sz="900" kern="1200" noProof="0">
                        <a:solidFill>
                          <a:srgbClr val="262626"/>
                        </a:solidFill>
                        <a:latin typeface="+mn-lt"/>
                        <a:ea typeface="+mn-ea"/>
                        <a:cs typeface="+mn-cs"/>
                      </a:endParaRPr>
                    </a:p>
                  </a:txBody>
                  <a:tcPr anchor="ctr"/>
                </a:tc>
                <a:extLst>
                  <a:ext uri="{0D108BD9-81ED-4DB2-BD59-A6C34878D82A}">
                    <a16:rowId xmlns:a16="http://schemas.microsoft.com/office/drawing/2014/main" val="2127253493"/>
                  </a:ext>
                </a:extLst>
              </a:tr>
              <a:tr h="371784">
                <a:tc vMerge="1">
                  <a:txBody>
                    <a:bodyPr/>
                    <a:lstStyle/>
                    <a:p>
                      <a:pPr algn="ctr" rtl="0" fontAlgn="base">
                        <a:lnSpc>
                          <a:spcPts val="1200"/>
                        </a:lnSpc>
                        <a:buNone/>
                      </a:pPr>
                      <a:endParaRPr lang="fr-FR" sz="1050" b="0" i="0" u="none" strike="noStrike" kern="1200">
                        <a:solidFill>
                          <a:srgbClr val="000000"/>
                        </a:solidFill>
                        <a:effectLst/>
                        <a:latin typeface="Calibri" panose="020F0502020204030204" pitchFamily="34" charset="0"/>
                        <a:ea typeface="+mn-ea"/>
                        <a:cs typeface="+mn-cs"/>
                      </a:endParaRPr>
                    </a:p>
                  </a:txBody>
                  <a:tcPr/>
                </a:tc>
                <a:tc>
                  <a:txBody>
                    <a:bodyPr/>
                    <a:lstStyle/>
                    <a:p>
                      <a:pPr algn="l" rtl="0" fontAlgn="base">
                        <a:lnSpc>
                          <a:spcPts val="1200"/>
                        </a:lnSpc>
                        <a:buNone/>
                      </a:pPr>
                      <a:r>
                        <a:rPr lang="fr-CA" sz="1000" b="0" i="0" u="none" strike="noStrike" noProof="0">
                          <a:solidFill>
                            <a:srgbClr val="262626"/>
                          </a:solidFill>
                          <a:effectLst/>
                          <a:latin typeface="Calibri" panose="020F0502020204030204" pitchFamily="34" charset="0"/>
                        </a:rPr>
                        <a:t>Chèques</a:t>
                      </a:r>
                      <a:endParaRPr lang="fr-CA" sz="1000" b="0" i="0" noProof="0">
                        <a:solidFill>
                          <a:srgbClr val="262626"/>
                        </a:solidFill>
                        <a:effectLst/>
                      </a:endParaRPr>
                    </a:p>
                  </a:txBody>
                  <a:tcPr anchor="ctr"/>
                </a:tc>
                <a:tc>
                  <a:txBody>
                    <a:bodyPr/>
                    <a:lstStyle/>
                    <a:p>
                      <a:pPr algn="l"/>
                      <a:r>
                        <a:rPr lang="fr-CA" sz="900" noProof="0">
                          <a:solidFill>
                            <a:srgbClr val="262626"/>
                          </a:solidFill>
                        </a:rPr>
                        <a:t>Unités d’affaire </a:t>
                      </a:r>
                    </a:p>
                    <a:p>
                      <a:pPr algn="l"/>
                      <a:r>
                        <a:rPr lang="fr-CA" sz="900" noProof="0">
                          <a:solidFill>
                            <a:srgbClr val="262626"/>
                          </a:solidFill>
                        </a:rPr>
                        <a:t>Filiales présentement sur </a:t>
                      </a:r>
                      <a:r>
                        <a:rPr lang="fr-CA" sz="900" i="1" noProof="0">
                          <a:solidFill>
                            <a:srgbClr val="262626"/>
                          </a:solidFill>
                        </a:rPr>
                        <a:t>Op sur chèque</a:t>
                      </a:r>
                    </a:p>
                    <a:p>
                      <a:pPr algn="l"/>
                      <a:endParaRPr lang="fr-CA" sz="900" noProof="0">
                        <a:solidFill>
                          <a:srgbClr val="262626"/>
                        </a:solidFill>
                      </a:endParaRPr>
                    </a:p>
                  </a:txBody>
                  <a:tcPr anchor="ctr"/>
                </a:tc>
                <a:tc>
                  <a:txBody>
                    <a:bodyPr/>
                    <a:lstStyle/>
                    <a:p>
                      <a:pPr algn="l"/>
                      <a:r>
                        <a:rPr kumimoji="0" lang="fr-CA" sz="900" b="0" i="0" u="none" strike="noStrike" kern="1200" cap="none" spc="0" normalizeH="0" baseline="0" noProof="0">
                          <a:ln>
                            <a:noFill/>
                          </a:ln>
                          <a:solidFill>
                            <a:srgbClr val="262626"/>
                          </a:solidFill>
                          <a:effectLst/>
                          <a:uLnTx/>
                          <a:uFillTx/>
                          <a:latin typeface="Calibri" panose="020F0502020204030204"/>
                          <a:ea typeface="+mn-ea"/>
                          <a:cs typeface="+mn-cs"/>
                        </a:rPr>
                        <a:t>4 462</a:t>
                      </a:r>
                      <a:endParaRPr lang="fr-CA" sz="900" kern="1200" noProof="0">
                        <a:solidFill>
                          <a:srgbClr val="262626"/>
                        </a:solidFill>
                        <a:latin typeface="+mn-lt"/>
                        <a:ea typeface="+mn-ea"/>
                        <a:cs typeface="+mn-cs"/>
                      </a:endParaRPr>
                    </a:p>
                  </a:txBody>
                  <a:tcPr anchor="ctr"/>
                </a:tc>
                <a:extLst>
                  <a:ext uri="{0D108BD9-81ED-4DB2-BD59-A6C34878D82A}">
                    <a16:rowId xmlns:a16="http://schemas.microsoft.com/office/drawing/2014/main" val="1008447755"/>
                  </a:ext>
                </a:extLst>
              </a:tr>
              <a:tr h="371784">
                <a:tc vMerge="1">
                  <a:txBody>
                    <a:bodyPr/>
                    <a:lstStyle/>
                    <a:p>
                      <a:pPr algn="ctr" rtl="0" fontAlgn="base">
                        <a:lnSpc>
                          <a:spcPts val="1200"/>
                        </a:lnSpc>
                        <a:buNone/>
                      </a:pPr>
                      <a:endParaRPr lang="fr-FR" sz="1050" b="0" i="0" u="none" strike="noStrike" kern="1200">
                        <a:solidFill>
                          <a:srgbClr val="000000"/>
                        </a:solidFill>
                        <a:effectLst/>
                        <a:latin typeface="Calibri" panose="020F0502020204030204" pitchFamily="34" charset="0"/>
                        <a:ea typeface="+mn-ea"/>
                        <a:cs typeface="+mn-cs"/>
                      </a:endParaRPr>
                    </a:p>
                  </a:txBody>
                  <a:tcPr/>
                </a:tc>
                <a:tc>
                  <a:txBody>
                    <a:bodyPr/>
                    <a:lstStyle/>
                    <a:p>
                      <a:pPr algn="l" rtl="0" fontAlgn="base">
                        <a:lnSpc>
                          <a:spcPts val="1200"/>
                        </a:lnSpc>
                        <a:buNone/>
                      </a:pPr>
                      <a:r>
                        <a:rPr lang="fr-CA" sz="1000" b="0" i="0" noProof="0">
                          <a:solidFill>
                            <a:srgbClr val="262626"/>
                          </a:solidFill>
                          <a:effectLst/>
                        </a:rPr>
                        <a:t>Virement télégraphique</a:t>
                      </a:r>
                    </a:p>
                  </a:txBody>
                  <a:tcPr anchor="ctr"/>
                </a:tc>
                <a:tc>
                  <a:txBody>
                    <a:bodyPr/>
                    <a:lstStyle/>
                    <a:p>
                      <a:pPr algn="l"/>
                      <a:r>
                        <a:rPr lang="fr-CA" sz="900" noProof="0">
                          <a:solidFill>
                            <a:srgbClr val="262626"/>
                          </a:solidFill>
                        </a:rPr>
                        <a:t>Unités d’affaire et certaines filiales*</a:t>
                      </a:r>
                    </a:p>
                  </a:txBody>
                  <a:tcPr anchor="ctr"/>
                </a:tc>
                <a:tc>
                  <a:txBody>
                    <a:bodyPr/>
                    <a:lstStyle/>
                    <a:p>
                      <a:pPr algn="l"/>
                      <a:r>
                        <a:rPr kumimoji="0" lang="fr-CA" sz="900" b="0" i="0" u="none" strike="noStrike" kern="1200" cap="none" spc="0" normalizeH="0" baseline="0" noProof="0">
                          <a:ln>
                            <a:noFill/>
                          </a:ln>
                          <a:solidFill>
                            <a:srgbClr val="262626"/>
                          </a:solidFill>
                          <a:effectLst/>
                          <a:uLnTx/>
                          <a:uFillTx/>
                          <a:latin typeface="+mn-lt"/>
                          <a:ea typeface="+mn-ea"/>
                          <a:cs typeface="+mn-cs"/>
                        </a:rPr>
                        <a:t>&lt; 1000</a:t>
                      </a:r>
                      <a:endParaRPr lang="fr-CA" sz="900" kern="1200" noProof="0">
                        <a:solidFill>
                          <a:srgbClr val="262626"/>
                        </a:solidFill>
                        <a:latin typeface="+mn-lt"/>
                        <a:ea typeface="+mn-ea"/>
                        <a:cs typeface="+mn-cs"/>
                      </a:endParaRPr>
                    </a:p>
                  </a:txBody>
                  <a:tcPr anchor="ctr"/>
                </a:tc>
                <a:extLst>
                  <a:ext uri="{0D108BD9-81ED-4DB2-BD59-A6C34878D82A}">
                    <a16:rowId xmlns:a16="http://schemas.microsoft.com/office/drawing/2014/main" val="1712381916"/>
                  </a:ext>
                </a:extLst>
              </a:tr>
              <a:tr h="347952">
                <a:tc>
                  <a:txBody>
                    <a:bodyPr/>
                    <a:lstStyle/>
                    <a:p>
                      <a:pPr marL="0" algn="ctr" defTabSz="914400" rtl="0" eaLnBrk="1" fontAlgn="base" latinLnBrk="0" hangingPunct="1">
                        <a:lnSpc>
                          <a:spcPts val="1200"/>
                        </a:lnSpc>
                        <a:buNone/>
                      </a:pPr>
                      <a:r>
                        <a:rPr lang="fr-CA" sz="1050" b="0" i="0" u="none" strike="noStrike" kern="1200" noProof="0">
                          <a:solidFill>
                            <a:srgbClr val="000000"/>
                          </a:solidFill>
                          <a:effectLst/>
                          <a:latin typeface="Calibri" panose="020F0502020204030204" pitchFamily="34" charset="0"/>
                          <a:ea typeface="+mn-ea"/>
                          <a:cs typeface="+mn-cs"/>
                        </a:rPr>
                        <a:t>Moyen de </a:t>
                      </a:r>
                      <a:r>
                        <a:rPr lang="fr-CA" sz="1050" b="1" i="0" u="none" strike="noStrike" kern="1200" noProof="0">
                          <a:solidFill>
                            <a:srgbClr val="000000"/>
                          </a:solidFill>
                          <a:effectLst/>
                          <a:latin typeface="Calibri" panose="020F0502020204030204" pitchFamily="34" charset="0"/>
                          <a:ea typeface="+mn-ea"/>
                          <a:cs typeface="+mn-cs"/>
                        </a:rPr>
                        <a:t>perception</a:t>
                      </a:r>
                      <a:r>
                        <a:rPr lang="fr-CA" sz="1050" b="0" i="0" u="none" strike="noStrike" kern="1200" noProof="0">
                          <a:solidFill>
                            <a:srgbClr val="000000"/>
                          </a:solidFill>
                          <a:effectLst/>
                          <a:latin typeface="Calibri" panose="020F0502020204030204" pitchFamily="34" charset="0"/>
                          <a:ea typeface="+mn-ea"/>
                          <a:cs typeface="+mn-cs"/>
                        </a:rPr>
                        <a:t> à demande </a:t>
                      </a:r>
                      <a:r>
                        <a:rPr lang="fr-CA" sz="1050" b="1" i="0" u="none" strike="noStrike" kern="1200" noProof="0">
                          <a:solidFill>
                            <a:srgbClr val="000000"/>
                          </a:solidFill>
                          <a:effectLst/>
                          <a:latin typeface="Calibri" panose="020F0502020204030204" pitchFamily="34" charset="0"/>
                          <a:ea typeface="+mn-ea"/>
                          <a:cs typeface="+mn-cs"/>
                        </a:rPr>
                        <a:t>manuel</a:t>
                      </a:r>
                    </a:p>
                  </a:txBody>
                  <a:tcPr anchor="ctr"/>
                </a:tc>
                <a:tc>
                  <a:txBody>
                    <a:bodyPr/>
                    <a:lstStyle/>
                    <a:p>
                      <a:pPr algn="l" rtl="0" fontAlgn="base">
                        <a:lnSpc>
                          <a:spcPts val="1200"/>
                        </a:lnSpc>
                        <a:buNone/>
                      </a:pPr>
                      <a:r>
                        <a:rPr lang="fr-CA" sz="1000" b="0" i="0" u="none" strike="noStrike" noProof="0">
                          <a:solidFill>
                            <a:srgbClr val="262626"/>
                          </a:solidFill>
                          <a:effectLst/>
                          <a:latin typeface="Calibri" panose="020F0502020204030204" pitchFamily="34" charset="0"/>
                        </a:rPr>
                        <a:t>Débit Pré-Autorisé (DPA)</a:t>
                      </a:r>
                      <a:endParaRPr lang="fr-CA" sz="1000" b="0" i="0" noProof="0">
                        <a:solidFill>
                          <a:srgbClr val="262626"/>
                        </a:solidFill>
                        <a:effectLst/>
                      </a:endParaRPr>
                    </a:p>
                  </a:txBody>
                  <a:tcPr anchor="ctr"/>
                </a:tc>
                <a:tc>
                  <a:txBody>
                    <a:bodyPr/>
                    <a:lstStyle/>
                    <a:p>
                      <a:pPr algn="l"/>
                      <a:r>
                        <a:rPr lang="fr-CA" sz="900" noProof="0">
                          <a:solidFill>
                            <a:srgbClr val="262626"/>
                          </a:solidFill>
                        </a:rPr>
                        <a:t>Unités d’affaire et certaines filiales*</a:t>
                      </a:r>
                    </a:p>
                  </a:txBody>
                  <a:tcPr anchor="ctr"/>
                </a:tc>
                <a:tc>
                  <a:txBody>
                    <a:bodyPr/>
                    <a:lstStyle/>
                    <a:p>
                      <a:pPr algn="l"/>
                      <a:r>
                        <a:rPr kumimoji="0" lang="fr-CA" sz="900" b="0" i="0" u="none" strike="noStrike" kern="1200" cap="none" spc="0" normalizeH="0" baseline="0" noProof="0">
                          <a:ln>
                            <a:noFill/>
                          </a:ln>
                          <a:solidFill>
                            <a:srgbClr val="262626"/>
                          </a:solidFill>
                          <a:effectLst/>
                          <a:uLnTx/>
                          <a:uFillTx/>
                          <a:latin typeface="+mn-lt"/>
                          <a:ea typeface="+mn-ea"/>
                          <a:cs typeface="+mn-cs"/>
                        </a:rPr>
                        <a:t>&lt; 1000</a:t>
                      </a:r>
                      <a:endParaRPr lang="fr-CA" sz="900" kern="1200" noProof="0">
                        <a:solidFill>
                          <a:srgbClr val="262626"/>
                        </a:solidFill>
                        <a:latin typeface="+mn-lt"/>
                        <a:ea typeface="+mn-ea"/>
                        <a:cs typeface="+mn-cs"/>
                      </a:endParaRPr>
                    </a:p>
                  </a:txBody>
                  <a:tcPr anchor="ctr"/>
                </a:tc>
                <a:extLst>
                  <a:ext uri="{0D108BD9-81ED-4DB2-BD59-A6C34878D82A}">
                    <a16:rowId xmlns:a16="http://schemas.microsoft.com/office/drawing/2014/main" val="1008975231"/>
                  </a:ext>
                </a:extLst>
              </a:tr>
            </a:tbl>
          </a:graphicData>
        </a:graphic>
      </p:graphicFrame>
      <p:sp>
        <p:nvSpPr>
          <p:cNvPr id="7" name="ZoneTexte 6">
            <a:extLst>
              <a:ext uri="{FF2B5EF4-FFF2-40B4-BE49-F238E27FC236}">
                <a16:creationId xmlns:a16="http://schemas.microsoft.com/office/drawing/2014/main" id="{BE760467-21D6-F7C4-0FA8-6904D46BF90F}"/>
              </a:ext>
            </a:extLst>
          </p:cNvPr>
          <p:cNvSpPr txBox="1"/>
          <p:nvPr/>
        </p:nvSpPr>
        <p:spPr>
          <a:xfrm>
            <a:off x="667695" y="4839406"/>
            <a:ext cx="4572000" cy="261610"/>
          </a:xfrm>
          <a:prstGeom prst="rect">
            <a:avLst/>
          </a:prstGeom>
          <a:noFill/>
        </p:spPr>
        <p:txBody>
          <a:bodyPr wrap="square">
            <a:spAutoFit/>
          </a:bodyPr>
          <a:lstStyle/>
          <a:p>
            <a:r>
              <a:rPr lang="fr-CA" sz="1100" noProof="0">
                <a:solidFill>
                  <a:srgbClr val="003DA5"/>
                </a:solidFill>
                <a:latin typeface="Calibri" panose="020F0502020204030204"/>
                <a:ea typeface="Calibri" panose="020F0502020204030204"/>
                <a:cs typeface="Calibri" panose="020F0502020204030204"/>
              </a:rPr>
              <a:t>* Filiales à définir en phase de réalisation</a:t>
            </a:r>
            <a:endParaRPr lang="fr-FR" sz="1100"/>
          </a:p>
        </p:txBody>
      </p:sp>
    </p:spTree>
    <p:extLst>
      <p:ext uri="{BB962C8B-B14F-4D97-AF65-F5344CB8AC3E}">
        <p14:creationId xmlns:p14="http://schemas.microsoft.com/office/powerpoint/2010/main" val="3939184152"/>
      </p:ext>
    </p:extLst>
  </p:cSld>
  <p:clrMapOvr>
    <a:masterClrMapping/>
  </p:clrMapOvr>
  <p:extLst>
    <p:ext uri="{6950BFC3-D8DA-4A85-94F7-54DA5524770B}">
      <p188:commentRel xmlns:p188="http://schemas.microsoft.com/office/powerpoint/2018/8/main" r:id="rId3"/>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95C7731-E31F-83D0-F7AF-38A8F340A62B}"/>
              </a:ext>
            </a:extLst>
          </p:cNvPr>
          <p:cNvSpPr>
            <a:spLocks noGrp="1"/>
          </p:cNvSpPr>
          <p:nvPr>
            <p:ph type="title"/>
          </p:nvPr>
        </p:nvSpPr>
        <p:spPr>
          <a:xfrm>
            <a:off x="235527" y="1"/>
            <a:ext cx="8908473" cy="462974"/>
          </a:xfrm>
          <a:solidFill>
            <a:schemeClr val="tx1"/>
          </a:solidFill>
        </p:spPr>
        <p:txBody>
          <a:bodyPr vert="horz" lIns="91440" tIns="45720" rIns="91440" bIns="45720" rtlCol="0" anchor="ctr">
            <a:normAutofit/>
          </a:bodyPr>
          <a:lstStyle/>
          <a:p>
            <a:r>
              <a:rPr lang="fr-CA" sz="2400" b="1" noProof="0">
                <a:solidFill>
                  <a:schemeClr val="bg1"/>
                </a:solidFill>
              </a:rPr>
              <a:t>Définition de la portée – Objectif 1</a:t>
            </a:r>
          </a:p>
        </p:txBody>
      </p:sp>
      <p:sp>
        <p:nvSpPr>
          <p:cNvPr id="3" name="Espace réservé du contenu 2">
            <a:extLst>
              <a:ext uri="{FF2B5EF4-FFF2-40B4-BE49-F238E27FC236}">
                <a16:creationId xmlns:a16="http://schemas.microsoft.com/office/drawing/2014/main" id="{D30DAA09-BF2B-AD78-40C6-D01D6A9C4AF0}"/>
              </a:ext>
            </a:extLst>
          </p:cNvPr>
          <p:cNvSpPr>
            <a:spLocks noGrp="1"/>
          </p:cNvSpPr>
          <p:nvPr>
            <p:ph sz="half" idx="14"/>
          </p:nvPr>
        </p:nvSpPr>
        <p:spPr>
          <a:xfrm>
            <a:off x="382683" y="554415"/>
            <a:ext cx="8614159" cy="4589084"/>
          </a:xfrm>
        </p:spPr>
        <p:txBody>
          <a:bodyPr vert="horz" lIns="91440" tIns="45720" rIns="91440" bIns="45720" rtlCol="0" anchor="t">
            <a:noAutofit/>
          </a:bodyPr>
          <a:lstStyle/>
          <a:p>
            <a:pPr marL="0" indent="0">
              <a:buNone/>
            </a:pPr>
            <a:r>
              <a:rPr lang="fr-CA" b="1" noProof="0">
                <a:solidFill>
                  <a:schemeClr val="dk1"/>
                </a:solidFill>
                <a:effectLst>
                  <a:outerShdw blurRad="38100" dist="38100" dir="2700000" algn="tl">
                    <a:srgbClr val="000000">
                      <a:alpha val="43137"/>
                    </a:srgbClr>
                  </a:outerShdw>
                </a:effectLst>
                <a:ea typeface="+mn-ea"/>
                <a:cs typeface="+mn-cs"/>
              </a:rPr>
              <a:t>Cet objectif comprend </a:t>
            </a:r>
          </a:p>
          <a:p>
            <a:pPr marL="266065" indent="-266065">
              <a:spcBef>
                <a:spcPts val="600"/>
              </a:spcBef>
              <a:buFont typeface="Wingdings" panose="05000000000000000000" pitchFamily="2" charset="2"/>
              <a:buChar char="§"/>
            </a:pPr>
            <a:r>
              <a:rPr lang="fr-CA" sz="1100" noProof="0">
                <a:solidFill>
                  <a:schemeClr val="dk1"/>
                </a:solidFill>
                <a:ea typeface="+mn-ea"/>
                <a:cs typeface="+mn-cs"/>
              </a:rPr>
              <a:t>Positionner KYRIBA comme nouvel hub de paiement </a:t>
            </a:r>
          </a:p>
          <a:p>
            <a:pPr marL="266065" indent="-266065">
              <a:spcBef>
                <a:spcPts val="600"/>
              </a:spcBef>
              <a:buFont typeface="Wingdings" panose="05000000000000000000" pitchFamily="2" charset="2"/>
              <a:buChar char="§"/>
            </a:pPr>
            <a:r>
              <a:rPr lang="fr-CA" sz="1100" noProof="0">
                <a:solidFill>
                  <a:schemeClr val="dk1"/>
                </a:solidFill>
                <a:ea typeface="+mn-ea"/>
                <a:cs typeface="+mn-cs"/>
              </a:rPr>
              <a:t>Statuer sur les positionnements bancaires requis au niveau TI</a:t>
            </a:r>
          </a:p>
          <a:p>
            <a:pPr marL="266065" indent="-266065">
              <a:spcBef>
                <a:spcPts val="600"/>
              </a:spcBef>
              <a:buFont typeface="Wingdings" panose="05000000000000000000" pitchFamily="2" charset="2"/>
              <a:buChar char="§"/>
            </a:pPr>
            <a:r>
              <a:rPr lang="fr-CA" sz="1100" noProof="0">
                <a:solidFill>
                  <a:schemeClr val="dk1"/>
                </a:solidFill>
                <a:ea typeface="+mn-ea"/>
                <a:cs typeface="+mn-cs"/>
              </a:rPr>
              <a:t>Préciser les besoins / exigences d’affaires et ajustements souhaités</a:t>
            </a:r>
          </a:p>
          <a:p>
            <a:pPr marL="266065" indent="-266065">
              <a:spcBef>
                <a:spcPts val="600"/>
              </a:spcBef>
              <a:buFont typeface="Wingdings" panose="05000000000000000000" pitchFamily="2" charset="2"/>
              <a:buChar char="§"/>
            </a:pPr>
            <a:r>
              <a:rPr lang="fr-CA" sz="1100" noProof="0">
                <a:solidFill>
                  <a:schemeClr val="dk1"/>
                </a:solidFill>
                <a:ea typeface="+mn-ea"/>
                <a:cs typeface="+mn-cs"/>
              </a:rPr>
              <a:t>Migrer les fonctionnalités TRAX dans le nouvel hub de paiement </a:t>
            </a:r>
          </a:p>
          <a:p>
            <a:pPr marL="266065" indent="-266065">
              <a:spcBef>
                <a:spcPts val="600"/>
              </a:spcBef>
              <a:buFont typeface="Wingdings" panose="05000000000000000000" pitchFamily="2" charset="2"/>
              <a:buChar char="§"/>
            </a:pPr>
            <a:r>
              <a:rPr lang="fr-CA" sz="1100" noProof="0">
                <a:solidFill>
                  <a:schemeClr val="dk1"/>
                </a:solidFill>
                <a:ea typeface="+mn-ea"/>
                <a:cs typeface="+mn-cs"/>
              </a:rPr>
              <a:t>Standardiser et automatiser les modes manuels de paiement/perception actuels</a:t>
            </a:r>
          </a:p>
          <a:p>
            <a:pPr marL="405352" lvl="1" indent="-266065">
              <a:spcBef>
                <a:spcPts val="600"/>
              </a:spcBef>
              <a:buFont typeface="Wingdings" panose="05000000000000000000" pitchFamily="2" charset="2"/>
              <a:buChar char="§"/>
            </a:pPr>
            <a:r>
              <a:rPr lang="fr-CA" sz="1050">
                <a:solidFill>
                  <a:schemeClr val="dk1"/>
                </a:solidFill>
                <a:ea typeface="+mn-ea"/>
                <a:cs typeface="+mn-cs"/>
              </a:rPr>
              <a:t>Outil de saisie commun (Kyriba)</a:t>
            </a:r>
          </a:p>
          <a:p>
            <a:pPr marL="405352" lvl="1" indent="-266065">
              <a:spcBef>
                <a:spcPts val="600"/>
              </a:spcBef>
              <a:buFont typeface="Wingdings" panose="05000000000000000000" pitchFamily="2" charset="2"/>
              <a:buChar char="§"/>
            </a:pPr>
            <a:r>
              <a:rPr lang="fr-CA" sz="1050" noProof="0">
                <a:solidFill>
                  <a:schemeClr val="dk1"/>
                </a:solidFill>
                <a:ea typeface="+mn-ea"/>
                <a:cs typeface="+mn-cs"/>
              </a:rPr>
              <a:t>Mise en place d’un Workflow d’approbation</a:t>
            </a:r>
          </a:p>
          <a:p>
            <a:pPr marL="405352" lvl="1" indent="-266065">
              <a:spcBef>
                <a:spcPts val="600"/>
              </a:spcBef>
              <a:buFont typeface="Wingdings" panose="05000000000000000000" pitchFamily="2" charset="2"/>
              <a:buChar char="§"/>
            </a:pPr>
            <a:r>
              <a:rPr lang="fr-CA" sz="1050">
                <a:solidFill>
                  <a:schemeClr val="dk1"/>
                </a:solidFill>
                <a:ea typeface="+mn-ea"/>
                <a:cs typeface="+mn-cs"/>
              </a:rPr>
              <a:t>Mise en place de validations de conformité</a:t>
            </a:r>
            <a:endParaRPr lang="fr-CA" sz="1050" noProof="0">
              <a:solidFill>
                <a:schemeClr val="dk1"/>
              </a:solidFill>
              <a:ea typeface="+mn-ea"/>
              <a:cs typeface="+mn-cs"/>
            </a:endParaRPr>
          </a:p>
          <a:p>
            <a:pPr marL="266065" indent="-266065">
              <a:spcBef>
                <a:spcPts val="600"/>
              </a:spcBef>
              <a:buFont typeface="Wingdings" panose="05000000000000000000" pitchFamily="2" charset="2"/>
              <a:buChar char="§"/>
            </a:pPr>
            <a:r>
              <a:rPr lang="fr-CA" sz="1100" noProof="0">
                <a:solidFill>
                  <a:schemeClr val="dk1"/>
                </a:solidFill>
                <a:ea typeface="+mn-ea"/>
                <a:cs typeface="+mn-cs"/>
              </a:rPr>
              <a:t>Mettre en place le module d’administration des comptes bancaires </a:t>
            </a:r>
          </a:p>
          <a:p>
            <a:pPr marL="266065" indent="-266065">
              <a:spcBef>
                <a:spcPts val="600"/>
              </a:spcBef>
              <a:buFont typeface="Wingdings" panose="05000000000000000000" pitchFamily="2" charset="2"/>
              <a:buChar char="§"/>
            </a:pPr>
            <a:r>
              <a:rPr lang="fr-CA" sz="1100">
                <a:solidFill>
                  <a:schemeClr val="dk1"/>
                </a:solidFill>
              </a:rPr>
              <a:t>Mettre en place le module d’analyse des frais bancaires</a:t>
            </a:r>
          </a:p>
          <a:p>
            <a:pPr marL="405352" lvl="1" indent="-266065">
              <a:spcBef>
                <a:spcPts val="600"/>
              </a:spcBef>
              <a:buFont typeface="Wingdings" panose="05000000000000000000" pitchFamily="2" charset="2"/>
              <a:buChar char="§"/>
            </a:pPr>
            <a:r>
              <a:rPr lang="fr-CA" sz="1100" noProof="0">
                <a:solidFill>
                  <a:schemeClr val="dk1"/>
                </a:solidFill>
                <a:ea typeface="+mn-ea"/>
                <a:cs typeface="+mn-cs"/>
              </a:rPr>
              <a:t>Définir les Services à traqué pour la comparaison facturé VS entente </a:t>
            </a:r>
            <a:r>
              <a:rPr lang="fr-CA" sz="1100">
                <a:solidFill>
                  <a:schemeClr val="dk1"/>
                </a:solidFill>
                <a:ea typeface="+mn-ea"/>
                <a:cs typeface="+mn-cs"/>
              </a:rPr>
              <a:t>&amp; Facturé aux partenaire VS tarifs corpo </a:t>
            </a:r>
            <a:endParaRPr lang="fr-CA" sz="1100" noProof="0">
              <a:solidFill>
                <a:schemeClr val="dk1"/>
              </a:solidFill>
              <a:ea typeface="+mn-ea"/>
              <a:cs typeface="+mn-cs"/>
            </a:endParaRPr>
          </a:p>
          <a:p>
            <a:pPr marL="266065" indent="-266065">
              <a:spcBef>
                <a:spcPts val="600"/>
              </a:spcBef>
              <a:buFont typeface="Wingdings" panose="05000000000000000000" pitchFamily="2" charset="2"/>
              <a:buChar char="§"/>
            </a:pPr>
            <a:r>
              <a:rPr lang="fr-CA" sz="1100" noProof="0">
                <a:solidFill>
                  <a:schemeClr val="dk1"/>
                </a:solidFill>
                <a:ea typeface="+mn-ea"/>
                <a:cs typeface="+mn-cs"/>
              </a:rPr>
              <a:t>Mettre en place le module de gestion des fraudes</a:t>
            </a:r>
          </a:p>
          <a:p>
            <a:pPr marL="266065" indent="-266065">
              <a:spcBef>
                <a:spcPts val="600"/>
              </a:spcBef>
              <a:buFont typeface="Wingdings" panose="05000000000000000000" pitchFamily="2" charset="2"/>
              <a:buChar char="§"/>
            </a:pPr>
            <a:r>
              <a:rPr lang="fr-CA" sz="1100" noProof="0">
                <a:solidFill>
                  <a:schemeClr val="dk1"/>
                </a:solidFill>
                <a:ea typeface="+mn-ea"/>
                <a:cs typeface="+mn-cs"/>
              </a:rPr>
              <a:t>Programme de formation et Support partenaires</a:t>
            </a:r>
          </a:p>
          <a:p>
            <a:pPr marL="266065" indent="-266065">
              <a:spcBef>
                <a:spcPts val="600"/>
              </a:spcBef>
              <a:buFont typeface="Wingdings" panose="05000000000000000000" pitchFamily="2" charset="2"/>
              <a:buChar char="§"/>
            </a:pPr>
            <a:r>
              <a:rPr lang="fr-CA" sz="1100" noProof="0">
                <a:solidFill>
                  <a:schemeClr val="dk1"/>
                </a:solidFill>
                <a:ea typeface="+mn-ea"/>
                <a:cs typeface="+mn-cs"/>
              </a:rPr>
              <a:t>S’assurer de la comptabilisation des transactions opérées par Kyriba</a:t>
            </a:r>
          </a:p>
          <a:p>
            <a:pPr marL="266065" indent="-266065">
              <a:spcBef>
                <a:spcPts val="600"/>
              </a:spcBef>
              <a:buFont typeface="Wingdings" panose="05000000000000000000" pitchFamily="2" charset="2"/>
              <a:buChar char="§"/>
            </a:pPr>
            <a:r>
              <a:rPr lang="fr-CA" sz="1100" noProof="0">
                <a:solidFill>
                  <a:schemeClr val="dk1"/>
                </a:solidFill>
                <a:ea typeface="+mn-ea"/>
                <a:cs typeface="+mn-cs"/>
              </a:rPr>
              <a:t>S’assurer de la conciliation bancaire des transactions opérées par Kyriba </a:t>
            </a:r>
            <a:r>
              <a:rPr lang="fr-CA" sz="1100" noProof="0">
                <a:solidFill>
                  <a:schemeClr val="dk1"/>
                </a:solidFill>
              </a:rPr>
              <a:t>tout en œuvrant pour éliminer les irritants actuels</a:t>
            </a:r>
          </a:p>
          <a:p>
            <a:pPr marL="266065" indent="-266065">
              <a:spcBef>
                <a:spcPts val="600"/>
              </a:spcBef>
              <a:buFont typeface="Wingdings" panose="05000000000000000000" pitchFamily="2" charset="2"/>
              <a:buChar char="§"/>
            </a:pPr>
            <a:r>
              <a:rPr lang="fr-CA" sz="1100" noProof="0">
                <a:solidFill>
                  <a:schemeClr val="dk1"/>
                </a:solidFill>
              </a:rPr>
              <a:t>S’assurer de la conciliation comptable des transactions opérées par Kyriba</a:t>
            </a:r>
          </a:p>
          <a:p>
            <a:pPr marL="266065" indent="-266065">
              <a:spcBef>
                <a:spcPts val="600"/>
              </a:spcBef>
              <a:buFont typeface="Wingdings" panose="05000000000000000000" pitchFamily="2" charset="2"/>
              <a:buChar char="§"/>
            </a:pPr>
            <a:r>
              <a:rPr lang="fr-CA" sz="1100" noProof="0">
                <a:solidFill>
                  <a:schemeClr val="dk1"/>
                </a:solidFill>
                <a:ea typeface="Calibri" panose="020F0502020204030204"/>
                <a:cs typeface="Calibri" panose="020F0502020204030204"/>
              </a:rPr>
              <a:t>Révision du plan comptable</a:t>
            </a:r>
          </a:p>
          <a:p>
            <a:pPr marL="266065" indent="-266065">
              <a:spcBef>
                <a:spcPts val="600"/>
              </a:spcBef>
              <a:buFont typeface="Wingdings" panose="05000000000000000000" pitchFamily="2" charset="2"/>
              <a:buChar char="§"/>
            </a:pPr>
            <a:r>
              <a:rPr lang="fr-CA" sz="1100" noProof="0">
                <a:solidFill>
                  <a:schemeClr val="dk1"/>
                </a:solidFill>
                <a:ea typeface="Calibri" panose="020F0502020204030204"/>
                <a:cs typeface="Calibri" panose="020F0502020204030204"/>
              </a:rPr>
              <a:t>Reconduire les fonctions actuelles en termes de gestion de coordonnées bancaires</a:t>
            </a:r>
          </a:p>
          <a:p>
            <a:pPr marL="266065" indent="-266065">
              <a:spcBef>
                <a:spcPts val="600"/>
              </a:spcBef>
              <a:buFont typeface="Wingdings" panose="05000000000000000000" pitchFamily="2" charset="2"/>
              <a:buChar char="§"/>
            </a:pPr>
            <a:r>
              <a:rPr lang="fr-CA" sz="1100" noProof="0">
                <a:solidFill>
                  <a:schemeClr val="dk1"/>
                </a:solidFill>
                <a:ea typeface="Calibri" panose="020F0502020204030204"/>
                <a:cs typeface="Calibri" panose="020F0502020204030204"/>
              </a:rPr>
              <a:t>Mettre en place les rapports et indicateurs de performances permettant, entre autres, le suivi et la consultation des statuts des transactions </a:t>
            </a:r>
          </a:p>
        </p:txBody>
      </p:sp>
      <p:sp>
        <p:nvSpPr>
          <p:cNvPr id="6" name="Rectangle 1">
            <a:extLst>
              <a:ext uri="{FF2B5EF4-FFF2-40B4-BE49-F238E27FC236}">
                <a16:creationId xmlns:a16="http://schemas.microsoft.com/office/drawing/2014/main" id="{36539A5D-A2A8-6B89-3373-E07C096F1ED8}"/>
              </a:ext>
            </a:extLst>
          </p:cNvPr>
          <p:cNvSpPr>
            <a:spLocks noChangeArrowheads="1"/>
          </p:cNvSpPr>
          <p:nvPr/>
        </p:nvSpPr>
        <p:spPr bwMode="auto">
          <a:xfrm>
            <a:off x="3344863" y="-5032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fr-CA"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endParaRPr kumimoji="0" lang="fr-CA" sz="1800" b="0" i="0" u="none" strike="noStrike" kern="1200" cap="none" spc="0" normalizeH="0" baseline="0" noProof="0">
              <a:ln>
                <a:noFill/>
              </a:ln>
              <a:solidFill>
                <a:srgbClr val="003DA5"/>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CA" sz="1800" b="0" i="0" u="none" strike="noStrike" kern="1200" cap="none" spc="0" normalizeH="0" baseline="0" noProof="0">
              <a:ln>
                <a:noFill/>
              </a:ln>
              <a:solidFill>
                <a:srgbClr val="003DA5"/>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893539935"/>
      </p:ext>
    </p:extLst>
  </p:cSld>
  <p:clrMapOvr>
    <a:masterClrMapping/>
  </p:clrMapOvr>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5721C-4108-AF24-12F3-A8BC90B4CD7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94CDEE0-D913-B2A5-046F-ACB1984F140A}"/>
              </a:ext>
            </a:extLst>
          </p:cNvPr>
          <p:cNvSpPr>
            <a:spLocks noGrp="1"/>
          </p:cNvSpPr>
          <p:nvPr>
            <p:ph type="title"/>
          </p:nvPr>
        </p:nvSpPr>
        <p:spPr>
          <a:xfrm>
            <a:off x="235527" y="1"/>
            <a:ext cx="8908473" cy="462974"/>
          </a:xfrm>
          <a:solidFill>
            <a:schemeClr val="tx1"/>
          </a:solidFill>
        </p:spPr>
        <p:txBody>
          <a:bodyPr vert="horz" lIns="91440" tIns="45720" rIns="91440" bIns="45720" rtlCol="0" anchor="ctr">
            <a:normAutofit/>
          </a:bodyPr>
          <a:lstStyle/>
          <a:p>
            <a:r>
              <a:rPr lang="fr-CA" sz="2400" b="1" noProof="0">
                <a:solidFill>
                  <a:schemeClr val="bg1"/>
                </a:solidFill>
              </a:rPr>
              <a:t>Définition de la portée – Objectif 1</a:t>
            </a:r>
          </a:p>
        </p:txBody>
      </p:sp>
      <p:sp>
        <p:nvSpPr>
          <p:cNvPr id="3" name="Espace réservé du contenu 2">
            <a:extLst>
              <a:ext uri="{FF2B5EF4-FFF2-40B4-BE49-F238E27FC236}">
                <a16:creationId xmlns:a16="http://schemas.microsoft.com/office/drawing/2014/main" id="{2625D249-C05A-ED68-91FC-6337541945E7}"/>
              </a:ext>
            </a:extLst>
          </p:cNvPr>
          <p:cNvSpPr>
            <a:spLocks noGrp="1"/>
          </p:cNvSpPr>
          <p:nvPr>
            <p:ph sz="half" idx="14"/>
          </p:nvPr>
        </p:nvSpPr>
        <p:spPr>
          <a:xfrm>
            <a:off x="382683" y="608661"/>
            <a:ext cx="8614159" cy="3225920"/>
          </a:xfrm>
        </p:spPr>
        <p:txBody>
          <a:bodyPr vert="horz" lIns="91440" tIns="45720" rIns="91440" bIns="45720" rtlCol="0" anchor="t">
            <a:noAutofit/>
          </a:bodyPr>
          <a:lstStyle/>
          <a:p>
            <a:pPr marL="0" indent="0">
              <a:buNone/>
            </a:pPr>
            <a:r>
              <a:rPr lang="fr-CA" b="1" noProof="0">
                <a:solidFill>
                  <a:schemeClr val="dk1"/>
                </a:solidFill>
                <a:effectLst>
                  <a:outerShdw blurRad="38100" dist="38100" dir="2700000" algn="tl">
                    <a:srgbClr val="000000">
                      <a:alpha val="43137"/>
                    </a:srgbClr>
                  </a:outerShdw>
                </a:effectLst>
                <a:ea typeface="+mn-ea"/>
                <a:cs typeface="+mn-cs"/>
              </a:rPr>
              <a:t>Out of scope </a:t>
            </a:r>
          </a:p>
          <a:p>
            <a:pPr marL="266065" indent="-266065">
              <a:spcBef>
                <a:spcPts val="600"/>
              </a:spcBef>
              <a:buFont typeface="Wingdings" panose="05000000000000000000" pitchFamily="2" charset="2"/>
              <a:buChar char="§"/>
            </a:pPr>
            <a:r>
              <a:rPr lang="fr-CA" sz="1100" noProof="0">
                <a:solidFill>
                  <a:schemeClr val="dk1"/>
                </a:solidFill>
                <a:ea typeface="Calibri" panose="020F0502020204030204"/>
                <a:cs typeface="Calibri" panose="020F0502020204030204"/>
              </a:rPr>
              <a:t>Les modes de paiements et perceptions qui ne sont pas actuellement dans Trax </a:t>
            </a:r>
          </a:p>
          <a:p>
            <a:pPr marL="405352" lvl="1" indent="-266065">
              <a:spcBef>
                <a:spcPts val="600"/>
              </a:spcBef>
              <a:buFont typeface="Wingdings" panose="05000000000000000000" pitchFamily="2" charset="2"/>
              <a:buChar char="v"/>
            </a:pPr>
            <a:r>
              <a:rPr lang="fr-CA" sz="1050">
                <a:solidFill>
                  <a:schemeClr val="dk1"/>
                </a:solidFill>
                <a:ea typeface="Calibri" panose="020F0502020204030204"/>
                <a:cs typeface="Calibri" panose="020F0502020204030204"/>
              </a:rPr>
              <a:t>Paiement internet</a:t>
            </a:r>
          </a:p>
          <a:p>
            <a:pPr marL="405352" lvl="1" indent="-266065">
              <a:spcBef>
                <a:spcPts val="600"/>
              </a:spcBef>
              <a:buFont typeface="Wingdings" panose="05000000000000000000" pitchFamily="2" charset="2"/>
              <a:buChar char="v"/>
            </a:pPr>
            <a:r>
              <a:rPr lang="fr-CA" sz="1050">
                <a:solidFill>
                  <a:schemeClr val="dk1"/>
                </a:solidFill>
                <a:ea typeface="Calibri" panose="020F0502020204030204"/>
                <a:cs typeface="Calibri" panose="020F0502020204030204"/>
              </a:rPr>
              <a:t>Carte crédit virtuel</a:t>
            </a:r>
          </a:p>
          <a:p>
            <a:pPr marL="405352" lvl="1" indent="-266065">
              <a:spcBef>
                <a:spcPts val="600"/>
              </a:spcBef>
              <a:buFont typeface="Wingdings" panose="05000000000000000000" pitchFamily="2" charset="2"/>
              <a:buChar char="v"/>
            </a:pPr>
            <a:r>
              <a:rPr lang="fr-CA" sz="1050">
                <a:solidFill>
                  <a:schemeClr val="dk1"/>
                </a:solidFill>
                <a:ea typeface="Calibri" panose="020F0502020204030204"/>
                <a:cs typeface="Calibri" panose="020F0502020204030204"/>
              </a:rPr>
              <a:t>Réception de chèques, de virement </a:t>
            </a:r>
          </a:p>
          <a:p>
            <a:pPr marL="405352" lvl="1" indent="-266065">
              <a:spcBef>
                <a:spcPts val="600"/>
              </a:spcBef>
              <a:buFont typeface="Wingdings" panose="05000000000000000000" pitchFamily="2" charset="2"/>
              <a:buChar char="v"/>
            </a:pPr>
            <a:r>
              <a:rPr lang="fr-CA" sz="1050">
                <a:solidFill>
                  <a:schemeClr val="dk1"/>
                </a:solidFill>
                <a:ea typeface="Calibri" panose="020F0502020204030204"/>
                <a:cs typeface="Calibri" panose="020F0502020204030204"/>
              </a:rPr>
              <a:t>…etc.</a:t>
            </a:r>
          </a:p>
          <a:p>
            <a:pPr marL="266065" indent="-266065">
              <a:spcBef>
                <a:spcPts val="600"/>
              </a:spcBef>
              <a:buFont typeface="Wingdings" panose="05000000000000000000" pitchFamily="2" charset="2"/>
              <a:buChar char="§"/>
            </a:pPr>
            <a:r>
              <a:rPr lang="fr-CA" sz="1100" noProof="0">
                <a:solidFill>
                  <a:schemeClr val="dk1"/>
                </a:solidFill>
                <a:ea typeface="Calibri" panose="020F0502020204030204"/>
                <a:cs typeface="Calibri" panose="020F0502020204030204"/>
              </a:rPr>
              <a:t>Les transactions de paiements exécutés actuellement par l’outil EB</a:t>
            </a:r>
          </a:p>
          <a:p>
            <a:pPr marL="266065" indent="-266065">
              <a:spcBef>
                <a:spcPts val="600"/>
              </a:spcBef>
              <a:buFont typeface="Wingdings" panose="05000000000000000000" pitchFamily="2" charset="2"/>
              <a:buChar char="§"/>
            </a:pPr>
            <a:r>
              <a:rPr lang="fr-CA" sz="1100" noProof="0">
                <a:solidFill>
                  <a:schemeClr val="dk1"/>
                </a:solidFill>
                <a:ea typeface="Calibri" panose="020F0502020204030204"/>
                <a:cs typeface="Calibri" panose="020F0502020204030204"/>
              </a:rPr>
              <a:t>L’approbation des données de paiement envoyé par les systèmes de mission</a:t>
            </a:r>
          </a:p>
          <a:p>
            <a:pPr marL="266065" indent="-266065">
              <a:spcBef>
                <a:spcPts val="600"/>
              </a:spcBef>
              <a:buFont typeface="Wingdings" panose="05000000000000000000" pitchFamily="2" charset="2"/>
              <a:buChar char="§"/>
            </a:pPr>
            <a:r>
              <a:rPr lang="fr-CA" sz="1100" noProof="0">
                <a:solidFill>
                  <a:schemeClr val="dk1"/>
                </a:solidFill>
                <a:ea typeface="Calibri" panose="020F0502020204030204"/>
                <a:cs typeface="Calibri" panose="020F0502020204030204"/>
              </a:rPr>
              <a:t>La gestion et la centralisation des informations des bénéficiaires</a:t>
            </a:r>
          </a:p>
        </p:txBody>
      </p:sp>
      <p:sp>
        <p:nvSpPr>
          <p:cNvPr id="6" name="Rectangle 1">
            <a:extLst>
              <a:ext uri="{FF2B5EF4-FFF2-40B4-BE49-F238E27FC236}">
                <a16:creationId xmlns:a16="http://schemas.microsoft.com/office/drawing/2014/main" id="{1AFC80EE-426A-691C-A254-935D4244A955}"/>
              </a:ext>
            </a:extLst>
          </p:cNvPr>
          <p:cNvSpPr>
            <a:spLocks noChangeArrowheads="1"/>
          </p:cNvSpPr>
          <p:nvPr/>
        </p:nvSpPr>
        <p:spPr bwMode="auto">
          <a:xfrm>
            <a:off x="3344863" y="-5032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fr-CA"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endParaRPr kumimoji="0" lang="fr-CA" sz="1800" b="0" i="0" u="none" strike="noStrike" kern="1200" cap="none" spc="0" normalizeH="0" baseline="0" noProof="0">
              <a:ln>
                <a:noFill/>
              </a:ln>
              <a:solidFill>
                <a:srgbClr val="003DA5"/>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CA" sz="1800" b="0" i="0" u="none" strike="noStrike" kern="1200" cap="none" spc="0" normalizeH="0" baseline="0" noProof="0">
              <a:ln>
                <a:noFill/>
              </a:ln>
              <a:solidFill>
                <a:srgbClr val="003DA5"/>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2151821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14294-D999-38E0-8A0D-D27D75942AC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D5E2B32-E1C0-9FFF-F53A-53314D65E97F}"/>
              </a:ext>
            </a:extLst>
          </p:cNvPr>
          <p:cNvSpPr>
            <a:spLocks noGrp="1"/>
          </p:cNvSpPr>
          <p:nvPr>
            <p:ph type="title"/>
          </p:nvPr>
        </p:nvSpPr>
        <p:spPr>
          <a:xfrm>
            <a:off x="235527" y="1"/>
            <a:ext cx="8908473" cy="462974"/>
          </a:xfrm>
          <a:solidFill>
            <a:schemeClr val="tx1"/>
          </a:solidFill>
        </p:spPr>
        <p:txBody>
          <a:bodyPr vert="horz" lIns="91440" tIns="45720" rIns="91440" bIns="45720" rtlCol="0" anchor="ctr">
            <a:normAutofit/>
          </a:bodyPr>
          <a:lstStyle/>
          <a:p>
            <a:r>
              <a:rPr lang="fr-CA" sz="2400" b="1" noProof="0">
                <a:solidFill>
                  <a:schemeClr val="bg1"/>
                </a:solidFill>
              </a:rPr>
              <a:t>Définition de la portée – Objectif 2</a:t>
            </a:r>
          </a:p>
        </p:txBody>
      </p:sp>
      <p:sp>
        <p:nvSpPr>
          <p:cNvPr id="3" name="Espace réservé du contenu 2">
            <a:extLst>
              <a:ext uri="{FF2B5EF4-FFF2-40B4-BE49-F238E27FC236}">
                <a16:creationId xmlns:a16="http://schemas.microsoft.com/office/drawing/2014/main" id="{06BBEAC0-C4D1-07D6-390D-B06B41971682}"/>
              </a:ext>
            </a:extLst>
          </p:cNvPr>
          <p:cNvSpPr>
            <a:spLocks noGrp="1"/>
          </p:cNvSpPr>
          <p:nvPr>
            <p:ph sz="half" idx="14"/>
          </p:nvPr>
        </p:nvSpPr>
        <p:spPr>
          <a:xfrm>
            <a:off x="421353" y="554414"/>
            <a:ext cx="8778065" cy="4294209"/>
          </a:xfrm>
        </p:spPr>
        <p:txBody>
          <a:bodyPr vert="horz" lIns="91440" tIns="45720" rIns="91440" bIns="45720" rtlCol="0" anchor="t">
            <a:noAutofit/>
          </a:bodyPr>
          <a:lstStyle/>
          <a:p>
            <a:pPr marL="0" indent="0">
              <a:buNone/>
            </a:pPr>
            <a:r>
              <a:rPr lang="fr-CA" b="1" noProof="0">
                <a:solidFill>
                  <a:schemeClr val="dk1"/>
                </a:solidFill>
                <a:effectLst>
                  <a:outerShdw blurRad="38100" dist="38100" dir="2700000" algn="tl">
                    <a:srgbClr val="000000">
                      <a:alpha val="43137"/>
                    </a:srgbClr>
                  </a:outerShdw>
                </a:effectLst>
                <a:ea typeface="+mn-ea"/>
                <a:cs typeface="+mn-cs"/>
              </a:rPr>
              <a:t>Cet objectif comprend </a:t>
            </a:r>
          </a:p>
          <a:p>
            <a:pPr marL="266065" indent="-266065">
              <a:spcBef>
                <a:spcPts val="600"/>
              </a:spcBef>
              <a:buFont typeface="Wingdings" panose="05000000000000000000" pitchFamily="2" charset="2"/>
              <a:buChar char="§"/>
            </a:pPr>
            <a:r>
              <a:rPr lang="fr-CA" sz="1200" noProof="0">
                <a:solidFill>
                  <a:schemeClr val="dk1"/>
                </a:solidFill>
                <a:ea typeface="+mn-ea"/>
                <a:cs typeface="+mn-cs"/>
              </a:rPr>
              <a:t>Dresser la liste de tous les processus du CSP bancaire </a:t>
            </a:r>
          </a:p>
          <a:p>
            <a:pPr marL="266065" indent="-266065">
              <a:spcBef>
                <a:spcPts val="600"/>
              </a:spcBef>
              <a:buFont typeface="Wingdings" panose="05000000000000000000" pitchFamily="2" charset="2"/>
              <a:buChar char="§"/>
            </a:pPr>
            <a:r>
              <a:rPr lang="fr-CA" sz="1200" noProof="0">
                <a:solidFill>
                  <a:schemeClr val="dk1"/>
                </a:solidFill>
                <a:ea typeface="+mn-ea"/>
                <a:cs typeface="+mn-cs"/>
              </a:rPr>
              <a:t>Analyser les processus d’affaires existants ( manuels ou automatisés) à des fins de standardisation et simplification</a:t>
            </a:r>
          </a:p>
          <a:p>
            <a:pPr marL="266065" indent="-266065">
              <a:spcBef>
                <a:spcPts val="600"/>
              </a:spcBef>
              <a:buFont typeface="Wingdings" panose="05000000000000000000" pitchFamily="2" charset="2"/>
              <a:buChar char="§"/>
            </a:pPr>
            <a:r>
              <a:rPr lang="fr-CA" sz="1200" noProof="0">
                <a:solidFill>
                  <a:schemeClr val="dk1"/>
                </a:solidFill>
                <a:ea typeface="+mn-ea"/>
                <a:cs typeface="+mn-cs"/>
              </a:rPr>
              <a:t>Optimiser, standardiser et adapter à la cible phase 2, les processus existants</a:t>
            </a:r>
          </a:p>
          <a:p>
            <a:pPr marL="266065" indent="-266065">
              <a:spcBef>
                <a:spcPts val="600"/>
              </a:spcBef>
              <a:buFont typeface="Wingdings" panose="05000000000000000000" pitchFamily="2" charset="2"/>
              <a:buChar char="§"/>
            </a:pPr>
            <a:r>
              <a:rPr lang="fr-CA" sz="1200" noProof="0">
                <a:solidFill>
                  <a:schemeClr val="dk1"/>
                </a:solidFill>
                <a:ea typeface="+mn-ea"/>
                <a:cs typeface="+mn-cs"/>
              </a:rPr>
              <a:t>Cartographier les processus d'affaires non-cartographiés  </a:t>
            </a:r>
          </a:p>
          <a:p>
            <a:pPr marL="266065" indent="-266065">
              <a:spcBef>
                <a:spcPts val="600"/>
              </a:spcBef>
              <a:buFont typeface="Wingdings" panose="05000000000000000000" pitchFamily="2" charset="2"/>
              <a:buChar char="§"/>
            </a:pPr>
            <a:r>
              <a:rPr lang="fr-CA" sz="1200" noProof="0">
                <a:solidFill>
                  <a:schemeClr val="dk1"/>
                </a:solidFill>
              </a:rPr>
              <a:t>Cartographier les nouveaux processus d'affaires</a:t>
            </a:r>
            <a:endParaRPr lang="fr-CA" sz="1200" noProof="0">
              <a:solidFill>
                <a:schemeClr val="dk1"/>
              </a:solidFill>
              <a:ea typeface="+mn-ea"/>
              <a:cs typeface="+mn-cs"/>
            </a:endParaRPr>
          </a:p>
          <a:p>
            <a:pPr marL="266065" indent="-266065">
              <a:spcBef>
                <a:spcPts val="600"/>
              </a:spcBef>
              <a:buFont typeface="Wingdings" panose="05000000000000000000" pitchFamily="2" charset="2"/>
              <a:buChar char="§"/>
            </a:pPr>
            <a:r>
              <a:rPr lang="fr-CA" sz="1200" noProof="0">
                <a:solidFill>
                  <a:schemeClr val="dk1"/>
                </a:solidFill>
                <a:ea typeface="+mn-ea"/>
                <a:cs typeface="+mn-cs"/>
              </a:rPr>
              <a:t>Diffusion des processus d’affaires</a:t>
            </a:r>
          </a:p>
          <a:p>
            <a:pPr marL="0" indent="0">
              <a:spcBef>
                <a:spcPts val="600"/>
              </a:spcBef>
              <a:buNone/>
            </a:pPr>
            <a:endParaRPr lang="fr-CA" sz="1200" noProof="0">
              <a:solidFill>
                <a:schemeClr val="dk1"/>
              </a:solidFill>
              <a:ea typeface="+mn-ea"/>
              <a:cs typeface="+mn-cs"/>
            </a:endParaRPr>
          </a:p>
          <a:p>
            <a:pPr marL="0" indent="0">
              <a:buNone/>
            </a:pPr>
            <a:r>
              <a:rPr lang="fr-CA" b="1" noProof="0">
                <a:solidFill>
                  <a:schemeClr val="dk1"/>
                </a:solidFill>
                <a:effectLst>
                  <a:outerShdw blurRad="38100" dist="38100" dir="2700000" algn="tl">
                    <a:srgbClr val="000000">
                      <a:alpha val="43137"/>
                    </a:srgbClr>
                  </a:outerShdw>
                </a:effectLst>
                <a:ea typeface="+mn-ea"/>
                <a:cs typeface="+mn-cs"/>
              </a:rPr>
              <a:t>Out of scope </a:t>
            </a:r>
          </a:p>
          <a:p>
            <a:pPr marL="266065" indent="-266065">
              <a:spcBef>
                <a:spcPts val="600"/>
              </a:spcBef>
              <a:buFont typeface="Wingdings" panose="05000000000000000000" pitchFamily="2" charset="2"/>
              <a:buChar char="§"/>
            </a:pPr>
            <a:r>
              <a:rPr lang="fr-CA" sz="1200" noProof="0">
                <a:solidFill>
                  <a:schemeClr val="dk1"/>
                </a:solidFill>
                <a:ea typeface="Calibri" panose="020F0502020204030204"/>
                <a:cs typeface="Calibri" panose="020F0502020204030204"/>
              </a:rPr>
              <a:t>Les Processus non impacté</a:t>
            </a:r>
            <a:r>
              <a:rPr lang="fr-CA" sz="1200">
                <a:solidFill>
                  <a:schemeClr val="dk1"/>
                </a:solidFill>
                <a:ea typeface="Calibri" panose="020F0502020204030204"/>
                <a:cs typeface="Calibri" panose="020F0502020204030204"/>
              </a:rPr>
              <a:t>s</a:t>
            </a:r>
            <a:r>
              <a:rPr lang="fr-CA" sz="1200" noProof="0">
                <a:solidFill>
                  <a:schemeClr val="dk1"/>
                </a:solidFill>
                <a:ea typeface="Calibri" panose="020F0502020204030204"/>
                <a:cs typeface="Calibri" panose="020F0502020204030204"/>
              </a:rPr>
              <a:t> par l’objectif 1 (exemple le mode paiement out of scope)</a:t>
            </a:r>
          </a:p>
          <a:p>
            <a:pPr marL="266065" indent="-266065">
              <a:spcBef>
                <a:spcPts val="600"/>
              </a:spcBef>
              <a:buFont typeface="Wingdings" panose="05000000000000000000" pitchFamily="2" charset="2"/>
              <a:buChar char="§"/>
            </a:pPr>
            <a:endParaRPr lang="fr-CA" sz="1200" noProof="0">
              <a:solidFill>
                <a:schemeClr val="dk1"/>
              </a:solidFill>
              <a:ea typeface="Calibri" panose="020F0502020204030204"/>
              <a:cs typeface="Calibri" panose="020F0502020204030204"/>
            </a:endParaRPr>
          </a:p>
        </p:txBody>
      </p:sp>
      <p:sp>
        <p:nvSpPr>
          <p:cNvPr id="6" name="Rectangle 1">
            <a:extLst>
              <a:ext uri="{FF2B5EF4-FFF2-40B4-BE49-F238E27FC236}">
                <a16:creationId xmlns:a16="http://schemas.microsoft.com/office/drawing/2014/main" id="{22141CF6-A335-5ABE-7018-0D3F464C95EE}"/>
              </a:ext>
            </a:extLst>
          </p:cNvPr>
          <p:cNvSpPr>
            <a:spLocks noChangeArrowheads="1"/>
          </p:cNvSpPr>
          <p:nvPr/>
        </p:nvSpPr>
        <p:spPr bwMode="auto">
          <a:xfrm>
            <a:off x="3344863" y="-5032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fr-CA"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endParaRPr kumimoji="0" lang="fr-CA" sz="1800" b="0" i="0" u="none" strike="noStrike" kern="1200" cap="none" spc="0" normalizeH="0" baseline="0" noProof="0">
              <a:ln>
                <a:noFill/>
              </a:ln>
              <a:solidFill>
                <a:srgbClr val="003DA5"/>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CA" sz="1800" b="0" i="0" u="none" strike="noStrike" kern="1200" cap="none" spc="0" normalizeH="0" baseline="0" noProof="0">
              <a:ln>
                <a:noFill/>
              </a:ln>
              <a:solidFill>
                <a:srgbClr val="003DA5"/>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755034935"/>
      </p:ext>
    </p:extLst>
  </p:cSld>
  <p:clrMapOvr>
    <a:masterClrMapping/>
  </p:clrMapOvr>
  <p:extLst>
    <p:ext uri="{6950BFC3-D8DA-4A85-94F7-54DA5524770B}">
      <p188:commentRel xmlns:p188="http://schemas.microsoft.com/office/powerpoint/2018/8/main" r:id="rId2"/>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44851-5B69-C7C5-CAAA-E4582D73416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E4C448D-4657-6BB3-E6F1-BE92F6CC3D81}"/>
              </a:ext>
            </a:extLst>
          </p:cNvPr>
          <p:cNvSpPr>
            <a:spLocks noGrp="1"/>
          </p:cNvSpPr>
          <p:nvPr>
            <p:ph type="title"/>
          </p:nvPr>
        </p:nvSpPr>
        <p:spPr>
          <a:xfrm>
            <a:off x="210675" y="0"/>
            <a:ext cx="8908473" cy="462974"/>
          </a:xfrm>
          <a:solidFill>
            <a:schemeClr val="tx1"/>
          </a:solidFill>
        </p:spPr>
        <p:txBody>
          <a:bodyPr vert="horz" lIns="91440" tIns="45720" rIns="91440" bIns="45720" rtlCol="0" anchor="ctr">
            <a:normAutofit/>
          </a:bodyPr>
          <a:lstStyle/>
          <a:p>
            <a:r>
              <a:rPr lang="fr-CA" sz="2400" b="1" noProof="0">
                <a:solidFill>
                  <a:schemeClr val="bg1"/>
                </a:solidFill>
              </a:rPr>
              <a:t>Définition de la portée – Objectif 2</a:t>
            </a:r>
          </a:p>
        </p:txBody>
      </p:sp>
      <p:pic>
        <p:nvPicPr>
          <p:cNvPr id="6" name="Graphique 5" descr="Avertissement avec un remplissage uni">
            <a:extLst>
              <a:ext uri="{FF2B5EF4-FFF2-40B4-BE49-F238E27FC236}">
                <a16:creationId xmlns:a16="http://schemas.microsoft.com/office/drawing/2014/main" id="{18D742E3-4C39-ECF8-943F-8299111CA39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97711" y="2263841"/>
            <a:ext cx="332509" cy="332509"/>
          </a:xfrm>
          <a:prstGeom prst="rect">
            <a:avLst/>
          </a:prstGeom>
        </p:spPr>
      </p:pic>
      <p:sp>
        <p:nvSpPr>
          <p:cNvPr id="7" name="ZoneTexte 6">
            <a:extLst>
              <a:ext uri="{FF2B5EF4-FFF2-40B4-BE49-F238E27FC236}">
                <a16:creationId xmlns:a16="http://schemas.microsoft.com/office/drawing/2014/main" id="{0426E2D0-76F0-4449-C490-795F4133C3FF}"/>
              </a:ext>
            </a:extLst>
          </p:cNvPr>
          <p:cNvSpPr txBox="1"/>
          <p:nvPr/>
        </p:nvSpPr>
        <p:spPr>
          <a:xfrm>
            <a:off x="730220" y="2300434"/>
            <a:ext cx="8077200" cy="307777"/>
          </a:xfrm>
          <a:prstGeom prst="rect">
            <a:avLst/>
          </a:prstGeom>
          <a:noFill/>
        </p:spPr>
        <p:txBody>
          <a:bodyPr wrap="square" rtlCol="0">
            <a:spAutoFit/>
          </a:bodyPr>
          <a:lstStyle/>
          <a:p>
            <a:pPr marL="0" marR="0" lvl="0" indent="0" algn="l" defTabSz="914286" rtl="0" eaLnBrk="1" fontAlgn="auto" latinLnBrk="0" hangingPunct="1">
              <a:lnSpc>
                <a:spcPct val="100000"/>
              </a:lnSpc>
              <a:spcBef>
                <a:spcPts val="0"/>
              </a:spcBef>
              <a:spcAft>
                <a:spcPts val="0"/>
              </a:spcAft>
              <a:buClrTx/>
              <a:buSzTx/>
              <a:buFontTx/>
              <a:buNone/>
              <a:tabLst/>
              <a:defRPr/>
            </a:pPr>
            <a:r>
              <a:rPr kumimoji="0" lang="fr-CA" sz="1400" b="0" i="0" u="none" strike="noStrike" kern="1200" cap="none" spc="0" normalizeH="0" baseline="0" noProof="0">
                <a:ln>
                  <a:noFill/>
                </a:ln>
                <a:solidFill>
                  <a:srgbClr val="FFC000"/>
                </a:solidFill>
                <a:effectLst>
                  <a:outerShdw blurRad="38100" dist="38100" dir="2700000" algn="tl">
                    <a:srgbClr val="000000">
                      <a:alpha val="43137"/>
                    </a:srgbClr>
                  </a:outerShdw>
                </a:effectLst>
                <a:uLnTx/>
                <a:uFillTx/>
                <a:latin typeface="Calibri" panose="020F0502020204030204"/>
                <a:ea typeface="+mn-ea"/>
                <a:cs typeface="+mn-cs"/>
              </a:rPr>
              <a:t>Prérequis :  Mise en place d’une gestion des taux d’intérêts (Funds transfert Pricing)</a:t>
            </a:r>
          </a:p>
        </p:txBody>
      </p:sp>
      <p:graphicFrame>
        <p:nvGraphicFramePr>
          <p:cNvPr id="3" name="Tableau 2">
            <a:extLst>
              <a:ext uri="{FF2B5EF4-FFF2-40B4-BE49-F238E27FC236}">
                <a16:creationId xmlns:a16="http://schemas.microsoft.com/office/drawing/2014/main" id="{7D9196EB-01F2-D748-86A9-55A77F6165AF}"/>
              </a:ext>
            </a:extLst>
          </p:cNvPr>
          <p:cNvGraphicFramePr>
            <a:graphicFrameLocks noGrp="1"/>
          </p:cNvGraphicFramePr>
          <p:nvPr>
            <p:extLst>
              <p:ext uri="{D42A27DB-BD31-4B8C-83A1-F6EECF244321}">
                <p14:modId xmlns:p14="http://schemas.microsoft.com/office/powerpoint/2010/main" val="1623849195"/>
              </p:ext>
            </p:extLst>
          </p:nvPr>
        </p:nvGraphicFramePr>
        <p:xfrm>
          <a:off x="336580" y="1101452"/>
          <a:ext cx="8592267" cy="3686941"/>
        </p:xfrm>
        <a:graphic>
          <a:graphicData uri="http://schemas.openxmlformats.org/drawingml/2006/table">
            <a:tbl>
              <a:tblPr firstRow="1" bandRow="1">
                <a:tableStyleId>{5C22544A-7EE6-4342-B048-85BDC9FD1C3A}</a:tableStyleId>
              </a:tblPr>
              <a:tblGrid>
                <a:gridCol w="1521005">
                  <a:extLst>
                    <a:ext uri="{9D8B030D-6E8A-4147-A177-3AD203B41FA5}">
                      <a16:colId xmlns:a16="http://schemas.microsoft.com/office/drawing/2014/main" val="2375906956"/>
                    </a:ext>
                  </a:extLst>
                </a:gridCol>
                <a:gridCol w="2875780">
                  <a:extLst>
                    <a:ext uri="{9D8B030D-6E8A-4147-A177-3AD203B41FA5}">
                      <a16:colId xmlns:a16="http://schemas.microsoft.com/office/drawing/2014/main" val="3161937322"/>
                    </a:ext>
                  </a:extLst>
                </a:gridCol>
                <a:gridCol w="2950669">
                  <a:extLst>
                    <a:ext uri="{9D8B030D-6E8A-4147-A177-3AD203B41FA5}">
                      <a16:colId xmlns:a16="http://schemas.microsoft.com/office/drawing/2014/main" val="3229427417"/>
                    </a:ext>
                  </a:extLst>
                </a:gridCol>
                <a:gridCol w="1244813">
                  <a:extLst>
                    <a:ext uri="{9D8B030D-6E8A-4147-A177-3AD203B41FA5}">
                      <a16:colId xmlns:a16="http://schemas.microsoft.com/office/drawing/2014/main" val="1163651350"/>
                    </a:ext>
                  </a:extLst>
                </a:gridCol>
              </a:tblGrid>
              <a:tr h="412766">
                <a:tc>
                  <a:txBody>
                    <a:bodyPr/>
                    <a:lstStyle/>
                    <a:p>
                      <a:pPr algn="ctr"/>
                      <a:r>
                        <a:rPr lang="fr-CA" sz="1100" noProof="0">
                          <a:solidFill>
                            <a:srgbClr val="262626"/>
                          </a:solidFill>
                        </a:rPr>
                        <a:t>Processus N1</a:t>
                      </a:r>
                    </a:p>
                  </a:txBody>
                  <a:tcPr anchor="ctr"/>
                </a:tc>
                <a:tc>
                  <a:txBody>
                    <a:bodyPr/>
                    <a:lstStyle/>
                    <a:p>
                      <a:pPr algn="ctr"/>
                      <a:r>
                        <a:rPr lang="fr-CA" sz="1100" noProof="0">
                          <a:solidFill>
                            <a:srgbClr val="262626"/>
                          </a:solidFill>
                        </a:rPr>
                        <a:t>Processus N2</a:t>
                      </a:r>
                    </a:p>
                  </a:txBody>
                  <a:tcPr anchor="ctr"/>
                </a:tc>
                <a:tc>
                  <a:txBody>
                    <a:bodyPr/>
                    <a:lstStyle/>
                    <a:p>
                      <a:pPr algn="ctr"/>
                      <a:r>
                        <a:rPr lang="fr-CA" sz="1100" noProof="0">
                          <a:solidFill>
                            <a:srgbClr val="262626"/>
                          </a:solidFill>
                        </a:rPr>
                        <a:t>Processus N3</a:t>
                      </a:r>
                    </a:p>
                  </a:txBody>
                  <a:tcPr anchor="ctr"/>
                </a:tc>
                <a:tc>
                  <a:txBody>
                    <a:bodyPr/>
                    <a:lstStyle/>
                    <a:p>
                      <a:pPr algn="ctr"/>
                      <a:r>
                        <a:rPr lang="fr-CA" sz="1100" noProof="0">
                          <a:solidFill>
                            <a:srgbClr val="262626"/>
                          </a:solidFill>
                        </a:rPr>
                        <a:t>Nouveau processus</a:t>
                      </a:r>
                    </a:p>
                  </a:txBody>
                  <a:tcPr anchor="ctr"/>
                </a:tc>
                <a:extLst>
                  <a:ext uri="{0D108BD9-81ED-4DB2-BD59-A6C34878D82A}">
                    <a16:rowId xmlns:a16="http://schemas.microsoft.com/office/drawing/2014/main" val="774515336"/>
                  </a:ext>
                </a:extLst>
              </a:tr>
              <a:tr h="244187">
                <a:tc rowSpan="12">
                  <a:txBody>
                    <a:bodyPr/>
                    <a:lstStyle/>
                    <a:p>
                      <a:pPr marL="0" algn="ctr" defTabSz="914400" rtl="0" eaLnBrk="1" fontAlgn="base" latinLnBrk="0" hangingPunct="1">
                        <a:lnSpc>
                          <a:spcPts val="1200"/>
                        </a:lnSpc>
                        <a:buNone/>
                      </a:pPr>
                      <a:r>
                        <a:rPr lang="fr-CA" sz="1050" b="1" i="0" u="none" strike="noStrike" kern="1200" noProof="0">
                          <a:solidFill>
                            <a:srgbClr val="000000"/>
                          </a:solidFill>
                          <a:effectLst/>
                          <a:latin typeface="Calibri" panose="020F0502020204030204" pitchFamily="34" charset="0"/>
                          <a:ea typeface="+mn-ea"/>
                          <a:cs typeface="+mn-cs"/>
                        </a:rPr>
                        <a:t>Administration et structure des comptes de banque</a:t>
                      </a:r>
                    </a:p>
                  </a:txBody>
                  <a:tcPr anchor="ctr"/>
                </a:tc>
                <a:tc rowSpan="7">
                  <a:txBody>
                    <a:bodyPr/>
                    <a:lstStyle/>
                    <a:p>
                      <a:pPr algn="l" rtl="0" fontAlgn="base">
                        <a:lnSpc>
                          <a:spcPts val="1200"/>
                        </a:lnSpc>
                        <a:buNone/>
                      </a:pPr>
                      <a:r>
                        <a:rPr lang="fr-CA" sz="1050" b="0" i="0" u="none" strike="noStrike" kern="1200" noProof="0">
                          <a:solidFill>
                            <a:srgbClr val="262626"/>
                          </a:solidFill>
                          <a:effectLst/>
                          <a:latin typeface="Calibri" panose="020F0502020204030204" pitchFamily="34" charset="0"/>
                          <a:ea typeface="+mn-ea"/>
                          <a:cs typeface="+mn-cs"/>
                        </a:rPr>
                        <a:t>Administrer la structure bancaire</a:t>
                      </a:r>
                    </a:p>
                  </a:txBody>
                  <a:tcPr anchor="ctr"/>
                </a:tc>
                <a:tc>
                  <a:txBody>
                    <a:bodyPr/>
                    <a:lstStyle/>
                    <a:p>
                      <a:pPr marL="92075" indent="0" algn="l" defTabSz="914400" rtl="0" eaLnBrk="1" fontAlgn="ctr" latinLnBrk="0" hangingPunct="1"/>
                      <a:r>
                        <a:rPr lang="fr-CA" sz="900" kern="1200" noProof="0">
                          <a:solidFill>
                            <a:srgbClr val="262626"/>
                          </a:solidFill>
                          <a:latin typeface="+mn-lt"/>
                          <a:ea typeface="+mn-ea"/>
                          <a:cs typeface="+mn-cs"/>
                        </a:rPr>
                        <a:t>Gérer les ouvertures de comptes de banque</a:t>
                      </a:r>
                    </a:p>
                  </a:txBody>
                  <a:tcPr marL="0" marR="0" marT="0" marB="0" anchor="ctr"/>
                </a:tc>
                <a:tc>
                  <a:txBody>
                    <a:bodyPr/>
                    <a:lstStyle/>
                    <a:p>
                      <a:pPr algn="l"/>
                      <a:endParaRPr lang="fr-CA" sz="900" noProof="0">
                        <a:solidFill>
                          <a:srgbClr val="262626"/>
                        </a:solidFill>
                      </a:endParaRPr>
                    </a:p>
                  </a:txBody>
                  <a:tcPr/>
                </a:tc>
                <a:extLst>
                  <a:ext uri="{0D108BD9-81ED-4DB2-BD59-A6C34878D82A}">
                    <a16:rowId xmlns:a16="http://schemas.microsoft.com/office/drawing/2014/main" val="2566760826"/>
                  </a:ext>
                </a:extLst>
              </a:tr>
              <a:tr h="235866">
                <a:tc vMerge="1">
                  <a:txBody>
                    <a:bodyPr/>
                    <a:lstStyle/>
                    <a:p>
                      <a:endParaRPr lang="fr-CA"/>
                    </a:p>
                  </a:txBody>
                  <a:tcPr/>
                </a:tc>
                <a:tc vMerge="1">
                  <a:txBody>
                    <a:bodyPr/>
                    <a:lstStyle/>
                    <a:p>
                      <a:pPr algn="l" rtl="0" fontAlgn="base">
                        <a:lnSpc>
                          <a:spcPts val="1200"/>
                        </a:lnSpc>
                        <a:buNone/>
                      </a:pPr>
                      <a:endParaRPr lang="fr-FR" sz="1050" b="0" i="0">
                        <a:solidFill>
                          <a:srgbClr val="262626"/>
                        </a:solidFill>
                        <a:effectLst/>
                      </a:endParaRPr>
                    </a:p>
                  </a:txBody>
                  <a:tcPr/>
                </a:tc>
                <a:tc>
                  <a:txBody>
                    <a:bodyPr/>
                    <a:lstStyle/>
                    <a:p>
                      <a:pPr marL="92075" indent="0" algn="l" defTabSz="914400" rtl="0" eaLnBrk="1" fontAlgn="ctr" latinLnBrk="0" hangingPunct="1"/>
                      <a:r>
                        <a:rPr lang="fr-CA" sz="900" kern="1200" noProof="0">
                          <a:solidFill>
                            <a:srgbClr val="262626"/>
                          </a:solidFill>
                          <a:latin typeface="+mn-lt"/>
                          <a:ea typeface="+mn-ea"/>
                          <a:cs typeface="+mn-cs"/>
                        </a:rPr>
                        <a:t>Gérer les fermetures de comptes de banque</a:t>
                      </a:r>
                    </a:p>
                  </a:txBody>
                  <a:tcPr marL="0" marR="0" marT="0" marB="0" anchor="ctr"/>
                </a:tc>
                <a:tc>
                  <a:txBody>
                    <a:bodyPr/>
                    <a:lstStyle/>
                    <a:p>
                      <a:pPr algn="l"/>
                      <a:endParaRPr lang="fr-CA" sz="900" noProof="0">
                        <a:solidFill>
                          <a:srgbClr val="262626"/>
                        </a:solidFill>
                      </a:endParaRPr>
                    </a:p>
                  </a:txBody>
                  <a:tcPr/>
                </a:tc>
                <a:extLst>
                  <a:ext uri="{0D108BD9-81ED-4DB2-BD59-A6C34878D82A}">
                    <a16:rowId xmlns:a16="http://schemas.microsoft.com/office/drawing/2014/main" val="1339272907"/>
                  </a:ext>
                </a:extLst>
              </a:tr>
              <a:tr h="235866">
                <a:tc vMerge="1">
                  <a:txBody>
                    <a:bodyPr/>
                    <a:lstStyle/>
                    <a:p>
                      <a:endParaRPr lang="fr-CA"/>
                    </a:p>
                  </a:txBody>
                  <a:tcPr/>
                </a:tc>
                <a:tc vMerge="1">
                  <a:txBody>
                    <a:bodyPr/>
                    <a:lstStyle/>
                    <a:p>
                      <a:pPr algn="l" rtl="0" fontAlgn="base">
                        <a:lnSpc>
                          <a:spcPts val="1200"/>
                        </a:lnSpc>
                        <a:buNone/>
                      </a:pPr>
                      <a:endParaRPr lang="fr-FR" sz="1050" b="0" i="0">
                        <a:solidFill>
                          <a:srgbClr val="262626"/>
                        </a:solidFill>
                        <a:effectLst/>
                      </a:endParaRPr>
                    </a:p>
                  </a:txBody>
                  <a:tcPr/>
                </a:tc>
                <a:tc>
                  <a:txBody>
                    <a:bodyPr/>
                    <a:lstStyle/>
                    <a:p>
                      <a:pPr marL="92075" indent="0" algn="l" defTabSz="914400" rtl="0" eaLnBrk="1" fontAlgn="b" latinLnBrk="0" hangingPunct="1"/>
                      <a:r>
                        <a:rPr lang="fr-CA" sz="900" kern="1200" noProof="0">
                          <a:solidFill>
                            <a:srgbClr val="262626"/>
                          </a:solidFill>
                          <a:latin typeface="+mn-lt"/>
                          <a:ea typeface="+mn-ea"/>
                          <a:cs typeface="+mn-cs"/>
                        </a:rPr>
                        <a:t>Maintenir la liste des comptes de banques</a:t>
                      </a:r>
                    </a:p>
                  </a:txBody>
                  <a:tcPr marL="0" marR="0" marT="0" marB="0" anchor="ctr"/>
                </a:tc>
                <a:tc>
                  <a:txBody>
                    <a:bodyPr/>
                    <a:lstStyle/>
                    <a:p>
                      <a:pPr algn="l"/>
                      <a:endParaRPr lang="fr-CA" sz="900" noProof="0">
                        <a:solidFill>
                          <a:srgbClr val="262626"/>
                        </a:solidFill>
                      </a:endParaRPr>
                    </a:p>
                  </a:txBody>
                  <a:tcPr/>
                </a:tc>
                <a:extLst>
                  <a:ext uri="{0D108BD9-81ED-4DB2-BD59-A6C34878D82A}">
                    <a16:rowId xmlns:a16="http://schemas.microsoft.com/office/drawing/2014/main" val="1647929888"/>
                  </a:ext>
                </a:extLst>
              </a:tr>
              <a:tr h="235866">
                <a:tc vMerge="1">
                  <a:txBody>
                    <a:bodyPr/>
                    <a:lstStyle/>
                    <a:p>
                      <a:endParaRPr lang="fr-CA"/>
                    </a:p>
                  </a:txBody>
                  <a:tcPr/>
                </a:tc>
                <a:tc vMerge="1">
                  <a:txBody>
                    <a:bodyPr/>
                    <a:lstStyle/>
                    <a:p>
                      <a:pPr algn="l" rtl="0" fontAlgn="base">
                        <a:lnSpc>
                          <a:spcPts val="1200"/>
                        </a:lnSpc>
                        <a:buNone/>
                      </a:pPr>
                      <a:endParaRPr lang="fr-FR" sz="1050" b="0" i="0">
                        <a:solidFill>
                          <a:srgbClr val="262626"/>
                        </a:solidFill>
                        <a:effectLst/>
                      </a:endParaRPr>
                    </a:p>
                  </a:txBody>
                  <a:tcPr/>
                </a:tc>
                <a:tc>
                  <a:txBody>
                    <a:bodyPr/>
                    <a:lstStyle/>
                    <a:p>
                      <a:pPr marL="92075" indent="0" algn="l" rtl="0" fontAlgn="b"/>
                      <a:r>
                        <a:rPr lang="fr-CA" sz="900" kern="1200" noProof="0">
                          <a:solidFill>
                            <a:srgbClr val="262626"/>
                          </a:solidFill>
                          <a:latin typeface="+mn-lt"/>
                          <a:ea typeface="+mn-ea"/>
                          <a:cs typeface="+mn-cs"/>
                        </a:rPr>
                        <a:t>Maintenir la liste des signataires</a:t>
                      </a:r>
                    </a:p>
                  </a:txBody>
                  <a:tcPr marL="0" marR="0" marT="0" marB="0" anchor="ctr"/>
                </a:tc>
                <a:tc>
                  <a:txBody>
                    <a:bodyPr/>
                    <a:lstStyle/>
                    <a:p>
                      <a:pPr algn="l"/>
                      <a:endParaRPr lang="fr-CA" sz="900" noProof="0">
                        <a:solidFill>
                          <a:srgbClr val="262626"/>
                        </a:solidFill>
                      </a:endParaRPr>
                    </a:p>
                  </a:txBody>
                  <a:tcPr/>
                </a:tc>
                <a:extLst>
                  <a:ext uri="{0D108BD9-81ED-4DB2-BD59-A6C34878D82A}">
                    <a16:rowId xmlns:a16="http://schemas.microsoft.com/office/drawing/2014/main" val="385191973"/>
                  </a:ext>
                </a:extLst>
              </a:tr>
              <a:tr h="235866">
                <a:tc vMerge="1">
                  <a:txBody>
                    <a:bodyPr/>
                    <a:lstStyle/>
                    <a:p>
                      <a:endParaRPr lang="fr-CA"/>
                    </a:p>
                  </a:txBody>
                  <a:tcPr/>
                </a:tc>
                <a:tc vMerge="1">
                  <a:txBody>
                    <a:bodyPr/>
                    <a:lstStyle/>
                    <a:p>
                      <a:pPr algn="l" rtl="0" fontAlgn="base">
                        <a:lnSpc>
                          <a:spcPts val="1200"/>
                        </a:lnSpc>
                        <a:buNone/>
                      </a:pPr>
                      <a:endParaRPr lang="fr-FR" sz="1050" b="0" i="0">
                        <a:solidFill>
                          <a:srgbClr val="262626"/>
                        </a:solidFill>
                        <a:effectLst/>
                      </a:endParaRPr>
                    </a:p>
                  </a:txBody>
                  <a:tcPr/>
                </a:tc>
                <a:tc>
                  <a:txBody>
                    <a:bodyPr/>
                    <a:lstStyle/>
                    <a:p>
                      <a:pPr marL="92075" indent="0" algn="l" defTabSz="914400" rtl="0" eaLnBrk="1" fontAlgn="b" latinLnBrk="0" hangingPunct="1"/>
                      <a:r>
                        <a:rPr lang="fr-CA" sz="900" kern="1200" noProof="0">
                          <a:solidFill>
                            <a:srgbClr val="262626"/>
                          </a:solidFill>
                          <a:latin typeface="+mn-lt"/>
                          <a:ea typeface="+mn-ea"/>
                          <a:cs typeface="+mn-cs"/>
                        </a:rPr>
                        <a:t>Maintiens des services bancaires </a:t>
                      </a:r>
                    </a:p>
                  </a:txBody>
                  <a:tcPr marL="0" marR="0" marT="0" marB="0" anchor="ctr"/>
                </a:tc>
                <a:tc>
                  <a:txBody>
                    <a:bodyPr/>
                    <a:lstStyle/>
                    <a:p>
                      <a:pPr algn="l"/>
                      <a:endParaRPr lang="fr-CA" sz="900" noProof="0">
                        <a:solidFill>
                          <a:srgbClr val="262626"/>
                        </a:solidFill>
                      </a:endParaRPr>
                    </a:p>
                  </a:txBody>
                  <a:tcPr/>
                </a:tc>
                <a:extLst>
                  <a:ext uri="{0D108BD9-81ED-4DB2-BD59-A6C34878D82A}">
                    <a16:rowId xmlns:a16="http://schemas.microsoft.com/office/drawing/2014/main" val="654210820"/>
                  </a:ext>
                </a:extLst>
              </a:tr>
              <a:tr h="221124">
                <a:tc vMerge="1">
                  <a:txBody>
                    <a:bodyPr/>
                    <a:lstStyle/>
                    <a:p>
                      <a:endParaRPr lang="fr-FR"/>
                    </a:p>
                  </a:txBody>
                  <a:tcPr/>
                </a:tc>
                <a:tc vMerge="1">
                  <a:txBody>
                    <a:bodyPr/>
                    <a:lstStyle/>
                    <a:p>
                      <a:pPr algn="l" rtl="0" fontAlgn="ctr"/>
                      <a:endParaRPr lang="fr-CA" sz="1000" b="0" i="0" u="none" strike="noStrike">
                        <a:solidFill>
                          <a:srgbClr val="003DA5"/>
                        </a:solidFill>
                        <a:effectLst/>
                        <a:latin typeface="Calibri" panose="020F0502020204030204" pitchFamily="34" charset="0"/>
                      </a:endParaRPr>
                    </a:p>
                  </a:txBody>
                  <a:tcPr marL="0" marR="0" marT="0" marB="0" anchor="ctr"/>
                </a:tc>
                <a:tc>
                  <a:txBody>
                    <a:bodyPr/>
                    <a:lstStyle/>
                    <a:p>
                      <a:pPr marL="92075" indent="0" algn="l" defTabSz="914400" rtl="0" eaLnBrk="1" fontAlgn="b" latinLnBrk="0" hangingPunct="1"/>
                      <a:r>
                        <a:rPr lang="fr-CA" sz="900" kern="1200" noProof="0">
                          <a:solidFill>
                            <a:srgbClr val="262626"/>
                          </a:solidFill>
                          <a:latin typeface="+mn-lt"/>
                          <a:ea typeface="+mn-ea"/>
                          <a:cs typeface="+mn-cs"/>
                        </a:rPr>
                        <a:t>Ouvrir un nouveau service bancaire</a:t>
                      </a:r>
                    </a:p>
                  </a:txBody>
                  <a:tcPr marL="0" marR="0" marT="0" marB="0" anchor="ctr"/>
                </a:tc>
                <a:tc>
                  <a:txBody>
                    <a:bodyPr/>
                    <a:lstStyle/>
                    <a:p>
                      <a:pPr algn="l"/>
                      <a:endParaRPr lang="fr-CA" sz="900" kern="1200" noProof="0">
                        <a:solidFill>
                          <a:srgbClr val="262626"/>
                        </a:solidFill>
                        <a:latin typeface="+mn-lt"/>
                        <a:ea typeface="+mn-ea"/>
                        <a:cs typeface="+mn-cs"/>
                      </a:endParaRPr>
                    </a:p>
                  </a:txBody>
                  <a:tcPr/>
                </a:tc>
                <a:extLst>
                  <a:ext uri="{0D108BD9-81ED-4DB2-BD59-A6C34878D82A}">
                    <a16:rowId xmlns:a16="http://schemas.microsoft.com/office/drawing/2014/main" val="1554023476"/>
                  </a:ext>
                </a:extLst>
              </a:tr>
              <a:tr h="235866">
                <a:tc vMerge="1">
                  <a:txBody>
                    <a:bodyPr/>
                    <a:lstStyle/>
                    <a:p>
                      <a:endParaRPr lang="fr-FR"/>
                    </a:p>
                  </a:txBody>
                  <a:tcPr/>
                </a:tc>
                <a:tc vMerge="1">
                  <a:txBody>
                    <a:bodyPr/>
                    <a:lstStyle/>
                    <a:p>
                      <a:pPr algn="l" rtl="0" fontAlgn="base">
                        <a:lnSpc>
                          <a:spcPts val="1200"/>
                        </a:lnSpc>
                        <a:buNone/>
                      </a:pPr>
                      <a:endParaRPr lang="fr-FR" sz="1050" b="0" i="0">
                        <a:solidFill>
                          <a:srgbClr val="262626"/>
                        </a:solidFill>
                        <a:effectLst/>
                      </a:endParaRPr>
                    </a:p>
                  </a:txBody>
                  <a:tcPr/>
                </a:tc>
                <a:tc>
                  <a:txBody>
                    <a:bodyPr/>
                    <a:lstStyle/>
                    <a:p>
                      <a:pPr marL="92075" indent="0" algn="l" defTabSz="914400" rtl="0" eaLnBrk="1" fontAlgn="b" latinLnBrk="0" hangingPunct="1"/>
                      <a:r>
                        <a:rPr lang="fr-CA" sz="900" kern="1200" noProof="0">
                          <a:solidFill>
                            <a:srgbClr val="262626"/>
                          </a:solidFill>
                          <a:latin typeface="+mn-lt"/>
                          <a:ea typeface="+mn-ea"/>
                          <a:cs typeface="+mn-cs"/>
                        </a:rPr>
                        <a:t>Fermer un service bancaire</a:t>
                      </a:r>
                    </a:p>
                  </a:txBody>
                  <a:tcPr marL="0" marR="0" marT="0" marB="0" anchor="ctr"/>
                </a:tc>
                <a:tc>
                  <a:txBody>
                    <a:bodyPr/>
                    <a:lstStyle/>
                    <a:p>
                      <a:pPr algn="l"/>
                      <a:endParaRPr lang="fr-CA" sz="900" kern="1200" noProof="0">
                        <a:solidFill>
                          <a:srgbClr val="262626"/>
                        </a:solidFill>
                        <a:latin typeface="+mn-lt"/>
                        <a:ea typeface="+mn-ea"/>
                        <a:cs typeface="+mn-cs"/>
                      </a:endParaRPr>
                    </a:p>
                  </a:txBody>
                  <a:tcPr/>
                </a:tc>
                <a:extLst>
                  <a:ext uri="{0D108BD9-81ED-4DB2-BD59-A6C34878D82A}">
                    <a16:rowId xmlns:a16="http://schemas.microsoft.com/office/drawing/2014/main" val="45678932"/>
                  </a:ext>
                </a:extLst>
              </a:tr>
              <a:tr h="235866">
                <a:tc vMerge="1">
                  <a:txBody>
                    <a:bodyPr/>
                    <a:lstStyle/>
                    <a:p>
                      <a:endParaRPr lang="fr-FR"/>
                    </a:p>
                  </a:txBody>
                  <a:tcPr/>
                </a:tc>
                <a:tc rowSpan="3">
                  <a:txBody>
                    <a:bodyPr/>
                    <a:lstStyle/>
                    <a:p>
                      <a:pPr marL="0" algn="l" defTabSz="914400" rtl="0" eaLnBrk="1" fontAlgn="base" latinLnBrk="0" hangingPunct="1">
                        <a:lnSpc>
                          <a:spcPts val="1200"/>
                        </a:lnSpc>
                        <a:buNone/>
                      </a:pPr>
                      <a:r>
                        <a:rPr lang="fr-CA" sz="1050" b="0" i="0" u="none" strike="noStrike" kern="1200" noProof="0">
                          <a:solidFill>
                            <a:srgbClr val="262626"/>
                          </a:solidFill>
                          <a:effectLst/>
                          <a:latin typeface="Calibri" panose="020F0502020204030204" pitchFamily="34" charset="0"/>
                          <a:ea typeface="+mn-ea"/>
                          <a:cs typeface="+mn-cs"/>
                        </a:rPr>
                        <a:t>Opérationnaliser la stratégie des frais bancaires</a:t>
                      </a:r>
                    </a:p>
                  </a:txBody>
                  <a:tcPr anchor="ctr"/>
                </a:tc>
                <a:tc>
                  <a:txBody>
                    <a:bodyPr/>
                    <a:lstStyle/>
                    <a:p>
                      <a:pPr marL="0" indent="0" algn="l"/>
                      <a:r>
                        <a:rPr lang="fr-CA" sz="900" noProof="0">
                          <a:solidFill>
                            <a:srgbClr val="262626"/>
                          </a:solidFill>
                        </a:rPr>
                        <a:t>Valider l'application de l'entente des frais bancaires</a:t>
                      </a:r>
                    </a:p>
                  </a:txBody>
                  <a:tcPr/>
                </a:tc>
                <a:tc>
                  <a:txBody>
                    <a:bodyPr/>
                    <a:lstStyle/>
                    <a:p>
                      <a:pPr algn="l"/>
                      <a:endParaRPr lang="fr-CA" sz="900" kern="1200" noProof="0">
                        <a:solidFill>
                          <a:srgbClr val="262626"/>
                        </a:solidFill>
                        <a:latin typeface="+mn-lt"/>
                        <a:ea typeface="+mn-ea"/>
                        <a:cs typeface="+mn-cs"/>
                      </a:endParaRPr>
                    </a:p>
                  </a:txBody>
                  <a:tcPr/>
                </a:tc>
                <a:extLst>
                  <a:ext uri="{0D108BD9-81ED-4DB2-BD59-A6C34878D82A}">
                    <a16:rowId xmlns:a16="http://schemas.microsoft.com/office/drawing/2014/main" val="3790620353"/>
                  </a:ext>
                </a:extLst>
              </a:tr>
              <a:tr h="235866">
                <a:tc vMerge="1">
                  <a:txBody>
                    <a:bodyPr/>
                    <a:lstStyle/>
                    <a:p>
                      <a:pPr marL="0" algn="ctr" defTabSz="914400" rtl="0" eaLnBrk="1" fontAlgn="base" latinLnBrk="0" hangingPunct="1">
                        <a:lnSpc>
                          <a:spcPts val="1200"/>
                        </a:lnSpc>
                        <a:buNone/>
                      </a:pPr>
                      <a:endParaRPr lang="fr-FR" sz="1050" b="0" i="0" u="none" strike="noStrike" kern="1200">
                        <a:solidFill>
                          <a:srgbClr val="000000"/>
                        </a:solidFill>
                        <a:effectLst/>
                        <a:latin typeface="Calibri" panose="020F0502020204030204" pitchFamily="34" charset="0"/>
                        <a:ea typeface="+mn-ea"/>
                        <a:cs typeface="+mn-cs"/>
                      </a:endParaRPr>
                    </a:p>
                  </a:txBody>
                  <a:tcPr/>
                </a:tc>
                <a:tc vMerge="1">
                  <a:txBody>
                    <a:bodyPr/>
                    <a:lstStyle/>
                    <a:p>
                      <a:pPr algn="l" rtl="0" fontAlgn="base">
                        <a:lnSpc>
                          <a:spcPts val="1200"/>
                        </a:lnSpc>
                        <a:buNone/>
                      </a:pPr>
                      <a:endParaRPr lang="fr-FR" sz="1050" b="0" i="0">
                        <a:solidFill>
                          <a:srgbClr val="262626"/>
                        </a:solidFill>
                        <a:effectLst/>
                      </a:endParaRPr>
                    </a:p>
                  </a:txBody>
                  <a:tcPr/>
                </a:tc>
                <a:tc>
                  <a:txBody>
                    <a:bodyPr/>
                    <a:lstStyle/>
                    <a:p>
                      <a:pPr marL="0" indent="0" algn="l"/>
                      <a:r>
                        <a:rPr lang="fr-CA" sz="900" noProof="0">
                          <a:solidFill>
                            <a:srgbClr val="262626"/>
                          </a:solidFill>
                        </a:rPr>
                        <a:t>Analyser les frais bancaires</a:t>
                      </a:r>
                    </a:p>
                  </a:txBody>
                  <a:tcPr/>
                </a:tc>
                <a:tc>
                  <a:txBody>
                    <a:bodyPr/>
                    <a:lstStyle/>
                    <a:p>
                      <a:pPr algn="l"/>
                      <a:endParaRPr lang="fr-CA" sz="900" kern="1200" noProof="0">
                        <a:solidFill>
                          <a:srgbClr val="262626"/>
                        </a:solidFill>
                        <a:latin typeface="+mn-lt"/>
                        <a:ea typeface="+mn-ea"/>
                        <a:cs typeface="+mn-cs"/>
                      </a:endParaRPr>
                    </a:p>
                  </a:txBody>
                  <a:tcPr/>
                </a:tc>
                <a:extLst>
                  <a:ext uri="{0D108BD9-81ED-4DB2-BD59-A6C34878D82A}">
                    <a16:rowId xmlns:a16="http://schemas.microsoft.com/office/drawing/2014/main" val="589631922"/>
                  </a:ext>
                </a:extLst>
              </a:tr>
              <a:tr h="383282">
                <a:tc vMerge="1">
                  <a:txBody>
                    <a:bodyPr/>
                    <a:lstStyle/>
                    <a:p>
                      <a:pPr marL="0" algn="ctr" defTabSz="914400" rtl="0" eaLnBrk="1" fontAlgn="base" latinLnBrk="0" hangingPunct="1">
                        <a:lnSpc>
                          <a:spcPts val="1200"/>
                        </a:lnSpc>
                        <a:buNone/>
                      </a:pPr>
                      <a:endParaRPr lang="fr-FR" sz="1050" b="1" i="0" u="none" strike="noStrike" kern="1200">
                        <a:solidFill>
                          <a:srgbClr val="FF0000"/>
                        </a:solidFill>
                        <a:effectLst/>
                        <a:latin typeface="Calibri" panose="020F0502020204030204" pitchFamily="34" charset="0"/>
                        <a:ea typeface="+mn-ea"/>
                        <a:cs typeface="+mn-cs"/>
                      </a:endParaRPr>
                    </a:p>
                  </a:txBody>
                  <a:tcPr anchor="ctr"/>
                </a:tc>
                <a:tc vMerge="1">
                  <a:txBody>
                    <a:bodyPr/>
                    <a:lstStyle/>
                    <a:p>
                      <a:pPr marL="0" algn="l" defTabSz="914400" rtl="0" eaLnBrk="1" fontAlgn="base" latinLnBrk="0" hangingPunct="1">
                        <a:lnSpc>
                          <a:spcPts val="1200"/>
                        </a:lnSpc>
                        <a:buNone/>
                      </a:pPr>
                      <a:endParaRPr lang="fr-FR" sz="1050" b="0" i="0" u="none" strike="noStrike" kern="1200">
                        <a:solidFill>
                          <a:srgbClr val="262626"/>
                        </a:solidFill>
                        <a:effectLst/>
                        <a:latin typeface="Calibri" panose="020F0502020204030204" pitchFamily="34" charset="0"/>
                        <a:ea typeface="+mn-ea"/>
                        <a:cs typeface="+mn-cs"/>
                      </a:endParaRPr>
                    </a:p>
                  </a:txBody>
                  <a:tcPr/>
                </a:tc>
                <a:tc>
                  <a:txBody>
                    <a:bodyPr/>
                    <a:lstStyle/>
                    <a:p>
                      <a:pPr marL="0" indent="0" algn="l"/>
                      <a:r>
                        <a:rPr lang="fr-CA" sz="900" noProof="0">
                          <a:solidFill>
                            <a:srgbClr val="262626"/>
                          </a:solidFill>
                        </a:rPr>
                        <a:t>Révision des frais bancaires et préparation aux rencontres avec les banques </a:t>
                      </a:r>
                      <a:r>
                        <a:rPr lang="fr-CA" sz="1100" noProof="0">
                          <a:solidFill>
                            <a:srgbClr val="FF0000"/>
                          </a:solidFill>
                        </a:rPr>
                        <a:t>*</a:t>
                      </a:r>
                      <a:endParaRPr lang="fr-CA" sz="900" noProof="0">
                        <a:solidFill>
                          <a:srgbClr val="FF0000"/>
                        </a:solidFill>
                      </a:endParaRPr>
                    </a:p>
                  </a:txBody>
                  <a:tcPr/>
                </a:tc>
                <a:tc>
                  <a:txBody>
                    <a:bodyPr/>
                    <a:lstStyle/>
                    <a:p>
                      <a:pPr algn="l"/>
                      <a:endParaRPr lang="fr-CA" sz="900" kern="1200" noProof="0">
                        <a:solidFill>
                          <a:srgbClr val="262626"/>
                        </a:solidFill>
                        <a:latin typeface="+mn-lt"/>
                        <a:ea typeface="+mn-ea"/>
                        <a:cs typeface="+mn-cs"/>
                      </a:endParaRPr>
                    </a:p>
                  </a:txBody>
                  <a:tcPr/>
                </a:tc>
                <a:extLst>
                  <a:ext uri="{0D108BD9-81ED-4DB2-BD59-A6C34878D82A}">
                    <a16:rowId xmlns:a16="http://schemas.microsoft.com/office/drawing/2014/main" val="1008975231"/>
                  </a:ext>
                </a:extLst>
              </a:tr>
              <a:tr h="383282">
                <a:tc vMerge="1">
                  <a:txBody>
                    <a:bodyPr/>
                    <a:lstStyle/>
                    <a:p>
                      <a:pPr algn="ctr" rtl="0" fontAlgn="base">
                        <a:lnSpc>
                          <a:spcPts val="1200"/>
                        </a:lnSpc>
                        <a:buNone/>
                      </a:pPr>
                      <a:endParaRPr lang="fr-FR" b="0" i="0">
                        <a:solidFill>
                          <a:srgbClr val="000000"/>
                        </a:solidFill>
                        <a:effectLst/>
                      </a:endParaRPr>
                    </a:p>
                  </a:txBody>
                  <a:tcPr anchor="ctr"/>
                </a:tc>
                <a:tc rowSpan="2">
                  <a:txBody>
                    <a:bodyPr/>
                    <a:lstStyle/>
                    <a:p>
                      <a:pPr marL="0" algn="l" defTabSz="914400" rtl="0" eaLnBrk="1" fontAlgn="base" latinLnBrk="0" hangingPunct="1">
                        <a:lnSpc>
                          <a:spcPts val="1200"/>
                        </a:lnSpc>
                        <a:buNone/>
                      </a:pPr>
                      <a:r>
                        <a:rPr lang="fr-CA" sz="1050" b="0" i="0" u="none" strike="noStrike" kern="1200" noProof="0">
                          <a:solidFill>
                            <a:srgbClr val="262626"/>
                          </a:solidFill>
                          <a:effectLst/>
                          <a:latin typeface="Calibri" panose="020F0502020204030204" pitchFamily="34" charset="0"/>
                          <a:ea typeface="+mn-ea"/>
                          <a:cs typeface="+mn-cs"/>
                        </a:rPr>
                        <a:t>Gouvernance de l'architecture des comptes bancaires</a:t>
                      </a:r>
                    </a:p>
                  </a:txBody>
                  <a:tcPr anchor="ctr"/>
                </a:tc>
                <a:tc>
                  <a:txBody>
                    <a:bodyPr/>
                    <a:lstStyle/>
                    <a:p>
                      <a:pPr marL="0" indent="0" algn="l"/>
                      <a:r>
                        <a:rPr lang="fr-CA" sz="900" noProof="0">
                          <a:solidFill>
                            <a:srgbClr val="262626"/>
                          </a:solidFill>
                        </a:rPr>
                        <a:t>Mettre en place et maintenir l'architecture des comptes de banque </a:t>
                      </a:r>
                      <a:r>
                        <a:rPr lang="fr-CA" sz="1100" noProof="0">
                          <a:solidFill>
                            <a:srgbClr val="FF0000"/>
                          </a:solidFill>
                        </a:rPr>
                        <a:t>*</a:t>
                      </a:r>
                      <a:endParaRPr lang="fr-CA" sz="900" noProof="0">
                        <a:solidFill>
                          <a:srgbClr val="262626"/>
                        </a:solidFill>
                      </a:endParaRPr>
                    </a:p>
                  </a:txBody>
                  <a:tcPr/>
                </a:tc>
                <a:tc>
                  <a:txBody>
                    <a:bodyPr/>
                    <a:lstStyle/>
                    <a:p>
                      <a:pPr algn="l"/>
                      <a:endParaRPr lang="fr-CA" sz="900" kern="1200" noProof="0">
                        <a:solidFill>
                          <a:srgbClr val="262626"/>
                        </a:solidFill>
                        <a:latin typeface="+mn-lt"/>
                        <a:ea typeface="+mn-ea"/>
                        <a:cs typeface="+mn-cs"/>
                      </a:endParaRPr>
                    </a:p>
                  </a:txBody>
                  <a:tcPr/>
                </a:tc>
                <a:extLst>
                  <a:ext uri="{0D108BD9-81ED-4DB2-BD59-A6C34878D82A}">
                    <a16:rowId xmlns:a16="http://schemas.microsoft.com/office/drawing/2014/main" val="92200591"/>
                  </a:ext>
                </a:extLst>
              </a:tr>
              <a:tr h="343892">
                <a:tc vMerge="1">
                  <a:txBody>
                    <a:bodyPr/>
                    <a:lstStyle/>
                    <a:p>
                      <a:pPr algn="ctr" rtl="0" fontAlgn="base">
                        <a:lnSpc>
                          <a:spcPts val="1200"/>
                        </a:lnSpc>
                        <a:buNone/>
                      </a:pPr>
                      <a:endParaRPr lang="fr-FR" b="0" i="0">
                        <a:solidFill>
                          <a:srgbClr val="000000"/>
                        </a:solidFill>
                        <a:effectLst/>
                      </a:endParaRPr>
                    </a:p>
                  </a:txBody>
                  <a:tcPr anchor="ctr"/>
                </a:tc>
                <a:tc vMerge="1">
                  <a:txBody>
                    <a:bodyPr/>
                    <a:lstStyle/>
                    <a:p>
                      <a:pPr marL="0" marR="0" lvl="0" indent="0" algn="l" defTabSz="914400" rtl="0" eaLnBrk="1" fontAlgn="base" latinLnBrk="0" hangingPunct="1">
                        <a:lnSpc>
                          <a:spcPts val="1200"/>
                        </a:lnSpc>
                        <a:spcBef>
                          <a:spcPts val="0"/>
                        </a:spcBef>
                        <a:spcAft>
                          <a:spcPts val="0"/>
                        </a:spcAft>
                        <a:buClrTx/>
                        <a:buSzTx/>
                        <a:buFontTx/>
                        <a:buNone/>
                        <a:tabLst/>
                        <a:defRPr/>
                      </a:pPr>
                      <a:endParaRPr lang="en-US" sz="900" b="0" i="0" u="none" strike="noStrike">
                        <a:solidFill>
                          <a:srgbClr val="262626"/>
                        </a:solidFill>
                        <a:effectLst/>
                        <a:latin typeface="Calibri" panose="020F0502020204030204" pitchFamily="34" charset="0"/>
                      </a:endParaRPr>
                    </a:p>
                  </a:txBody>
                  <a:tcPr anchor="ctr"/>
                </a:tc>
                <a:tc>
                  <a:txBody>
                    <a:bodyPr/>
                    <a:lstStyle/>
                    <a:p>
                      <a:pPr marL="0" indent="0" algn="l"/>
                      <a:r>
                        <a:rPr lang="fr-CA" sz="900" noProof="0">
                          <a:solidFill>
                            <a:srgbClr val="262626"/>
                          </a:solidFill>
                        </a:rPr>
                        <a:t>Opérationnaliser la stratégie des comptes de banque</a:t>
                      </a:r>
                    </a:p>
                  </a:txBody>
                  <a:tcPr anchor="ctr"/>
                </a:tc>
                <a:tc>
                  <a:txBody>
                    <a:bodyPr/>
                    <a:lstStyle/>
                    <a:p>
                      <a:pPr algn="l"/>
                      <a:endParaRPr lang="fr-CA" sz="900" kern="1200" noProof="0">
                        <a:solidFill>
                          <a:srgbClr val="262626"/>
                        </a:solidFill>
                        <a:latin typeface="+mn-lt"/>
                        <a:ea typeface="+mn-ea"/>
                        <a:cs typeface="+mn-cs"/>
                      </a:endParaRPr>
                    </a:p>
                  </a:txBody>
                  <a:tcPr/>
                </a:tc>
                <a:extLst>
                  <a:ext uri="{0D108BD9-81ED-4DB2-BD59-A6C34878D82A}">
                    <a16:rowId xmlns:a16="http://schemas.microsoft.com/office/drawing/2014/main" val="2515029812"/>
                  </a:ext>
                </a:extLst>
              </a:tr>
            </a:tbl>
          </a:graphicData>
        </a:graphic>
      </p:graphicFrame>
      <p:sp>
        <p:nvSpPr>
          <p:cNvPr id="9" name="ZoneTexte 8">
            <a:extLst>
              <a:ext uri="{FF2B5EF4-FFF2-40B4-BE49-F238E27FC236}">
                <a16:creationId xmlns:a16="http://schemas.microsoft.com/office/drawing/2014/main" id="{6BEB2A29-193B-301E-D6D0-4F2191BE8624}"/>
              </a:ext>
            </a:extLst>
          </p:cNvPr>
          <p:cNvSpPr txBox="1"/>
          <p:nvPr/>
        </p:nvSpPr>
        <p:spPr>
          <a:xfrm>
            <a:off x="331299" y="526357"/>
            <a:ext cx="3795027" cy="276999"/>
          </a:xfrm>
          <a:prstGeom prst="rect">
            <a:avLst/>
          </a:prstGeom>
          <a:noFill/>
        </p:spPr>
        <p:txBody>
          <a:bodyPr wrap="square" rtlCol="0">
            <a:spAutoFit/>
          </a:bodyPr>
          <a:lstStyle/>
          <a:p>
            <a:pPr marL="0" marR="0" lvl="0" indent="0" algn="l" defTabSz="914286" rtl="0" eaLnBrk="1" fontAlgn="auto" latinLnBrk="0" hangingPunct="1">
              <a:lnSpc>
                <a:spcPct val="100000"/>
              </a:lnSpc>
              <a:spcBef>
                <a:spcPts val="0"/>
              </a:spcBef>
              <a:spcAft>
                <a:spcPts val="0"/>
              </a:spcAft>
              <a:buClrTx/>
              <a:buSzTx/>
              <a:buFontTx/>
              <a:buNone/>
              <a:tabLst/>
              <a:defRPr/>
            </a:pPr>
            <a:r>
              <a:rPr kumimoji="0" lang="fr-CA" sz="1200" b="0" i="0" u="none" strike="noStrike" kern="1200" cap="none" spc="0" normalizeH="0" baseline="0" noProof="0">
                <a:ln>
                  <a:noFill/>
                </a:ln>
                <a:solidFill>
                  <a:srgbClr val="003DA5"/>
                </a:solidFill>
                <a:effectLst/>
                <a:uLnTx/>
                <a:uFillTx/>
                <a:latin typeface="Calibri" panose="020F0502020204030204"/>
                <a:ea typeface="+mn-ea"/>
                <a:cs typeface="+mn-cs"/>
              </a:rPr>
              <a:t>Les processus inclus dans la portée phase 2 représentent :</a:t>
            </a:r>
          </a:p>
        </p:txBody>
      </p:sp>
      <p:sp>
        <p:nvSpPr>
          <p:cNvPr id="5" name="ZoneTexte 4">
            <a:extLst>
              <a:ext uri="{FF2B5EF4-FFF2-40B4-BE49-F238E27FC236}">
                <a16:creationId xmlns:a16="http://schemas.microsoft.com/office/drawing/2014/main" id="{EB1341DD-01C9-297A-9756-4AF2874FA588}"/>
              </a:ext>
            </a:extLst>
          </p:cNvPr>
          <p:cNvSpPr txBox="1"/>
          <p:nvPr/>
        </p:nvSpPr>
        <p:spPr>
          <a:xfrm>
            <a:off x="331299" y="4774319"/>
            <a:ext cx="5838980" cy="369332"/>
          </a:xfrm>
          <a:prstGeom prst="rect">
            <a:avLst/>
          </a:prstGeom>
          <a:noFill/>
        </p:spPr>
        <p:txBody>
          <a:bodyPr wrap="square">
            <a:spAutoFit/>
          </a:bodyPr>
          <a:lstStyle/>
          <a:p>
            <a:r>
              <a:rPr lang="fr-CA" sz="1800" noProof="0">
                <a:solidFill>
                  <a:srgbClr val="FF0000"/>
                </a:solidFill>
              </a:rPr>
              <a:t>*</a:t>
            </a:r>
            <a:r>
              <a:rPr lang="fr-CA" sz="1400" noProof="0">
                <a:solidFill>
                  <a:srgbClr val="262626"/>
                </a:solidFill>
              </a:rPr>
              <a:t> </a:t>
            </a:r>
            <a:r>
              <a:rPr lang="fr-CA" sz="1200" i="1" noProof="0">
                <a:solidFill>
                  <a:srgbClr val="262626"/>
                </a:solidFill>
              </a:rPr>
              <a:t>Implication majeur de la trésorerie corporative</a:t>
            </a:r>
            <a:endParaRPr lang="fr-CA" sz="1400" i="1" noProof="0">
              <a:solidFill>
                <a:srgbClr val="262626"/>
              </a:solidFill>
            </a:endParaRPr>
          </a:p>
        </p:txBody>
      </p:sp>
      <p:pic>
        <p:nvPicPr>
          <p:cNvPr id="8" name="Graphique 7" descr="Coche avec un remplissage uni">
            <a:extLst>
              <a:ext uri="{FF2B5EF4-FFF2-40B4-BE49-F238E27FC236}">
                <a16:creationId xmlns:a16="http://schemas.microsoft.com/office/drawing/2014/main" id="{E96D10C5-B753-5D34-E33D-F4BFACBF9D0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196069" y="1787322"/>
            <a:ext cx="256310" cy="256310"/>
          </a:xfrm>
          <a:prstGeom prst="rect">
            <a:avLst/>
          </a:prstGeom>
        </p:spPr>
      </p:pic>
      <p:pic>
        <p:nvPicPr>
          <p:cNvPr id="11" name="Graphique 10" descr="Coche avec un remplissage uni">
            <a:extLst>
              <a:ext uri="{FF2B5EF4-FFF2-40B4-BE49-F238E27FC236}">
                <a16:creationId xmlns:a16="http://schemas.microsoft.com/office/drawing/2014/main" id="{1B614E7D-88DB-B2FB-8AF7-5BC38BEFD9E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196069" y="4156016"/>
            <a:ext cx="256310" cy="256310"/>
          </a:xfrm>
          <a:prstGeom prst="rect">
            <a:avLst/>
          </a:prstGeom>
        </p:spPr>
      </p:pic>
      <p:pic>
        <p:nvPicPr>
          <p:cNvPr id="12" name="Graphique 11" descr="Coche avec un remplissage uni">
            <a:extLst>
              <a:ext uri="{FF2B5EF4-FFF2-40B4-BE49-F238E27FC236}">
                <a16:creationId xmlns:a16="http://schemas.microsoft.com/office/drawing/2014/main" id="{4F270D7C-4131-31E5-4A15-33E15350D2D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196069" y="4518009"/>
            <a:ext cx="256310" cy="256310"/>
          </a:xfrm>
          <a:prstGeom prst="rect">
            <a:avLst/>
          </a:prstGeom>
        </p:spPr>
      </p:pic>
      <p:pic>
        <p:nvPicPr>
          <p:cNvPr id="13" name="Graphique 12" descr="Coche avec un remplissage uni">
            <a:extLst>
              <a:ext uri="{FF2B5EF4-FFF2-40B4-BE49-F238E27FC236}">
                <a16:creationId xmlns:a16="http://schemas.microsoft.com/office/drawing/2014/main" id="{191F0412-9B9D-AAD5-1A67-4F652646830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196069" y="3211746"/>
            <a:ext cx="256310" cy="256310"/>
          </a:xfrm>
          <a:prstGeom prst="rect">
            <a:avLst/>
          </a:prstGeom>
        </p:spPr>
      </p:pic>
      <p:pic>
        <p:nvPicPr>
          <p:cNvPr id="14" name="Graphique 13" descr="Coche avec un remplissage uni">
            <a:extLst>
              <a:ext uri="{FF2B5EF4-FFF2-40B4-BE49-F238E27FC236}">
                <a16:creationId xmlns:a16="http://schemas.microsoft.com/office/drawing/2014/main" id="{D961CAB0-42A1-F0C6-3A29-E4DFE99DB5B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196069" y="3437900"/>
            <a:ext cx="256310" cy="256310"/>
          </a:xfrm>
          <a:prstGeom prst="rect">
            <a:avLst/>
          </a:prstGeom>
        </p:spPr>
      </p:pic>
      <p:pic>
        <p:nvPicPr>
          <p:cNvPr id="15" name="Graphique 14" descr="Coche avec un remplissage uni">
            <a:extLst>
              <a:ext uri="{FF2B5EF4-FFF2-40B4-BE49-F238E27FC236}">
                <a16:creationId xmlns:a16="http://schemas.microsoft.com/office/drawing/2014/main" id="{CB78F7AA-ED24-2CDB-862B-C3B9BD42806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196069" y="3742966"/>
            <a:ext cx="256310" cy="256310"/>
          </a:xfrm>
          <a:prstGeom prst="rect">
            <a:avLst/>
          </a:prstGeom>
        </p:spPr>
      </p:pic>
      <p:sp>
        <p:nvSpPr>
          <p:cNvPr id="24" name="Étoile : 8 branches 23">
            <a:extLst>
              <a:ext uri="{FF2B5EF4-FFF2-40B4-BE49-F238E27FC236}">
                <a16:creationId xmlns:a16="http://schemas.microsoft.com/office/drawing/2014/main" id="{10B82DAB-59F4-E6C5-6131-A6D9B30942B7}"/>
              </a:ext>
            </a:extLst>
          </p:cNvPr>
          <p:cNvSpPr/>
          <p:nvPr/>
        </p:nvSpPr>
        <p:spPr>
          <a:xfrm>
            <a:off x="8452379" y="706525"/>
            <a:ext cx="644032" cy="515516"/>
          </a:xfrm>
          <a:prstGeom prst="star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noProof="0"/>
              <a:t>19</a:t>
            </a:r>
          </a:p>
        </p:txBody>
      </p:sp>
      <p:sp>
        <p:nvSpPr>
          <p:cNvPr id="25" name="Étoile : 10 branches 24">
            <a:extLst>
              <a:ext uri="{FF2B5EF4-FFF2-40B4-BE49-F238E27FC236}">
                <a16:creationId xmlns:a16="http://schemas.microsoft.com/office/drawing/2014/main" id="{7CFCB80A-96F2-0145-CF6C-D62C830172CF}"/>
              </a:ext>
            </a:extLst>
          </p:cNvPr>
          <p:cNvSpPr/>
          <p:nvPr/>
        </p:nvSpPr>
        <p:spPr>
          <a:xfrm>
            <a:off x="7038133" y="760313"/>
            <a:ext cx="622849" cy="515516"/>
          </a:xfrm>
          <a:prstGeom prst="star1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2000" b="1" noProof="0"/>
              <a:t>52</a:t>
            </a:r>
          </a:p>
        </p:txBody>
      </p:sp>
      <p:sp>
        <p:nvSpPr>
          <p:cNvPr id="26" name="Étoile : 10 branches 25">
            <a:extLst>
              <a:ext uri="{FF2B5EF4-FFF2-40B4-BE49-F238E27FC236}">
                <a16:creationId xmlns:a16="http://schemas.microsoft.com/office/drawing/2014/main" id="{CE5EAE9B-E346-77EC-F44E-4A05A90E2295}"/>
              </a:ext>
            </a:extLst>
          </p:cNvPr>
          <p:cNvSpPr/>
          <p:nvPr/>
        </p:nvSpPr>
        <p:spPr>
          <a:xfrm>
            <a:off x="4092321" y="760313"/>
            <a:ext cx="622849" cy="515516"/>
          </a:xfrm>
          <a:prstGeom prst="star1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2000" b="1" noProof="0"/>
              <a:t>21</a:t>
            </a:r>
          </a:p>
        </p:txBody>
      </p:sp>
      <p:sp>
        <p:nvSpPr>
          <p:cNvPr id="27" name="Étoile : 10 branches 26">
            <a:extLst>
              <a:ext uri="{FF2B5EF4-FFF2-40B4-BE49-F238E27FC236}">
                <a16:creationId xmlns:a16="http://schemas.microsoft.com/office/drawing/2014/main" id="{DC0556F8-6B85-4E8B-B973-7468ACE51608}"/>
              </a:ext>
            </a:extLst>
          </p:cNvPr>
          <p:cNvSpPr/>
          <p:nvPr/>
        </p:nvSpPr>
        <p:spPr>
          <a:xfrm>
            <a:off x="1207983" y="760313"/>
            <a:ext cx="622849" cy="515516"/>
          </a:xfrm>
          <a:prstGeom prst="star1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2000" b="1" noProof="0"/>
              <a:t>12</a:t>
            </a:r>
          </a:p>
        </p:txBody>
      </p:sp>
    </p:spTree>
    <p:extLst>
      <p:ext uri="{BB962C8B-B14F-4D97-AF65-F5344CB8AC3E}">
        <p14:creationId xmlns:p14="http://schemas.microsoft.com/office/powerpoint/2010/main" val="549920146"/>
      </p:ext>
    </p:extLst>
  </p:cSld>
  <p:clrMapOvr>
    <a:masterClrMapping/>
  </p:clrMapOvr>
  <p:extLst>
    <p:ext uri="{6950BFC3-D8DA-4A85-94F7-54DA5524770B}">
      <p188:commentRel xmlns:p188="http://schemas.microsoft.com/office/powerpoint/2018/8/main" r:id="rId2"/>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083-68AF-187B-5F33-745269EC73C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59494A3-B9A2-1D13-267F-9D741AD76C28}"/>
              </a:ext>
            </a:extLst>
          </p:cNvPr>
          <p:cNvSpPr>
            <a:spLocks noGrp="1"/>
          </p:cNvSpPr>
          <p:nvPr>
            <p:ph type="title"/>
          </p:nvPr>
        </p:nvSpPr>
        <p:spPr>
          <a:xfrm>
            <a:off x="210675" y="0"/>
            <a:ext cx="8908473" cy="462974"/>
          </a:xfrm>
          <a:solidFill>
            <a:schemeClr val="tx1"/>
          </a:solidFill>
        </p:spPr>
        <p:txBody>
          <a:bodyPr vert="horz" lIns="91440" tIns="45720" rIns="91440" bIns="45720" rtlCol="0" anchor="ctr">
            <a:normAutofit/>
          </a:bodyPr>
          <a:lstStyle/>
          <a:p>
            <a:r>
              <a:rPr lang="fr-CA" sz="2400" b="1" noProof="0">
                <a:solidFill>
                  <a:schemeClr val="bg1"/>
                </a:solidFill>
              </a:rPr>
              <a:t>Définition de la portée – Objectif 2</a:t>
            </a:r>
          </a:p>
        </p:txBody>
      </p:sp>
      <p:graphicFrame>
        <p:nvGraphicFramePr>
          <p:cNvPr id="3" name="Tableau 2">
            <a:extLst>
              <a:ext uri="{FF2B5EF4-FFF2-40B4-BE49-F238E27FC236}">
                <a16:creationId xmlns:a16="http://schemas.microsoft.com/office/drawing/2014/main" id="{2DCA305C-E8D9-923C-1472-B4B5903D70AD}"/>
              </a:ext>
            </a:extLst>
          </p:cNvPr>
          <p:cNvGraphicFramePr>
            <a:graphicFrameLocks noGrp="1"/>
          </p:cNvGraphicFramePr>
          <p:nvPr>
            <p:extLst>
              <p:ext uri="{D42A27DB-BD31-4B8C-83A1-F6EECF244321}">
                <p14:modId xmlns:p14="http://schemas.microsoft.com/office/powerpoint/2010/main" val="420528437"/>
              </p:ext>
            </p:extLst>
          </p:nvPr>
        </p:nvGraphicFramePr>
        <p:xfrm>
          <a:off x="336580" y="609676"/>
          <a:ext cx="8592267" cy="4089809"/>
        </p:xfrm>
        <a:graphic>
          <a:graphicData uri="http://schemas.openxmlformats.org/drawingml/2006/table">
            <a:tbl>
              <a:tblPr firstRow="1" bandRow="1">
                <a:tableStyleId>{5C22544A-7EE6-4342-B048-85BDC9FD1C3A}</a:tableStyleId>
              </a:tblPr>
              <a:tblGrid>
                <a:gridCol w="1521005">
                  <a:extLst>
                    <a:ext uri="{9D8B030D-6E8A-4147-A177-3AD203B41FA5}">
                      <a16:colId xmlns:a16="http://schemas.microsoft.com/office/drawing/2014/main" val="2375906956"/>
                    </a:ext>
                  </a:extLst>
                </a:gridCol>
                <a:gridCol w="2875780">
                  <a:extLst>
                    <a:ext uri="{9D8B030D-6E8A-4147-A177-3AD203B41FA5}">
                      <a16:colId xmlns:a16="http://schemas.microsoft.com/office/drawing/2014/main" val="3161937322"/>
                    </a:ext>
                  </a:extLst>
                </a:gridCol>
                <a:gridCol w="2950669">
                  <a:extLst>
                    <a:ext uri="{9D8B030D-6E8A-4147-A177-3AD203B41FA5}">
                      <a16:colId xmlns:a16="http://schemas.microsoft.com/office/drawing/2014/main" val="3229427417"/>
                    </a:ext>
                  </a:extLst>
                </a:gridCol>
                <a:gridCol w="1244813">
                  <a:extLst>
                    <a:ext uri="{9D8B030D-6E8A-4147-A177-3AD203B41FA5}">
                      <a16:colId xmlns:a16="http://schemas.microsoft.com/office/drawing/2014/main" val="1163651350"/>
                    </a:ext>
                  </a:extLst>
                </a:gridCol>
              </a:tblGrid>
              <a:tr h="412766">
                <a:tc>
                  <a:txBody>
                    <a:bodyPr/>
                    <a:lstStyle/>
                    <a:p>
                      <a:pPr algn="ctr"/>
                      <a:r>
                        <a:rPr lang="fr-CA" sz="1100" noProof="0">
                          <a:solidFill>
                            <a:srgbClr val="262626"/>
                          </a:solidFill>
                        </a:rPr>
                        <a:t>Processus N1</a:t>
                      </a:r>
                    </a:p>
                  </a:txBody>
                  <a:tcPr anchor="ctr"/>
                </a:tc>
                <a:tc>
                  <a:txBody>
                    <a:bodyPr/>
                    <a:lstStyle/>
                    <a:p>
                      <a:pPr algn="ctr"/>
                      <a:r>
                        <a:rPr lang="fr-CA" sz="1100" noProof="0">
                          <a:solidFill>
                            <a:srgbClr val="262626"/>
                          </a:solidFill>
                        </a:rPr>
                        <a:t>Processus N2</a:t>
                      </a:r>
                    </a:p>
                  </a:txBody>
                  <a:tcPr anchor="ctr"/>
                </a:tc>
                <a:tc>
                  <a:txBody>
                    <a:bodyPr/>
                    <a:lstStyle/>
                    <a:p>
                      <a:pPr algn="ctr"/>
                      <a:r>
                        <a:rPr lang="fr-CA" sz="1100" noProof="0">
                          <a:solidFill>
                            <a:srgbClr val="262626"/>
                          </a:solidFill>
                        </a:rPr>
                        <a:t>Processus N3</a:t>
                      </a:r>
                    </a:p>
                  </a:txBody>
                  <a:tcPr anchor="ctr"/>
                </a:tc>
                <a:tc>
                  <a:txBody>
                    <a:bodyPr/>
                    <a:lstStyle/>
                    <a:p>
                      <a:pPr algn="ctr"/>
                      <a:r>
                        <a:rPr lang="fr-CA" sz="1100" noProof="0">
                          <a:solidFill>
                            <a:srgbClr val="262626"/>
                          </a:solidFill>
                        </a:rPr>
                        <a:t>Nouveau processus</a:t>
                      </a:r>
                    </a:p>
                  </a:txBody>
                  <a:tcPr anchor="ctr"/>
                </a:tc>
                <a:extLst>
                  <a:ext uri="{0D108BD9-81ED-4DB2-BD59-A6C34878D82A}">
                    <a16:rowId xmlns:a16="http://schemas.microsoft.com/office/drawing/2014/main" val="774515336"/>
                  </a:ext>
                </a:extLst>
              </a:tr>
              <a:tr h="244187">
                <a:tc rowSpan="3">
                  <a:txBody>
                    <a:bodyPr/>
                    <a:lstStyle/>
                    <a:p>
                      <a:pPr marL="0" algn="ctr" defTabSz="914400" rtl="0" eaLnBrk="1" fontAlgn="base" latinLnBrk="0" hangingPunct="1">
                        <a:lnSpc>
                          <a:spcPts val="1200"/>
                        </a:lnSpc>
                        <a:buNone/>
                      </a:pPr>
                      <a:r>
                        <a:rPr lang="fr-CA" sz="1050" b="1" i="0" u="none" strike="noStrike" kern="1200" noProof="0">
                          <a:solidFill>
                            <a:srgbClr val="000000"/>
                          </a:solidFill>
                          <a:effectLst/>
                          <a:latin typeface="Calibri" panose="020F0502020204030204" pitchFamily="34" charset="0"/>
                          <a:ea typeface="+mn-ea"/>
                          <a:cs typeface="+mn-cs"/>
                        </a:rPr>
                        <a:t>Administration et structure des comptes de banque</a:t>
                      </a:r>
                    </a:p>
                  </a:txBody>
                  <a:tcPr anchor="ctr"/>
                </a:tc>
                <a:tc rowSpan="2">
                  <a:txBody>
                    <a:bodyPr/>
                    <a:lstStyle/>
                    <a:p>
                      <a:pPr algn="l" rtl="0" fontAlgn="base">
                        <a:lnSpc>
                          <a:spcPts val="1200"/>
                        </a:lnSpc>
                        <a:buNone/>
                      </a:pPr>
                      <a:r>
                        <a:rPr lang="fr-CA" sz="1050" b="0" i="0" u="none" strike="noStrike" kern="1200" noProof="0">
                          <a:solidFill>
                            <a:srgbClr val="262626"/>
                          </a:solidFill>
                          <a:effectLst/>
                          <a:latin typeface="Calibri" panose="020F0502020204030204" pitchFamily="34" charset="0"/>
                          <a:ea typeface="+mn-ea"/>
                          <a:cs typeface="+mn-cs"/>
                        </a:rPr>
                        <a:t>Gérer les accès et les rôles</a:t>
                      </a:r>
                    </a:p>
                  </a:txBody>
                  <a:tcPr anchor="ctr"/>
                </a:tc>
                <a:tc>
                  <a:txBody>
                    <a:bodyPr/>
                    <a:lstStyle/>
                    <a:p>
                      <a:pPr marL="92075" indent="0" algn="l" defTabSz="914400" rtl="0" eaLnBrk="1" fontAlgn="ctr" latinLnBrk="0" hangingPunct="1"/>
                      <a:r>
                        <a:rPr lang="fr-CA" sz="900" kern="1200" noProof="0">
                          <a:solidFill>
                            <a:srgbClr val="262626"/>
                          </a:solidFill>
                          <a:latin typeface="+mn-lt"/>
                          <a:ea typeface="+mn-ea"/>
                          <a:cs typeface="+mn-cs"/>
                        </a:rPr>
                        <a:t>Réviser et maintenir les accès aux plateformes bancaires</a:t>
                      </a:r>
                    </a:p>
                  </a:txBody>
                  <a:tcPr marL="0" marR="0" marT="0" marB="0" anchor="ctr"/>
                </a:tc>
                <a:tc>
                  <a:txBody>
                    <a:bodyPr/>
                    <a:lstStyle/>
                    <a:p>
                      <a:pPr algn="l"/>
                      <a:endParaRPr lang="fr-CA" sz="900" noProof="0">
                        <a:solidFill>
                          <a:srgbClr val="262626"/>
                        </a:solidFill>
                      </a:endParaRPr>
                    </a:p>
                  </a:txBody>
                  <a:tcPr/>
                </a:tc>
                <a:extLst>
                  <a:ext uri="{0D108BD9-81ED-4DB2-BD59-A6C34878D82A}">
                    <a16:rowId xmlns:a16="http://schemas.microsoft.com/office/drawing/2014/main" val="2566760826"/>
                  </a:ext>
                </a:extLst>
              </a:tr>
              <a:tr h="235866">
                <a:tc vMerge="1">
                  <a:txBody>
                    <a:bodyPr/>
                    <a:lstStyle/>
                    <a:p>
                      <a:endParaRPr lang="fr-CA"/>
                    </a:p>
                  </a:txBody>
                  <a:tcPr/>
                </a:tc>
                <a:tc vMerge="1">
                  <a:txBody>
                    <a:bodyPr/>
                    <a:lstStyle/>
                    <a:p>
                      <a:pPr algn="l" rtl="0" fontAlgn="base">
                        <a:lnSpc>
                          <a:spcPts val="1200"/>
                        </a:lnSpc>
                        <a:buNone/>
                      </a:pPr>
                      <a:endParaRPr lang="fr-FR" sz="1050" b="0" i="0">
                        <a:solidFill>
                          <a:srgbClr val="262626"/>
                        </a:solidFill>
                        <a:effectLst/>
                      </a:endParaRPr>
                    </a:p>
                  </a:txBody>
                  <a:tcPr/>
                </a:tc>
                <a:tc>
                  <a:txBody>
                    <a:bodyPr/>
                    <a:lstStyle/>
                    <a:p>
                      <a:pPr marL="92075" indent="0" algn="l" defTabSz="914400" rtl="0" eaLnBrk="1" fontAlgn="ctr" latinLnBrk="0" hangingPunct="1"/>
                      <a:r>
                        <a:rPr lang="fr-CA" sz="900" kern="1200" noProof="0">
                          <a:solidFill>
                            <a:srgbClr val="262626"/>
                          </a:solidFill>
                          <a:latin typeface="+mn-lt"/>
                          <a:ea typeface="+mn-ea"/>
                          <a:cs typeface="+mn-cs"/>
                        </a:rPr>
                        <a:t>Maintenir les matrices d'approbation sur les plateformes bancaires</a:t>
                      </a:r>
                    </a:p>
                  </a:txBody>
                  <a:tcPr marL="0" marR="0" marT="0" marB="0" anchor="ctr"/>
                </a:tc>
                <a:tc>
                  <a:txBody>
                    <a:bodyPr/>
                    <a:lstStyle/>
                    <a:p>
                      <a:pPr algn="l"/>
                      <a:endParaRPr lang="fr-CA" sz="900" noProof="0">
                        <a:solidFill>
                          <a:srgbClr val="262626"/>
                        </a:solidFill>
                      </a:endParaRPr>
                    </a:p>
                  </a:txBody>
                  <a:tcPr/>
                </a:tc>
                <a:extLst>
                  <a:ext uri="{0D108BD9-81ED-4DB2-BD59-A6C34878D82A}">
                    <a16:rowId xmlns:a16="http://schemas.microsoft.com/office/drawing/2014/main" val="1339272907"/>
                  </a:ext>
                </a:extLst>
              </a:tr>
              <a:tr h="235866">
                <a:tc vMerge="1">
                  <a:txBody>
                    <a:bodyPr/>
                    <a:lstStyle/>
                    <a:p>
                      <a:endParaRPr lang="fr-CA"/>
                    </a:p>
                  </a:txBody>
                  <a:tcPr/>
                </a:tc>
                <a:tc>
                  <a:txBody>
                    <a:bodyPr/>
                    <a:lstStyle/>
                    <a:p>
                      <a:pPr algn="l" rtl="0" fontAlgn="base">
                        <a:lnSpc>
                          <a:spcPts val="1200"/>
                        </a:lnSpc>
                        <a:buNone/>
                      </a:pPr>
                      <a:r>
                        <a:rPr lang="fr-CA" sz="1050" b="0" i="0" noProof="0">
                          <a:solidFill>
                            <a:srgbClr val="262626"/>
                          </a:solidFill>
                          <a:effectLst/>
                        </a:rPr>
                        <a:t>Opérationnaliser la stratégie de rémunération des comptes de banques</a:t>
                      </a:r>
                    </a:p>
                  </a:txBody>
                  <a:tcPr/>
                </a:tc>
                <a:tc>
                  <a:txBody>
                    <a:bodyPr/>
                    <a:lstStyle/>
                    <a:p>
                      <a:pPr marL="92075" indent="0" algn="l" defTabSz="914400" rtl="0" eaLnBrk="1" fontAlgn="b" latinLnBrk="0" hangingPunct="1"/>
                      <a:r>
                        <a:rPr lang="fr-CA" sz="900" kern="1200" noProof="0">
                          <a:solidFill>
                            <a:srgbClr val="262626"/>
                          </a:solidFill>
                          <a:latin typeface="+mn-lt"/>
                          <a:ea typeface="+mn-ea"/>
                          <a:cs typeface="+mn-cs"/>
                        </a:rPr>
                        <a:t>Valider l'application de la stratégie de rémunération</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1647929888"/>
                  </a:ext>
                </a:extLst>
              </a:tr>
              <a:tr h="235866">
                <a:tc rowSpan="4">
                  <a:txBody>
                    <a:bodyPr/>
                    <a:lstStyle/>
                    <a:p>
                      <a:pPr marL="0" algn="ctr" defTabSz="914400" rtl="0" eaLnBrk="1" fontAlgn="base" latinLnBrk="0" hangingPunct="1">
                        <a:lnSpc>
                          <a:spcPts val="1200"/>
                        </a:lnSpc>
                        <a:buNone/>
                      </a:pPr>
                      <a:r>
                        <a:rPr lang="fr-CA" sz="1050" b="1" i="0" u="none" strike="noStrike" kern="1200" noProof="0">
                          <a:solidFill>
                            <a:srgbClr val="000000"/>
                          </a:solidFill>
                          <a:effectLst/>
                          <a:latin typeface="Calibri" panose="020F0502020204030204" pitchFamily="34" charset="0"/>
                          <a:ea typeface="+mn-ea"/>
                          <a:cs typeface="+mn-cs"/>
                        </a:rPr>
                        <a:t>Conciliations bancaires</a:t>
                      </a:r>
                    </a:p>
                  </a:txBody>
                  <a:tcPr anchor="ctr"/>
                </a:tc>
                <a:tc rowSpan="4">
                  <a:txBody>
                    <a:bodyPr/>
                    <a:lstStyle/>
                    <a:p>
                      <a:pPr algn="l" rtl="0" fontAlgn="base">
                        <a:lnSpc>
                          <a:spcPts val="1200"/>
                        </a:lnSpc>
                        <a:buNone/>
                      </a:pPr>
                      <a:r>
                        <a:rPr lang="fr-CA" sz="1050" b="0" i="0" noProof="0">
                          <a:solidFill>
                            <a:srgbClr val="262626"/>
                          </a:solidFill>
                          <a:effectLst/>
                        </a:rPr>
                        <a:t>Concilier les comptes bancaires</a:t>
                      </a:r>
                    </a:p>
                  </a:txBody>
                  <a:tcPr anchor="ctr"/>
                </a:tc>
                <a:tc>
                  <a:txBody>
                    <a:bodyPr/>
                    <a:lstStyle/>
                    <a:p>
                      <a:pPr marL="92075" indent="0" algn="l" rtl="0" fontAlgn="ctr"/>
                      <a:r>
                        <a:rPr lang="fr-CA" sz="900" kern="1200" noProof="0">
                          <a:solidFill>
                            <a:srgbClr val="262626"/>
                          </a:solidFill>
                          <a:latin typeface="+mn-lt"/>
                          <a:ea typeface="+mn-ea"/>
                          <a:cs typeface="+mn-cs"/>
                        </a:rPr>
                        <a:t>Gérer les conciliations bancaires quotidiennes</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1132158584"/>
                  </a:ext>
                </a:extLst>
              </a:tr>
              <a:tr h="235866">
                <a:tc vMerge="1">
                  <a:txBody>
                    <a:bodyPr/>
                    <a:lstStyle/>
                    <a:p>
                      <a:pPr marL="0" algn="ctr" defTabSz="914400" rtl="0" eaLnBrk="1" fontAlgn="base" latinLnBrk="0" hangingPunct="1">
                        <a:lnSpc>
                          <a:spcPts val="1200"/>
                        </a:lnSpc>
                        <a:buNone/>
                      </a:pPr>
                      <a:endParaRPr lang="fr-FR" sz="1050" b="1" i="0" u="none" strike="noStrike" kern="1200">
                        <a:solidFill>
                          <a:srgbClr val="000000"/>
                        </a:solidFill>
                        <a:effectLst/>
                        <a:latin typeface="Calibri" panose="020F0502020204030204" pitchFamily="34" charset="0"/>
                        <a:ea typeface="+mn-ea"/>
                        <a:cs typeface="+mn-cs"/>
                      </a:endParaRPr>
                    </a:p>
                  </a:txBody>
                  <a:tcPr anchor="ctr"/>
                </a:tc>
                <a:tc vMerge="1">
                  <a:txBody>
                    <a:bodyPr/>
                    <a:lstStyle/>
                    <a:p>
                      <a:pPr algn="l" rtl="0" fontAlgn="base">
                        <a:lnSpc>
                          <a:spcPts val="1200"/>
                        </a:lnSpc>
                        <a:buNone/>
                      </a:pPr>
                      <a:endParaRPr lang="fr-FR" sz="1050" b="0" i="0">
                        <a:solidFill>
                          <a:srgbClr val="262626"/>
                        </a:solidFill>
                        <a:effectLst/>
                      </a:endParaRPr>
                    </a:p>
                  </a:txBody>
                  <a:tcPr/>
                </a:tc>
                <a:tc>
                  <a:txBody>
                    <a:bodyPr/>
                    <a:lstStyle/>
                    <a:p>
                      <a:pPr marL="92075" indent="0" algn="l" rtl="0" fontAlgn="ctr"/>
                      <a:r>
                        <a:rPr lang="fr-CA" sz="900" kern="1200" noProof="0">
                          <a:solidFill>
                            <a:srgbClr val="262626"/>
                          </a:solidFill>
                          <a:latin typeface="+mn-lt"/>
                          <a:ea typeface="+mn-ea"/>
                          <a:cs typeface="+mn-cs"/>
                        </a:rPr>
                        <a:t>Gérer les conciliations bancaires mensuelles</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322800414"/>
                  </a:ext>
                </a:extLst>
              </a:tr>
              <a:tr h="235866">
                <a:tc vMerge="1">
                  <a:txBody>
                    <a:bodyPr/>
                    <a:lstStyle/>
                    <a:p>
                      <a:pPr marL="0" algn="ctr" defTabSz="914400" rtl="0" eaLnBrk="1" fontAlgn="base" latinLnBrk="0" hangingPunct="1">
                        <a:lnSpc>
                          <a:spcPts val="1200"/>
                        </a:lnSpc>
                        <a:buNone/>
                      </a:pPr>
                      <a:endParaRPr lang="fr-FR" sz="1050" b="1" i="0" u="none" strike="noStrike" kern="1200">
                        <a:solidFill>
                          <a:srgbClr val="000000"/>
                        </a:solidFill>
                        <a:effectLst/>
                        <a:latin typeface="Calibri" panose="020F0502020204030204" pitchFamily="34" charset="0"/>
                        <a:ea typeface="+mn-ea"/>
                        <a:cs typeface="+mn-cs"/>
                      </a:endParaRPr>
                    </a:p>
                  </a:txBody>
                  <a:tcPr anchor="ctr"/>
                </a:tc>
                <a:tc vMerge="1">
                  <a:txBody>
                    <a:bodyPr/>
                    <a:lstStyle/>
                    <a:p>
                      <a:pPr algn="l" rtl="0" fontAlgn="base">
                        <a:lnSpc>
                          <a:spcPts val="1200"/>
                        </a:lnSpc>
                        <a:buNone/>
                      </a:pPr>
                      <a:endParaRPr lang="fr-FR" sz="1050" b="0" i="0">
                        <a:solidFill>
                          <a:srgbClr val="262626"/>
                        </a:solidFill>
                        <a:effectLst/>
                      </a:endParaRPr>
                    </a:p>
                  </a:txBody>
                  <a:tcPr/>
                </a:tc>
                <a:tc>
                  <a:txBody>
                    <a:bodyPr/>
                    <a:lstStyle/>
                    <a:p>
                      <a:pPr marL="92075" indent="0" algn="l" rtl="0" fontAlgn="ctr"/>
                      <a:r>
                        <a:rPr lang="fr-CA" sz="900" kern="1200" noProof="0">
                          <a:solidFill>
                            <a:srgbClr val="262626"/>
                          </a:solidFill>
                          <a:latin typeface="+mn-lt"/>
                          <a:ea typeface="+mn-ea"/>
                          <a:cs typeface="+mn-cs"/>
                        </a:rPr>
                        <a:t>Révision/maintenance des règles d'affaire d'automatisation de la conciliation bancaires</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3761637257"/>
                  </a:ext>
                </a:extLst>
              </a:tr>
              <a:tr h="235866">
                <a:tc vMerge="1">
                  <a:txBody>
                    <a:bodyPr/>
                    <a:lstStyle/>
                    <a:p>
                      <a:pPr marL="0" algn="ctr" defTabSz="914400" rtl="0" eaLnBrk="1" fontAlgn="base" latinLnBrk="0" hangingPunct="1">
                        <a:lnSpc>
                          <a:spcPts val="1200"/>
                        </a:lnSpc>
                        <a:buNone/>
                      </a:pPr>
                      <a:endParaRPr lang="fr-FR" sz="1050" b="1" i="0" u="none" strike="noStrike" kern="1200">
                        <a:solidFill>
                          <a:srgbClr val="000000"/>
                        </a:solidFill>
                        <a:effectLst/>
                        <a:latin typeface="Calibri" panose="020F0502020204030204" pitchFamily="34" charset="0"/>
                        <a:ea typeface="+mn-ea"/>
                        <a:cs typeface="+mn-cs"/>
                      </a:endParaRPr>
                    </a:p>
                  </a:txBody>
                  <a:tcPr anchor="ctr"/>
                </a:tc>
                <a:tc vMerge="1">
                  <a:txBody>
                    <a:bodyPr/>
                    <a:lstStyle/>
                    <a:p>
                      <a:pPr algn="l" rtl="0" fontAlgn="base">
                        <a:lnSpc>
                          <a:spcPts val="1200"/>
                        </a:lnSpc>
                        <a:buNone/>
                      </a:pPr>
                      <a:endParaRPr lang="fr-FR" sz="1050" b="0" i="0">
                        <a:solidFill>
                          <a:srgbClr val="262626"/>
                        </a:solidFill>
                        <a:effectLst/>
                      </a:endParaRPr>
                    </a:p>
                  </a:txBody>
                  <a:tcPr/>
                </a:tc>
                <a:tc>
                  <a:txBody>
                    <a:bodyPr/>
                    <a:lstStyle/>
                    <a:p>
                      <a:pPr marL="92075" indent="0" algn="l" rtl="0" fontAlgn="ctr"/>
                      <a:r>
                        <a:rPr lang="fr-CA" sz="900" kern="1200" noProof="0">
                          <a:solidFill>
                            <a:srgbClr val="262626"/>
                          </a:solidFill>
                          <a:latin typeface="+mn-lt"/>
                          <a:ea typeface="+mn-ea"/>
                          <a:cs typeface="+mn-cs"/>
                        </a:rPr>
                        <a:t>Gérer les conciliations de comptes transitoires</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3353634014"/>
                  </a:ext>
                </a:extLst>
              </a:tr>
              <a:tr h="235866">
                <a:tc>
                  <a:txBody>
                    <a:bodyPr/>
                    <a:lstStyle/>
                    <a:p>
                      <a:pPr marL="0" algn="ctr" defTabSz="914400" rtl="0" eaLnBrk="1" fontAlgn="base" latinLnBrk="0" hangingPunct="1">
                        <a:lnSpc>
                          <a:spcPts val="1200"/>
                        </a:lnSpc>
                        <a:buNone/>
                      </a:pPr>
                      <a:r>
                        <a:rPr lang="fr-CA" sz="1050" b="1" i="0" u="none" strike="noStrike" kern="1200" noProof="0">
                          <a:solidFill>
                            <a:srgbClr val="000000"/>
                          </a:solidFill>
                          <a:effectLst/>
                          <a:latin typeface="Calibri" panose="020F0502020204030204" pitchFamily="34" charset="0"/>
                          <a:ea typeface="+mn-ea"/>
                          <a:cs typeface="+mn-cs"/>
                        </a:rPr>
                        <a:t>Gestion coordonnées bancaires des clients</a:t>
                      </a:r>
                    </a:p>
                  </a:txBody>
                  <a:tcPr anchor="ctr"/>
                </a:tc>
                <a:tc>
                  <a:txBody>
                    <a:bodyPr/>
                    <a:lstStyle/>
                    <a:p>
                      <a:pPr algn="l" rtl="0" fontAlgn="base">
                        <a:lnSpc>
                          <a:spcPts val="1200"/>
                        </a:lnSpc>
                        <a:buNone/>
                      </a:pPr>
                      <a:r>
                        <a:rPr lang="fr-CA" sz="1050" b="0" i="0" noProof="0">
                          <a:solidFill>
                            <a:srgbClr val="262626"/>
                          </a:solidFill>
                          <a:effectLst/>
                        </a:rPr>
                        <a:t>Gestion des coordonnées bancaires des clients</a:t>
                      </a:r>
                    </a:p>
                  </a:txBody>
                  <a:tcPr anchor="ctr"/>
                </a:tc>
                <a:tc>
                  <a:txBody>
                    <a:bodyPr/>
                    <a:lstStyle/>
                    <a:p>
                      <a:pPr marL="92075" indent="0" algn="l" defTabSz="914400" rtl="0" eaLnBrk="1" fontAlgn="b" latinLnBrk="0" hangingPunct="1"/>
                      <a:r>
                        <a:rPr lang="fr-CA" sz="900" kern="1200" noProof="0">
                          <a:solidFill>
                            <a:srgbClr val="262626"/>
                          </a:solidFill>
                          <a:latin typeface="+mn-lt"/>
                          <a:ea typeface="+mn-ea"/>
                          <a:cs typeface="+mn-cs"/>
                        </a:rPr>
                        <a:t>Maintenir les coordonnées bancaires utilisé dans Kyriba</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2552801703"/>
                  </a:ext>
                </a:extLst>
              </a:tr>
              <a:tr h="235866">
                <a:tc rowSpan="5">
                  <a:txBody>
                    <a:bodyPr/>
                    <a:lstStyle/>
                    <a:p>
                      <a:pPr marL="0" algn="ctr" defTabSz="914400" rtl="0" eaLnBrk="1" fontAlgn="base" latinLnBrk="0" hangingPunct="1">
                        <a:lnSpc>
                          <a:spcPts val="1200"/>
                        </a:lnSpc>
                        <a:buNone/>
                      </a:pPr>
                      <a:r>
                        <a:rPr lang="fr-CA" sz="1050" b="1" i="0" u="none" strike="noStrike" kern="1200" noProof="0">
                          <a:solidFill>
                            <a:srgbClr val="000000"/>
                          </a:solidFill>
                          <a:effectLst/>
                          <a:latin typeface="Calibri" panose="020F0502020204030204" pitchFamily="34" charset="0"/>
                          <a:ea typeface="+mn-ea"/>
                          <a:cs typeface="+mn-cs"/>
                        </a:rPr>
                        <a:t>Soutien aux partenaires</a:t>
                      </a:r>
                    </a:p>
                  </a:txBody>
                  <a:tcPr anchor="ctr"/>
                </a:tc>
                <a:tc rowSpan="5">
                  <a:txBody>
                    <a:bodyPr/>
                    <a:lstStyle/>
                    <a:p>
                      <a:pPr algn="l" rtl="0" fontAlgn="base">
                        <a:lnSpc>
                          <a:spcPts val="1200"/>
                        </a:lnSpc>
                        <a:buNone/>
                      </a:pPr>
                      <a:r>
                        <a:rPr lang="fr-CA" sz="1050" b="0" i="0" noProof="0">
                          <a:solidFill>
                            <a:srgbClr val="262626"/>
                          </a:solidFill>
                          <a:effectLst/>
                        </a:rPr>
                        <a:t>Soutien aux partenaires</a:t>
                      </a:r>
                    </a:p>
                  </a:txBody>
                  <a:tcPr anchor="ctr"/>
                </a:tc>
                <a:tc>
                  <a:txBody>
                    <a:bodyPr/>
                    <a:lstStyle/>
                    <a:p>
                      <a:pPr marL="92075" indent="0" algn="l" rtl="0" fontAlgn="b"/>
                      <a:r>
                        <a:rPr lang="fr-CA" sz="900" kern="1200" noProof="0">
                          <a:solidFill>
                            <a:srgbClr val="262626"/>
                          </a:solidFill>
                          <a:latin typeface="+mn-lt"/>
                          <a:ea typeface="+mn-ea"/>
                          <a:cs typeface="+mn-cs"/>
                        </a:rPr>
                        <a:t>Maintenir et réviser les documents liés au politiques et procédure</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199742653"/>
                  </a:ext>
                </a:extLst>
              </a:tr>
              <a:tr h="235866">
                <a:tc vMerge="1">
                  <a:txBody>
                    <a:bodyPr/>
                    <a:lstStyle/>
                    <a:p>
                      <a:pPr marL="0" algn="ctr" defTabSz="914400" rtl="0" eaLnBrk="1" fontAlgn="base" latinLnBrk="0" hangingPunct="1">
                        <a:lnSpc>
                          <a:spcPts val="1200"/>
                        </a:lnSpc>
                        <a:buNone/>
                      </a:pPr>
                      <a:endParaRPr lang="fr-FR" sz="1050" b="1" i="0" u="none" strike="noStrike" kern="1200">
                        <a:solidFill>
                          <a:srgbClr val="000000"/>
                        </a:solidFill>
                        <a:effectLst/>
                        <a:latin typeface="Calibri" panose="020F0502020204030204" pitchFamily="34" charset="0"/>
                        <a:ea typeface="+mn-ea"/>
                        <a:cs typeface="+mn-cs"/>
                      </a:endParaRPr>
                    </a:p>
                  </a:txBody>
                  <a:tcPr anchor="ctr"/>
                </a:tc>
                <a:tc vMerge="1">
                  <a:txBody>
                    <a:bodyPr/>
                    <a:lstStyle/>
                    <a:p>
                      <a:pPr algn="l" rtl="0" fontAlgn="base">
                        <a:lnSpc>
                          <a:spcPts val="1200"/>
                        </a:lnSpc>
                        <a:buNone/>
                      </a:pPr>
                      <a:endParaRPr lang="fr-FR" sz="1050" b="0" i="0">
                        <a:solidFill>
                          <a:srgbClr val="262626"/>
                        </a:solidFill>
                        <a:effectLst/>
                      </a:endParaRPr>
                    </a:p>
                  </a:txBody>
                  <a:tcPr/>
                </a:tc>
                <a:tc>
                  <a:txBody>
                    <a:bodyPr/>
                    <a:lstStyle/>
                    <a:p>
                      <a:pPr marL="92075" indent="0" algn="l" rtl="0" fontAlgn="b"/>
                      <a:r>
                        <a:rPr lang="fr-CA" sz="900" kern="1200" noProof="0">
                          <a:solidFill>
                            <a:srgbClr val="262626"/>
                          </a:solidFill>
                          <a:latin typeface="+mn-lt"/>
                          <a:ea typeface="+mn-ea"/>
                          <a:cs typeface="+mn-cs"/>
                        </a:rPr>
                        <a:t>Gérer les demandes des partenaires ou banques</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48139054"/>
                  </a:ext>
                </a:extLst>
              </a:tr>
              <a:tr h="235866">
                <a:tc vMerge="1">
                  <a:txBody>
                    <a:bodyPr/>
                    <a:lstStyle/>
                    <a:p>
                      <a:pPr marL="0" algn="ctr" defTabSz="914400" rtl="0" eaLnBrk="1" fontAlgn="base" latinLnBrk="0" hangingPunct="1">
                        <a:lnSpc>
                          <a:spcPts val="1200"/>
                        </a:lnSpc>
                        <a:buNone/>
                      </a:pPr>
                      <a:endParaRPr lang="fr-FR" sz="1050" b="1" i="0" u="none" strike="noStrike" kern="1200">
                        <a:solidFill>
                          <a:srgbClr val="000000"/>
                        </a:solidFill>
                        <a:effectLst/>
                        <a:latin typeface="Calibri" panose="020F0502020204030204" pitchFamily="34" charset="0"/>
                        <a:ea typeface="+mn-ea"/>
                        <a:cs typeface="+mn-cs"/>
                      </a:endParaRPr>
                    </a:p>
                  </a:txBody>
                  <a:tcPr anchor="ctr"/>
                </a:tc>
                <a:tc vMerge="1">
                  <a:txBody>
                    <a:bodyPr/>
                    <a:lstStyle/>
                    <a:p>
                      <a:pPr algn="l" rtl="0" fontAlgn="base">
                        <a:lnSpc>
                          <a:spcPts val="1200"/>
                        </a:lnSpc>
                        <a:buNone/>
                      </a:pPr>
                      <a:endParaRPr lang="fr-FR" sz="1050" b="0" i="0">
                        <a:solidFill>
                          <a:srgbClr val="262626"/>
                        </a:solidFill>
                        <a:effectLst/>
                      </a:endParaRPr>
                    </a:p>
                  </a:txBody>
                  <a:tcPr/>
                </a:tc>
                <a:tc>
                  <a:txBody>
                    <a:bodyPr/>
                    <a:lstStyle/>
                    <a:p>
                      <a:pPr marL="92075" indent="0" algn="l" rtl="0" fontAlgn="b"/>
                      <a:r>
                        <a:rPr lang="fr-CA" sz="900" kern="1200" noProof="0">
                          <a:solidFill>
                            <a:srgbClr val="262626"/>
                          </a:solidFill>
                          <a:latin typeface="+mn-lt"/>
                          <a:ea typeface="+mn-ea"/>
                          <a:cs typeface="+mn-cs"/>
                        </a:rPr>
                        <a:t>Former les utilisateurs et fournir la documentation</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189380460"/>
                  </a:ext>
                </a:extLst>
              </a:tr>
              <a:tr h="235866">
                <a:tc vMerge="1">
                  <a:txBody>
                    <a:bodyPr/>
                    <a:lstStyle/>
                    <a:p>
                      <a:pPr marL="0" algn="ctr" defTabSz="914400" rtl="0" eaLnBrk="1" fontAlgn="base" latinLnBrk="0" hangingPunct="1">
                        <a:lnSpc>
                          <a:spcPts val="1200"/>
                        </a:lnSpc>
                        <a:buNone/>
                      </a:pPr>
                      <a:endParaRPr lang="fr-FR" sz="1050" b="1" i="0" u="none" strike="noStrike" kern="1200">
                        <a:solidFill>
                          <a:srgbClr val="000000"/>
                        </a:solidFill>
                        <a:effectLst/>
                        <a:latin typeface="Calibri" panose="020F0502020204030204" pitchFamily="34" charset="0"/>
                        <a:ea typeface="+mn-ea"/>
                        <a:cs typeface="+mn-cs"/>
                      </a:endParaRPr>
                    </a:p>
                  </a:txBody>
                  <a:tcPr anchor="ctr"/>
                </a:tc>
                <a:tc vMerge="1">
                  <a:txBody>
                    <a:bodyPr/>
                    <a:lstStyle/>
                    <a:p>
                      <a:pPr algn="l" rtl="0" fontAlgn="base">
                        <a:lnSpc>
                          <a:spcPts val="1200"/>
                        </a:lnSpc>
                        <a:buNone/>
                      </a:pPr>
                      <a:endParaRPr lang="fr-FR" sz="1050" b="0" i="0">
                        <a:solidFill>
                          <a:srgbClr val="262626"/>
                        </a:solidFill>
                        <a:effectLst/>
                      </a:endParaRPr>
                    </a:p>
                  </a:txBody>
                  <a:tcPr/>
                </a:tc>
                <a:tc>
                  <a:txBody>
                    <a:bodyPr/>
                    <a:lstStyle/>
                    <a:p>
                      <a:pPr marL="92075" indent="0" algn="l" rtl="0" fontAlgn="b"/>
                      <a:r>
                        <a:rPr lang="fr-CA" sz="900" kern="1200" noProof="0">
                          <a:solidFill>
                            <a:srgbClr val="262626"/>
                          </a:solidFill>
                          <a:latin typeface="+mn-lt"/>
                          <a:ea typeface="+mn-ea"/>
                          <a:cs typeface="+mn-cs"/>
                        </a:rPr>
                        <a:t>Offrir un service conseil à nos partenaires</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3586101521"/>
                  </a:ext>
                </a:extLst>
              </a:tr>
              <a:tr h="235866">
                <a:tc vMerge="1">
                  <a:txBody>
                    <a:bodyPr/>
                    <a:lstStyle/>
                    <a:p>
                      <a:pPr marL="0" algn="ctr" defTabSz="914400" rtl="0" eaLnBrk="1" fontAlgn="base" latinLnBrk="0" hangingPunct="1">
                        <a:lnSpc>
                          <a:spcPts val="1200"/>
                        </a:lnSpc>
                        <a:buNone/>
                      </a:pPr>
                      <a:endParaRPr lang="fr-FR" sz="1050" b="1" i="0" u="none" strike="noStrike" kern="1200">
                        <a:solidFill>
                          <a:srgbClr val="000000"/>
                        </a:solidFill>
                        <a:effectLst/>
                        <a:latin typeface="Calibri" panose="020F0502020204030204" pitchFamily="34" charset="0"/>
                        <a:ea typeface="+mn-ea"/>
                        <a:cs typeface="+mn-cs"/>
                      </a:endParaRPr>
                    </a:p>
                  </a:txBody>
                  <a:tcPr anchor="ctr"/>
                </a:tc>
                <a:tc vMerge="1">
                  <a:txBody>
                    <a:bodyPr/>
                    <a:lstStyle/>
                    <a:p>
                      <a:pPr algn="l" rtl="0" fontAlgn="base">
                        <a:lnSpc>
                          <a:spcPts val="1200"/>
                        </a:lnSpc>
                        <a:buNone/>
                      </a:pPr>
                      <a:endParaRPr lang="fr-FR" sz="1050" b="0" i="0">
                        <a:solidFill>
                          <a:srgbClr val="262626"/>
                        </a:solidFill>
                        <a:effectLst/>
                      </a:endParaRPr>
                    </a:p>
                  </a:txBody>
                  <a:tcPr/>
                </a:tc>
                <a:tc>
                  <a:txBody>
                    <a:bodyPr/>
                    <a:lstStyle/>
                    <a:p>
                      <a:pPr marL="92075" indent="0" algn="l" fontAlgn="b"/>
                      <a:r>
                        <a:rPr lang="fr-CA" sz="900" kern="1200" noProof="0">
                          <a:solidFill>
                            <a:srgbClr val="262626"/>
                          </a:solidFill>
                          <a:latin typeface="+mn-lt"/>
                          <a:ea typeface="+mn-ea"/>
                          <a:cs typeface="+mn-cs"/>
                        </a:rPr>
                        <a:t>Gérer la refacturation des services bancaires (frais bancaires)</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3821575275"/>
                  </a:ext>
                </a:extLst>
              </a:tr>
            </a:tbl>
          </a:graphicData>
        </a:graphic>
      </p:graphicFrame>
      <p:sp>
        <p:nvSpPr>
          <p:cNvPr id="5" name="ZoneTexte 4">
            <a:extLst>
              <a:ext uri="{FF2B5EF4-FFF2-40B4-BE49-F238E27FC236}">
                <a16:creationId xmlns:a16="http://schemas.microsoft.com/office/drawing/2014/main" id="{EB29B770-D6B2-3CB4-9984-5F112E3814F2}"/>
              </a:ext>
            </a:extLst>
          </p:cNvPr>
          <p:cNvSpPr txBox="1"/>
          <p:nvPr/>
        </p:nvSpPr>
        <p:spPr>
          <a:xfrm>
            <a:off x="331299" y="4774319"/>
            <a:ext cx="5838980" cy="369332"/>
          </a:xfrm>
          <a:prstGeom prst="rect">
            <a:avLst/>
          </a:prstGeom>
          <a:noFill/>
        </p:spPr>
        <p:txBody>
          <a:bodyPr wrap="square">
            <a:spAutoFit/>
          </a:bodyPr>
          <a:lstStyle/>
          <a:p>
            <a:r>
              <a:rPr lang="fr-CA" sz="1800" noProof="0">
                <a:solidFill>
                  <a:srgbClr val="FF0000"/>
                </a:solidFill>
              </a:rPr>
              <a:t>*</a:t>
            </a:r>
            <a:r>
              <a:rPr lang="fr-CA" sz="1400" noProof="0">
                <a:solidFill>
                  <a:srgbClr val="262626"/>
                </a:solidFill>
              </a:rPr>
              <a:t> </a:t>
            </a:r>
            <a:r>
              <a:rPr lang="fr-CA" sz="1200" i="1" noProof="0">
                <a:solidFill>
                  <a:srgbClr val="262626"/>
                </a:solidFill>
              </a:rPr>
              <a:t>Implication majeur de la trésorerie corporative</a:t>
            </a:r>
            <a:endParaRPr lang="fr-CA" sz="1400" i="1" noProof="0">
              <a:solidFill>
                <a:srgbClr val="262626"/>
              </a:solidFill>
            </a:endParaRPr>
          </a:p>
        </p:txBody>
      </p:sp>
      <p:pic>
        <p:nvPicPr>
          <p:cNvPr id="13" name="Graphique 12" descr="Coche avec un remplissage uni">
            <a:extLst>
              <a:ext uri="{FF2B5EF4-FFF2-40B4-BE49-F238E27FC236}">
                <a16:creationId xmlns:a16="http://schemas.microsoft.com/office/drawing/2014/main" id="{6F6B807B-5814-487C-4436-C6E1CA73E88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96069" y="2417239"/>
            <a:ext cx="256310" cy="256310"/>
          </a:xfrm>
          <a:prstGeom prst="rect">
            <a:avLst/>
          </a:prstGeom>
        </p:spPr>
      </p:pic>
      <p:pic>
        <p:nvPicPr>
          <p:cNvPr id="4" name="Graphique 3" descr="Coche avec un remplissage uni">
            <a:extLst>
              <a:ext uri="{FF2B5EF4-FFF2-40B4-BE49-F238E27FC236}">
                <a16:creationId xmlns:a16="http://schemas.microsoft.com/office/drawing/2014/main" id="{9F006E25-1D03-0B74-EB81-20B9F4181F6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96069" y="3017521"/>
            <a:ext cx="256310" cy="256310"/>
          </a:xfrm>
          <a:prstGeom prst="rect">
            <a:avLst/>
          </a:prstGeom>
        </p:spPr>
      </p:pic>
      <p:pic>
        <p:nvPicPr>
          <p:cNvPr id="10" name="Graphique 9" descr="Coche avec un remplissage uni">
            <a:extLst>
              <a:ext uri="{FF2B5EF4-FFF2-40B4-BE49-F238E27FC236}">
                <a16:creationId xmlns:a16="http://schemas.microsoft.com/office/drawing/2014/main" id="{BA6F279C-B238-D424-E051-0BE547A3688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96069" y="3474280"/>
            <a:ext cx="256310" cy="256310"/>
          </a:xfrm>
          <a:prstGeom prst="rect">
            <a:avLst/>
          </a:prstGeom>
        </p:spPr>
      </p:pic>
      <p:pic>
        <p:nvPicPr>
          <p:cNvPr id="16" name="Graphique 15" descr="Coche avec un remplissage uni">
            <a:extLst>
              <a:ext uri="{FF2B5EF4-FFF2-40B4-BE49-F238E27FC236}">
                <a16:creationId xmlns:a16="http://schemas.microsoft.com/office/drawing/2014/main" id="{C5854AAB-0732-106D-6507-50E89352EDC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96069" y="4438594"/>
            <a:ext cx="256310" cy="256310"/>
          </a:xfrm>
          <a:prstGeom prst="rect">
            <a:avLst/>
          </a:prstGeom>
        </p:spPr>
      </p:pic>
      <p:pic>
        <p:nvPicPr>
          <p:cNvPr id="6" name="Graphique 5" descr="Coche avec un remplissage uni">
            <a:extLst>
              <a:ext uri="{FF2B5EF4-FFF2-40B4-BE49-F238E27FC236}">
                <a16:creationId xmlns:a16="http://schemas.microsoft.com/office/drawing/2014/main" id="{23709950-FBF8-978A-05B6-CC0D4D56817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96069" y="1622726"/>
            <a:ext cx="256310" cy="256310"/>
          </a:xfrm>
          <a:prstGeom prst="rect">
            <a:avLst/>
          </a:prstGeom>
        </p:spPr>
      </p:pic>
    </p:spTree>
    <p:extLst>
      <p:ext uri="{BB962C8B-B14F-4D97-AF65-F5344CB8AC3E}">
        <p14:creationId xmlns:p14="http://schemas.microsoft.com/office/powerpoint/2010/main" val="9761411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6C235-C975-03BB-4E08-A3BC3D15873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9D0154C-535E-6383-97F4-B4CAAF76B3A3}"/>
              </a:ext>
            </a:extLst>
          </p:cNvPr>
          <p:cNvSpPr>
            <a:spLocks noGrp="1"/>
          </p:cNvSpPr>
          <p:nvPr>
            <p:ph type="title"/>
          </p:nvPr>
        </p:nvSpPr>
        <p:spPr>
          <a:xfrm>
            <a:off x="210675" y="0"/>
            <a:ext cx="8908473" cy="462974"/>
          </a:xfrm>
          <a:solidFill>
            <a:schemeClr val="tx1"/>
          </a:solidFill>
        </p:spPr>
        <p:txBody>
          <a:bodyPr vert="horz" lIns="91440" tIns="45720" rIns="91440" bIns="45720" rtlCol="0" anchor="ctr">
            <a:normAutofit/>
          </a:bodyPr>
          <a:lstStyle/>
          <a:p>
            <a:r>
              <a:rPr lang="fr-CA" sz="2400" b="1" noProof="0">
                <a:solidFill>
                  <a:schemeClr val="bg1"/>
                </a:solidFill>
              </a:rPr>
              <a:t>Définition de la portée – Objectif 2</a:t>
            </a:r>
          </a:p>
        </p:txBody>
      </p:sp>
      <p:graphicFrame>
        <p:nvGraphicFramePr>
          <p:cNvPr id="3" name="Tableau 2">
            <a:extLst>
              <a:ext uri="{FF2B5EF4-FFF2-40B4-BE49-F238E27FC236}">
                <a16:creationId xmlns:a16="http://schemas.microsoft.com/office/drawing/2014/main" id="{C885B643-F57C-7F9D-8928-E93F03F611C1}"/>
              </a:ext>
            </a:extLst>
          </p:cNvPr>
          <p:cNvGraphicFramePr>
            <a:graphicFrameLocks noGrp="1"/>
          </p:cNvGraphicFramePr>
          <p:nvPr>
            <p:extLst>
              <p:ext uri="{D42A27DB-BD31-4B8C-83A1-F6EECF244321}">
                <p14:modId xmlns:p14="http://schemas.microsoft.com/office/powerpoint/2010/main" val="4210548237"/>
              </p:ext>
            </p:extLst>
          </p:nvPr>
        </p:nvGraphicFramePr>
        <p:xfrm>
          <a:off x="336580" y="609676"/>
          <a:ext cx="8592267" cy="4164593"/>
        </p:xfrm>
        <a:graphic>
          <a:graphicData uri="http://schemas.openxmlformats.org/drawingml/2006/table">
            <a:tbl>
              <a:tblPr firstRow="1" bandRow="1">
                <a:tableStyleId>{5C22544A-7EE6-4342-B048-85BDC9FD1C3A}</a:tableStyleId>
              </a:tblPr>
              <a:tblGrid>
                <a:gridCol w="1521005">
                  <a:extLst>
                    <a:ext uri="{9D8B030D-6E8A-4147-A177-3AD203B41FA5}">
                      <a16:colId xmlns:a16="http://schemas.microsoft.com/office/drawing/2014/main" val="2375906956"/>
                    </a:ext>
                  </a:extLst>
                </a:gridCol>
                <a:gridCol w="2875780">
                  <a:extLst>
                    <a:ext uri="{9D8B030D-6E8A-4147-A177-3AD203B41FA5}">
                      <a16:colId xmlns:a16="http://schemas.microsoft.com/office/drawing/2014/main" val="3161937322"/>
                    </a:ext>
                  </a:extLst>
                </a:gridCol>
                <a:gridCol w="2950669">
                  <a:extLst>
                    <a:ext uri="{9D8B030D-6E8A-4147-A177-3AD203B41FA5}">
                      <a16:colId xmlns:a16="http://schemas.microsoft.com/office/drawing/2014/main" val="3229427417"/>
                    </a:ext>
                  </a:extLst>
                </a:gridCol>
                <a:gridCol w="1244813">
                  <a:extLst>
                    <a:ext uri="{9D8B030D-6E8A-4147-A177-3AD203B41FA5}">
                      <a16:colId xmlns:a16="http://schemas.microsoft.com/office/drawing/2014/main" val="1163651350"/>
                    </a:ext>
                  </a:extLst>
                </a:gridCol>
              </a:tblGrid>
              <a:tr h="412766">
                <a:tc>
                  <a:txBody>
                    <a:bodyPr/>
                    <a:lstStyle/>
                    <a:p>
                      <a:pPr algn="ctr"/>
                      <a:r>
                        <a:rPr lang="fr-CA" sz="1100" noProof="0">
                          <a:solidFill>
                            <a:srgbClr val="262626"/>
                          </a:solidFill>
                        </a:rPr>
                        <a:t>Processus N1</a:t>
                      </a:r>
                    </a:p>
                  </a:txBody>
                  <a:tcPr anchor="ctr"/>
                </a:tc>
                <a:tc>
                  <a:txBody>
                    <a:bodyPr/>
                    <a:lstStyle/>
                    <a:p>
                      <a:pPr algn="ctr"/>
                      <a:r>
                        <a:rPr lang="fr-CA" sz="1100" noProof="0">
                          <a:solidFill>
                            <a:srgbClr val="262626"/>
                          </a:solidFill>
                        </a:rPr>
                        <a:t>Processus N2</a:t>
                      </a:r>
                    </a:p>
                  </a:txBody>
                  <a:tcPr anchor="ctr"/>
                </a:tc>
                <a:tc>
                  <a:txBody>
                    <a:bodyPr/>
                    <a:lstStyle/>
                    <a:p>
                      <a:pPr algn="ctr"/>
                      <a:r>
                        <a:rPr lang="fr-CA" sz="1100" noProof="0">
                          <a:solidFill>
                            <a:srgbClr val="262626"/>
                          </a:solidFill>
                        </a:rPr>
                        <a:t>Processus N3</a:t>
                      </a:r>
                    </a:p>
                  </a:txBody>
                  <a:tcPr anchor="ctr"/>
                </a:tc>
                <a:tc>
                  <a:txBody>
                    <a:bodyPr/>
                    <a:lstStyle/>
                    <a:p>
                      <a:pPr algn="ctr"/>
                      <a:r>
                        <a:rPr lang="fr-CA" sz="1100" noProof="0">
                          <a:solidFill>
                            <a:srgbClr val="262626"/>
                          </a:solidFill>
                        </a:rPr>
                        <a:t>Nouveau processus</a:t>
                      </a:r>
                    </a:p>
                  </a:txBody>
                  <a:tcPr anchor="ctr"/>
                </a:tc>
                <a:extLst>
                  <a:ext uri="{0D108BD9-81ED-4DB2-BD59-A6C34878D82A}">
                    <a16:rowId xmlns:a16="http://schemas.microsoft.com/office/drawing/2014/main" val="774515336"/>
                  </a:ext>
                </a:extLst>
              </a:tr>
              <a:tr h="244187">
                <a:tc rowSpan="7">
                  <a:txBody>
                    <a:bodyPr/>
                    <a:lstStyle/>
                    <a:p>
                      <a:pPr marL="0" algn="ctr" defTabSz="914400" rtl="0" eaLnBrk="1" fontAlgn="base" latinLnBrk="0" hangingPunct="1">
                        <a:lnSpc>
                          <a:spcPts val="1200"/>
                        </a:lnSpc>
                        <a:buNone/>
                      </a:pPr>
                      <a:r>
                        <a:rPr lang="fr-CA" sz="1050" b="1" i="0" u="none" strike="noStrike" kern="1200" noProof="0">
                          <a:solidFill>
                            <a:srgbClr val="000000"/>
                          </a:solidFill>
                          <a:effectLst/>
                          <a:latin typeface="Calibri" panose="020F0502020204030204" pitchFamily="34" charset="0"/>
                          <a:ea typeface="+mn-ea"/>
                          <a:cs typeface="+mn-cs"/>
                        </a:rPr>
                        <a:t>Paiement et perception</a:t>
                      </a:r>
                    </a:p>
                  </a:txBody>
                  <a:tcPr anchor="ctr"/>
                </a:tc>
                <a:tc rowSpan="3">
                  <a:txBody>
                    <a:bodyPr/>
                    <a:lstStyle/>
                    <a:p>
                      <a:pPr algn="l" rtl="0" fontAlgn="base">
                        <a:lnSpc>
                          <a:spcPts val="1200"/>
                        </a:lnSpc>
                        <a:buNone/>
                      </a:pPr>
                      <a:r>
                        <a:rPr lang="fr-CA" sz="1050" b="0" i="0" u="none" strike="noStrike" kern="1200" noProof="0">
                          <a:solidFill>
                            <a:srgbClr val="262626"/>
                          </a:solidFill>
                          <a:effectLst/>
                          <a:latin typeface="Calibri" panose="020F0502020204030204" pitchFamily="34" charset="0"/>
                          <a:ea typeface="+mn-ea"/>
                          <a:cs typeface="+mn-cs"/>
                        </a:rPr>
                        <a:t>Gestion commune DD, DPA et Virements  et chèque</a:t>
                      </a:r>
                    </a:p>
                  </a:txBody>
                  <a:tcPr anchor="ctr"/>
                </a:tc>
                <a:tc>
                  <a:txBody>
                    <a:bodyPr/>
                    <a:lstStyle/>
                    <a:p>
                      <a:pPr marL="0" indent="92075" algn="l" rtl="0" fontAlgn="ctr"/>
                      <a:r>
                        <a:rPr lang="fr-CA" sz="900" kern="1200" noProof="0">
                          <a:solidFill>
                            <a:srgbClr val="262626"/>
                          </a:solidFill>
                          <a:latin typeface="+mn-lt"/>
                          <a:ea typeface="+mn-ea"/>
                          <a:cs typeface="+mn-cs"/>
                        </a:rPr>
                        <a:t>Réviser la matrice des approbations </a:t>
                      </a:r>
                    </a:p>
                  </a:txBody>
                  <a:tcPr marL="0" marR="0" marT="0" marB="0" anchor="ctr"/>
                </a:tc>
                <a:tc>
                  <a:txBody>
                    <a:bodyPr/>
                    <a:lstStyle/>
                    <a:p>
                      <a:pPr algn="l"/>
                      <a:endParaRPr lang="fr-CA" sz="900" noProof="0">
                        <a:solidFill>
                          <a:srgbClr val="262626"/>
                        </a:solidFill>
                      </a:endParaRPr>
                    </a:p>
                  </a:txBody>
                  <a:tcPr/>
                </a:tc>
                <a:extLst>
                  <a:ext uri="{0D108BD9-81ED-4DB2-BD59-A6C34878D82A}">
                    <a16:rowId xmlns:a16="http://schemas.microsoft.com/office/drawing/2014/main" val="2566760826"/>
                  </a:ext>
                </a:extLst>
              </a:tr>
              <a:tr h="235866">
                <a:tc vMerge="1">
                  <a:txBody>
                    <a:bodyPr/>
                    <a:lstStyle/>
                    <a:p>
                      <a:endParaRPr lang="fr-CA"/>
                    </a:p>
                  </a:txBody>
                  <a:tcPr/>
                </a:tc>
                <a:tc vMerge="1">
                  <a:txBody>
                    <a:bodyPr/>
                    <a:lstStyle/>
                    <a:p>
                      <a:pPr algn="l" rtl="0" fontAlgn="base">
                        <a:lnSpc>
                          <a:spcPts val="1200"/>
                        </a:lnSpc>
                        <a:buNone/>
                      </a:pPr>
                      <a:endParaRPr lang="fr-FR" sz="1050" b="0" i="0">
                        <a:solidFill>
                          <a:srgbClr val="262626"/>
                        </a:solidFill>
                        <a:effectLst/>
                      </a:endParaRPr>
                    </a:p>
                  </a:txBody>
                  <a:tcPr/>
                </a:tc>
                <a:tc>
                  <a:txBody>
                    <a:bodyPr/>
                    <a:lstStyle/>
                    <a:p>
                      <a:pPr marL="0" marR="0" lvl="0" indent="92075" algn="l" defTabSz="914400" rtl="0" eaLnBrk="1" fontAlgn="ctr" latinLnBrk="0" hangingPunct="1">
                        <a:lnSpc>
                          <a:spcPct val="100000"/>
                        </a:lnSpc>
                        <a:spcBef>
                          <a:spcPts val="0"/>
                        </a:spcBef>
                        <a:spcAft>
                          <a:spcPts val="0"/>
                        </a:spcAft>
                        <a:buClrTx/>
                        <a:buSzTx/>
                        <a:buFontTx/>
                        <a:buNone/>
                        <a:tabLst/>
                        <a:defRPr/>
                      </a:pPr>
                      <a:r>
                        <a:rPr lang="fr-CA" sz="900" kern="1200" noProof="0">
                          <a:solidFill>
                            <a:srgbClr val="262626"/>
                          </a:solidFill>
                          <a:latin typeface="+mn-lt"/>
                          <a:ea typeface="+mn-ea"/>
                          <a:cs typeface="+mn-cs"/>
                        </a:rPr>
                        <a:t>Réviser la matrice des validations</a:t>
                      </a:r>
                    </a:p>
                  </a:txBody>
                  <a:tcPr marL="0" marR="0" marT="0" marB="0" anchor="ctr"/>
                </a:tc>
                <a:tc>
                  <a:txBody>
                    <a:bodyPr/>
                    <a:lstStyle/>
                    <a:p>
                      <a:pPr algn="l"/>
                      <a:endParaRPr lang="fr-CA" sz="900" noProof="0">
                        <a:solidFill>
                          <a:srgbClr val="262626"/>
                        </a:solidFill>
                      </a:endParaRPr>
                    </a:p>
                  </a:txBody>
                  <a:tcPr/>
                </a:tc>
                <a:extLst>
                  <a:ext uri="{0D108BD9-81ED-4DB2-BD59-A6C34878D82A}">
                    <a16:rowId xmlns:a16="http://schemas.microsoft.com/office/drawing/2014/main" val="1339272907"/>
                  </a:ext>
                </a:extLst>
              </a:tr>
              <a:tr h="235866">
                <a:tc vMerge="1">
                  <a:txBody>
                    <a:bodyPr/>
                    <a:lstStyle/>
                    <a:p>
                      <a:endParaRPr lang="fr-CA"/>
                    </a:p>
                  </a:txBody>
                  <a:tcPr/>
                </a:tc>
                <a:tc vMerge="1">
                  <a:txBody>
                    <a:bodyPr/>
                    <a:lstStyle/>
                    <a:p>
                      <a:pPr algn="l" rtl="0" fontAlgn="base">
                        <a:lnSpc>
                          <a:spcPts val="1200"/>
                        </a:lnSpc>
                        <a:buNone/>
                      </a:pPr>
                      <a:endParaRPr lang="fr-FR" sz="1050" b="0" i="0">
                        <a:solidFill>
                          <a:srgbClr val="262626"/>
                        </a:solidFill>
                        <a:effectLst/>
                      </a:endParaRPr>
                    </a:p>
                  </a:txBody>
                  <a:tcPr/>
                </a:tc>
                <a:tc>
                  <a:txBody>
                    <a:bodyPr/>
                    <a:lstStyle/>
                    <a:p>
                      <a:pPr marL="0" marR="0" lvl="0" indent="92075" algn="l" defTabSz="914400" rtl="0" eaLnBrk="1" fontAlgn="ctr" latinLnBrk="0" hangingPunct="1">
                        <a:lnSpc>
                          <a:spcPct val="100000"/>
                        </a:lnSpc>
                        <a:spcBef>
                          <a:spcPts val="0"/>
                        </a:spcBef>
                        <a:spcAft>
                          <a:spcPts val="0"/>
                        </a:spcAft>
                        <a:buClrTx/>
                        <a:buSzTx/>
                        <a:buFontTx/>
                        <a:buNone/>
                        <a:tabLst/>
                        <a:defRPr/>
                      </a:pPr>
                      <a:r>
                        <a:rPr lang="fr-CA" sz="900" kern="1200" noProof="0">
                          <a:solidFill>
                            <a:srgbClr val="262626"/>
                          </a:solidFill>
                          <a:latin typeface="+mn-lt"/>
                          <a:ea typeface="+mn-ea"/>
                          <a:cs typeface="+mn-cs"/>
                        </a:rPr>
                        <a:t>Gérer l'escalade des incidents</a:t>
                      </a:r>
                    </a:p>
                  </a:txBody>
                  <a:tcPr marL="0" marR="0" marT="0" marB="0" anchor="ctr"/>
                </a:tc>
                <a:tc>
                  <a:txBody>
                    <a:bodyPr/>
                    <a:lstStyle/>
                    <a:p>
                      <a:pPr algn="l"/>
                      <a:endParaRPr lang="fr-CA" sz="900" noProof="0">
                        <a:solidFill>
                          <a:srgbClr val="262626"/>
                        </a:solidFill>
                      </a:endParaRPr>
                    </a:p>
                  </a:txBody>
                  <a:tcPr/>
                </a:tc>
                <a:extLst>
                  <a:ext uri="{0D108BD9-81ED-4DB2-BD59-A6C34878D82A}">
                    <a16:rowId xmlns:a16="http://schemas.microsoft.com/office/drawing/2014/main" val="2059693136"/>
                  </a:ext>
                </a:extLst>
              </a:tr>
              <a:tr h="235866">
                <a:tc vMerge="1">
                  <a:txBody>
                    <a:bodyPr/>
                    <a:lstStyle/>
                    <a:p>
                      <a:endParaRPr lang="fr-CA"/>
                    </a:p>
                  </a:txBody>
                  <a:tcPr/>
                </a:tc>
                <a:tc rowSpan="2">
                  <a:txBody>
                    <a:bodyPr/>
                    <a:lstStyle/>
                    <a:p>
                      <a:pPr algn="l" rtl="0" fontAlgn="base">
                        <a:lnSpc>
                          <a:spcPts val="1200"/>
                        </a:lnSpc>
                        <a:buNone/>
                      </a:pPr>
                      <a:r>
                        <a:rPr lang="fr-CA" sz="1050" b="0" i="0" noProof="0">
                          <a:solidFill>
                            <a:srgbClr val="262626"/>
                          </a:solidFill>
                          <a:effectLst/>
                        </a:rPr>
                        <a:t>Gestion commune DD, DPA et Virements télégraphiques</a:t>
                      </a:r>
                    </a:p>
                  </a:txBody>
                  <a:tcPr anchor="ctr"/>
                </a:tc>
                <a:tc>
                  <a:txBody>
                    <a:bodyPr/>
                    <a:lstStyle/>
                    <a:p>
                      <a:pPr marL="92075" indent="0" algn="l" rtl="0" fontAlgn="ctr"/>
                      <a:r>
                        <a:rPr lang="fr-CA" sz="900" kern="1200" noProof="0">
                          <a:solidFill>
                            <a:srgbClr val="262626"/>
                          </a:solidFill>
                          <a:latin typeface="+mn-lt"/>
                          <a:ea typeface="+mn-ea"/>
                          <a:cs typeface="+mn-cs"/>
                        </a:rPr>
                        <a:t>Administrer les limites de paiement journalières sur la plateforme bancaire</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1647929888"/>
                  </a:ext>
                </a:extLst>
              </a:tr>
              <a:tr h="235866">
                <a:tc vMerge="1">
                  <a:txBody>
                    <a:bodyPr/>
                    <a:lstStyle/>
                    <a:p>
                      <a:pPr marL="0" algn="ctr" defTabSz="914400" rtl="0" eaLnBrk="1" fontAlgn="base" latinLnBrk="0" hangingPunct="1">
                        <a:lnSpc>
                          <a:spcPts val="1200"/>
                        </a:lnSpc>
                        <a:buNone/>
                      </a:pPr>
                      <a:endParaRPr lang="fr-FR" sz="1050" b="1" i="0" u="none" strike="noStrike" kern="1200">
                        <a:solidFill>
                          <a:srgbClr val="000000"/>
                        </a:solidFill>
                        <a:effectLst/>
                        <a:latin typeface="Calibri" panose="020F0502020204030204" pitchFamily="34" charset="0"/>
                        <a:ea typeface="+mn-ea"/>
                        <a:cs typeface="+mn-cs"/>
                      </a:endParaRPr>
                    </a:p>
                  </a:txBody>
                  <a:tcPr anchor="ctr"/>
                </a:tc>
                <a:tc vMerge="1">
                  <a:txBody>
                    <a:bodyPr/>
                    <a:lstStyle/>
                    <a:p>
                      <a:pPr algn="l" rtl="0" fontAlgn="base">
                        <a:lnSpc>
                          <a:spcPts val="1200"/>
                        </a:lnSpc>
                        <a:buNone/>
                      </a:pPr>
                      <a:endParaRPr lang="fr-FR" sz="1050" b="0" i="0">
                        <a:solidFill>
                          <a:srgbClr val="262626"/>
                        </a:solidFill>
                        <a:effectLst/>
                      </a:endParaRPr>
                    </a:p>
                  </a:txBody>
                  <a:tcPr/>
                </a:tc>
                <a:tc>
                  <a:txBody>
                    <a:bodyPr/>
                    <a:lstStyle/>
                    <a:p>
                      <a:pPr marL="92075" indent="0" algn="l" rtl="0" fontAlgn="ctr"/>
                      <a:r>
                        <a:rPr lang="fr-CA" sz="900" kern="1200" noProof="0">
                          <a:solidFill>
                            <a:srgbClr val="262626"/>
                          </a:solidFill>
                          <a:latin typeface="+mn-lt"/>
                          <a:ea typeface="+mn-ea"/>
                          <a:cs typeface="+mn-cs"/>
                        </a:rPr>
                        <a:t>Gestion des Rejets</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3876106851"/>
                  </a:ext>
                </a:extLst>
              </a:tr>
              <a:tr h="235866">
                <a:tc vMerge="1">
                  <a:txBody>
                    <a:bodyPr/>
                    <a:lstStyle/>
                    <a:p>
                      <a:pPr marL="0" algn="ctr" defTabSz="914400" rtl="0" eaLnBrk="1" fontAlgn="base" latinLnBrk="0" hangingPunct="1">
                        <a:lnSpc>
                          <a:spcPts val="1200"/>
                        </a:lnSpc>
                        <a:buNone/>
                      </a:pPr>
                      <a:endParaRPr lang="fr-FR" sz="1050" b="1" i="0" u="none" strike="noStrike" kern="1200">
                        <a:solidFill>
                          <a:srgbClr val="000000"/>
                        </a:solidFill>
                        <a:effectLst/>
                        <a:latin typeface="Calibri" panose="020F0502020204030204" pitchFamily="34" charset="0"/>
                        <a:ea typeface="+mn-ea"/>
                        <a:cs typeface="+mn-cs"/>
                      </a:endParaRPr>
                    </a:p>
                  </a:txBody>
                  <a:tcPr anchor="ctr"/>
                </a:tc>
                <a:tc rowSpan="2">
                  <a:txBody>
                    <a:bodyPr/>
                    <a:lstStyle/>
                    <a:p>
                      <a:pPr algn="l" rtl="0" fontAlgn="base">
                        <a:lnSpc>
                          <a:spcPts val="1200"/>
                        </a:lnSpc>
                        <a:buNone/>
                      </a:pPr>
                      <a:r>
                        <a:rPr lang="fr-CA" sz="1050" b="0" i="0" noProof="0">
                          <a:solidFill>
                            <a:srgbClr val="262626"/>
                          </a:solidFill>
                          <a:effectLst/>
                        </a:rPr>
                        <a:t>Gérer les Paiements récurrents manuelle</a:t>
                      </a:r>
                    </a:p>
                    <a:p>
                      <a:pPr algn="l" rtl="0" fontAlgn="base">
                        <a:lnSpc>
                          <a:spcPts val="1200"/>
                        </a:lnSpc>
                        <a:buNone/>
                      </a:pPr>
                      <a:r>
                        <a:rPr lang="fr-CA" sz="1050" b="0" i="0" noProof="0">
                          <a:solidFill>
                            <a:srgbClr val="262626"/>
                          </a:solidFill>
                          <a:effectLst/>
                        </a:rPr>
                        <a:t>DD virement et DPA</a:t>
                      </a:r>
                    </a:p>
                  </a:txBody>
                  <a:tcPr anchor="ctr"/>
                </a:tc>
                <a:tc>
                  <a:txBody>
                    <a:bodyPr/>
                    <a:lstStyle/>
                    <a:p>
                      <a:pPr marL="92075" indent="0" algn="l" rtl="0" fontAlgn="ctr"/>
                      <a:r>
                        <a:rPr lang="fr-CA" sz="900" kern="1200" noProof="0">
                          <a:solidFill>
                            <a:srgbClr val="262626"/>
                          </a:solidFill>
                          <a:latin typeface="+mn-lt"/>
                          <a:ea typeface="+mn-ea"/>
                          <a:cs typeface="+mn-cs"/>
                        </a:rPr>
                        <a:t>Création de Template/grille </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2300445152"/>
                  </a:ext>
                </a:extLst>
              </a:tr>
              <a:tr h="235866">
                <a:tc vMerge="1">
                  <a:txBody>
                    <a:bodyPr/>
                    <a:lstStyle/>
                    <a:p>
                      <a:pPr marL="0" algn="ctr" defTabSz="914400" rtl="0" eaLnBrk="1" fontAlgn="base" latinLnBrk="0" hangingPunct="1">
                        <a:lnSpc>
                          <a:spcPts val="1200"/>
                        </a:lnSpc>
                        <a:buNone/>
                      </a:pPr>
                      <a:endParaRPr lang="fr-FR" sz="1050" b="1" i="0" u="none" strike="noStrike" kern="1200">
                        <a:solidFill>
                          <a:srgbClr val="000000"/>
                        </a:solidFill>
                        <a:effectLst/>
                        <a:latin typeface="Calibri" panose="020F0502020204030204" pitchFamily="34" charset="0"/>
                        <a:ea typeface="+mn-ea"/>
                        <a:cs typeface="+mn-cs"/>
                      </a:endParaRPr>
                    </a:p>
                  </a:txBody>
                  <a:tcPr anchor="ctr"/>
                </a:tc>
                <a:tc vMerge="1">
                  <a:txBody>
                    <a:bodyPr/>
                    <a:lstStyle/>
                    <a:p>
                      <a:pPr algn="l" rtl="0" fontAlgn="base">
                        <a:lnSpc>
                          <a:spcPts val="1200"/>
                        </a:lnSpc>
                        <a:buNone/>
                      </a:pPr>
                      <a:endParaRPr lang="fr-FR" sz="1050" b="0" i="0">
                        <a:solidFill>
                          <a:srgbClr val="262626"/>
                        </a:solidFill>
                        <a:effectLst/>
                      </a:endParaRPr>
                    </a:p>
                  </a:txBody>
                  <a:tcPr/>
                </a:tc>
                <a:tc>
                  <a:txBody>
                    <a:bodyPr/>
                    <a:lstStyle/>
                    <a:p>
                      <a:pPr marL="92075" indent="0" algn="l" rtl="0" fontAlgn="ctr"/>
                      <a:r>
                        <a:rPr lang="fr-CA" sz="900" kern="1200" noProof="0">
                          <a:solidFill>
                            <a:srgbClr val="262626"/>
                          </a:solidFill>
                          <a:latin typeface="+mn-lt"/>
                          <a:ea typeface="+mn-ea"/>
                          <a:cs typeface="+mn-cs"/>
                        </a:rPr>
                        <a:t>Lancement des récurrences de paiement à chaque période</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4056378895"/>
                  </a:ext>
                </a:extLst>
              </a:tr>
              <a:tr h="235866">
                <a:tc rowSpan="8">
                  <a:txBody>
                    <a:bodyPr/>
                    <a:lstStyle/>
                    <a:p>
                      <a:pPr marL="0" algn="ctr" defTabSz="914400" rtl="0" eaLnBrk="1" fontAlgn="base" latinLnBrk="0" hangingPunct="1">
                        <a:lnSpc>
                          <a:spcPts val="1200"/>
                        </a:lnSpc>
                        <a:buNone/>
                      </a:pPr>
                      <a:r>
                        <a:rPr lang="fr-CA" sz="1050" b="1" i="0" u="none" strike="noStrike" kern="1200" noProof="0">
                          <a:solidFill>
                            <a:srgbClr val="000000"/>
                          </a:solidFill>
                          <a:effectLst/>
                          <a:latin typeface="Calibri" panose="020F0502020204030204" pitchFamily="34" charset="0"/>
                          <a:ea typeface="+mn-ea"/>
                          <a:cs typeface="+mn-cs"/>
                        </a:rPr>
                        <a:t>Traitement des paiements</a:t>
                      </a:r>
                    </a:p>
                  </a:txBody>
                  <a:tcPr anchor="ctr"/>
                </a:tc>
                <a:tc rowSpan="2">
                  <a:txBody>
                    <a:bodyPr/>
                    <a:lstStyle/>
                    <a:p>
                      <a:pPr algn="l" rtl="0" fontAlgn="base">
                        <a:lnSpc>
                          <a:spcPts val="1200"/>
                        </a:lnSpc>
                        <a:buNone/>
                      </a:pPr>
                      <a:r>
                        <a:rPr lang="fr-CA" sz="1050" b="0" i="0" noProof="0">
                          <a:solidFill>
                            <a:srgbClr val="262626"/>
                          </a:solidFill>
                          <a:effectLst/>
                        </a:rPr>
                        <a:t>Traitement des dépôts directs </a:t>
                      </a:r>
                    </a:p>
                  </a:txBody>
                  <a:tcPr anchor="ctr"/>
                </a:tc>
                <a:tc>
                  <a:txBody>
                    <a:bodyPr/>
                    <a:lstStyle/>
                    <a:p>
                      <a:pPr marL="92075" indent="0" algn="l" rtl="0" fontAlgn="ctr"/>
                      <a:r>
                        <a:rPr lang="fr-CA" sz="900" kern="1200" noProof="0">
                          <a:solidFill>
                            <a:srgbClr val="262626"/>
                          </a:solidFill>
                          <a:latin typeface="+mn-lt"/>
                          <a:ea typeface="+mn-ea"/>
                          <a:cs typeface="+mn-cs"/>
                        </a:rPr>
                        <a:t>Gérer les émissions des paiements DD</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1132158584"/>
                  </a:ext>
                </a:extLst>
              </a:tr>
              <a:tr h="235866">
                <a:tc vMerge="1">
                  <a:txBody>
                    <a:bodyPr/>
                    <a:lstStyle/>
                    <a:p>
                      <a:endParaRPr lang="fr-FR"/>
                    </a:p>
                  </a:txBody>
                  <a:tcPr/>
                </a:tc>
                <a:tc vMerge="1">
                  <a:txBody>
                    <a:bodyPr/>
                    <a:lstStyle/>
                    <a:p>
                      <a:pPr algn="l" rtl="0" fontAlgn="base">
                        <a:lnSpc>
                          <a:spcPts val="1200"/>
                        </a:lnSpc>
                        <a:buNone/>
                      </a:pPr>
                      <a:endParaRPr lang="fr-FR" sz="1050" b="0" i="0">
                        <a:solidFill>
                          <a:srgbClr val="262626"/>
                        </a:solidFill>
                        <a:effectLst/>
                      </a:endParaRPr>
                    </a:p>
                  </a:txBody>
                  <a:tcPr anchor="ctr"/>
                </a:tc>
                <a:tc>
                  <a:txBody>
                    <a:bodyPr/>
                    <a:lstStyle/>
                    <a:p>
                      <a:pPr marL="92075" indent="0" algn="l" rtl="0" fontAlgn="ctr"/>
                      <a:r>
                        <a:rPr lang="fr-CA" sz="900" kern="1200" noProof="0">
                          <a:solidFill>
                            <a:srgbClr val="262626"/>
                          </a:solidFill>
                          <a:latin typeface="+mn-lt"/>
                          <a:ea typeface="+mn-ea"/>
                          <a:cs typeface="+mn-cs"/>
                        </a:rPr>
                        <a:t>Contrepasser un paiement DD</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3120943465"/>
                  </a:ext>
                </a:extLst>
              </a:tr>
              <a:tr h="235866">
                <a:tc vMerge="1">
                  <a:txBody>
                    <a:bodyPr/>
                    <a:lstStyle/>
                    <a:p>
                      <a:pPr marL="0" algn="ctr" defTabSz="914400" rtl="0" eaLnBrk="1" fontAlgn="base" latinLnBrk="0" hangingPunct="1">
                        <a:lnSpc>
                          <a:spcPts val="1200"/>
                        </a:lnSpc>
                        <a:buNone/>
                      </a:pPr>
                      <a:endParaRPr lang="fr-FR" sz="1050" b="1" i="0" u="none" strike="noStrike" kern="1200">
                        <a:solidFill>
                          <a:srgbClr val="000000"/>
                        </a:solidFill>
                        <a:effectLst/>
                        <a:latin typeface="Calibri" panose="020F0502020204030204" pitchFamily="34" charset="0"/>
                        <a:ea typeface="+mn-ea"/>
                        <a:cs typeface="+mn-cs"/>
                      </a:endParaRPr>
                    </a:p>
                  </a:txBody>
                  <a:tcPr anchor="ctr"/>
                </a:tc>
                <a:tc>
                  <a:txBody>
                    <a:bodyPr/>
                    <a:lstStyle/>
                    <a:p>
                      <a:pPr algn="l" rtl="0" fontAlgn="base">
                        <a:lnSpc>
                          <a:spcPts val="1200"/>
                        </a:lnSpc>
                        <a:buNone/>
                      </a:pPr>
                      <a:r>
                        <a:rPr lang="fr-CA" sz="1050" b="0" i="0" noProof="0">
                          <a:solidFill>
                            <a:srgbClr val="262626"/>
                          </a:solidFill>
                          <a:effectLst/>
                        </a:rPr>
                        <a:t>Traitement des paiements par virements télégraphiques</a:t>
                      </a:r>
                    </a:p>
                  </a:txBody>
                  <a:tcPr anchor="ctr"/>
                </a:tc>
                <a:tc>
                  <a:txBody>
                    <a:bodyPr/>
                    <a:lstStyle/>
                    <a:p>
                      <a:pPr marL="92075" indent="0" algn="l" rtl="0" fontAlgn="ctr"/>
                      <a:r>
                        <a:rPr lang="fr-CA" sz="900" kern="1200" noProof="0">
                          <a:solidFill>
                            <a:srgbClr val="262626"/>
                          </a:solidFill>
                          <a:latin typeface="+mn-lt"/>
                          <a:ea typeface="+mn-ea"/>
                          <a:cs typeface="+mn-cs"/>
                        </a:rPr>
                        <a:t>Gérer les émissions de virements bancaires </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322800414"/>
                  </a:ext>
                </a:extLst>
              </a:tr>
              <a:tr h="235866">
                <a:tc vMerge="1">
                  <a:txBody>
                    <a:bodyPr/>
                    <a:lstStyle/>
                    <a:p>
                      <a:pPr marL="0" algn="ctr" defTabSz="914400" rtl="0" eaLnBrk="1" fontAlgn="base" latinLnBrk="0" hangingPunct="1">
                        <a:lnSpc>
                          <a:spcPts val="1200"/>
                        </a:lnSpc>
                        <a:buNone/>
                      </a:pPr>
                      <a:endParaRPr lang="fr-FR" sz="1050" b="1" i="0" u="none" strike="noStrike" kern="1200">
                        <a:solidFill>
                          <a:srgbClr val="000000"/>
                        </a:solidFill>
                        <a:effectLst/>
                        <a:latin typeface="Calibri" panose="020F0502020204030204" pitchFamily="34" charset="0"/>
                        <a:ea typeface="+mn-ea"/>
                        <a:cs typeface="+mn-cs"/>
                      </a:endParaRPr>
                    </a:p>
                  </a:txBody>
                  <a:tcPr anchor="ctr"/>
                </a:tc>
                <a:tc rowSpan="5">
                  <a:txBody>
                    <a:bodyPr/>
                    <a:lstStyle/>
                    <a:p>
                      <a:pPr algn="l" rtl="0" fontAlgn="base">
                        <a:lnSpc>
                          <a:spcPts val="1200"/>
                        </a:lnSpc>
                        <a:buNone/>
                      </a:pPr>
                      <a:r>
                        <a:rPr lang="fr-CA" sz="1050" b="0" i="0" noProof="0">
                          <a:solidFill>
                            <a:srgbClr val="262626"/>
                          </a:solidFill>
                          <a:effectLst/>
                        </a:rPr>
                        <a:t>Traitement des paiements par chèques</a:t>
                      </a:r>
                    </a:p>
                  </a:txBody>
                  <a:tcPr anchor="ctr"/>
                </a:tc>
                <a:tc>
                  <a:txBody>
                    <a:bodyPr/>
                    <a:lstStyle/>
                    <a:p>
                      <a:pPr marL="92075" indent="0" algn="l" rtl="0" fontAlgn="ctr"/>
                      <a:r>
                        <a:rPr lang="fr-CA" sz="900" kern="1200" noProof="0">
                          <a:solidFill>
                            <a:srgbClr val="262626"/>
                          </a:solidFill>
                          <a:latin typeface="+mn-lt"/>
                          <a:ea typeface="+mn-ea"/>
                          <a:cs typeface="+mn-cs"/>
                        </a:rPr>
                        <a:t>Gérer les émissions des chèques</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3761637257"/>
                  </a:ext>
                </a:extLst>
              </a:tr>
              <a:tr h="226785">
                <a:tc vMerge="1">
                  <a:txBody>
                    <a:bodyPr/>
                    <a:lstStyle/>
                    <a:p>
                      <a:pPr marL="0" algn="ctr" defTabSz="914400" rtl="0" eaLnBrk="1" fontAlgn="base" latinLnBrk="0" hangingPunct="1">
                        <a:lnSpc>
                          <a:spcPts val="1200"/>
                        </a:lnSpc>
                        <a:buNone/>
                      </a:pPr>
                      <a:endParaRPr lang="fr-FR" sz="1050" b="1" i="0" u="none" strike="noStrike" kern="1200">
                        <a:solidFill>
                          <a:srgbClr val="000000"/>
                        </a:solidFill>
                        <a:effectLst/>
                        <a:latin typeface="Calibri" panose="020F0502020204030204" pitchFamily="34" charset="0"/>
                        <a:ea typeface="+mn-ea"/>
                        <a:cs typeface="+mn-cs"/>
                      </a:endParaRPr>
                    </a:p>
                  </a:txBody>
                  <a:tcPr anchor="ctr"/>
                </a:tc>
                <a:tc vMerge="1">
                  <a:txBody>
                    <a:bodyPr/>
                    <a:lstStyle/>
                    <a:p>
                      <a:pPr algn="l" rtl="0" fontAlgn="base">
                        <a:lnSpc>
                          <a:spcPts val="1200"/>
                        </a:lnSpc>
                        <a:buNone/>
                      </a:pPr>
                      <a:endParaRPr lang="fr-FR" sz="1050" b="0" i="0">
                        <a:solidFill>
                          <a:srgbClr val="262626"/>
                        </a:solidFill>
                        <a:effectLst/>
                      </a:endParaRPr>
                    </a:p>
                  </a:txBody>
                  <a:tcPr anchor="ctr"/>
                </a:tc>
                <a:tc>
                  <a:txBody>
                    <a:bodyPr/>
                    <a:lstStyle/>
                    <a:p>
                      <a:pPr marL="92075" indent="0" algn="l" rtl="0" fontAlgn="ctr"/>
                      <a:r>
                        <a:rPr lang="fr-CA" sz="900" kern="1200" noProof="0">
                          <a:solidFill>
                            <a:srgbClr val="262626"/>
                          </a:solidFill>
                          <a:latin typeface="+mn-lt"/>
                          <a:ea typeface="+mn-ea"/>
                          <a:cs typeface="+mn-cs"/>
                        </a:rPr>
                        <a:t>Gérer les encaissements des chèques</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3353634014"/>
                  </a:ext>
                </a:extLst>
              </a:tr>
              <a:tr h="235866">
                <a:tc vMerge="1">
                  <a:txBody>
                    <a:bodyPr/>
                    <a:lstStyle/>
                    <a:p>
                      <a:pPr marL="0" algn="ctr" defTabSz="914400" rtl="0" eaLnBrk="1" fontAlgn="base" latinLnBrk="0" hangingPunct="1">
                        <a:lnSpc>
                          <a:spcPts val="1200"/>
                        </a:lnSpc>
                        <a:buNone/>
                      </a:pPr>
                      <a:endParaRPr lang="fr-FR" sz="1050" b="1" i="0" u="none" strike="noStrike" kern="1200">
                        <a:solidFill>
                          <a:srgbClr val="000000"/>
                        </a:solidFill>
                        <a:effectLst/>
                        <a:latin typeface="Calibri" panose="020F0502020204030204" pitchFamily="34" charset="0"/>
                        <a:ea typeface="+mn-ea"/>
                        <a:cs typeface="+mn-cs"/>
                      </a:endParaRPr>
                    </a:p>
                  </a:txBody>
                  <a:tcPr anchor="ctr"/>
                </a:tc>
                <a:tc vMerge="1">
                  <a:txBody>
                    <a:bodyPr/>
                    <a:lstStyle/>
                    <a:p>
                      <a:pPr algn="l" rtl="0" fontAlgn="base">
                        <a:lnSpc>
                          <a:spcPts val="1200"/>
                        </a:lnSpc>
                        <a:buNone/>
                      </a:pPr>
                      <a:endParaRPr lang="fr-FR" sz="1050" b="0" i="0">
                        <a:solidFill>
                          <a:srgbClr val="262626"/>
                        </a:solidFill>
                        <a:effectLst/>
                      </a:endParaRPr>
                    </a:p>
                  </a:txBody>
                  <a:tcPr anchor="ctr"/>
                </a:tc>
                <a:tc>
                  <a:txBody>
                    <a:bodyPr/>
                    <a:lstStyle/>
                    <a:p>
                      <a:pPr marL="92075" indent="0" algn="l" defTabSz="914400" rtl="0" eaLnBrk="1" fontAlgn="b" latinLnBrk="0" hangingPunct="1"/>
                      <a:r>
                        <a:rPr lang="fr-CA" sz="900" kern="1200" noProof="0">
                          <a:solidFill>
                            <a:srgbClr val="262626"/>
                          </a:solidFill>
                          <a:latin typeface="+mn-lt"/>
                          <a:ea typeface="+mn-ea"/>
                          <a:cs typeface="+mn-cs"/>
                        </a:rPr>
                        <a:t>Gérer les annulations des chèques </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2552801703"/>
                  </a:ext>
                </a:extLst>
              </a:tr>
              <a:tr h="235866">
                <a:tc vMerge="1">
                  <a:txBody>
                    <a:bodyPr/>
                    <a:lstStyle/>
                    <a:p>
                      <a:pPr marL="0" algn="ctr" defTabSz="914400" rtl="0" eaLnBrk="1" fontAlgn="base" latinLnBrk="0" hangingPunct="1">
                        <a:lnSpc>
                          <a:spcPts val="1200"/>
                        </a:lnSpc>
                        <a:buNone/>
                      </a:pPr>
                      <a:endParaRPr lang="fr-FR" sz="1050" b="1" i="0" u="none" strike="noStrike" kern="1200">
                        <a:solidFill>
                          <a:srgbClr val="000000"/>
                        </a:solidFill>
                        <a:effectLst/>
                        <a:latin typeface="Calibri" panose="020F0502020204030204" pitchFamily="34" charset="0"/>
                        <a:ea typeface="+mn-ea"/>
                        <a:cs typeface="+mn-cs"/>
                      </a:endParaRPr>
                    </a:p>
                  </a:txBody>
                  <a:tcPr anchor="ctr"/>
                </a:tc>
                <a:tc vMerge="1">
                  <a:txBody>
                    <a:bodyPr/>
                    <a:lstStyle/>
                    <a:p>
                      <a:pPr algn="l" rtl="0" fontAlgn="base">
                        <a:lnSpc>
                          <a:spcPts val="1200"/>
                        </a:lnSpc>
                        <a:buNone/>
                      </a:pPr>
                      <a:endParaRPr lang="fr-FR" sz="1050" b="0" i="0">
                        <a:solidFill>
                          <a:srgbClr val="262626"/>
                        </a:solidFill>
                        <a:effectLst/>
                      </a:endParaRPr>
                    </a:p>
                  </a:txBody>
                  <a:tcPr anchor="ctr"/>
                </a:tc>
                <a:tc>
                  <a:txBody>
                    <a:bodyPr/>
                    <a:lstStyle/>
                    <a:p>
                      <a:pPr marL="92075" indent="0" algn="l" defTabSz="914400" rtl="0" eaLnBrk="1" fontAlgn="b" latinLnBrk="0" hangingPunct="1"/>
                      <a:r>
                        <a:rPr lang="fr-CA" sz="900" kern="1200" noProof="0">
                          <a:solidFill>
                            <a:srgbClr val="262626"/>
                          </a:solidFill>
                          <a:latin typeface="+mn-lt"/>
                          <a:ea typeface="+mn-ea"/>
                          <a:cs typeface="+mn-cs"/>
                        </a:rPr>
                        <a:t>Gérer les arrêts de paiements </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2537559999"/>
                  </a:ext>
                </a:extLst>
              </a:tr>
              <a:tr h="235866">
                <a:tc vMerge="1">
                  <a:txBody>
                    <a:bodyPr/>
                    <a:lstStyle/>
                    <a:p>
                      <a:pPr marL="0" algn="ctr" defTabSz="914400" rtl="0" eaLnBrk="1" fontAlgn="base" latinLnBrk="0" hangingPunct="1">
                        <a:lnSpc>
                          <a:spcPts val="1200"/>
                        </a:lnSpc>
                        <a:buNone/>
                      </a:pPr>
                      <a:endParaRPr lang="fr-FR" sz="1050" b="1" i="0" u="none" strike="noStrike" kern="1200">
                        <a:solidFill>
                          <a:srgbClr val="000000"/>
                        </a:solidFill>
                        <a:effectLst/>
                        <a:latin typeface="Calibri" panose="020F0502020204030204" pitchFamily="34" charset="0"/>
                        <a:ea typeface="+mn-ea"/>
                        <a:cs typeface="+mn-cs"/>
                      </a:endParaRPr>
                    </a:p>
                  </a:txBody>
                  <a:tcPr anchor="ctr"/>
                </a:tc>
                <a:tc vMerge="1">
                  <a:txBody>
                    <a:bodyPr/>
                    <a:lstStyle/>
                    <a:p>
                      <a:pPr algn="l" rtl="0" fontAlgn="base">
                        <a:lnSpc>
                          <a:spcPts val="1200"/>
                        </a:lnSpc>
                        <a:buNone/>
                      </a:pPr>
                      <a:endParaRPr lang="fr-FR" sz="1050" b="0" i="0">
                        <a:solidFill>
                          <a:srgbClr val="262626"/>
                        </a:solidFill>
                        <a:effectLst/>
                      </a:endParaRPr>
                    </a:p>
                  </a:txBody>
                  <a:tcPr anchor="ctr"/>
                </a:tc>
                <a:tc>
                  <a:txBody>
                    <a:bodyPr/>
                    <a:lstStyle/>
                    <a:p>
                      <a:pPr marL="92075" indent="0" algn="l" defTabSz="914400" rtl="0" eaLnBrk="1" fontAlgn="b" latinLnBrk="0" hangingPunct="1"/>
                      <a:r>
                        <a:rPr lang="fr-CA" sz="900" kern="1200" noProof="0">
                          <a:solidFill>
                            <a:srgbClr val="262626"/>
                          </a:solidFill>
                          <a:latin typeface="+mn-lt"/>
                          <a:ea typeface="+mn-ea"/>
                          <a:cs typeface="+mn-cs"/>
                        </a:rPr>
                        <a:t>Gérer la péremption des chèques </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2067190371"/>
                  </a:ext>
                </a:extLst>
              </a:tr>
            </a:tbl>
          </a:graphicData>
        </a:graphic>
      </p:graphicFrame>
      <p:sp>
        <p:nvSpPr>
          <p:cNvPr id="5" name="ZoneTexte 4">
            <a:extLst>
              <a:ext uri="{FF2B5EF4-FFF2-40B4-BE49-F238E27FC236}">
                <a16:creationId xmlns:a16="http://schemas.microsoft.com/office/drawing/2014/main" id="{BA961011-C0DA-33C5-F778-90924EAC76E9}"/>
              </a:ext>
            </a:extLst>
          </p:cNvPr>
          <p:cNvSpPr txBox="1"/>
          <p:nvPr/>
        </p:nvSpPr>
        <p:spPr>
          <a:xfrm>
            <a:off x="331299" y="4774319"/>
            <a:ext cx="3779659" cy="369332"/>
          </a:xfrm>
          <a:prstGeom prst="rect">
            <a:avLst/>
          </a:prstGeom>
          <a:noFill/>
        </p:spPr>
        <p:txBody>
          <a:bodyPr wrap="square">
            <a:spAutoFit/>
          </a:bodyPr>
          <a:lstStyle/>
          <a:p>
            <a:r>
              <a:rPr lang="fr-CA" sz="1800" noProof="0">
                <a:solidFill>
                  <a:srgbClr val="FF0000"/>
                </a:solidFill>
              </a:rPr>
              <a:t>*</a:t>
            </a:r>
            <a:r>
              <a:rPr lang="fr-CA" sz="1400" noProof="0">
                <a:solidFill>
                  <a:srgbClr val="262626"/>
                </a:solidFill>
              </a:rPr>
              <a:t> </a:t>
            </a:r>
            <a:r>
              <a:rPr lang="fr-CA" sz="1200" i="1" noProof="0">
                <a:solidFill>
                  <a:srgbClr val="262626"/>
                </a:solidFill>
              </a:rPr>
              <a:t>Implication majeur de la trésorerie corporative</a:t>
            </a:r>
            <a:endParaRPr lang="fr-CA" sz="1400" i="1" noProof="0">
              <a:solidFill>
                <a:srgbClr val="262626"/>
              </a:solidFill>
            </a:endParaRPr>
          </a:p>
        </p:txBody>
      </p:sp>
      <p:pic>
        <p:nvPicPr>
          <p:cNvPr id="6" name="Graphique 5" descr="Coche avec un remplissage uni">
            <a:extLst>
              <a:ext uri="{FF2B5EF4-FFF2-40B4-BE49-F238E27FC236}">
                <a16:creationId xmlns:a16="http://schemas.microsoft.com/office/drawing/2014/main" id="{7474A839-C1BC-36F7-CAE4-7D21EF87A72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96069" y="1501413"/>
            <a:ext cx="256310" cy="256310"/>
          </a:xfrm>
          <a:prstGeom prst="rect">
            <a:avLst/>
          </a:prstGeom>
        </p:spPr>
      </p:pic>
      <p:pic>
        <p:nvPicPr>
          <p:cNvPr id="7" name="Graphique 6" descr="Coche avec un remplissage uni">
            <a:extLst>
              <a:ext uri="{FF2B5EF4-FFF2-40B4-BE49-F238E27FC236}">
                <a16:creationId xmlns:a16="http://schemas.microsoft.com/office/drawing/2014/main" id="{B9C14633-6532-2ACF-D5B9-8F7DED337AC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96069" y="1245127"/>
            <a:ext cx="256310" cy="256310"/>
          </a:xfrm>
          <a:prstGeom prst="rect">
            <a:avLst/>
          </a:prstGeom>
        </p:spPr>
      </p:pic>
      <p:pic>
        <p:nvPicPr>
          <p:cNvPr id="8" name="Graphique 7" descr="Coche avec un remplissage uni">
            <a:extLst>
              <a:ext uri="{FF2B5EF4-FFF2-40B4-BE49-F238E27FC236}">
                <a16:creationId xmlns:a16="http://schemas.microsoft.com/office/drawing/2014/main" id="{AEC0D1C9-EE4C-AEB8-C48D-92702FF6AA1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96069" y="2489643"/>
            <a:ext cx="256310" cy="256310"/>
          </a:xfrm>
          <a:prstGeom prst="rect">
            <a:avLst/>
          </a:prstGeom>
        </p:spPr>
      </p:pic>
    </p:spTree>
    <p:extLst>
      <p:ext uri="{BB962C8B-B14F-4D97-AF65-F5344CB8AC3E}">
        <p14:creationId xmlns:p14="http://schemas.microsoft.com/office/powerpoint/2010/main" val="2935294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A8681-225E-01B5-CFCD-2DF2A9A3A04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B056422-D4CA-0BAD-D673-4DC555AD90CC}"/>
              </a:ext>
            </a:extLst>
          </p:cNvPr>
          <p:cNvSpPr>
            <a:spLocks noGrp="1"/>
          </p:cNvSpPr>
          <p:nvPr>
            <p:ph type="title"/>
          </p:nvPr>
        </p:nvSpPr>
        <p:spPr>
          <a:xfrm>
            <a:off x="210675" y="0"/>
            <a:ext cx="8908473" cy="462974"/>
          </a:xfrm>
          <a:solidFill>
            <a:schemeClr val="tx1"/>
          </a:solidFill>
        </p:spPr>
        <p:txBody>
          <a:bodyPr vert="horz" lIns="91440" tIns="45720" rIns="91440" bIns="45720" rtlCol="0" anchor="ctr">
            <a:normAutofit/>
          </a:bodyPr>
          <a:lstStyle/>
          <a:p>
            <a:r>
              <a:rPr lang="fr-CA" sz="2400" b="1" noProof="0">
                <a:solidFill>
                  <a:schemeClr val="bg1"/>
                </a:solidFill>
              </a:rPr>
              <a:t>Définition de la portée – Objectif 2</a:t>
            </a:r>
          </a:p>
        </p:txBody>
      </p:sp>
      <p:graphicFrame>
        <p:nvGraphicFramePr>
          <p:cNvPr id="3" name="Tableau 2">
            <a:extLst>
              <a:ext uri="{FF2B5EF4-FFF2-40B4-BE49-F238E27FC236}">
                <a16:creationId xmlns:a16="http://schemas.microsoft.com/office/drawing/2014/main" id="{895FB599-A21E-BBEE-828F-EC3A496EE194}"/>
              </a:ext>
            </a:extLst>
          </p:cNvPr>
          <p:cNvGraphicFramePr>
            <a:graphicFrameLocks noGrp="1"/>
          </p:cNvGraphicFramePr>
          <p:nvPr>
            <p:extLst>
              <p:ext uri="{D42A27DB-BD31-4B8C-83A1-F6EECF244321}">
                <p14:modId xmlns:p14="http://schemas.microsoft.com/office/powerpoint/2010/main" val="28625115"/>
              </p:ext>
            </p:extLst>
          </p:nvPr>
        </p:nvGraphicFramePr>
        <p:xfrm>
          <a:off x="336580" y="609676"/>
          <a:ext cx="8592267" cy="3403640"/>
        </p:xfrm>
        <a:graphic>
          <a:graphicData uri="http://schemas.openxmlformats.org/drawingml/2006/table">
            <a:tbl>
              <a:tblPr firstRow="1" bandRow="1">
                <a:tableStyleId>{5C22544A-7EE6-4342-B048-85BDC9FD1C3A}</a:tableStyleId>
              </a:tblPr>
              <a:tblGrid>
                <a:gridCol w="1521005">
                  <a:extLst>
                    <a:ext uri="{9D8B030D-6E8A-4147-A177-3AD203B41FA5}">
                      <a16:colId xmlns:a16="http://schemas.microsoft.com/office/drawing/2014/main" val="2375906956"/>
                    </a:ext>
                  </a:extLst>
                </a:gridCol>
                <a:gridCol w="2875780">
                  <a:extLst>
                    <a:ext uri="{9D8B030D-6E8A-4147-A177-3AD203B41FA5}">
                      <a16:colId xmlns:a16="http://schemas.microsoft.com/office/drawing/2014/main" val="3161937322"/>
                    </a:ext>
                  </a:extLst>
                </a:gridCol>
                <a:gridCol w="2950669">
                  <a:extLst>
                    <a:ext uri="{9D8B030D-6E8A-4147-A177-3AD203B41FA5}">
                      <a16:colId xmlns:a16="http://schemas.microsoft.com/office/drawing/2014/main" val="3229427417"/>
                    </a:ext>
                  </a:extLst>
                </a:gridCol>
                <a:gridCol w="1244813">
                  <a:extLst>
                    <a:ext uri="{9D8B030D-6E8A-4147-A177-3AD203B41FA5}">
                      <a16:colId xmlns:a16="http://schemas.microsoft.com/office/drawing/2014/main" val="1163651350"/>
                    </a:ext>
                  </a:extLst>
                </a:gridCol>
              </a:tblGrid>
              <a:tr h="412766">
                <a:tc>
                  <a:txBody>
                    <a:bodyPr/>
                    <a:lstStyle/>
                    <a:p>
                      <a:pPr algn="ctr"/>
                      <a:r>
                        <a:rPr lang="fr-CA" sz="1100" noProof="0">
                          <a:solidFill>
                            <a:srgbClr val="262626"/>
                          </a:solidFill>
                        </a:rPr>
                        <a:t>Processus N1</a:t>
                      </a:r>
                    </a:p>
                  </a:txBody>
                  <a:tcPr anchor="ctr"/>
                </a:tc>
                <a:tc>
                  <a:txBody>
                    <a:bodyPr/>
                    <a:lstStyle/>
                    <a:p>
                      <a:pPr algn="ctr"/>
                      <a:r>
                        <a:rPr lang="fr-CA" sz="1100" noProof="0">
                          <a:solidFill>
                            <a:srgbClr val="262626"/>
                          </a:solidFill>
                        </a:rPr>
                        <a:t>Processus N2</a:t>
                      </a:r>
                    </a:p>
                  </a:txBody>
                  <a:tcPr anchor="ctr"/>
                </a:tc>
                <a:tc>
                  <a:txBody>
                    <a:bodyPr/>
                    <a:lstStyle/>
                    <a:p>
                      <a:pPr algn="ctr"/>
                      <a:r>
                        <a:rPr lang="fr-CA" sz="1100" noProof="0">
                          <a:solidFill>
                            <a:srgbClr val="262626"/>
                          </a:solidFill>
                        </a:rPr>
                        <a:t>Processus N3</a:t>
                      </a:r>
                    </a:p>
                  </a:txBody>
                  <a:tcPr anchor="ctr"/>
                </a:tc>
                <a:tc>
                  <a:txBody>
                    <a:bodyPr/>
                    <a:lstStyle/>
                    <a:p>
                      <a:pPr algn="ctr"/>
                      <a:r>
                        <a:rPr lang="fr-CA" sz="1100" noProof="0">
                          <a:solidFill>
                            <a:srgbClr val="262626"/>
                          </a:solidFill>
                        </a:rPr>
                        <a:t>Nouveau processus</a:t>
                      </a:r>
                    </a:p>
                  </a:txBody>
                  <a:tcPr anchor="ctr"/>
                </a:tc>
                <a:extLst>
                  <a:ext uri="{0D108BD9-81ED-4DB2-BD59-A6C34878D82A}">
                    <a16:rowId xmlns:a16="http://schemas.microsoft.com/office/drawing/2014/main" val="774515336"/>
                  </a:ext>
                </a:extLst>
              </a:tr>
              <a:tr h="244187">
                <a:tc rowSpan="2">
                  <a:txBody>
                    <a:bodyPr/>
                    <a:lstStyle/>
                    <a:p>
                      <a:pPr marL="0" algn="ctr" defTabSz="914400" rtl="0" eaLnBrk="1" fontAlgn="base" latinLnBrk="0" hangingPunct="1">
                        <a:lnSpc>
                          <a:spcPts val="1200"/>
                        </a:lnSpc>
                        <a:buNone/>
                      </a:pPr>
                      <a:r>
                        <a:rPr lang="fr-CA" sz="1050" b="1" i="0" u="none" strike="noStrike" kern="1200" noProof="0">
                          <a:solidFill>
                            <a:srgbClr val="000000"/>
                          </a:solidFill>
                          <a:effectLst/>
                          <a:latin typeface="Calibri" panose="020F0502020204030204" pitchFamily="34" charset="0"/>
                          <a:ea typeface="+mn-ea"/>
                          <a:cs typeface="+mn-cs"/>
                        </a:rPr>
                        <a:t>Traitement des perceptions</a:t>
                      </a:r>
                    </a:p>
                  </a:txBody>
                  <a:tcPr anchor="ctr"/>
                </a:tc>
                <a:tc rowSpan="2">
                  <a:txBody>
                    <a:bodyPr/>
                    <a:lstStyle/>
                    <a:p>
                      <a:pPr algn="l" rtl="0" fontAlgn="base">
                        <a:lnSpc>
                          <a:spcPts val="1200"/>
                        </a:lnSpc>
                        <a:buNone/>
                      </a:pPr>
                      <a:r>
                        <a:rPr lang="fr-CA" sz="1050" b="0" i="0" u="none" strike="noStrike" kern="1200" noProof="0">
                          <a:solidFill>
                            <a:srgbClr val="262626"/>
                          </a:solidFill>
                          <a:effectLst/>
                          <a:latin typeface="Calibri" panose="020F0502020204030204" pitchFamily="34" charset="0"/>
                          <a:ea typeface="+mn-ea"/>
                          <a:cs typeface="+mn-cs"/>
                        </a:rPr>
                        <a:t>Traitement des perceptions par dépôts préautorisés (DPA)</a:t>
                      </a:r>
                    </a:p>
                  </a:txBody>
                  <a:tcPr anchor="ctr"/>
                </a:tc>
                <a:tc>
                  <a:txBody>
                    <a:bodyPr/>
                    <a:lstStyle/>
                    <a:p>
                      <a:pPr marL="0" indent="92075" algn="l" rtl="0" fontAlgn="ctr"/>
                      <a:r>
                        <a:rPr lang="fr-CA" sz="900" kern="1200" noProof="0">
                          <a:solidFill>
                            <a:srgbClr val="262626"/>
                          </a:solidFill>
                          <a:latin typeface="+mn-lt"/>
                          <a:ea typeface="+mn-ea"/>
                          <a:cs typeface="+mn-cs"/>
                        </a:rPr>
                        <a:t>Gérer les émissions des perceptions DPA</a:t>
                      </a:r>
                    </a:p>
                  </a:txBody>
                  <a:tcPr marL="0" marR="0" marT="0" marB="0" anchor="ctr"/>
                </a:tc>
                <a:tc>
                  <a:txBody>
                    <a:bodyPr/>
                    <a:lstStyle/>
                    <a:p>
                      <a:pPr algn="l"/>
                      <a:endParaRPr lang="fr-CA" sz="900" noProof="0">
                        <a:solidFill>
                          <a:srgbClr val="262626"/>
                        </a:solidFill>
                      </a:endParaRPr>
                    </a:p>
                  </a:txBody>
                  <a:tcPr/>
                </a:tc>
                <a:extLst>
                  <a:ext uri="{0D108BD9-81ED-4DB2-BD59-A6C34878D82A}">
                    <a16:rowId xmlns:a16="http://schemas.microsoft.com/office/drawing/2014/main" val="2566760826"/>
                  </a:ext>
                </a:extLst>
              </a:tr>
              <a:tr h="244187">
                <a:tc vMerge="1">
                  <a:txBody>
                    <a:bodyPr/>
                    <a:lstStyle/>
                    <a:p>
                      <a:pPr marL="0" algn="ctr" defTabSz="914400" rtl="0" eaLnBrk="1" fontAlgn="base" latinLnBrk="0" hangingPunct="1">
                        <a:lnSpc>
                          <a:spcPts val="1200"/>
                        </a:lnSpc>
                        <a:buNone/>
                      </a:pPr>
                      <a:endParaRPr lang="fr-FR" sz="1050" b="1" i="0" u="none" strike="noStrike" kern="1200">
                        <a:solidFill>
                          <a:srgbClr val="000000"/>
                        </a:solidFill>
                        <a:effectLst/>
                        <a:latin typeface="Calibri" panose="020F0502020204030204" pitchFamily="34" charset="0"/>
                        <a:ea typeface="+mn-ea"/>
                        <a:cs typeface="+mn-cs"/>
                      </a:endParaRPr>
                    </a:p>
                  </a:txBody>
                  <a:tcPr anchor="ctr"/>
                </a:tc>
                <a:tc vMerge="1">
                  <a:txBody>
                    <a:bodyPr/>
                    <a:lstStyle/>
                    <a:p>
                      <a:pPr algn="l" rtl="0" fontAlgn="base">
                        <a:lnSpc>
                          <a:spcPts val="1200"/>
                        </a:lnSpc>
                        <a:buNone/>
                      </a:pPr>
                      <a:endParaRPr lang="fr-FR" sz="1050" b="0" i="0" u="none" strike="noStrike" kern="1200">
                        <a:solidFill>
                          <a:srgbClr val="262626"/>
                        </a:solidFill>
                        <a:effectLst/>
                        <a:latin typeface="Calibri" panose="020F0502020204030204" pitchFamily="34" charset="0"/>
                        <a:ea typeface="+mn-ea"/>
                        <a:cs typeface="+mn-cs"/>
                      </a:endParaRPr>
                    </a:p>
                  </a:txBody>
                  <a:tcPr anchor="ctr"/>
                </a:tc>
                <a:tc>
                  <a:txBody>
                    <a:bodyPr/>
                    <a:lstStyle/>
                    <a:p>
                      <a:pPr marL="0" indent="92075" algn="l" rtl="0" fontAlgn="ctr"/>
                      <a:r>
                        <a:rPr lang="fr-CA" sz="900" kern="1200" noProof="0">
                          <a:solidFill>
                            <a:srgbClr val="262626"/>
                          </a:solidFill>
                          <a:latin typeface="+mn-lt"/>
                          <a:ea typeface="+mn-ea"/>
                          <a:cs typeface="+mn-cs"/>
                        </a:rPr>
                        <a:t>Contre passer une perception DPA</a:t>
                      </a:r>
                    </a:p>
                  </a:txBody>
                  <a:tcPr marL="0" marR="0" marT="0" marB="0" anchor="ctr"/>
                </a:tc>
                <a:tc>
                  <a:txBody>
                    <a:bodyPr/>
                    <a:lstStyle/>
                    <a:p>
                      <a:pPr algn="l"/>
                      <a:endParaRPr lang="fr-CA" sz="900" noProof="0">
                        <a:solidFill>
                          <a:srgbClr val="262626"/>
                        </a:solidFill>
                      </a:endParaRPr>
                    </a:p>
                  </a:txBody>
                  <a:tcPr/>
                </a:tc>
                <a:extLst>
                  <a:ext uri="{0D108BD9-81ED-4DB2-BD59-A6C34878D82A}">
                    <a16:rowId xmlns:a16="http://schemas.microsoft.com/office/drawing/2014/main" val="906496646"/>
                  </a:ext>
                </a:extLst>
              </a:tr>
              <a:tr h="235866">
                <a:tc rowSpan="4">
                  <a:txBody>
                    <a:bodyPr/>
                    <a:lstStyle/>
                    <a:p>
                      <a:pPr marL="0" algn="ctr" defTabSz="914400" rtl="0" eaLnBrk="1" fontAlgn="base" latinLnBrk="0" hangingPunct="1">
                        <a:lnSpc>
                          <a:spcPts val="1200"/>
                        </a:lnSpc>
                        <a:buNone/>
                      </a:pPr>
                      <a:r>
                        <a:rPr lang="fr-CA" sz="1050" b="1" i="0" u="none" strike="noStrike" kern="1200" noProof="0">
                          <a:solidFill>
                            <a:srgbClr val="000000"/>
                          </a:solidFill>
                          <a:effectLst/>
                          <a:latin typeface="Calibri" panose="020F0502020204030204" pitchFamily="34" charset="0"/>
                          <a:ea typeface="+mn-ea"/>
                          <a:cs typeface="+mn-cs"/>
                        </a:rPr>
                        <a:t>Gestion de la fraude bancaire</a:t>
                      </a:r>
                    </a:p>
                  </a:txBody>
                  <a:tcPr anchor="ctr"/>
                </a:tc>
                <a:tc>
                  <a:txBody>
                    <a:bodyPr/>
                    <a:lstStyle/>
                    <a:p>
                      <a:pPr algn="l" rtl="0" fontAlgn="base">
                        <a:lnSpc>
                          <a:spcPts val="1200"/>
                        </a:lnSpc>
                        <a:buNone/>
                      </a:pPr>
                      <a:r>
                        <a:rPr lang="fr-CA" sz="1050" b="0" i="0" noProof="0">
                          <a:solidFill>
                            <a:srgbClr val="262626"/>
                          </a:solidFill>
                          <a:effectLst/>
                        </a:rPr>
                        <a:t>Gestion des cas de fraudes</a:t>
                      </a:r>
                    </a:p>
                  </a:txBody>
                  <a:tcPr anchor="ctr"/>
                </a:tc>
                <a:tc>
                  <a:txBody>
                    <a:bodyPr/>
                    <a:lstStyle/>
                    <a:p>
                      <a:pPr marL="92075" indent="0" algn="l" rtl="0" fontAlgn="ctr"/>
                      <a:r>
                        <a:rPr lang="fr-CA" sz="900" kern="1200" noProof="0">
                          <a:solidFill>
                            <a:srgbClr val="262626"/>
                          </a:solidFill>
                          <a:latin typeface="+mn-lt"/>
                          <a:ea typeface="+mn-ea"/>
                          <a:cs typeface="+mn-cs"/>
                        </a:rPr>
                        <a:t>Traiter un cas suspecté de fraude</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1132158584"/>
                  </a:ext>
                </a:extLst>
              </a:tr>
              <a:tr h="235866">
                <a:tc vMerge="1">
                  <a:txBody>
                    <a:bodyPr/>
                    <a:lstStyle/>
                    <a:p>
                      <a:pPr marL="0" algn="ctr" defTabSz="914400" rtl="0" eaLnBrk="1" fontAlgn="base" latinLnBrk="0" hangingPunct="1">
                        <a:lnSpc>
                          <a:spcPts val="1200"/>
                        </a:lnSpc>
                        <a:buNone/>
                      </a:pPr>
                      <a:endParaRPr lang="fr-FR" sz="1050" b="1" i="0" u="none" strike="noStrike" kern="1200">
                        <a:solidFill>
                          <a:srgbClr val="000000"/>
                        </a:solidFill>
                        <a:effectLst/>
                        <a:latin typeface="Calibri" panose="020F0502020204030204" pitchFamily="34" charset="0"/>
                        <a:ea typeface="+mn-ea"/>
                        <a:cs typeface="+mn-cs"/>
                      </a:endParaRPr>
                    </a:p>
                  </a:txBody>
                  <a:tcPr anchor="ctr"/>
                </a:tc>
                <a:tc>
                  <a:txBody>
                    <a:bodyPr/>
                    <a:lstStyle/>
                    <a:p>
                      <a:pPr algn="l" rtl="0" fontAlgn="base">
                        <a:lnSpc>
                          <a:spcPts val="1200"/>
                        </a:lnSpc>
                        <a:buNone/>
                      </a:pPr>
                      <a:r>
                        <a:rPr lang="fr-CA" sz="1050" b="0" i="0" noProof="0">
                          <a:solidFill>
                            <a:srgbClr val="262626"/>
                          </a:solidFill>
                          <a:effectLst/>
                        </a:rPr>
                        <a:t>Gouvernance autour de la fraude</a:t>
                      </a:r>
                    </a:p>
                  </a:txBody>
                  <a:tcPr anchor="ctr"/>
                </a:tc>
                <a:tc>
                  <a:txBody>
                    <a:bodyPr/>
                    <a:lstStyle/>
                    <a:p>
                      <a:pPr marL="92075" indent="0" algn="l" rtl="0" fontAlgn="ctr"/>
                      <a:r>
                        <a:rPr lang="fr-CA" sz="900" kern="1200" noProof="0">
                          <a:solidFill>
                            <a:srgbClr val="262626"/>
                          </a:solidFill>
                          <a:latin typeface="+mn-lt"/>
                          <a:ea typeface="+mn-ea"/>
                          <a:cs typeface="+mn-cs"/>
                        </a:rPr>
                        <a:t>Révision de la stratégie de détection de fraude</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322800414"/>
                  </a:ext>
                </a:extLst>
              </a:tr>
              <a:tr h="311350">
                <a:tc vMerge="1">
                  <a:txBody>
                    <a:bodyPr/>
                    <a:lstStyle/>
                    <a:p>
                      <a:pPr marL="0" algn="ctr" defTabSz="914400" rtl="0" eaLnBrk="1" fontAlgn="base" latinLnBrk="0" hangingPunct="1">
                        <a:lnSpc>
                          <a:spcPts val="1200"/>
                        </a:lnSpc>
                        <a:buNone/>
                      </a:pPr>
                      <a:endParaRPr lang="fr-FR" sz="1050" b="1" i="0" u="none" strike="noStrike" kern="1200">
                        <a:solidFill>
                          <a:srgbClr val="000000"/>
                        </a:solidFill>
                        <a:effectLst/>
                        <a:latin typeface="Calibri" panose="020F0502020204030204" pitchFamily="34" charset="0"/>
                        <a:ea typeface="+mn-ea"/>
                        <a:cs typeface="+mn-cs"/>
                      </a:endParaRPr>
                    </a:p>
                  </a:txBody>
                  <a:tcPr anchor="ctr"/>
                </a:tc>
                <a:tc rowSpan="2">
                  <a:txBody>
                    <a:bodyPr/>
                    <a:lstStyle/>
                    <a:p>
                      <a:pPr algn="l" rtl="0" fontAlgn="base">
                        <a:lnSpc>
                          <a:spcPts val="1200"/>
                        </a:lnSpc>
                        <a:buNone/>
                      </a:pPr>
                      <a:r>
                        <a:rPr lang="fr-CA" sz="1050" b="0" i="0" noProof="0">
                          <a:solidFill>
                            <a:srgbClr val="262626"/>
                          </a:solidFill>
                          <a:effectLst/>
                        </a:rPr>
                        <a:t>Gestion de la prévention </a:t>
                      </a:r>
                    </a:p>
                  </a:txBody>
                  <a:tcPr anchor="ctr"/>
                </a:tc>
                <a:tc>
                  <a:txBody>
                    <a:bodyPr/>
                    <a:lstStyle/>
                    <a:p>
                      <a:pPr marL="92075" indent="0" algn="l" rtl="0" fontAlgn="ctr"/>
                      <a:r>
                        <a:rPr lang="fr-CA" sz="900" kern="1200" noProof="0">
                          <a:solidFill>
                            <a:srgbClr val="262626"/>
                          </a:solidFill>
                          <a:latin typeface="+mn-lt"/>
                          <a:ea typeface="+mn-ea"/>
                          <a:cs typeface="+mn-cs"/>
                        </a:rPr>
                        <a:t>Centralisation des statistiques et des détails des cas de fraude détectés et confirmés</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3761637257"/>
                  </a:ext>
                </a:extLst>
              </a:tr>
              <a:tr h="235866">
                <a:tc vMerge="1">
                  <a:txBody>
                    <a:bodyPr/>
                    <a:lstStyle/>
                    <a:p>
                      <a:pPr marL="0" algn="ctr" defTabSz="914400" rtl="0" eaLnBrk="1" fontAlgn="base" latinLnBrk="0" hangingPunct="1">
                        <a:lnSpc>
                          <a:spcPts val="1200"/>
                        </a:lnSpc>
                        <a:buNone/>
                      </a:pPr>
                      <a:endParaRPr lang="fr-FR" sz="1050" b="1" i="0" u="none" strike="noStrike" kern="1200">
                        <a:solidFill>
                          <a:srgbClr val="000000"/>
                        </a:solidFill>
                        <a:effectLst/>
                        <a:latin typeface="Calibri" panose="020F0502020204030204" pitchFamily="34" charset="0"/>
                        <a:ea typeface="+mn-ea"/>
                        <a:cs typeface="+mn-cs"/>
                      </a:endParaRPr>
                    </a:p>
                  </a:txBody>
                  <a:tcPr anchor="ctr"/>
                </a:tc>
                <a:tc vMerge="1">
                  <a:txBody>
                    <a:bodyPr/>
                    <a:lstStyle/>
                    <a:p>
                      <a:pPr algn="l" rtl="0" fontAlgn="base">
                        <a:lnSpc>
                          <a:spcPts val="1200"/>
                        </a:lnSpc>
                        <a:buNone/>
                      </a:pPr>
                      <a:endParaRPr lang="fr-FR" sz="1050" b="0" i="0">
                        <a:solidFill>
                          <a:srgbClr val="262626"/>
                        </a:solidFill>
                        <a:effectLst/>
                      </a:endParaRPr>
                    </a:p>
                  </a:txBody>
                  <a:tcPr anchor="ctr"/>
                </a:tc>
                <a:tc>
                  <a:txBody>
                    <a:bodyPr/>
                    <a:lstStyle/>
                    <a:p>
                      <a:pPr marL="92075" indent="0" algn="l" rtl="0" fontAlgn="ctr"/>
                      <a:r>
                        <a:rPr lang="fr-CA" sz="900" kern="1200" noProof="0">
                          <a:solidFill>
                            <a:srgbClr val="262626"/>
                          </a:solidFill>
                          <a:latin typeface="+mn-lt"/>
                          <a:ea typeface="+mn-ea"/>
                          <a:cs typeface="+mn-cs"/>
                        </a:rPr>
                        <a:t>Révision des règles de détection de fraude</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3353634014"/>
                  </a:ext>
                </a:extLst>
              </a:tr>
              <a:tr h="235866">
                <a:tc rowSpan="3">
                  <a:txBody>
                    <a:bodyPr/>
                    <a:lstStyle/>
                    <a:p>
                      <a:pPr marL="0" algn="ctr" defTabSz="914400" rtl="0" eaLnBrk="1" fontAlgn="base" latinLnBrk="0" hangingPunct="1">
                        <a:lnSpc>
                          <a:spcPts val="1200"/>
                        </a:lnSpc>
                        <a:buNone/>
                      </a:pPr>
                      <a:r>
                        <a:rPr lang="fr-CA" sz="1050" b="1" i="0" u="none" strike="noStrike" kern="1200" noProof="0">
                          <a:solidFill>
                            <a:srgbClr val="000000"/>
                          </a:solidFill>
                          <a:effectLst/>
                          <a:latin typeface="Calibri" panose="020F0502020204030204" pitchFamily="34" charset="0"/>
                          <a:ea typeface="+mn-ea"/>
                          <a:cs typeface="+mn-cs"/>
                        </a:rPr>
                        <a:t>Gestion des Rapports</a:t>
                      </a:r>
                    </a:p>
                  </a:txBody>
                  <a:tcPr anchor="ctr"/>
                </a:tc>
                <a:tc rowSpan="3">
                  <a:txBody>
                    <a:bodyPr/>
                    <a:lstStyle/>
                    <a:p>
                      <a:pPr algn="l" rtl="0" fontAlgn="base">
                        <a:lnSpc>
                          <a:spcPts val="1200"/>
                        </a:lnSpc>
                        <a:buNone/>
                      </a:pPr>
                      <a:r>
                        <a:rPr lang="fr-CA" sz="1050" b="0" i="0" noProof="0">
                          <a:solidFill>
                            <a:srgbClr val="262626"/>
                          </a:solidFill>
                          <a:effectLst/>
                        </a:rPr>
                        <a:t>Création et maintenance de rapports opérationnels</a:t>
                      </a:r>
                    </a:p>
                  </a:txBody>
                  <a:tcPr anchor="ctr"/>
                </a:tc>
                <a:tc>
                  <a:txBody>
                    <a:bodyPr/>
                    <a:lstStyle/>
                    <a:p>
                      <a:pPr marL="92075" indent="0" algn="l" rtl="0" fontAlgn="b"/>
                      <a:r>
                        <a:rPr lang="fr-CA" sz="900" kern="1200" noProof="0">
                          <a:solidFill>
                            <a:srgbClr val="262626"/>
                          </a:solidFill>
                          <a:latin typeface="+mn-lt"/>
                          <a:ea typeface="+mn-ea"/>
                          <a:cs typeface="+mn-cs"/>
                        </a:rPr>
                        <a:t>Produire des rapports opérationnels aux partenaires </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1678484842"/>
                  </a:ext>
                </a:extLst>
              </a:tr>
              <a:tr h="235866">
                <a:tc vMerge="1">
                  <a:txBody>
                    <a:bodyPr/>
                    <a:lstStyle/>
                    <a:p>
                      <a:pPr marL="0" algn="ctr" defTabSz="914400" rtl="0" eaLnBrk="1" fontAlgn="base" latinLnBrk="0" hangingPunct="1">
                        <a:lnSpc>
                          <a:spcPts val="1200"/>
                        </a:lnSpc>
                        <a:buNone/>
                      </a:pPr>
                      <a:endParaRPr lang="fr-FR" sz="1050" b="1" i="0" u="none" strike="noStrike" kern="1200">
                        <a:solidFill>
                          <a:srgbClr val="000000"/>
                        </a:solidFill>
                        <a:effectLst/>
                        <a:latin typeface="Calibri" panose="020F0502020204030204" pitchFamily="34" charset="0"/>
                        <a:ea typeface="+mn-ea"/>
                        <a:cs typeface="+mn-cs"/>
                      </a:endParaRPr>
                    </a:p>
                  </a:txBody>
                  <a:tcPr anchor="ctr"/>
                </a:tc>
                <a:tc vMerge="1">
                  <a:txBody>
                    <a:bodyPr/>
                    <a:lstStyle/>
                    <a:p>
                      <a:pPr algn="l" rtl="0" fontAlgn="base">
                        <a:lnSpc>
                          <a:spcPts val="1200"/>
                        </a:lnSpc>
                        <a:buNone/>
                      </a:pPr>
                      <a:endParaRPr lang="fr-FR" sz="1050" b="0" i="0">
                        <a:solidFill>
                          <a:srgbClr val="262626"/>
                        </a:solidFill>
                        <a:effectLst/>
                      </a:endParaRPr>
                    </a:p>
                  </a:txBody>
                  <a:tcPr anchor="ctr"/>
                </a:tc>
                <a:tc>
                  <a:txBody>
                    <a:bodyPr/>
                    <a:lstStyle/>
                    <a:p>
                      <a:pPr marL="92075" indent="0" algn="l" rtl="0" fontAlgn="b"/>
                      <a:r>
                        <a:rPr lang="fr-CA" sz="900" kern="1200" noProof="0">
                          <a:solidFill>
                            <a:srgbClr val="262626"/>
                          </a:solidFill>
                          <a:latin typeface="+mn-lt"/>
                          <a:ea typeface="+mn-ea"/>
                          <a:cs typeface="+mn-cs"/>
                        </a:rPr>
                        <a:t>Produire des rapports opérationnels pour le CSP bancaire</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3398799523"/>
                  </a:ext>
                </a:extLst>
              </a:tr>
              <a:tr h="235866">
                <a:tc vMerge="1">
                  <a:txBody>
                    <a:bodyPr/>
                    <a:lstStyle/>
                    <a:p>
                      <a:pPr marL="0" algn="ctr" defTabSz="914400" rtl="0" eaLnBrk="1" fontAlgn="base" latinLnBrk="0" hangingPunct="1">
                        <a:lnSpc>
                          <a:spcPts val="1200"/>
                        </a:lnSpc>
                        <a:buNone/>
                      </a:pPr>
                      <a:endParaRPr lang="fr-FR" sz="1050" b="1" i="0" u="none" strike="noStrike" kern="1200">
                        <a:solidFill>
                          <a:srgbClr val="000000"/>
                        </a:solidFill>
                        <a:effectLst/>
                        <a:latin typeface="Calibri" panose="020F0502020204030204" pitchFamily="34" charset="0"/>
                        <a:ea typeface="+mn-ea"/>
                        <a:cs typeface="+mn-cs"/>
                      </a:endParaRPr>
                    </a:p>
                  </a:txBody>
                  <a:tcPr anchor="ctr"/>
                </a:tc>
                <a:tc vMerge="1">
                  <a:txBody>
                    <a:bodyPr/>
                    <a:lstStyle/>
                    <a:p>
                      <a:pPr algn="l" rtl="0" fontAlgn="base">
                        <a:lnSpc>
                          <a:spcPts val="1200"/>
                        </a:lnSpc>
                        <a:buNone/>
                      </a:pPr>
                      <a:endParaRPr lang="fr-FR" sz="1050" b="0" i="0">
                        <a:solidFill>
                          <a:srgbClr val="262626"/>
                        </a:solidFill>
                        <a:effectLst/>
                      </a:endParaRPr>
                    </a:p>
                  </a:txBody>
                  <a:tcPr anchor="ctr"/>
                </a:tc>
                <a:tc>
                  <a:txBody>
                    <a:bodyPr/>
                    <a:lstStyle/>
                    <a:p>
                      <a:pPr marL="92075" indent="0" algn="l" rtl="0" fontAlgn="b"/>
                      <a:r>
                        <a:rPr lang="fr-CA" sz="900" kern="1200" noProof="0">
                          <a:solidFill>
                            <a:srgbClr val="262626"/>
                          </a:solidFill>
                          <a:latin typeface="+mn-lt"/>
                          <a:ea typeface="+mn-ea"/>
                          <a:cs typeface="+mn-cs"/>
                        </a:rPr>
                        <a:t>Produire des rapports réglementaires d'audits </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1401712108"/>
                  </a:ext>
                </a:extLst>
              </a:tr>
              <a:tr h="235866">
                <a:tc rowSpan="3">
                  <a:txBody>
                    <a:bodyPr/>
                    <a:lstStyle/>
                    <a:p>
                      <a:pPr marL="0" marR="0" lvl="0" indent="0" algn="ctr" defTabSz="914400" rtl="0" eaLnBrk="1" fontAlgn="base" latinLnBrk="0" hangingPunct="1">
                        <a:lnSpc>
                          <a:spcPts val="1200"/>
                        </a:lnSpc>
                        <a:spcBef>
                          <a:spcPts val="0"/>
                        </a:spcBef>
                        <a:spcAft>
                          <a:spcPts val="0"/>
                        </a:spcAft>
                        <a:buClrTx/>
                        <a:buSzTx/>
                        <a:buFontTx/>
                        <a:buNone/>
                        <a:tabLst/>
                        <a:defRPr/>
                      </a:pPr>
                      <a:r>
                        <a:rPr lang="fr-CA" sz="1050" b="1" i="0" u="none" strike="noStrike" kern="1200" noProof="0">
                          <a:solidFill>
                            <a:srgbClr val="000000"/>
                          </a:solidFill>
                          <a:effectLst/>
                          <a:latin typeface="Calibri" panose="020F0502020204030204" pitchFamily="34" charset="0"/>
                          <a:ea typeface="+mn-ea"/>
                          <a:cs typeface="+mn-cs"/>
                        </a:rPr>
                        <a:t>Gestion de l'analytique</a:t>
                      </a:r>
                    </a:p>
                  </a:txBody>
                  <a:tcPr anchor="ctr"/>
                </a:tc>
                <a:tc rowSpan="3">
                  <a:txBody>
                    <a:bodyPr/>
                    <a:lstStyle/>
                    <a:p>
                      <a:pPr algn="l" rtl="0" fontAlgn="base">
                        <a:lnSpc>
                          <a:spcPts val="1200"/>
                        </a:lnSpc>
                        <a:buNone/>
                      </a:pPr>
                      <a:r>
                        <a:rPr lang="fr-CA" sz="1050" b="0" i="0" noProof="0">
                          <a:solidFill>
                            <a:srgbClr val="262626"/>
                          </a:solidFill>
                          <a:effectLst/>
                        </a:rPr>
                        <a:t>Gérer les KPI de performance</a:t>
                      </a:r>
                    </a:p>
                  </a:txBody>
                  <a:tcPr anchor="ctr"/>
                </a:tc>
                <a:tc>
                  <a:txBody>
                    <a:bodyPr/>
                    <a:lstStyle/>
                    <a:p>
                      <a:pPr marL="92075" indent="0" algn="l" rtl="0" fontAlgn="ctr"/>
                      <a:r>
                        <a:rPr lang="fr-CA" sz="900" kern="1200" noProof="0">
                          <a:solidFill>
                            <a:srgbClr val="262626"/>
                          </a:solidFill>
                          <a:latin typeface="+mn-lt"/>
                          <a:ea typeface="+mn-ea"/>
                          <a:cs typeface="+mn-cs"/>
                        </a:rPr>
                        <a:t>Mettre en place des indicateurs de performance (KPI)</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4097483056"/>
                  </a:ext>
                </a:extLst>
              </a:tr>
              <a:tr h="235866">
                <a:tc vMerge="1">
                  <a:txBody>
                    <a:bodyPr/>
                    <a:lstStyle/>
                    <a:p>
                      <a:pPr marL="0" algn="ctr" defTabSz="914400" rtl="0" eaLnBrk="1" fontAlgn="base" latinLnBrk="0" hangingPunct="1">
                        <a:lnSpc>
                          <a:spcPts val="1200"/>
                        </a:lnSpc>
                        <a:buNone/>
                      </a:pPr>
                      <a:endParaRPr lang="fr-FR" sz="1050" b="1" i="0" u="none" strike="noStrike" kern="1200">
                        <a:solidFill>
                          <a:srgbClr val="000000"/>
                        </a:solidFill>
                        <a:effectLst/>
                        <a:latin typeface="Calibri" panose="020F0502020204030204" pitchFamily="34" charset="0"/>
                        <a:ea typeface="+mn-ea"/>
                        <a:cs typeface="+mn-cs"/>
                      </a:endParaRPr>
                    </a:p>
                  </a:txBody>
                  <a:tcPr anchor="ctr"/>
                </a:tc>
                <a:tc vMerge="1">
                  <a:txBody>
                    <a:bodyPr/>
                    <a:lstStyle/>
                    <a:p>
                      <a:pPr algn="l" rtl="0" fontAlgn="base">
                        <a:lnSpc>
                          <a:spcPts val="1200"/>
                        </a:lnSpc>
                        <a:buNone/>
                      </a:pPr>
                      <a:endParaRPr lang="fr-FR" sz="1050" b="0" i="0">
                        <a:solidFill>
                          <a:srgbClr val="262626"/>
                        </a:solidFill>
                        <a:effectLst/>
                      </a:endParaRPr>
                    </a:p>
                  </a:txBody>
                  <a:tcPr anchor="ctr"/>
                </a:tc>
                <a:tc>
                  <a:txBody>
                    <a:bodyPr/>
                    <a:lstStyle/>
                    <a:p>
                      <a:pPr marL="92075" indent="0" algn="l" rtl="0" fontAlgn="ctr"/>
                      <a:r>
                        <a:rPr lang="fr-CA" sz="900" kern="1200" noProof="0">
                          <a:solidFill>
                            <a:srgbClr val="262626"/>
                          </a:solidFill>
                          <a:latin typeface="+mn-lt"/>
                          <a:ea typeface="+mn-ea"/>
                          <a:cs typeface="+mn-cs"/>
                        </a:rPr>
                        <a:t>Suivre et Analyser les indicateurs de performance (KPI)</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3424649788"/>
                  </a:ext>
                </a:extLst>
              </a:tr>
              <a:tr h="235866">
                <a:tc vMerge="1">
                  <a:txBody>
                    <a:bodyPr/>
                    <a:lstStyle/>
                    <a:p>
                      <a:pPr marL="0" algn="ctr" defTabSz="914400" rtl="0" eaLnBrk="1" fontAlgn="base" latinLnBrk="0" hangingPunct="1">
                        <a:lnSpc>
                          <a:spcPts val="1200"/>
                        </a:lnSpc>
                        <a:buNone/>
                      </a:pPr>
                      <a:endParaRPr lang="fr-FR" sz="1050" b="1" i="0" u="none" strike="noStrike" kern="1200">
                        <a:solidFill>
                          <a:srgbClr val="000000"/>
                        </a:solidFill>
                        <a:effectLst/>
                        <a:latin typeface="Calibri" panose="020F0502020204030204" pitchFamily="34" charset="0"/>
                        <a:ea typeface="+mn-ea"/>
                        <a:cs typeface="+mn-cs"/>
                      </a:endParaRPr>
                    </a:p>
                  </a:txBody>
                  <a:tcPr anchor="ctr"/>
                </a:tc>
                <a:tc vMerge="1">
                  <a:txBody>
                    <a:bodyPr/>
                    <a:lstStyle/>
                    <a:p>
                      <a:pPr algn="l" rtl="0" fontAlgn="base">
                        <a:lnSpc>
                          <a:spcPts val="1200"/>
                        </a:lnSpc>
                        <a:buNone/>
                      </a:pPr>
                      <a:endParaRPr lang="fr-FR" sz="1050" b="0" i="0">
                        <a:solidFill>
                          <a:srgbClr val="262626"/>
                        </a:solidFill>
                        <a:effectLst/>
                      </a:endParaRPr>
                    </a:p>
                  </a:txBody>
                  <a:tcPr anchor="ctr"/>
                </a:tc>
                <a:tc>
                  <a:txBody>
                    <a:bodyPr/>
                    <a:lstStyle/>
                    <a:p>
                      <a:pPr marL="92075" indent="0" algn="l" rtl="0" fontAlgn="b"/>
                      <a:r>
                        <a:rPr lang="fr-CA" sz="900" kern="1200" noProof="0">
                          <a:solidFill>
                            <a:srgbClr val="262626"/>
                          </a:solidFill>
                          <a:latin typeface="+mn-lt"/>
                          <a:ea typeface="+mn-ea"/>
                          <a:cs typeface="+mn-cs"/>
                        </a:rPr>
                        <a:t>Analyser mensuellement les coûts de services offerts par le CSP bancaire</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2505491518"/>
                  </a:ext>
                </a:extLst>
              </a:tr>
            </a:tbl>
          </a:graphicData>
        </a:graphic>
      </p:graphicFrame>
      <p:sp>
        <p:nvSpPr>
          <p:cNvPr id="5" name="ZoneTexte 4">
            <a:extLst>
              <a:ext uri="{FF2B5EF4-FFF2-40B4-BE49-F238E27FC236}">
                <a16:creationId xmlns:a16="http://schemas.microsoft.com/office/drawing/2014/main" id="{43289244-F79F-1AA6-ABD1-EFBD2DBBDFCF}"/>
              </a:ext>
            </a:extLst>
          </p:cNvPr>
          <p:cNvSpPr txBox="1"/>
          <p:nvPr/>
        </p:nvSpPr>
        <p:spPr>
          <a:xfrm>
            <a:off x="331299" y="4774319"/>
            <a:ext cx="3779659" cy="369332"/>
          </a:xfrm>
          <a:prstGeom prst="rect">
            <a:avLst/>
          </a:prstGeom>
          <a:noFill/>
        </p:spPr>
        <p:txBody>
          <a:bodyPr wrap="square">
            <a:spAutoFit/>
          </a:bodyPr>
          <a:lstStyle/>
          <a:p>
            <a:r>
              <a:rPr lang="fr-CA" sz="1800" noProof="0">
                <a:solidFill>
                  <a:srgbClr val="FF0000"/>
                </a:solidFill>
              </a:rPr>
              <a:t>*</a:t>
            </a:r>
            <a:r>
              <a:rPr lang="fr-CA" sz="1400" noProof="0">
                <a:solidFill>
                  <a:srgbClr val="262626"/>
                </a:solidFill>
              </a:rPr>
              <a:t> </a:t>
            </a:r>
            <a:r>
              <a:rPr lang="fr-CA" sz="1200" i="1" noProof="0">
                <a:solidFill>
                  <a:srgbClr val="262626"/>
                </a:solidFill>
              </a:rPr>
              <a:t>Implication majeur de la trésorerie corporative</a:t>
            </a:r>
            <a:endParaRPr lang="fr-CA" sz="1400" i="1" noProof="0">
              <a:solidFill>
                <a:srgbClr val="262626"/>
              </a:solidFill>
            </a:endParaRPr>
          </a:p>
        </p:txBody>
      </p:sp>
      <p:pic>
        <p:nvPicPr>
          <p:cNvPr id="4" name="Graphique 3" descr="Coche avec un remplissage uni">
            <a:extLst>
              <a:ext uri="{FF2B5EF4-FFF2-40B4-BE49-F238E27FC236}">
                <a16:creationId xmlns:a16="http://schemas.microsoft.com/office/drawing/2014/main" id="{5248AB22-A078-57EF-F0E4-3F441B50CE6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203949" y="1523095"/>
            <a:ext cx="256310" cy="256310"/>
          </a:xfrm>
          <a:prstGeom prst="rect">
            <a:avLst/>
          </a:prstGeom>
        </p:spPr>
      </p:pic>
      <p:pic>
        <p:nvPicPr>
          <p:cNvPr id="9" name="Graphique 8" descr="Coche avec un remplissage uni">
            <a:extLst>
              <a:ext uri="{FF2B5EF4-FFF2-40B4-BE49-F238E27FC236}">
                <a16:creationId xmlns:a16="http://schemas.microsoft.com/office/drawing/2014/main" id="{86F71896-B647-4E9E-0253-37D420B6E47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203949" y="1757013"/>
            <a:ext cx="256310" cy="256310"/>
          </a:xfrm>
          <a:prstGeom prst="rect">
            <a:avLst/>
          </a:prstGeom>
        </p:spPr>
      </p:pic>
      <p:pic>
        <p:nvPicPr>
          <p:cNvPr id="10" name="Graphique 9" descr="Coche avec un remplissage uni">
            <a:extLst>
              <a:ext uri="{FF2B5EF4-FFF2-40B4-BE49-F238E27FC236}">
                <a16:creationId xmlns:a16="http://schemas.microsoft.com/office/drawing/2014/main" id="{66901CA9-763A-C90B-0CFE-C816C9ACF3F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203949" y="2024382"/>
            <a:ext cx="256310" cy="256310"/>
          </a:xfrm>
          <a:prstGeom prst="rect">
            <a:avLst/>
          </a:prstGeom>
        </p:spPr>
      </p:pic>
      <p:pic>
        <p:nvPicPr>
          <p:cNvPr id="11" name="Graphique 10" descr="Coche avec un remplissage uni">
            <a:extLst>
              <a:ext uri="{FF2B5EF4-FFF2-40B4-BE49-F238E27FC236}">
                <a16:creationId xmlns:a16="http://schemas.microsoft.com/office/drawing/2014/main" id="{82B49E8A-7854-3FF1-07AA-A98DE4F4560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203949" y="2312185"/>
            <a:ext cx="256310" cy="256310"/>
          </a:xfrm>
          <a:prstGeom prst="rect">
            <a:avLst/>
          </a:prstGeom>
        </p:spPr>
      </p:pic>
      <p:pic>
        <p:nvPicPr>
          <p:cNvPr id="12" name="Graphique 11" descr="Coche avec un remplissage uni">
            <a:extLst>
              <a:ext uri="{FF2B5EF4-FFF2-40B4-BE49-F238E27FC236}">
                <a16:creationId xmlns:a16="http://schemas.microsoft.com/office/drawing/2014/main" id="{6F5D5F96-09E4-3F7D-60B9-21633B57E55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203949" y="2770001"/>
            <a:ext cx="256310" cy="256310"/>
          </a:xfrm>
          <a:prstGeom prst="rect">
            <a:avLst/>
          </a:prstGeom>
        </p:spPr>
      </p:pic>
    </p:spTree>
    <p:extLst>
      <p:ext uri="{BB962C8B-B14F-4D97-AF65-F5344CB8AC3E}">
        <p14:creationId xmlns:p14="http://schemas.microsoft.com/office/powerpoint/2010/main" val="1900474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1186B-D8D0-6984-70BE-AE76B9EBEA8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CDEE1DC-159C-2A15-1E75-9AB7438B615C}"/>
              </a:ext>
            </a:extLst>
          </p:cNvPr>
          <p:cNvSpPr>
            <a:spLocks noGrp="1"/>
          </p:cNvSpPr>
          <p:nvPr>
            <p:ph type="title"/>
          </p:nvPr>
        </p:nvSpPr>
        <p:spPr>
          <a:xfrm>
            <a:off x="235527" y="1"/>
            <a:ext cx="8908473" cy="462974"/>
          </a:xfrm>
          <a:solidFill>
            <a:schemeClr val="tx1"/>
          </a:solidFill>
        </p:spPr>
        <p:txBody>
          <a:bodyPr vert="horz" lIns="91440" tIns="45720" rIns="91440" bIns="45720" rtlCol="0" anchor="ctr">
            <a:normAutofit/>
          </a:bodyPr>
          <a:lstStyle/>
          <a:p>
            <a:r>
              <a:rPr lang="fr-CA" sz="2400" b="1" noProof="0">
                <a:solidFill>
                  <a:schemeClr val="bg1"/>
                </a:solidFill>
              </a:rPr>
              <a:t>Définition de la portée – Objectif 3</a:t>
            </a:r>
          </a:p>
        </p:txBody>
      </p:sp>
      <p:sp>
        <p:nvSpPr>
          <p:cNvPr id="3" name="Espace réservé du contenu 2">
            <a:extLst>
              <a:ext uri="{FF2B5EF4-FFF2-40B4-BE49-F238E27FC236}">
                <a16:creationId xmlns:a16="http://schemas.microsoft.com/office/drawing/2014/main" id="{AC35ABCD-7E07-B25E-D6E3-ED724D88B1C3}"/>
              </a:ext>
            </a:extLst>
          </p:cNvPr>
          <p:cNvSpPr>
            <a:spLocks noGrp="1"/>
          </p:cNvSpPr>
          <p:nvPr>
            <p:ph sz="half" idx="14"/>
          </p:nvPr>
        </p:nvSpPr>
        <p:spPr>
          <a:xfrm>
            <a:off x="421353" y="554414"/>
            <a:ext cx="8778065" cy="4294209"/>
          </a:xfrm>
        </p:spPr>
        <p:txBody>
          <a:bodyPr vert="horz" lIns="91440" tIns="45720" rIns="91440" bIns="45720" rtlCol="0" anchor="t">
            <a:noAutofit/>
          </a:bodyPr>
          <a:lstStyle/>
          <a:p>
            <a:pPr marL="0" indent="0">
              <a:buNone/>
            </a:pPr>
            <a:r>
              <a:rPr lang="fr-CA" b="1" noProof="0">
                <a:solidFill>
                  <a:schemeClr val="dk1"/>
                </a:solidFill>
                <a:effectLst>
                  <a:outerShdw blurRad="38100" dist="38100" dir="2700000" algn="tl">
                    <a:srgbClr val="000000">
                      <a:alpha val="43137"/>
                    </a:srgbClr>
                  </a:outerShdw>
                </a:effectLst>
                <a:ea typeface="+mn-ea"/>
                <a:cs typeface="+mn-cs"/>
              </a:rPr>
              <a:t>Cet objectif comprend </a:t>
            </a:r>
          </a:p>
          <a:p>
            <a:pPr marL="266065" indent="-266065">
              <a:spcBef>
                <a:spcPts val="600"/>
              </a:spcBef>
              <a:buFont typeface="Wingdings" panose="05000000000000000000" pitchFamily="2" charset="2"/>
              <a:buChar char="§"/>
            </a:pPr>
            <a:r>
              <a:rPr lang="fr-CA" sz="1200" noProof="0">
                <a:solidFill>
                  <a:schemeClr val="dk1"/>
                </a:solidFill>
                <a:ea typeface="+mn-ea"/>
                <a:cs typeface="+mn-cs"/>
              </a:rPr>
              <a:t>Statuer sur les positionnements importants de la gouvernance bancaire</a:t>
            </a:r>
          </a:p>
          <a:p>
            <a:pPr marL="266065" indent="-266065">
              <a:spcBef>
                <a:spcPts val="600"/>
              </a:spcBef>
              <a:buFont typeface="Wingdings" panose="05000000000000000000" pitchFamily="2" charset="2"/>
              <a:buChar char="§"/>
            </a:pPr>
            <a:r>
              <a:rPr lang="fr-CA" sz="1200" noProof="0">
                <a:solidFill>
                  <a:schemeClr val="dk1"/>
                </a:solidFill>
                <a:ea typeface="+mn-ea"/>
                <a:cs typeface="+mn-cs"/>
              </a:rPr>
              <a:t>Réviser et définir l’offre de service du CSP bancaire </a:t>
            </a:r>
          </a:p>
          <a:p>
            <a:pPr marL="266065" indent="-266065">
              <a:spcBef>
                <a:spcPts val="600"/>
              </a:spcBef>
              <a:buFont typeface="Wingdings" panose="05000000000000000000" pitchFamily="2" charset="2"/>
              <a:buChar char="§"/>
            </a:pPr>
            <a:r>
              <a:rPr lang="fr-CA" sz="1200" noProof="0">
                <a:solidFill>
                  <a:schemeClr val="dk1"/>
                </a:solidFill>
                <a:ea typeface="+mn-ea"/>
                <a:cs typeface="+mn-cs"/>
              </a:rPr>
              <a:t>Réviser et définir les rôles et responsabilités entre le CSP Bancaires et ses partenaires (clients et fournisseurs)</a:t>
            </a:r>
          </a:p>
          <a:p>
            <a:pPr marL="266065" indent="-266065">
              <a:spcBef>
                <a:spcPts val="600"/>
              </a:spcBef>
              <a:buFont typeface="Wingdings" panose="05000000000000000000" pitchFamily="2" charset="2"/>
              <a:buChar char="§"/>
            </a:pPr>
            <a:r>
              <a:rPr lang="fr-CA" sz="1200" noProof="0">
                <a:solidFill>
                  <a:schemeClr val="dk1"/>
                </a:solidFill>
                <a:ea typeface="+mn-ea"/>
                <a:cs typeface="+mn-cs"/>
              </a:rPr>
              <a:t>Publiciser le modèle opérationnel et offre de service à l’ensemble de la compagnie.</a:t>
            </a:r>
          </a:p>
          <a:p>
            <a:pPr marL="0" indent="0">
              <a:spcBef>
                <a:spcPts val="600"/>
              </a:spcBef>
              <a:buNone/>
            </a:pPr>
            <a:endParaRPr lang="fr-CA" sz="1200" noProof="0">
              <a:solidFill>
                <a:schemeClr val="dk1"/>
              </a:solidFill>
              <a:ea typeface="+mn-ea"/>
              <a:cs typeface="+mn-cs"/>
            </a:endParaRPr>
          </a:p>
          <a:p>
            <a:pPr marL="0" indent="0">
              <a:spcBef>
                <a:spcPts val="600"/>
              </a:spcBef>
              <a:buNone/>
            </a:pPr>
            <a:endParaRPr lang="fr-CA" sz="1200" noProof="0">
              <a:solidFill>
                <a:schemeClr val="dk1"/>
              </a:solidFill>
              <a:ea typeface="+mn-ea"/>
              <a:cs typeface="+mn-cs"/>
            </a:endParaRPr>
          </a:p>
          <a:p>
            <a:pPr marL="0" indent="0">
              <a:spcBef>
                <a:spcPts val="600"/>
              </a:spcBef>
              <a:buNone/>
            </a:pPr>
            <a:endParaRPr lang="fr-CA" sz="1200" noProof="0">
              <a:solidFill>
                <a:schemeClr val="dk1"/>
              </a:solidFill>
              <a:ea typeface="+mn-ea"/>
              <a:cs typeface="+mn-cs"/>
            </a:endParaRPr>
          </a:p>
          <a:p>
            <a:pPr marL="0" indent="0">
              <a:spcBef>
                <a:spcPts val="600"/>
              </a:spcBef>
              <a:buNone/>
            </a:pPr>
            <a:endParaRPr lang="fr-CA" sz="1200" noProof="0">
              <a:solidFill>
                <a:schemeClr val="dk1"/>
              </a:solidFill>
              <a:ea typeface="+mn-ea"/>
              <a:cs typeface="+mn-cs"/>
            </a:endParaRPr>
          </a:p>
          <a:p>
            <a:pPr marL="0" indent="0">
              <a:spcBef>
                <a:spcPts val="600"/>
              </a:spcBef>
              <a:buNone/>
            </a:pPr>
            <a:endParaRPr lang="fr-CA" sz="1200" noProof="0">
              <a:solidFill>
                <a:schemeClr val="dk1"/>
              </a:solidFill>
              <a:ea typeface="+mn-ea"/>
              <a:cs typeface="+mn-cs"/>
            </a:endParaRPr>
          </a:p>
          <a:p>
            <a:pPr marL="0" indent="0">
              <a:spcBef>
                <a:spcPts val="600"/>
              </a:spcBef>
              <a:buNone/>
            </a:pPr>
            <a:endParaRPr lang="fr-CA" sz="1200" noProof="0">
              <a:solidFill>
                <a:schemeClr val="dk1"/>
              </a:solidFill>
              <a:ea typeface="+mn-ea"/>
              <a:cs typeface="+mn-cs"/>
            </a:endParaRPr>
          </a:p>
          <a:p>
            <a:pPr marL="0" indent="0">
              <a:spcBef>
                <a:spcPts val="600"/>
              </a:spcBef>
              <a:buNone/>
            </a:pPr>
            <a:endParaRPr lang="fr-CA" sz="1200" noProof="0">
              <a:solidFill>
                <a:schemeClr val="dk1"/>
              </a:solidFill>
              <a:ea typeface="+mn-ea"/>
              <a:cs typeface="+mn-cs"/>
            </a:endParaRPr>
          </a:p>
          <a:p>
            <a:pPr marL="0" indent="0">
              <a:spcBef>
                <a:spcPts val="600"/>
              </a:spcBef>
              <a:buNone/>
            </a:pPr>
            <a:endParaRPr lang="fr-CA" sz="1200" noProof="0">
              <a:solidFill>
                <a:schemeClr val="dk1"/>
              </a:solidFill>
              <a:ea typeface="+mn-ea"/>
              <a:cs typeface="+mn-cs"/>
            </a:endParaRPr>
          </a:p>
          <a:p>
            <a:pPr marL="0" indent="0">
              <a:spcBef>
                <a:spcPts val="600"/>
              </a:spcBef>
              <a:buNone/>
            </a:pPr>
            <a:endParaRPr lang="fr-CA" sz="1200" noProof="0">
              <a:solidFill>
                <a:schemeClr val="dk1"/>
              </a:solidFill>
              <a:ea typeface="+mn-ea"/>
              <a:cs typeface="+mn-cs"/>
            </a:endParaRPr>
          </a:p>
          <a:p>
            <a:pPr marL="0" indent="0">
              <a:buNone/>
            </a:pPr>
            <a:r>
              <a:rPr lang="fr-CA" b="1" noProof="0">
                <a:solidFill>
                  <a:schemeClr val="dk1"/>
                </a:solidFill>
                <a:effectLst>
                  <a:outerShdw blurRad="38100" dist="38100" dir="2700000" algn="tl">
                    <a:srgbClr val="000000">
                      <a:alpha val="43137"/>
                    </a:srgbClr>
                  </a:outerShdw>
                </a:effectLst>
                <a:ea typeface="+mn-ea"/>
                <a:cs typeface="+mn-cs"/>
              </a:rPr>
              <a:t>Out of scope </a:t>
            </a:r>
          </a:p>
          <a:p>
            <a:pPr marL="266065" indent="-266065">
              <a:spcBef>
                <a:spcPts val="600"/>
              </a:spcBef>
              <a:buFont typeface="Wingdings" panose="05000000000000000000" pitchFamily="2" charset="2"/>
              <a:buChar char="§"/>
            </a:pPr>
            <a:r>
              <a:rPr lang="fr-CA" sz="1200" noProof="0">
                <a:solidFill>
                  <a:schemeClr val="dk1"/>
                </a:solidFill>
                <a:ea typeface="Calibri" panose="020F0502020204030204"/>
                <a:cs typeface="Calibri" panose="020F0502020204030204"/>
              </a:rPr>
              <a:t>Le déploiement du modèle opérationnel</a:t>
            </a:r>
          </a:p>
          <a:p>
            <a:pPr marL="266065" indent="-266065">
              <a:spcBef>
                <a:spcPts val="600"/>
              </a:spcBef>
              <a:buFont typeface="Wingdings" panose="05000000000000000000" pitchFamily="2" charset="2"/>
              <a:buChar char="§"/>
            </a:pPr>
            <a:endParaRPr lang="fr-CA" sz="1200" noProof="0">
              <a:solidFill>
                <a:schemeClr val="dk1"/>
              </a:solidFill>
              <a:ea typeface="Calibri" panose="020F0502020204030204"/>
              <a:cs typeface="Calibri" panose="020F0502020204030204"/>
            </a:endParaRPr>
          </a:p>
          <a:p>
            <a:pPr marL="266065" indent="-266065">
              <a:spcBef>
                <a:spcPts val="600"/>
              </a:spcBef>
              <a:buFont typeface="Wingdings" panose="05000000000000000000" pitchFamily="2" charset="2"/>
              <a:buChar char="§"/>
            </a:pPr>
            <a:endParaRPr lang="fr-CA" sz="1200" noProof="0">
              <a:solidFill>
                <a:schemeClr val="dk1"/>
              </a:solidFill>
              <a:ea typeface="Calibri" panose="020F0502020204030204"/>
              <a:cs typeface="Calibri" panose="020F0502020204030204"/>
            </a:endParaRPr>
          </a:p>
        </p:txBody>
      </p:sp>
      <p:sp>
        <p:nvSpPr>
          <p:cNvPr id="6" name="Rectangle 1">
            <a:extLst>
              <a:ext uri="{FF2B5EF4-FFF2-40B4-BE49-F238E27FC236}">
                <a16:creationId xmlns:a16="http://schemas.microsoft.com/office/drawing/2014/main" id="{3B911CC4-D42D-26C5-F6D8-7A360BE08060}"/>
              </a:ext>
            </a:extLst>
          </p:cNvPr>
          <p:cNvSpPr>
            <a:spLocks noChangeArrowheads="1"/>
          </p:cNvSpPr>
          <p:nvPr/>
        </p:nvSpPr>
        <p:spPr bwMode="auto">
          <a:xfrm>
            <a:off x="3344863" y="-5032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fr-CA"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endParaRPr kumimoji="0" lang="fr-CA" sz="1800" b="0" i="0" u="none" strike="noStrike" kern="1200" cap="none" spc="0" normalizeH="0" baseline="0" noProof="0">
              <a:ln>
                <a:noFill/>
              </a:ln>
              <a:solidFill>
                <a:srgbClr val="003DA5"/>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CA" sz="1800" b="0" i="0" u="none" strike="noStrike" kern="1200" cap="none" spc="0" normalizeH="0" baseline="0" noProof="0">
              <a:ln>
                <a:noFill/>
              </a:ln>
              <a:solidFill>
                <a:srgbClr val="003DA5"/>
              </a:solidFill>
              <a:effectLst/>
              <a:uLnTx/>
              <a:uFillTx/>
              <a:latin typeface="Arial" panose="020B0604020202020204" pitchFamily="34" charset="0"/>
              <a:ea typeface="+mn-ea"/>
              <a:cs typeface="+mn-cs"/>
            </a:endParaRPr>
          </a:p>
        </p:txBody>
      </p:sp>
      <p:graphicFrame>
        <p:nvGraphicFramePr>
          <p:cNvPr id="5" name="Diagramme 4">
            <a:extLst>
              <a:ext uri="{FF2B5EF4-FFF2-40B4-BE49-F238E27FC236}">
                <a16:creationId xmlns:a16="http://schemas.microsoft.com/office/drawing/2014/main" id="{D186202C-F649-F93F-0B38-224C92080C81}"/>
              </a:ext>
            </a:extLst>
          </p:cNvPr>
          <p:cNvGraphicFramePr/>
          <p:nvPr>
            <p:extLst>
              <p:ext uri="{D42A27DB-BD31-4B8C-83A1-F6EECF244321}">
                <p14:modId xmlns:p14="http://schemas.microsoft.com/office/powerpoint/2010/main" val="3748154756"/>
              </p:ext>
            </p:extLst>
          </p:nvPr>
        </p:nvGraphicFramePr>
        <p:xfrm>
          <a:off x="1762385" y="2615931"/>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Corde 6">
            <a:extLst>
              <a:ext uri="{FF2B5EF4-FFF2-40B4-BE49-F238E27FC236}">
                <a16:creationId xmlns:a16="http://schemas.microsoft.com/office/drawing/2014/main" id="{FB9FF7F7-376B-A21A-27EE-55F8D568641D}"/>
              </a:ext>
            </a:extLst>
          </p:cNvPr>
          <p:cNvSpPr/>
          <p:nvPr/>
        </p:nvSpPr>
        <p:spPr>
          <a:xfrm>
            <a:off x="3872789" y="2661651"/>
            <a:ext cx="377342" cy="377342"/>
          </a:xfrm>
          <a:prstGeom prst="chord">
            <a:avLst>
              <a:gd name="adj1" fmla="val 16200000"/>
              <a:gd name="adj2" fmla="val 16200000"/>
            </a:avLst>
          </a:pr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fr-FR"/>
          </a:p>
        </p:txBody>
      </p:sp>
      <p:sp>
        <p:nvSpPr>
          <p:cNvPr id="8" name="ZoneTexte 7">
            <a:extLst>
              <a:ext uri="{FF2B5EF4-FFF2-40B4-BE49-F238E27FC236}">
                <a16:creationId xmlns:a16="http://schemas.microsoft.com/office/drawing/2014/main" id="{3D988A4C-4CB8-DD3B-9F18-549F3EC448A3}"/>
              </a:ext>
            </a:extLst>
          </p:cNvPr>
          <p:cNvSpPr txBox="1"/>
          <p:nvPr/>
        </p:nvSpPr>
        <p:spPr>
          <a:xfrm>
            <a:off x="1191508" y="2108546"/>
            <a:ext cx="7237754" cy="307777"/>
          </a:xfrm>
          <a:prstGeom prst="rect">
            <a:avLst/>
          </a:prstGeom>
          <a:noFill/>
        </p:spPr>
        <p:txBody>
          <a:bodyPr wrap="square" rtlCol="0">
            <a:spAutoFit/>
          </a:bodyPr>
          <a:lstStyle/>
          <a:p>
            <a:r>
              <a:rPr lang="fr-FR" sz="1400"/>
              <a:t>Taux, actuel, de consommation des services du CSP bancaire par les partenaires IA </a:t>
            </a:r>
            <a:r>
              <a:rPr lang="fr-FR" sz="1000"/>
              <a:t>(minimum 1 service)</a:t>
            </a:r>
            <a:endParaRPr lang="fr-FR" sz="1400"/>
          </a:p>
        </p:txBody>
      </p:sp>
    </p:spTree>
    <p:extLst>
      <p:ext uri="{BB962C8B-B14F-4D97-AF65-F5344CB8AC3E}">
        <p14:creationId xmlns:p14="http://schemas.microsoft.com/office/powerpoint/2010/main" val="3128504898"/>
      </p:ext>
    </p:extLst>
  </p:cSld>
  <p:clrMapOvr>
    <a:masterClrMapping/>
  </p:clrMapOvr>
  <p:extLst>
    <p:ext uri="{6950BFC3-D8DA-4A85-94F7-54DA5524770B}">
      <p188:commentRel xmlns:p188="http://schemas.microsoft.com/office/powerpoint/2018/8/main" r:id="rId2"/>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FF564-2237-B52C-A6B3-2E423A4BF6F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A0FF080-619F-6005-02F5-90A456ACD559}"/>
              </a:ext>
            </a:extLst>
          </p:cNvPr>
          <p:cNvSpPr>
            <a:spLocks noGrp="1"/>
          </p:cNvSpPr>
          <p:nvPr>
            <p:ph type="title"/>
          </p:nvPr>
        </p:nvSpPr>
        <p:spPr>
          <a:xfrm>
            <a:off x="210675" y="0"/>
            <a:ext cx="8908473" cy="462974"/>
          </a:xfrm>
          <a:solidFill>
            <a:schemeClr val="tx1"/>
          </a:solidFill>
        </p:spPr>
        <p:txBody>
          <a:bodyPr vert="horz" lIns="91440" tIns="45720" rIns="91440" bIns="45720" rtlCol="0" anchor="ctr">
            <a:normAutofit/>
          </a:bodyPr>
          <a:lstStyle/>
          <a:p>
            <a:r>
              <a:rPr lang="fr-CA" sz="2400" b="1" noProof="0">
                <a:solidFill>
                  <a:schemeClr val="bg1"/>
                </a:solidFill>
              </a:rPr>
              <a:t>Clarifier les contraintes et les dépendances</a:t>
            </a:r>
          </a:p>
        </p:txBody>
      </p:sp>
      <p:graphicFrame>
        <p:nvGraphicFramePr>
          <p:cNvPr id="7" name="Diagramme 6">
            <a:extLst>
              <a:ext uri="{FF2B5EF4-FFF2-40B4-BE49-F238E27FC236}">
                <a16:creationId xmlns:a16="http://schemas.microsoft.com/office/drawing/2014/main" id="{5F4E6685-B31C-7B29-2B37-36607DC40EDE}"/>
              </a:ext>
            </a:extLst>
          </p:cNvPr>
          <p:cNvGraphicFramePr/>
          <p:nvPr>
            <p:extLst>
              <p:ext uri="{D42A27DB-BD31-4B8C-83A1-F6EECF244321}">
                <p14:modId xmlns:p14="http://schemas.microsoft.com/office/powerpoint/2010/main" val="2076701617"/>
              </p:ext>
            </p:extLst>
          </p:nvPr>
        </p:nvGraphicFramePr>
        <p:xfrm>
          <a:off x="1068012" y="493970"/>
          <a:ext cx="7193797" cy="461272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52274780"/>
      </p:ext>
    </p:extLst>
  </p:cSld>
  <p:clrMapOvr>
    <a:masterClrMapping/>
  </p:clrMapOvr>
  <p:extLst>
    <p:ext uri="{6950BFC3-D8DA-4A85-94F7-54DA5524770B}">
      <p188:commentRel xmlns:p188="http://schemas.microsoft.com/office/powerpoint/2018/8/main" r:id="rId2"/>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191BB-5987-0C4B-720F-34BEE7E7C31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A693BAC-EE9F-39FD-04CE-80BA03BF66CC}"/>
              </a:ext>
            </a:extLst>
          </p:cNvPr>
          <p:cNvSpPr>
            <a:spLocks noGrp="1"/>
          </p:cNvSpPr>
          <p:nvPr>
            <p:ph type="title"/>
          </p:nvPr>
        </p:nvSpPr>
        <p:spPr>
          <a:xfrm>
            <a:off x="210675" y="0"/>
            <a:ext cx="8908473" cy="462974"/>
          </a:xfrm>
          <a:solidFill>
            <a:schemeClr val="tx1"/>
          </a:solidFill>
        </p:spPr>
        <p:txBody>
          <a:bodyPr vert="horz" lIns="91440" tIns="45720" rIns="91440" bIns="45720" rtlCol="0" anchor="ctr">
            <a:normAutofit/>
          </a:bodyPr>
          <a:lstStyle/>
          <a:p>
            <a:r>
              <a:rPr lang="fr-CA" sz="2400" b="1">
                <a:solidFill>
                  <a:schemeClr val="bg1"/>
                </a:solidFill>
              </a:rPr>
              <a:t>Conditions de succès</a:t>
            </a:r>
            <a:endParaRPr lang="fr-CA" sz="2400" b="1" noProof="0">
              <a:solidFill>
                <a:schemeClr val="bg1"/>
              </a:solidFill>
            </a:endParaRPr>
          </a:p>
        </p:txBody>
      </p:sp>
      <p:graphicFrame>
        <p:nvGraphicFramePr>
          <p:cNvPr id="3" name="Diagramme 2">
            <a:extLst>
              <a:ext uri="{FF2B5EF4-FFF2-40B4-BE49-F238E27FC236}">
                <a16:creationId xmlns:a16="http://schemas.microsoft.com/office/drawing/2014/main" id="{20F5F211-3C1A-A9E9-4FF5-CCF1CFBF4B22}"/>
              </a:ext>
            </a:extLst>
          </p:cNvPr>
          <p:cNvGraphicFramePr/>
          <p:nvPr>
            <p:extLst>
              <p:ext uri="{D42A27DB-BD31-4B8C-83A1-F6EECF244321}">
                <p14:modId xmlns:p14="http://schemas.microsoft.com/office/powerpoint/2010/main" val="1985147032"/>
              </p:ext>
            </p:extLst>
          </p:nvPr>
        </p:nvGraphicFramePr>
        <p:xfrm>
          <a:off x="0" y="586244"/>
          <a:ext cx="9119148" cy="44894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408756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29A2-D9F6-C90A-86A3-2F2ED6BD084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53F5C97-EADA-6D5F-E2EB-5AACF27E9109}"/>
              </a:ext>
            </a:extLst>
          </p:cNvPr>
          <p:cNvSpPr>
            <a:spLocks noGrp="1"/>
          </p:cNvSpPr>
          <p:nvPr>
            <p:ph type="title"/>
          </p:nvPr>
        </p:nvSpPr>
        <p:spPr>
          <a:xfrm>
            <a:off x="235526" y="-5193"/>
            <a:ext cx="8908473" cy="379266"/>
          </a:xfrm>
          <a:solidFill>
            <a:schemeClr val="tx1"/>
          </a:solidFill>
        </p:spPr>
        <p:txBody>
          <a:bodyPr vert="horz" lIns="91440" tIns="45720" rIns="91440" bIns="45720" rtlCol="0" anchor="ctr">
            <a:normAutofit fontScale="90000"/>
          </a:bodyPr>
          <a:lstStyle/>
          <a:p>
            <a:r>
              <a:rPr lang="fr-CA" sz="2400" b="1" noProof="0">
                <a:solidFill>
                  <a:schemeClr val="bg1"/>
                </a:solidFill>
              </a:rPr>
              <a:t>Orientations d’affaires CFO reliées au contexte d’initiative</a:t>
            </a:r>
          </a:p>
        </p:txBody>
      </p:sp>
      <p:graphicFrame>
        <p:nvGraphicFramePr>
          <p:cNvPr id="5" name="Tableau 4">
            <a:extLst>
              <a:ext uri="{FF2B5EF4-FFF2-40B4-BE49-F238E27FC236}">
                <a16:creationId xmlns:a16="http://schemas.microsoft.com/office/drawing/2014/main" id="{80E3A1D3-0B35-771C-00A3-39FBD8859058}"/>
              </a:ext>
            </a:extLst>
          </p:cNvPr>
          <p:cNvGraphicFramePr>
            <a:graphicFrameLocks noGrp="1"/>
          </p:cNvGraphicFramePr>
          <p:nvPr>
            <p:extLst>
              <p:ext uri="{D42A27DB-BD31-4B8C-83A1-F6EECF244321}">
                <p14:modId xmlns:p14="http://schemas.microsoft.com/office/powerpoint/2010/main" val="4094661830"/>
              </p:ext>
            </p:extLst>
          </p:nvPr>
        </p:nvGraphicFramePr>
        <p:xfrm>
          <a:off x="401780" y="443622"/>
          <a:ext cx="8575964" cy="4438347"/>
        </p:xfrm>
        <a:graphic>
          <a:graphicData uri="http://schemas.openxmlformats.org/drawingml/2006/table">
            <a:tbl>
              <a:tblPr firstRow="1" bandRow="1">
                <a:tableStyleId>{5C22544A-7EE6-4342-B048-85BDC9FD1C3A}</a:tableStyleId>
              </a:tblPr>
              <a:tblGrid>
                <a:gridCol w="1117404">
                  <a:extLst>
                    <a:ext uri="{9D8B030D-6E8A-4147-A177-3AD203B41FA5}">
                      <a16:colId xmlns:a16="http://schemas.microsoft.com/office/drawing/2014/main" val="4209981443"/>
                    </a:ext>
                  </a:extLst>
                </a:gridCol>
                <a:gridCol w="6663921">
                  <a:extLst>
                    <a:ext uri="{9D8B030D-6E8A-4147-A177-3AD203B41FA5}">
                      <a16:colId xmlns:a16="http://schemas.microsoft.com/office/drawing/2014/main" val="2193554548"/>
                    </a:ext>
                  </a:extLst>
                </a:gridCol>
                <a:gridCol w="794639">
                  <a:extLst>
                    <a:ext uri="{9D8B030D-6E8A-4147-A177-3AD203B41FA5}">
                      <a16:colId xmlns:a16="http://schemas.microsoft.com/office/drawing/2014/main" val="3155393415"/>
                    </a:ext>
                  </a:extLst>
                </a:gridCol>
              </a:tblGrid>
              <a:tr h="421740">
                <a:tc gridSpan="2">
                  <a:txBody>
                    <a:bodyPr/>
                    <a:lstStyle/>
                    <a:p>
                      <a:pPr algn="ctr"/>
                      <a:r>
                        <a:rPr lang="fr-CA" sz="1100" noProof="0"/>
                        <a:t>Orientations d’affaires</a:t>
                      </a:r>
                    </a:p>
                  </a:txBody>
                  <a:tcPr anchor="ctr"/>
                </a:tc>
                <a:tc hMerge="1">
                  <a:txBody>
                    <a:bodyPr/>
                    <a:lstStyle/>
                    <a:p>
                      <a:endParaRPr/>
                    </a:p>
                  </a:txBody>
                  <a:tcPr/>
                </a:tc>
                <a:tc>
                  <a:txBody>
                    <a:bodyPr/>
                    <a:lstStyle/>
                    <a:p>
                      <a:r>
                        <a:rPr lang="fr-CA" sz="1100" noProof="0"/>
                        <a:t>Respectée</a:t>
                      </a:r>
                    </a:p>
                  </a:txBody>
                  <a:tcPr anchor="ctr"/>
                </a:tc>
                <a:extLst>
                  <a:ext uri="{0D108BD9-81ED-4DB2-BD59-A6C34878D82A}">
                    <a16:rowId xmlns:a16="http://schemas.microsoft.com/office/drawing/2014/main" val="500927226"/>
                  </a:ext>
                </a:extLst>
              </a:tr>
              <a:tr h="462087">
                <a:tc rowSpan="11">
                  <a:txBody>
                    <a:bodyPr/>
                    <a:lstStyle/>
                    <a:p>
                      <a:pPr algn="ctr"/>
                      <a:r>
                        <a:rPr lang="fr-CA" sz="1100" b="1" noProof="0"/>
                        <a:t>Transversales</a:t>
                      </a:r>
                    </a:p>
                    <a:p>
                      <a:pPr algn="ctr"/>
                      <a:r>
                        <a:rPr lang="fr-CA" sz="1100" b="1" noProof="0"/>
                        <a:t>Processus</a:t>
                      </a:r>
                      <a:endParaRPr lang="fr-CA" sz="1050" b="1" noProof="0"/>
                    </a:p>
                  </a:txBody>
                  <a:tcPr anchor="ctr"/>
                </a:tc>
                <a:tc>
                  <a:txBody>
                    <a:bodyPr/>
                    <a:lstStyle/>
                    <a:p>
                      <a:r>
                        <a:rPr lang="fr-CA" sz="1000" noProof="0"/>
                        <a:t>Standardiser, uniformiser, simplifier, optimiser et rendre adaptable nos processus d’affaires au contexte évolutif de l’entreprise​</a:t>
                      </a:r>
                    </a:p>
                  </a:txBody>
                  <a:tcPr/>
                </a:tc>
                <a:tc>
                  <a:txBody>
                    <a:bodyPr/>
                    <a:lstStyle/>
                    <a:p>
                      <a:endParaRPr lang="fr-CA" sz="1000" noProof="0"/>
                    </a:p>
                  </a:txBody>
                  <a:tcPr/>
                </a:tc>
                <a:extLst>
                  <a:ext uri="{0D108BD9-81ED-4DB2-BD59-A6C34878D82A}">
                    <a16:rowId xmlns:a16="http://schemas.microsoft.com/office/drawing/2014/main" val="918367609"/>
                  </a:ext>
                </a:extLst>
              </a:tr>
              <a:tr h="462087">
                <a:tc vMerge="1">
                  <a:txBody>
                    <a:bodyPr/>
                    <a:lstStyle/>
                    <a:p>
                      <a:endParaRPr lang="fr-FR" sz="1000"/>
                    </a:p>
                  </a:txBody>
                  <a:tcPr/>
                </a:tc>
                <a:tc>
                  <a:txBody>
                    <a:bodyPr/>
                    <a:lstStyle/>
                    <a:p>
                      <a:r>
                        <a:rPr lang="fr-CA" sz="1000" noProof="0"/>
                        <a:t>S’assurer que les processus d’affaires permettent le respect de la conformité applicable à la CFO (comptable, fiscale, bancaire. Regl…)</a:t>
                      </a:r>
                    </a:p>
                  </a:txBody>
                  <a:tcPr/>
                </a:tc>
                <a:tc>
                  <a:txBody>
                    <a:bodyPr/>
                    <a:lstStyle/>
                    <a:p>
                      <a:endParaRPr lang="fr-CA" sz="1000" noProof="0"/>
                    </a:p>
                  </a:txBody>
                  <a:tcPr/>
                </a:tc>
                <a:extLst>
                  <a:ext uri="{0D108BD9-81ED-4DB2-BD59-A6C34878D82A}">
                    <a16:rowId xmlns:a16="http://schemas.microsoft.com/office/drawing/2014/main" val="2604480389"/>
                  </a:ext>
                </a:extLst>
              </a:tr>
              <a:tr h="462087">
                <a:tc vMerge="1">
                  <a:txBody>
                    <a:bodyPr/>
                    <a:lstStyle/>
                    <a:p>
                      <a:endParaRPr lang="fr-FR" sz="1000"/>
                    </a:p>
                  </a:txBody>
                  <a:tcPr/>
                </a:tc>
                <a:tc>
                  <a:txBody>
                    <a:bodyPr/>
                    <a:lstStyle/>
                    <a:p>
                      <a:r>
                        <a:rPr lang="fr-CA" sz="1000" noProof="0"/>
                        <a:t>Améliorer les processus directement à la source, afin de réduire les inefficacités, les erreurs et les coûts long terme (bon du premier coup) (incluant la comptabilité)</a:t>
                      </a:r>
                    </a:p>
                  </a:txBody>
                  <a:tcPr/>
                </a:tc>
                <a:tc>
                  <a:txBody>
                    <a:bodyPr/>
                    <a:lstStyle/>
                    <a:p>
                      <a:endParaRPr lang="fr-CA" sz="1000" noProof="0"/>
                    </a:p>
                  </a:txBody>
                  <a:tcPr/>
                </a:tc>
                <a:extLst>
                  <a:ext uri="{0D108BD9-81ED-4DB2-BD59-A6C34878D82A}">
                    <a16:rowId xmlns:a16="http://schemas.microsoft.com/office/drawing/2014/main" val="2394001155"/>
                  </a:ext>
                </a:extLst>
              </a:tr>
              <a:tr h="284362">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0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noProof="0"/>
                        <a:t>Assurer la mise en place de contrôles internes pour une gestion des risques opérationnels adéquate</a:t>
                      </a:r>
                    </a:p>
                  </a:txBody>
                  <a:tcPr/>
                </a:tc>
                <a:tc>
                  <a:txBody>
                    <a:bodyPr/>
                    <a:lstStyle/>
                    <a:p>
                      <a:endParaRPr lang="fr-CA" sz="1000" noProof="0"/>
                    </a:p>
                  </a:txBody>
                  <a:tcPr/>
                </a:tc>
                <a:extLst>
                  <a:ext uri="{0D108BD9-81ED-4DB2-BD59-A6C34878D82A}">
                    <a16:rowId xmlns:a16="http://schemas.microsoft.com/office/drawing/2014/main" val="677184619"/>
                  </a:ext>
                </a:extLst>
              </a:tr>
              <a:tr h="284362">
                <a:tc vMerge="1">
                  <a:txBody>
                    <a:bodyPr/>
                    <a:lstStyle/>
                    <a:p>
                      <a:endParaRPr lang="fr-FR" sz="10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noProof="0"/>
                        <a:t>Avoir la capacité de mesurer la santé des processus d’affaires en continu (métriques de processus)</a:t>
                      </a:r>
                    </a:p>
                  </a:txBody>
                  <a:tcPr/>
                </a:tc>
                <a:tc>
                  <a:txBody>
                    <a:bodyPr/>
                    <a:lstStyle/>
                    <a:p>
                      <a:endParaRPr lang="fr-CA" sz="1000" noProof="0"/>
                    </a:p>
                  </a:txBody>
                  <a:tcPr/>
                </a:tc>
                <a:extLst>
                  <a:ext uri="{0D108BD9-81ED-4DB2-BD59-A6C34878D82A}">
                    <a16:rowId xmlns:a16="http://schemas.microsoft.com/office/drawing/2014/main" val="1230739623"/>
                  </a:ext>
                </a:extLst>
              </a:tr>
              <a:tr h="284362">
                <a:tc vMerge="1">
                  <a:txBody>
                    <a:bodyPr/>
                    <a:lstStyle/>
                    <a:p>
                      <a:endParaRPr lang="fr-FR" sz="1000"/>
                    </a:p>
                  </a:txBody>
                  <a:tcPr/>
                </a:tc>
                <a:tc>
                  <a:txBody>
                    <a:bodyPr/>
                    <a:lstStyle/>
                    <a:p>
                      <a:r>
                        <a:rPr lang="fr-CA" sz="1000" noProof="0"/>
                        <a:t>Suivi des coûts du processus (avoir une métrique de coûts par processus)</a:t>
                      </a:r>
                    </a:p>
                  </a:txBody>
                  <a:tcPr/>
                </a:tc>
                <a:tc>
                  <a:txBody>
                    <a:bodyPr/>
                    <a:lstStyle/>
                    <a:p>
                      <a:endParaRPr lang="fr-CA" sz="1000" noProof="0"/>
                    </a:p>
                  </a:txBody>
                  <a:tcPr/>
                </a:tc>
                <a:extLst>
                  <a:ext uri="{0D108BD9-81ED-4DB2-BD59-A6C34878D82A}">
                    <a16:rowId xmlns:a16="http://schemas.microsoft.com/office/drawing/2014/main" val="2001421895"/>
                  </a:ext>
                </a:extLst>
              </a:tr>
              <a:tr h="284362">
                <a:tc vMerge="1">
                  <a:txBody>
                    <a:bodyPr/>
                    <a:lstStyle/>
                    <a:p>
                      <a:endParaRPr lang="fr-FR" sz="1000"/>
                    </a:p>
                  </a:txBody>
                  <a:tcPr/>
                </a:tc>
                <a:tc>
                  <a:txBody>
                    <a:bodyPr/>
                    <a:lstStyle/>
                    <a:p>
                      <a:r>
                        <a:rPr lang="fr-CA" sz="1000" noProof="0"/>
                        <a:t>Optimiser et prioriser la valeur d’affaires à l’échelle de l’organisation</a:t>
                      </a:r>
                    </a:p>
                  </a:txBody>
                  <a:tcPr/>
                </a:tc>
                <a:tc>
                  <a:txBody>
                    <a:bodyPr/>
                    <a:lstStyle/>
                    <a:p>
                      <a:endParaRPr lang="fr-CA" sz="1000" noProof="0"/>
                    </a:p>
                  </a:txBody>
                  <a:tcPr/>
                </a:tc>
                <a:extLst>
                  <a:ext uri="{0D108BD9-81ED-4DB2-BD59-A6C34878D82A}">
                    <a16:rowId xmlns:a16="http://schemas.microsoft.com/office/drawing/2014/main" val="2773523484"/>
                  </a:ext>
                </a:extLst>
              </a:tr>
              <a:tr h="462087">
                <a:tc vMerge="1">
                  <a:txBody>
                    <a:bodyPr/>
                    <a:lstStyle/>
                    <a:p>
                      <a:endParaRPr lang="fr-FR" sz="1000"/>
                    </a:p>
                  </a:txBody>
                  <a:tcPr/>
                </a:tc>
                <a:tc>
                  <a:txBody>
                    <a:bodyPr/>
                    <a:lstStyle/>
                    <a:p>
                      <a:r>
                        <a:rPr lang="fr-CA" sz="1000" noProof="0"/>
                        <a:t>Aligner les processus d'affaires avec les fonctionnalités standard de la solution mature retenue, afin d'optimiser l'intégration et maximiser l'efficacité opérationnelle​</a:t>
                      </a:r>
                    </a:p>
                  </a:txBody>
                  <a:tcPr/>
                </a:tc>
                <a:tc>
                  <a:txBody>
                    <a:bodyPr/>
                    <a:lstStyle/>
                    <a:p>
                      <a:endParaRPr lang="fr-CA" sz="1000" noProof="0"/>
                    </a:p>
                  </a:txBody>
                  <a:tcPr/>
                </a:tc>
                <a:extLst>
                  <a:ext uri="{0D108BD9-81ED-4DB2-BD59-A6C34878D82A}">
                    <a16:rowId xmlns:a16="http://schemas.microsoft.com/office/drawing/2014/main" val="1541789784"/>
                  </a:ext>
                </a:extLst>
              </a:tr>
              <a:tr h="284362">
                <a:tc vMerge="1">
                  <a:txBody>
                    <a:bodyPr/>
                    <a:lstStyle/>
                    <a:p>
                      <a:pPr algn="ctr"/>
                      <a:endParaRPr lang="fr-FR" sz="1050" b="1"/>
                    </a:p>
                  </a:txBody>
                  <a:tcPr anchor="ctr"/>
                </a:tc>
                <a:tc>
                  <a:txBody>
                    <a:bodyPr/>
                    <a:lstStyle/>
                    <a:p>
                      <a:r>
                        <a:rPr lang="fr-CA" sz="1000" noProof="0"/>
                        <a:t>Atteindre le juste-assez selon le niveau de risque acceptable, (sans excès notamment en évitant la sur-qualité, matérialité)</a:t>
                      </a:r>
                    </a:p>
                  </a:txBody>
                  <a:tcPr/>
                </a:tc>
                <a:tc>
                  <a:txBody>
                    <a:bodyPr/>
                    <a:lstStyle/>
                    <a:p>
                      <a:endParaRPr lang="fr-CA" sz="1000" noProof="0"/>
                    </a:p>
                  </a:txBody>
                  <a:tcPr/>
                </a:tc>
                <a:extLst>
                  <a:ext uri="{0D108BD9-81ED-4DB2-BD59-A6C34878D82A}">
                    <a16:rowId xmlns:a16="http://schemas.microsoft.com/office/drawing/2014/main" val="514941463"/>
                  </a:ext>
                </a:extLst>
              </a:tr>
              <a:tr h="284362">
                <a:tc vMerge="1">
                  <a:txBody>
                    <a:bodyPr/>
                    <a:lstStyle/>
                    <a:p>
                      <a:pPr algn="ctr"/>
                      <a:endParaRPr lang="fr-FR" sz="1050" b="1"/>
                    </a:p>
                  </a:txBody>
                  <a:tcPr anchor="ctr"/>
                </a:tc>
                <a:tc>
                  <a:txBody>
                    <a:bodyPr/>
                    <a:lstStyle/>
                    <a:p>
                      <a:r>
                        <a:rPr lang="fr-CA" sz="1000" noProof="0"/>
                        <a:t>Les règles d’affaires doivent être documentées, appliquées et réalisées dans les processus qui en sont imputables</a:t>
                      </a:r>
                    </a:p>
                  </a:txBody>
                  <a:tcPr/>
                </a:tc>
                <a:tc>
                  <a:txBody>
                    <a:bodyPr/>
                    <a:lstStyle/>
                    <a:p>
                      <a:endParaRPr lang="fr-CA" sz="1000" noProof="0"/>
                    </a:p>
                  </a:txBody>
                  <a:tcPr/>
                </a:tc>
                <a:extLst>
                  <a:ext uri="{0D108BD9-81ED-4DB2-BD59-A6C34878D82A}">
                    <a16:rowId xmlns:a16="http://schemas.microsoft.com/office/drawing/2014/main" val="1031720471"/>
                  </a:ext>
                </a:extLst>
              </a:tr>
              <a:tr h="462087">
                <a:tc vMerge="1">
                  <a:txBody>
                    <a:bodyPr/>
                    <a:lstStyle/>
                    <a:p>
                      <a:pPr algn="ctr"/>
                      <a:endParaRPr lang="fr-FR" sz="1050" b="1"/>
                    </a:p>
                  </a:txBody>
                  <a:tcPr anchor="ctr"/>
                </a:tc>
                <a:tc>
                  <a:txBody>
                    <a:bodyPr/>
                    <a:lstStyle/>
                    <a:p>
                      <a:r>
                        <a:rPr lang="fr-CA" sz="1000" noProof="0"/>
                        <a:t>S’assurer que les processus d’affaires permettent l’application des stratégies d’affaires applicable à la CFO (stratégies fiscales, de placements et de trésorerie).</a:t>
                      </a:r>
                    </a:p>
                  </a:txBody>
                  <a:tcPr/>
                </a:tc>
                <a:tc>
                  <a:txBody>
                    <a:bodyPr/>
                    <a:lstStyle/>
                    <a:p>
                      <a:endParaRPr lang="fr-CA" sz="1000" noProof="0"/>
                    </a:p>
                  </a:txBody>
                  <a:tcPr/>
                </a:tc>
                <a:extLst>
                  <a:ext uri="{0D108BD9-81ED-4DB2-BD59-A6C34878D82A}">
                    <a16:rowId xmlns:a16="http://schemas.microsoft.com/office/drawing/2014/main" val="1900216213"/>
                  </a:ext>
                </a:extLst>
              </a:tr>
            </a:tbl>
          </a:graphicData>
        </a:graphic>
      </p:graphicFrame>
      <p:pic>
        <p:nvPicPr>
          <p:cNvPr id="23" name="Graphique 22" descr="Coche avec un remplissage uni">
            <a:extLst>
              <a:ext uri="{FF2B5EF4-FFF2-40B4-BE49-F238E27FC236}">
                <a16:creationId xmlns:a16="http://schemas.microsoft.com/office/drawing/2014/main" id="{A5354327-CF58-C30A-3C6B-69F063200A3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88927" y="1413780"/>
            <a:ext cx="256310" cy="256310"/>
          </a:xfrm>
          <a:prstGeom prst="rect">
            <a:avLst/>
          </a:prstGeom>
        </p:spPr>
      </p:pic>
      <p:pic>
        <p:nvPicPr>
          <p:cNvPr id="25" name="Graphique 24" descr="Coche avec un remplissage uni">
            <a:extLst>
              <a:ext uri="{FF2B5EF4-FFF2-40B4-BE49-F238E27FC236}">
                <a16:creationId xmlns:a16="http://schemas.microsoft.com/office/drawing/2014/main" id="{6379207B-177E-555F-0525-0BD9772BB42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95854" y="1860822"/>
            <a:ext cx="256310" cy="256310"/>
          </a:xfrm>
          <a:prstGeom prst="rect">
            <a:avLst/>
          </a:prstGeom>
        </p:spPr>
      </p:pic>
      <p:pic>
        <p:nvPicPr>
          <p:cNvPr id="26" name="Graphique 25" descr="Coche avec un remplissage uni">
            <a:extLst>
              <a:ext uri="{FF2B5EF4-FFF2-40B4-BE49-F238E27FC236}">
                <a16:creationId xmlns:a16="http://schemas.microsoft.com/office/drawing/2014/main" id="{18F25A5A-60EB-2066-7114-BA9C906C44A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95854" y="2246472"/>
            <a:ext cx="256310" cy="256310"/>
          </a:xfrm>
          <a:prstGeom prst="rect">
            <a:avLst/>
          </a:prstGeom>
        </p:spPr>
      </p:pic>
      <p:pic>
        <p:nvPicPr>
          <p:cNvPr id="27" name="Graphique 26" descr="Coche avec un remplissage uni">
            <a:extLst>
              <a:ext uri="{FF2B5EF4-FFF2-40B4-BE49-F238E27FC236}">
                <a16:creationId xmlns:a16="http://schemas.microsoft.com/office/drawing/2014/main" id="{90063B09-BF22-17C9-AE82-E64B185987A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95854" y="2529287"/>
            <a:ext cx="256310" cy="256310"/>
          </a:xfrm>
          <a:prstGeom prst="rect">
            <a:avLst/>
          </a:prstGeom>
        </p:spPr>
      </p:pic>
      <p:pic>
        <p:nvPicPr>
          <p:cNvPr id="29" name="Graphique 28" descr="Coche avec un remplissage uni">
            <a:extLst>
              <a:ext uri="{FF2B5EF4-FFF2-40B4-BE49-F238E27FC236}">
                <a16:creationId xmlns:a16="http://schemas.microsoft.com/office/drawing/2014/main" id="{13EA5CDF-6278-C920-989A-300D575A3A2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88927" y="958871"/>
            <a:ext cx="256310" cy="256310"/>
          </a:xfrm>
          <a:prstGeom prst="rect">
            <a:avLst/>
          </a:prstGeom>
        </p:spPr>
      </p:pic>
      <p:pic>
        <p:nvPicPr>
          <p:cNvPr id="30" name="Graphique 29" descr="Coche avec un remplissage uni">
            <a:extLst>
              <a:ext uri="{FF2B5EF4-FFF2-40B4-BE49-F238E27FC236}">
                <a16:creationId xmlns:a16="http://schemas.microsoft.com/office/drawing/2014/main" id="{37C2F1CD-8464-B0C0-84C4-1315C26C56B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88927" y="2829158"/>
            <a:ext cx="256310" cy="256310"/>
          </a:xfrm>
          <a:prstGeom prst="rect">
            <a:avLst/>
          </a:prstGeom>
        </p:spPr>
      </p:pic>
      <p:pic>
        <p:nvPicPr>
          <p:cNvPr id="31" name="Graphique 30" descr="Coche avec un remplissage uni">
            <a:extLst>
              <a:ext uri="{FF2B5EF4-FFF2-40B4-BE49-F238E27FC236}">
                <a16:creationId xmlns:a16="http://schemas.microsoft.com/office/drawing/2014/main" id="{15ADD546-906F-E460-4F82-B04684062B3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88927" y="3117385"/>
            <a:ext cx="256310" cy="256310"/>
          </a:xfrm>
          <a:prstGeom prst="rect">
            <a:avLst/>
          </a:prstGeom>
        </p:spPr>
      </p:pic>
      <p:pic>
        <p:nvPicPr>
          <p:cNvPr id="32" name="Graphique 31" descr="Coche avec un remplissage uni">
            <a:extLst>
              <a:ext uri="{FF2B5EF4-FFF2-40B4-BE49-F238E27FC236}">
                <a16:creationId xmlns:a16="http://schemas.microsoft.com/office/drawing/2014/main" id="{98876917-0777-5A43-551A-BBEEB5EC24B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88927" y="3497623"/>
            <a:ext cx="256310" cy="256310"/>
          </a:xfrm>
          <a:prstGeom prst="rect">
            <a:avLst/>
          </a:prstGeom>
        </p:spPr>
      </p:pic>
      <p:pic>
        <p:nvPicPr>
          <p:cNvPr id="33" name="Graphique 32" descr="Coche avec un remplissage uni">
            <a:extLst>
              <a:ext uri="{FF2B5EF4-FFF2-40B4-BE49-F238E27FC236}">
                <a16:creationId xmlns:a16="http://schemas.microsoft.com/office/drawing/2014/main" id="{BA7FB1F2-481B-3073-2F20-A758BD165CB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95854" y="3849510"/>
            <a:ext cx="256310" cy="256310"/>
          </a:xfrm>
          <a:prstGeom prst="rect">
            <a:avLst/>
          </a:prstGeom>
        </p:spPr>
      </p:pic>
      <p:pic>
        <p:nvPicPr>
          <p:cNvPr id="34" name="Graphique 33" descr="Coche avec un remplissage uni">
            <a:extLst>
              <a:ext uri="{FF2B5EF4-FFF2-40B4-BE49-F238E27FC236}">
                <a16:creationId xmlns:a16="http://schemas.microsoft.com/office/drawing/2014/main" id="{32259CE7-2BAD-8D3A-82C1-82492E6897C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95854" y="4149381"/>
            <a:ext cx="256310" cy="256310"/>
          </a:xfrm>
          <a:prstGeom prst="rect">
            <a:avLst/>
          </a:prstGeom>
        </p:spPr>
      </p:pic>
      <p:pic>
        <p:nvPicPr>
          <p:cNvPr id="35" name="Graphique 34" descr="Coche avec un remplissage uni">
            <a:extLst>
              <a:ext uri="{FF2B5EF4-FFF2-40B4-BE49-F238E27FC236}">
                <a16:creationId xmlns:a16="http://schemas.microsoft.com/office/drawing/2014/main" id="{8FE71145-C757-D694-8E61-8BD1C05125D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95854" y="4491052"/>
            <a:ext cx="256310" cy="256310"/>
          </a:xfrm>
          <a:prstGeom prst="rect">
            <a:avLst/>
          </a:prstGeom>
        </p:spPr>
      </p:pic>
    </p:spTree>
    <p:extLst>
      <p:ext uri="{BB962C8B-B14F-4D97-AF65-F5344CB8AC3E}">
        <p14:creationId xmlns:p14="http://schemas.microsoft.com/office/powerpoint/2010/main" val="31400565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EDF48-F6ED-26B7-57C4-6EC5DD9D223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47F5E02-9F1A-575E-BE58-A183C3FBDA38}"/>
              </a:ext>
            </a:extLst>
          </p:cNvPr>
          <p:cNvSpPr>
            <a:spLocks noGrp="1"/>
          </p:cNvSpPr>
          <p:nvPr>
            <p:ph type="title"/>
          </p:nvPr>
        </p:nvSpPr>
        <p:spPr>
          <a:xfrm>
            <a:off x="235526" y="-5193"/>
            <a:ext cx="8908473" cy="379266"/>
          </a:xfrm>
          <a:solidFill>
            <a:schemeClr val="tx1"/>
          </a:solidFill>
        </p:spPr>
        <p:txBody>
          <a:bodyPr vert="horz" lIns="91440" tIns="45720" rIns="91440" bIns="45720" rtlCol="0" anchor="ctr">
            <a:normAutofit fontScale="90000"/>
          </a:bodyPr>
          <a:lstStyle/>
          <a:p>
            <a:r>
              <a:rPr lang="fr-CA" sz="2400" b="1" noProof="0">
                <a:solidFill>
                  <a:schemeClr val="bg1"/>
                </a:solidFill>
              </a:rPr>
              <a:t>Orientations d’affaires CFO reliées au contexte d’initiative</a:t>
            </a:r>
          </a:p>
        </p:txBody>
      </p:sp>
      <p:graphicFrame>
        <p:nvGraphicFramePr>
          <p:cNvPr id="5" name="Tableau 4">
            <a:extLst>
              <a:ext uri="{FF2B5EF4-FFF2-40B4-BE49-F238E27FC236}">
                <a16:creationId xmlns:a16="http://schemas.microsoft.com/office/drawing/2014/main" id="{EBBDA6D8-6850-F927-7A3F-85A24673CBDB}"/>
              </a:ext>
            </a:extLst>
          </p:cNvPr>
          <p:cNvGraphicFramePr>
            <a:graphicFrameLocks noGrp="1"/>
          </p:cNvGraphicFramePr>
          <p:nvPr>
            <p:extLst>
              <p:ext uri="{D42A27DB-BD31-4B8C-83A1-F6EECF244321}">
                <p14:modId xmlns:p14="http://schemas.microsoft.com/office/powerpoint/2010/main" val="3684508916"/>
              </p:ext>
            </p:extLst>
          </p:nvPr>
        </p:nvGraphicFramePr>
        <p:xfrm>
          <a:off x="401780" y="590578"/>
          <a:ext cx="8575964" cy="4352952"/>
        </p:xfrm>
        <a:graphic>
          <a:graphicData uri="http://schemas.openxmlformats.org/drawingml/2006/table">
            <a:tbl>
              <a:tblPr firstRow="1" bandRow="1">
                <a:tableStyleId>{5C22544A-7EE6-4342-B048-85BDC9FD1C3A}</a:tableStyleId>
              </a:tblPr>
              <a:tblGrid>
                <a:gridCol w="1256539">
                  <a:extLst>
                    <a:ext uri="{9D8B030D-6E8A-4147-A177-3AD203B41FA5}">
                      <a16:colId xmlns:a16="http://schemas.microsoft.com/office/drawing/2014/main" val="4209981443"/>
                    </a:ext>
                  </a:extLst>
                </a:gridCol>
                <a:gridCol w="6524786">
                  <a:extLst>
                    <a:ext uri="{9D8B030D-6E8A-4147-A177-3AD203B41FA5}">
                      <a16:colId xmlns:a16="http://schemas.microsoft.com/office/drawing/2014/main" val="2193554548"/>
                    </a:ext>
                  </a:extLst>
                </a:gridCol>
                <a:gridCol w="794639">
                  <a:extLst>
                    <a:ext uri="{9D8B030D-6E8A-4147-A177-3AD203B41FA5}">
                      <a16:colId xmlns:a16="http://schemas.microsoft.com/office/drawing/2014/main" val="3155393415"/>
                    </a:ext>
                  </a:extLst>
                </a:gridCol>
              </a:tblGrid>
              <a:tr h="421740">
                <a:tc gridSpan="2">
                  <a:txBody>
                    <a:bodyPr/>
                    <a:lstStyle/>
                    <a:p>
                      <a:pPr algn="ctr"/>
                      <a:r>
                        <a:rPr lang="fr-CA" sz="1100" noProof="0"/>
                        <a:t>Orientations d’affaires</a:t>
                      </a:r>
                    </a:p>
                  </a:txBody>
                  <a:tcPr anchor="ctr"/>
                </a:tc>
                <a:tc hMerge="1">
                  <a:txBody>
                    <a:bodyPr/>
                    <a:lstStyle/>
                    <a:p>
                      <a:endParaRPr/>
                    </a:p>
                  </a:txBody>
                  <a:tcPr/>
                </a:tc>
                <a:tc>
                  <a:txBody>
                    <a:bodyPr/>
                    <a:lstStyle/>
                    <a:p>
                      <a:r>
                        <a:rPr lang="fr-CA" sz="1100" noProof="0"/>
                        <a:t>Respectée</a:t>
                      </a:r>
                    </a:p>
                  </a:txBody>
                  <a:tcPr anchor="ctr"/>
                </a:tc>
                <a:extLst>
                  <a:ext uri="{0D108BD9-81ED-4DB2-BD59-A6C34878D82A}">
                    <a16:rowId xmlns:a16="http://schemas.microsoft.com/office/drawing/2014/main" val="500927226"/>
                  </a:ext>
                </a:extLst>
              </a:tr>
              <a:tr h="0">
                <a:tc rowSpan="4">
                  <a:txBody>
                    <a:bodyPr/>
                    <a:lstStyle/>
                    <a:p>
                      <a:pPr algn="ctr"/>
                      <a:r>
                        <a:rPr lang="fr-CA" sz="1100" b="1" noProof="0"/>
                        <a:t>Transversales</a:t>
                      </a:r>
                    </a:p>
                    <a:p>
                      <a:pPr algn="ctr"/>
                      <a:r>
                        <a:rPr lang="fr-CA" sz="1100" b="1" noProof="0"/>
                        <a:t>Données</a:t>
                      </a:r>
                      <a:endParaRPr lang="fr-CA" sz="1050" b="1" noProof="0"/>
                    </a:p>
                  </a:txBody>
                  <a:tcPr anchor="ctr"/>
                </a:tc>
                <a:tc>
                  <a:txBody>
                    <a:bodyPr/>
                    <a:lstStyle/>
                    <a:p>
                      <a:r>
                        <a:rPr lang="fr-CA" sz="1000" noProof="0"/>
                        <a:t>Simplifier les cheminements de nos données</a:t>
                      </a:r>
                    </a:p>
                  </a:txBody>
                  <a:tcPr/>
                </a:tc>
                <a:tc>
                  <a:txBody>
                    <a:bodyPr/>
                    <a:lstStyle/>
                    <a:p>
                      <a:endParaRPr lang="fr-CA" sz="1000" noProof="0"/>
                    </a:p>
                  </a:txBody>
                  <a:tcPr/>
                </a:tc>
                <a:extLst>
                  <a:ext uri="{0D108BD9-81ED-4DB2-BD59-A6C34878D82A}">
                    <a16:rowId xmlns:a16="http://schemas.microsoft.com/office/drawing/2014/main" val="918367609"/>
                  </a:ext>
                </a:extLst>
              </a:tr>
              <a:tr h="160388">
                <a:tc vMerge="1">
                  <a:txBody>
                    <a:bodyPr/>
                    <a:lstStyle/>
                    <a:p>
                      <a:endParaRPr lang="fr-FR" sz="1000"/>
                    </a:p>
                  </a:txBody>
                  <a:tcPr/>
                </a:tc>
                <a:tc>
                  <a:txBody>
                    <a:bodyPr/>
                    <a:lstStyle/>
                    <a:p>
                      <a:r>
                        <a:rPr lang="fr-CA" sz="1000" noProof="0"/>
                        <a:t>Normaliser, standardiser et contrôler les données dont nous sommes propriétaires</a:t>
                      </a:r>
                    </a:p>
                  </a:txBody>
                  <a:tcPr/>
                </a:tc>
                <a:tc>
                  <a:txBody>
                    <a:bodyPr/>
                    <a:lstStyle/>
                    <a:p>
                      <a:endParaRPr lang="fr-CA" sz="1000" noProof="0"/>
                    </a:p>
                  </a:txBody>
                  <a:tcPr/>
                </a:tc>
                <a:extLst>
                  <a:ext uri="{0D108BD9-81ED-4DB2-BD59-A6C34878D82A}">
                    <a16:rowId xmlns:a16="http://schemas.microsoft.com/office/drawing/2014/main" val="2604480389"/>
                  </a:ext>
                </a:extLst>
              </a:tr>
              <a:tr h="124505">
                <a:tc vMerge="1">
                  <a:txBody>
                    <a:bodyPr/>
                    <a:lstStyle/>
                    <a:p>
                      <a:endParaRPr lang="fr-FR" sz="1000"/>
                    </a:p>
                  </a:txBody>
                  <a:tcPr/>
                </a:tc>
                <a:tc>
                  <a:txBody>
                    <a:bodyPr/>
                    <a:lstStyle/>
                    <a:p>
                      <a:r>
                        <a:rPr lang="fr-CA" sz="1000" noProof="0"/>
                        <a:t>Structurer, gérer et exploiter efficacement nos données afin d’améliorer nos capacités d’analyse de données</a:t>
                      </a:r>
                    </a:p>
                  </a:txBody>
                  <a:tcPr/>
                </a:tc>
                <a:tc>
                  <a:txBody>
                    <a:bodyPr/>
                    <a:lstStyle/>
                    <a:p>
                      <a:endParaRPr lang="fr-CA" sz="1000" noProof="0"/>
                    </a:p>
                  </a:txBody>
                  <a:tcPr/>
                </a:tc>
                <a:extLst>
                  <a:ext uri="{0D108BD9-81ED-4DB2-BD59-A6C34878D82A}">
                    <a16:rowId xmlns:a16="http://schemas.microsoft.com/office/drawing/2014/main" val="2394001155"/>
                  </a:ext>
                </a:extLst>
              </a:tr>
              <a:tr h="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0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noProof="0"/>
                        <a:t>Permettre la traçabilité de la donnée dans l’ensemble du processus</a:t>
                      </a:r>
                    </a:p>
                  </a:txBody>
                  <a:tcPr/>
                </a:tc>
                <a:tc>
                  <a:txBody>
                    <a:bodyPr/>
                    <a:lstStyle/>
                    <a:p>
                      <a:endParaRPr lang="fr-CA" sz="1000" noProof="0"/>
                    </a:p>
                  </a:txBody>
                  <a:tcPr/>
                </a:tc>
                <a:extLst>
                  <a:ext uri="{0D108BD9-81ED-4DB2-BD59-A6C34878D82A}">
                    <a16:rowId xmlns:a16="http://schemas.microsoft.com/office/drawing/2014/main" val="677184619"/>
                  </a:ext>
                </a:extLst>
              </a:tr>
              <a:tr h="0">
                <a:tc>
                  <a:txBody>
                    <a:bodyPr/>
                    <a:lstStyle/>
                    <a:p>
                      <a:pPr algn="ctr"/>
                      <a:r>
                        <a:rPr lang="fr-CA" sz="1100" b="1" noProof="0"/>
                        <a:t>Transversales</a:t>
                      </a:r>
                    </a:p>
                    <a:p>
                      <a:pPr algn="ctr"/>
                      <a:r>
                        <a:rPr lang="fr-CA" sz="1100" b="1" noProof="0"/>
                        <a:t>Approche</a:t>
                      </a:r>
                      <a:endParaRPr lang="fr-CA" sz="1050" b="1" noProof="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noProof="0"/>
                        <a:t>Orienter les actions vers des architectures cibles pour atteindre une performance durable</a:t>
                      </a:r>
                    </a:p>
                  </a:txBody>
                  <a:tcPr anchor="ctr"/>
                </a:tc>
                <a:tc>
                  <a:txBody>
                    <a:bodyPr/>
                    <a:lstStyle/>
                    <a:p>
                      <a:endParaRPr lang="fr-CA" sz="1000" noProof="0"/>
                    </a:p>
                  </a:txBody>
                  <a:tcPr/>
                </a:tc>
                <a:extLst>
                  <a:ext uri="{0D108BD9-81ED-4DB2-BD59-A6C34878D82A}">
                    <a16:rowId xmlns:a16="http://schemas.microsoft.com/office/drawing/2014/main" val="876837241"/>
                  </a:ext>
                </a:extLst>
              </a:tr>
              <a:tr h="284362">
                <a:tc rowSpan="4">
                  <a:txBody>
                    <a:bodyPr/>
                    <a:lstStyle/>
                    <a:p>
                      <a:pPr algn="ctr"/>
                      <a:r>
                        <a:rPr lang="fr-CA" sz="1100" b="1" noProof="0"/>
                        <a:t>Transversales</a:t>
                      </a:r>
                    </a:p>
                    <a:p>
                      <a:pPr algn="ctr"/>
                      <a:r>
                        <a:rPr lang="fr-CA" sz="1100" b="1" noProof="0"/>
                        <a:t>Soutien</a:t>
                      </a:r>
                      <a:endParaRPr lang="fr-CA" sz="1050" b="1" noProof="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noProof="0"/>
                        <a:t>Développer l’autonomie des utilisateurs dans l’accomplissement de leurs tâches dans l’utilisation de leur processus</a:t>
                      </a:r>
                    </a:p>
                  </a:txBody>
                  <a:tcPr/>
                </a:tc>
                <a:tc>
                  <a:txBody>
                    <a:bodyPr/>
                    <a:lstStyle/>
                    <a:p>
                      <a:endParaRPr lang="fr-CA" sz="1000" noProof="0"/>
                    </a:p>
                  </a:txBody>
                  <a:tcPr/>
                </a:tc>
                <a:extLst>
                  <a:ext uri="{0D108BD9-81ED-4DB2-BD59-A6C34878D82A}">
                    <a16:rowId xmlns:a16="http://schemas.microsoft.com/office/drawing/2014/main" val="3626450453"/>
                  </a:ext>
                </a:extLst>
              </a:tr>
              <a:tr h="284362">
                <a:tc vMerge="1">
                  <a:txBody>
                    <a:bodyPr/>
                    <a:lstStyle/>
                    <a:p>
                      <a:pPr algn="ctr"/>
                      <a:endParaRPr lang="fr-FR" sz="1000" b="1"/>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noProof="0"/>
                        <a:t>Optimiser la gestion des connaissances et des documents pour soutenir les objectifs organisationnels</a:t>
                      </a:r>
                    </a:p>
                  </a:txBody>
                  <a:tcPr/>
                </a:tc>
                <a:tc>
                  <a:txBody>
                    <a:bodyPr/>
                    <a:lstStyle/>
                    <a:p>
                      <a:endParaRPr lang="fr-CA" sz="1000" noProof="0"/>
                    </a:p>
                  </a:txBody>
                  <a:tcPr/>
                </a:tc>
                <a:extLst>
                  <a:ext uri="{0D108BD9-81ED-4DB2-BD59-A6C34878D82A}">
                    <a16:rowId xmlns:a16="http://schemas.microsoft.com/office/drawing/2014/main" val="287762127"/>
                  </a:ext>
                </a:extLst>
              </a:tr>
              <a:tr h="284362">
                <a:tc vMerge="1">
                  <a:txBody>
                    <a:bodyPr/>
                    <a:lstStyle/>
                    <a:p>
                      <a:pPr algn="ctr"/>
                      <a:endParaRPr lang="fr-FR" sz="1000" b="1"/>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noProof="0"/>
                        <a:t>Orienter des solutions permettant de respecter les Service Level Agreement (SLA) visé</a:t>
                      </a:r>
                    </a:p>
                  </a:txBody>
                  <a:tcPr/>
                </a:tc>
                <a:tc>
                  <a:txBody>
                    <a:bodyPr/>
                    <a:lstStyle/>
                    <a:p>
                      <a:endParaRPr lang="fr-CA" sz="1000" noProof="0"/>
                    </a:p>
                  </a:txBody>
                  <a:tcPr/>
                </a:tc>
                <a:extLst>
                  <a:ext uri="{0D108BD9-81ED-4DB2-BD59-A6C34878D82A}">
                    <a16:rowId xmlns:a16="http://schemas.microsoft.com/office/drawing/2014/main" val="943601158"/>
                  </a:ext>
                </a:extLst>
              </a:tr>
              <a:tr h="284362">
                <a:tc vMerge="1">
                  <a:txBody>
                    <a:bodyPr/>
                    <a:lstStyle/>
                    <a:p>
                      <a:pPr algn="ctr"/>
                      <a:endParaRPr lang="fr-FR" sz="1000" b="1"/>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noProof="0"/>
                        <a:t>Développement de solutions favorisant une interaction fluide entre les différents acteurs</a:t>
                      </a:r>
                    </a:p>
                  </a:txBody>
                  <a:tcPr/>
                </a:tc>
                <a:tc>
                  <a:txBody>
                    <a:bodyPr/>
                    <a:lstStyle/>
                    <a:p>
                      <a:endParaRPr lang="fr-CA" sz="1000" noProof="0"/>
                    </a:p>
                  </a:txBody>
                  <a:tcPr/>
                </a:tc>
                <a:extLst>
                  <a:ext uri="{0D108BD9-81ED-4DB2-BD59-A6C34878D82A}">
                    <a16:rowId xmlns:a16="http://schemas.microsoft.com/office/drawing/2014/main" val="4154918609"/>
                  </a:ext>
                </a:extLst>
              </a:tr>
              <a:tr h="284362">
                <a:tc>
                  <a:txBody>
                    <a:bodyPr/>
                    <a:lstStyle/>
                    <a:p>
                      <a:pPr algn="ctr"/>
                      <a:r>
                        <a:rPr lang="fr-CA" sz="1100" b="1" noProof="0"/>
                        <a:t>Transversales</a:t>
                      </a:r>
                    </a:p>
                    <a:p>
                      <a:pPr algn="ctr"/>
                      <a:r>
                        <a:rPr lang="fr-CA" sz="1100" b="1" noProof="0"/>
                        <a:t>Ressources</a:t>
                      </a:r>
                      <a:endParaRPr lang="fr-CA" sz="1050" b="1" noProof="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noProof="0"/>
                        <a:t>Contribuer à développer des talents et partage d’expertise</a:t>
                      </a:r>
                    </a:p>
                  </a:txBody>
                  <a:tcPr anchor="ctr"/>
                </a:tc>
                <a:tc>
                  <a:txBody>
                    <a:bodyPr/>
                    <a:lstStyle/>
                    <a:p>
                      <a:endParaRPr lang="fr-CA" sz="1000" noProof="0"/>
                    </a:p>
                  </a:txBody>
                  <a:tcPr/>
                </a:tc>
                <a:extLst>
                  <a:ext uri="{0D108BD9-81ED-4DB2-BD59-A6C34878D82A}">
                    <a16:rowId xmlns:a16="http://schemas.microsoft.com/office/drawing/2014/main" val="3686122498"/>
                  </a:ext>
                </a:extLst>
              </a:tr>
              <a:tr h="284362">
                <a:tc rowSpan="3">
                  <a:txBody>
                    <a:bodyPr/>
                    <a:lstStyle/>
                    <a:p>
                      <a:pPr algn="ctr"/>
                      <a:r>
                        <a:rPr lang="fr-CA" sz="1100" b="1" noProof="0"/>
                        <a:t>Comptabilisation​</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noProof="0"/>
                        <a:t>Utiliser une charte comptable standardisée </a:t>
                      </a:r>
                    </a:p>
                  </a:txBody>
                  <a:tcPr anchor="ctr"/>
                </a:tc>
                <a:tc>
                  <a:txBody>
                    <a:bodyPr/>
                    <a:lstStyle/>
                    <a:p>
                      <a:endParaRPr lang="fr-CA" sz="1000" noProof="0"/>
                    </a:p>
                  </a:txBody>
                  <a:tcPr/>
                </a:tc>
                <a:extLst>
                  <a:ext uri="{0D108BD9-81ED-4DB2-BD59-A6C34878D82A}">
                    <a16:rowId xmlns:a16="http://schemas.microsoft.com/office/drawing/2014/main" val="1142923200"/>
                  </a:ext>
                </a:extLst>
              </a:tr>
              <a:tr h="284362">
                <a:tc vMerge="1">
                  <a:txBody>
                    <a:bodyPr/>
                    <a:lstStyle/>
                    <a:p>
                      <a:pPr algn="ctr"/>
                      <a:endParaRPr lang="fr-FR" sz="1100" b="1"/>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noProof="0"/>
                        <a:t>Appliquer des plans comptables standardisés définis par le contrôleur corporatif (obtenir la donnée comptable bonne à la source)</a:t>
                      </a:r>
                    </a:p>
                  </a:txBody>
                  <a:tcPr anchor="ctr"/>
                </a:tc>
                <a:tc>
                  <a:txBody>
                    <a:bodyPr/>
                    <a:lstStyle/>
                    <a:p>
                      <a:endParaRPr lang="fr-CA" sz="1000" noProof="0"/>
                    </a:p>
                  </a:txBody>
                  <a:tcPr/>
                </a:tc>
                <a:extLst>
                  <a:ext uri="{0D108BD9-81ED-4DB2-BD59-A6C34878D82A}">
                    <a16:rowId xmlns:a16="http://schemas.microsoft.com/office/drawing/2014/main" val="841212961"/>
                  </a:ext>
                </a:extLst>
              </a:tr>
              <a:tr h="284362">
                <a:tc vMerge="1">
                  <a:txBody>
                    <a:bodyPr/>
                    <a:lstStyle/>
                    <a:p>
                      <a:pPr algn="ctr"/>
                      <a:endParaRPr lang="fr-FR" sz="1100" b="1"/>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noProof="0"/>
                        <a:t>Favoriser l’utilisation de la comptabilité évènementielle </a:t>
                      </a:r>
                    </a:p>
                  </a:txBody>
                  <a:tcPr anchor="ctr"/>
                </a:tc>
                <a:tc>
                  <a:txBody>
                    <a:bodyPr/>
                    <a:lstStyle/>
                    <a:p>
                      <a:endParaRPr lang="fr-CA" sz="1000" noProof="0"/>
                    </a:p>
                  </a:txBody>
                  <a:tcPr/>
                </a:tc>
                <a:extLst>
                  <a:ext uri="{0D108BD9-81ED-4DB2-BD59-A6C34878D82A}">
                    <a16:rowId xmlns:a16="http://schemas.microsoft.com/office/drawing/2014/main" val="713761186"/>
                  </a:ext>
                </a:extLst>
              </a:tr>
            </a:tbl>
          </a:graphicData>
        </a:graphic>
      </p:graphicFrame>
      <p:pic>
        <p:nvPicPr>
          <p:cNvPr id="23" name="Graphique 22" descr="Coche avec un remplissage uni">
            <a:extLst>
              <a:ext uri="{FF2B5EF4-FFF2-40B4-BE49-F238E27FC236}">
                <a16:creationId xmlns:a16="http://schemas.microsoft.com/office/drawing/2014/main" id="{1148F1A1-44B8-F46A-E8D1-64B2A1F0F82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95854" y="1234686"/>
            <a:ext cx="256310" cy="256310"/>
          </a:xfrm>
          <a:prstGeom prst="rect">
            <a:avLst/>
          </a:prstGeom>
        </p:spPr>
      </p:pic>
      <p:pic>
        <p:nvPicPr>
          <p:cNvPr id="25" name="Graphique 24" descr="Coche avec un remplissage uni">
            <a:extLst>
              <a:ext uri="{FF2B5EF4-FFF2-40B4-BE49-F238E27FC236}">
                <a16:creationId xmlns:a16="http://schemas.microsoft.com/office/drawing/2014/main" id="{2A3B4593-36B9-7B8E-B93F-C87CEB05200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95854" y="1479986"/>
            <a:ext cx="256310" cy="256310"/>
          </a:xfrm>
          <a:prstGeom prst="rect">
            <a:avLst/>
          </a:prstGeom>
        </p:spPr>
      </p:pic>
      <p:pic>
        <p:nvPicPr>
          <p:cNvPr id="26" name="Graphique 25" descr="Coche avec un remplissage uni">
            <a:extLst>
              <a:ext uri="{FF2B5EF4-FFF2-40B4-BE49-F238E27FC236}">
                <a16:creationId xmlns:a16="http://schemas.microsoft.com/office/drawing/2014/main" id="{A6433B78-0142-441D-3D9D-022E1B40DC6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88927" y="1736455"/>
            <a:ext cx="256310" cy="256310"/>
          </a:xfrm>
          <a:prstGeom prst="rect">
            <a:avLst/>
          </a:prstGeom>
        </p:spPr>
      </p:pic>
      <p:pic>
        <p:nvPicPr>
          <p:cNvPr id="27" name="Graphique 26" descr="Coche avec un remplissage uni">
            <a:extLst>
              <a:ext uri="{FF2B5EF4-FFF2-40B4-BE49-F238E27FC236}">
                <a16:creationId xmlns:a16="http://schemas.microsoft.com/office/drawing/2014/main" id="{C05EB528-7236-5E08-A13B-EB1B357049D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88927" y="2060778"/>
            <a:ext cx="256310" cy="256310"/>
          </a:xfrm>
          <a:prstGeom prst="rect">
            <a:avLst/>
          </a:prstGeom>
        </p:spPr>
      </p:pic>
      <p:pic>
        <p:nvPicPr>
          <p:cNvPr id="29" name="Graphique 28" descr="Coche avec un remplissage uni">
            <a:extLst>
              <a:ext uri="{FF2B5EF4-FFF2-40B4-BE49-F238E27FC236}">
                <a16:creationId xmlns:a16="http://schemas.microsoft.com/office/drawing/2014/main" id="{3D5083EF-EA60-4C9D-0A73-FE22EE2AE30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88927" y="994282"/>
            <a:ext cx="256310" cy="256310"/>
          </a:xfrm>
          <a:prstGeom prst="rect">
            <a:avLst/>
          </a:prstGeom>
        </p:spPr>
      </p:pic>
      <p:pic>
        <p:nvPicPr>
          <p:cNvPr id="30" name="Graphique 29" descr="Coche avec un remplissage uni">
            <a:extLst>
              <a:ext uri="{FF2B5EF4-FFF2-40B4-BE49-F238E27FC236}">
                <a16:creationId xmlns:a16="http://schemas.microsoft.com/office/drawing/2014/main" id="{AD75E998-D668-E3D7-09FE-46763E26FDC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95854" y="2412665"/>
            <a:ext cx="256310" cy="256310"/>
          </a:xfrm>
          <a:prstGeom prst="rect">
            <a:avLst/>
          </a:prstGeom>
        </p:spPr>
      </p:pic>
      <p:pic>
        <p:nvPicPr>
          <p:cNvPr id="31" name="Graphique 30" descr="Coche avec un remplissage uni">
            <a:extLst>
              <a:ext uri="{FF2B5EF4-FFF2-40B4-BE49-F238E27FC236}">
                <a16:creationId xmlns:a16="http://schemas.microsoft.com/office/drawing/2014/main" id="{F9FF8CAD-37A2-A2AB-1432-404E21A1EA9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95854" y="2698834"/>
            <a:ext cx="256310" cy="256310"/>
          </a:xfrm>
          <a:prstGeom prst="rect">
            <a:avLst/>
          </a:prstGeom>
        </p:spPr>
      </p:pic>
      <p:pic>
        <p:nvPicPr>
          <p:cNvPr id="32" name="Graphique 31" descr="Coche avec un remplissage uni">
            <a:extLst>
              <a:ext uri="{FF2B5EF4-FFF2-40B4-BE49-F238E27FC236}">
                <a16:creationId xmlns:a16="http://schemas.microsoft.com/office/drawing/2014/main" id="{038444F2-70AF-2A08-9BF7-BA8E3BED6B3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88927" y="2985003"/>
            <a:ext cx="256310" cy="256310"/>
          </a:xfrm>
          <a:prstGeom prst="rect">
            <a:avLst/>
          </a:prstGeom>
        </p:spPr>
      </p:pic>
      <p:pic>
        <p:nvPicPr>
          <p:cNvPr id="33" name="Graphique 32" descr="Coche avec un remplissage uni">
            <a:extLst>
              <a:ext uri="{FF2B5EF4-FFF2-40B4-BE49-F238E27FC236}">
                <a16:creationId xmlns:a16="http://schemas.microsoft.com/office/drawing/2014/main" id="{7EB6F333-1133-6BA2-0D4F-86A240E83E5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88927" y="3274486"/>
            <a:ext cx="256310" cy="256310"/>
          </a:xfrm>
          <a:prstGeom prst="rect">
            <a:avLst/>
          </a:prstGeom>
        </p:spPr>
      </p:pic>
      <p:pic>
        <p:nvPicPr>
          <p:cNvPr id="34" name="Graphique 33" descr="Coche avec un remplissage uni">
            <a:extLst>
              <a:ext uri="{FF2B5EF4-FFF2-40B4-BE49-F238E27FC236}">
                <a16:creationId xmlns:a16="http://schemas.microsoft.com/office/drawing/2014/main" id="{938E055A-E547-1D5A-9293-F6FB34A61E8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88927" y="3593286"/>
            <a:ext cx="256310" cy="256310"/>
          </a:xfrm>
          <a:prstGeom prst="rect">
            <a:avLst/>
          </a:prstGeom>
        </p:spPr>
      </p:pic>
      <p:pic>
        <p:nvPicPr>
          <p:cNvPr id="35" name="Graphique 34" descr="Coche avec un remplissage uni">
            <a:extLst>
              <a:ext uri="{FF2B5EF4-FFF2-40B4-BE49-F238E27FC236}">
                <a16:creationId xmlns:a16="http://schemas.microsoft.com/office/drawing/2014/main" id="{DAB84698-D6FB-E790-8622-3853EE8DEF9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95854" y="3966315"/>
            <a:ext cx="256310" cy="256310"/>
          </a:xfrm>
          <a:prstGeom prst="rect">
            <a:avLst/>
          </a:prstGeom>
        </p:spPr>
      </p:pic>
      <p:pic>
        <p:nvPicPr>
          <p:cNvPr id="3" name="Graphique 2" descr="Coche avec un remplissage uni">
            <a:extLst>
              <a:ext uri="{FF2B5EF4-FFF2-40B4-BE49-F238E27FC236}">
                <a16:creationId xmlns:a16="http://schemas.microsoft.com/office/drawing/2014/main" id="{CD83AD2A-3179-743A-2A50-C0A4FD8F753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95854" y="4310975"/>
            <a:ext cx="256310" cy="256310"/>
          </a:xfrm>
          <a:prstGeom prst="rect">
            <a:avLst/>
          </a:prstGeom>
        </p:spPr>
      </p:pic>
      <p:pic>
        <p:nvPicPr>
          <p:cNvPr id="4" name="Graphique 3" descr="Coche avec un remplissage uni">
            <a:extLst>
              <a:ext uri="{FF2B5EF4-FFF2-40B4-BE49-F238E27FC236}">
                <a16:creationId xmlns:a16="http://schemas.microsoft.com/office/drawing/2014/main" id="{6DD6DB95-787A-DD65-4752-DB7F82B8A09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88927" y="4627252"/>
            <a:ext cx="256310" cy="256310"/>
          </a:xfrm>
          <a:prstGeom prst="rect">
            <a:avLst/>
          </a:prstGeom>
        </p:spPr>
      </p:pic>
    </p:spTree>
    <p:extLst>
      <p:ext uri="{BB962C8B-B14F-4D97-AF65-F5344CB8AC3E}">
        <p14:creationId xmlns:p14="http://schemas.microsoft.com/office/powerpoint/2010/main" val="36936689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41720-FC0E-2C9F-AC77-CCC5F4A2385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13C8B15-4360-3DB9-207E-442790E32E70}"/>
              </a:ext>
            </a:extLst>
          </p:cNvPr>
          <p:cNvSpPr>
            <a:spLocks noGrp="1"/>
          </p:cNvSpPr>
          <p:nvPr>
            <p:ph type="title"/>
          </p:nvPr>
        </p:nvSpPr>
        <p:spPr>
          <a:xfrm>
            <a:off x="235526" y="-5193"/>
            <a:ext cx="8908473" cy="379266"/>
          </a:xfrm>
          <a:solidFill>
            <a:schemeClr val="tx1"/>
          </a:solidFill>
        </p:spPr>
        <p:txBody>
          <a:bodyPr vert="horz" lIns="91440" tIns="45720" rIns="91440" bIns="45720" rtlCol="0" anchor="ctr">
            <a:normAutofit fontScale="90000"/>
          </a:bodyPr>
          <a:lstStyle/>
          <a:p>
            <a:r>
              <a:rPr lang="fr-CA" sz="2400" b="1" noProof="0">
                <a:solidFill>
                  <a:schemeClr val="bg1"/>
                </a:solidFill>
              </a:rPr>
              <a:t>Orientations d’affaires CFO reliées au contexte d’initiative</a:t>
            </a:r>
          </a:p>
        </p:txBody>
      </p:sp>
      <p:graphicFrame>
        <p:nvGraphicFramePr>
          <p:cNvPr id="5" name="Tableau 4">
            <a:extLst>
              <a:ext uri="{FF2B5EF4-FFF2-40B4-BE49-F238E27FC236}">
                <a16:creationId xmlns:a16="http://schemas.microsoft.com/office/drawing/2014/main" id="{46252E4E-D96D-E516-AE48-8220E76B04CE}"/>
              </a:ext>
            </a:extLst>
          </p:cNvPr>
          <p:cNvGraphicFramePr>
            <a:graphicFrameLocks noGrp="1"/>
          </p:cNvGraphicFramePr>
          <p:nvPr>
            <p:extLst>
              <p:ext uri="{D42A27DB-BD31-4B8C-83A1-F6EECF244321}">
                <p14:modId xmlns:p14="http://schemas.microsoft.com/office/powerpoint/2010/main" val="1573073091"/>
              </p:ext>
            </p:extLst>
          </p:nvPr>
        </p:nvGraphicFramePr>
        <p:xfrm>
          <a:off x="401780" y="590578"/>
          <a:ext cx="8575964" cy="2239790"/>
        </p:xfrm>
        <a:graphic>
          <a:graphicData uri="http://schemas.openxmlformats.org/drawingml/2006/table">
            <a:tbl>
              <a:tblPr firstRow="1" bandRow="1">
                <a:tableStyleId>{5C22544A-7EE6-4342-B048-85BDC9FD1C3A}</a:tableStyleId>
              </a:tblPr>
              <a:tblGrid>
                <a:gridCol w="1117404">
                  <a:extLst>
                    <a:ext uri="{9D8B030D-6E8A-4147-A177-3AD203B41FA5}">
                      <a16:colId xmlns:a16="http://schemas.microsoft.com/office/drawing/2014/main" val="4209981443"/>
                    </a:ext>
                  </a:extLst>
                </a:gridCol>
                <a:gridCol w="6663921">
                  <a:extLst>
                    <a:ext uri="{9D8B030D-6E8A-4147-A177-3AD203B41FA5}">
                      <a16:colId xmlns:a16="http://schemas.microsoft.com/office/drawing/2014/main" val="2193554548"/>
                    </a:ext>
                  </a:extLst>
                </a:gridCol>
                <a:gridCol w="794639">
                  <a:extLst>
                    <a:ext uri="{9D8B030D-6E8A-4147-A177-3AD203B41FA5}">
                      <a16:colId xmlns:a16="http://schemas.microsoft.com/office/drawing/2014/main" val="3155393415"/>
                    </a:ext>
                  </a:extLst>
                </a:gridCol>
              </a:tblGrid>
              <a:tr h="421740">
                <a:tc gridSpan="2">
                  <a:txBody>
                    <a:bodyPr/>
                    <a:lstStyle/>
                    <a:p>
                      <a:pPr algn="ctr"/>
                      <a:r>
                        <a:rPr lang="fr-CA" sz="1100" noProof="0"/>
                        <a:t>Orientations d’affaires</a:t>
                      </a:r>
                    </a:p>
                  </a:txBody>
                  <a:tcPr anchor="ctr"/>
                </a:tc>
                <a:tc hMerge="1">
                  <a:txBody>
                    <a:bodyPr/>
                    <a:lstStyle/>
                    <a:p>
                      <a:endParaRPr/>
                    </a:p>
                  </a:txBody>
                  <a:tcPr/>
                </a:tc>
                <a:tc>
                  <a:txBody>
                    <a:bodyPr/>
                    <a:lstStyle/>
                    <a:p>
                      <a:r>
                        <a:rPr lang="fr-CA" sz="1100" noProof="0"/>
                        <a:t>Respectée</a:t>
                      </a:r>
                    </a:p>
                  </a:txBody>
                  <a:tcPr anchor="ctr"/>
                </a:tc>
                <a:extLst>
                  <a:ext uri="{0D108BD9-81ED-4DB2-BD59-A6C34878D82A}">
                    <a16:rowId xmlns:a16="http://schemas.microsoft.com/office/drawing/2014/main" val="500927226"/>
                  </a:ext>
                </a:extLst>
              </a:tr>
              <a:tr h="284362">
                <a:tc>
                  <a:txBody>
                    <a:bodyPr/>
                    <a:lstStyle/>
                    <a:p>
                      <a:pPr algn="ctr"/>
                      <a:r>
                        <a:rPr lang="fr-CA" sz="1100" b="1" noProof="0"/>
                        <a:t>Bancaire</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noProof="0"/>
                        <a:t>Viser à centraliser les comptes bancaires vers les banques avec des ententes corporatives</a:t>
                      </a:r>
                    </a:p>
                  </a:txBody>
                  <a:tcPr anchor="ctr"/>
                </a:tc>
                <a:tc>
                  <a:txBody>
                    <a:bodyPr/>
                    <a:lstStyle/>
                    <a:p>
                      <a:endParaRPr lang="fr-CA" sz="1000" noProof="0"/>
                    </a:p>
                  </a:txBody>
                  <a:tcPr/>
                </a:tc>
                <a:extLst>
                  <a:ext uri="{0D108BD9-81ED-4DB2-BD59-A6C34878D82A}">
                    <a16:rowId xmlns:a16="http://schemas.microsoft.com/office/drawing/2014/main" val="1142923200"/>
                  </a:ext>
                </a:extLst>
              </a:tr>
              <a:tr h="284362">
                <a:tc rowSpan="5">
                  <a:txBody>
                    <a:bodyPr/>
                    <a:lstStyle/>
                    <a:p>
                      <a:pPr algn="ctr"/>
                      <a:r>
                        <a:rPr lang="fr-CA" sz="1100" b="1" noProof="0"/>
                        <a:t>Payables et bancaire</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noProof="0"/>
                        <a:t>Favoriser l’adoption au libre-service de la consommation de l’information opérationnelle </a:t>
                      </a:r>
                    </a:p>
                  </a:txBody>
                  <a:tcPr anchor="ctr"/>
                </a:tc>
                <a:tc>
                  <a:txBody>
                    <a:bodyPr/>
                    <a:lstStyle/>
                    <a:p>
                      <a:endParaRPr lang="fr-CA" sz="1000" noProof="0"/>
                    </a:p>
                  </a:txBody>
                  <a:tcPr/>
                </a:tc>
                <a:extLst>
                  <a:ext uri="{0D108BD9-81ED-4DB2-BD59-A6C34878D82A}">
                    <a16:rowId xmlns:a16="http://schemas.microsoft.com/office/drawing/2014/main" val="841212961"/>
                  </a:ext>
                </a:extLst>
              </a:tr>
              <a:tr h="284362">
                <a:tc vMerge="1">
                  <a:txBody>
                    <a:bodyPr/>
                    <a:lstStyle/>
                    <a:p>
                      <a:pPr algn="ctr"/>
                      <a:endParaRPr lang="fr-FR" sz="1100" b="1"/>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noProof="0"/>
                        <a:t>Utiliser les hiérarchies de gestion définit par les ressources humaines comme hiérarchies d’approbation de paiement</a:t>
                      </a:r>
                    </a:p>
                  </a:txBody>
                  <a:tcPr anchor="ctr"/>
                </a:tc>
                <a:tc>
                  <a:txBody>
                    <a:bodyPr/>
                    <a:lstStyle/>
                    <a:p>
                      <a:endParaRPr lang="fr-CA" sz="1000" noProof="0"/>
                    </a:p>
                  </a:txBody>
                  <a:tcPr/>
                </a:tc>
                <a:extLst>
                  <a:ext uri="{0D108BD9-81ED-4DB2-BD59-A6C34878D82A}">
                    <a16:rowId xmlns:a16="http://schemas.microsoft.com/office/drawing/2014/main" val="713761186"/>
                  </a:ext>
                </a:extLst>
              </a:tr>
              <a:tr h="284362">
                <a:tc vMerge="1">
                  <a:txBody>
                    <a:bodyPr/>
                    <a:lstStyle/>
                    <a:p>
                      <a:pPr algn="ctr"/>
                      <a:endParaRPr lang="fr-FR" sz="1100" b="1"/>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noProof="0"/>
                        <a:t>S’assurer de fournir les informations et la granularité nécessaires dans les transactions comptables pour permettre l’automatisation des conciliations de compte (transaction, clé de conciliation)</a:t>
                      </a:r>
                    </a:p>
                  </a:txBody>
                  <a:tcPr anchor="ctr"/>
                </a:tc>
                <a:tc>
                  <a:txBody>
                    <a:bodyPr/>
                    <a:lstStyle/>
                    <a:p>
                      <a:endParaRPr lang="fr-CA" sz="1000" noProof="0"/>
                    </a:p>
                  </a:txBody>
                  <a:tcPr/>
                </a:tc>
                <a:extLst>
                  <a:ext uri="{0D108BD9-81ED-4DB2-BD59-A6C34878D82A}">
                    <a16:rowId xmlns:a16="http://schemas.microsoft.com/office/drawing/2014/main" val="3443153995"/>
                  </a:ext>
                </a:extLst>
              </a:tr>
              <a:tr h="284362">
                <a:tc vMerge="1">
                  <a:txBody>
                    <a:bodyPr/>
                    <a:lstStyle/>
                    <a:p>
                      <a:pPr algn="ctr"/>
                      <a:endParaRPr lang="fr-FR" sz="1100" b="1"/>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noProof="0"/>
                        <a:t>Favoriser l’intégration d’un maximum d’unités d’affaires et filiales aux processus CSP</a:t>
                      </a:r>
                    </a:p>
                  </a:txBody>
                  <a:tcPr anchor="ctr"/>
                </a:tc>
                <a:tc>
                  <a:txBody>
                    <a:bodyPr/>
                    <a:lstStyle/>
                    <a:p>
                      <a:endParaRPr lang="fr-CA" sz="1000" noProof="0"/>
                    </a:p>
                  </a:txBody>
                  <a:tcPr/>
                </a:tc>
                <a:extLst>
                  <a:ext uri="{0D108BD9-81ED-4DB2-BD59-A6C34878D82A}">
                    <a16:rowId xmlns:a16="http://schemas.microsoft.com/office/drawing/2014/main" val="642536190"/>
                  </a:ext>
                </a:extLst>
              </a:tr>
              <a:tr h="284362">
                <a:tc vMerge="1">
                  <a:txBody>
                    <a:bodyPr/>
                    <a:lstStyle/>
                    <a:p>
                      <a:pPr algn="ctr"/>
                      <a:endParaRPr lang="fr-FR" sz="1100" b="1"/>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noProof="0"/>
                        <a:t>Concevoir une architecture d’affaires pour permettre d’intégrer des services CSP supplémentaires</a:t>
                      </a:r>
                    </a:p>
                  </a:txBody>
                  <a:tcPr anchor="ctr"/>
                </a:tc>
                <a:tc>
                  <a:txBody>
                    <a:bodyPr/>
                    <a:lstStyle/>
                    <a:p>
                      <a:endParaRPr lang="fr-CA" sz="1000" noProof="0"/>
                    </a:p>
                  </a:txBody>
                  <a:tcPr/>
                </a:tc>
                <a:extLst>
                  <a:ext uri="{0D108BD9-81ED-4DB2-BD59-A6C34878D82A}">
                    <a16:rowId xmlns:a16="http://schemas.microsoft.com/office/drawing/2014/main" val="1861729797"/>
                  </a:ext>
                </a:extLst>
              </a:tr>
            </a:tbl>
          </a:graphicData>
        </a:graphic>
      </p:graphicFrame>
      <p:pic>
        <p:nvPicPr>
          <p:cNvPr id="23" name="Graphique 22" descr="Coche avec un remplissage uni">
            <a:extLst>
              <a:ext uri="{FF2B5EF4-FFF2-40B4-BE49-F238E27FC236}">
                <a16:creationId xmlns:a16="http://schemas.microsoft.com/office/drawing/2014/main" id="{239944FC-A08E-B3A0-A4F6-FD160732D23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95854" y="1301447"/>
            <a:ext cx="256310" cy="256310"/>
          </a:xfrm>
          <a:prstGeom prst="rect">
            <a:avLst/>
          </a:prstGeom>
        </p:spPr>
      </p:pic>
      <p:pic>
        <p:nvPicPr>
          <p:cNvPr id="25" name="Graphique 24" descr="Coche avec un remplissage uni">
            <a:extLst>
              <a:ext uri="{FF2B5EF4-FFF2-40B4-BE49-F238E27FC236}">
                <a16:creationId xmlns:a16="http://schemas.microsoft.com/office/drawing/2014/main" id="{0AFF6734-F0BF-2BD1-317B-69426C9A8F5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95854" y="1597145"/>
            <a:ext cx="256310" cy="256310"/>
          </a:xfrm>
          <a:prstGeom prst="rect">
            <a:avLst/>
          </a:prstGeom>
        </p:spPr>
      </p:pic>
      <p:pic>
        <p:nvPicPr>
          <p:cNvPr id="26" name="Graphique 25" descr="Coche avec un remplissage uni">
            <a:extLst>
              <a:ext uri="{FF2B5EF4-FFF2-40B4-BE49-F238E27FC236}">
                <a16:creationId xmlns:a16="http://schemas.microsoft.com/office/drawing/2014/main" id="{A5AD4EA6-A6BA-6AA5-5081-71168910DC3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95854" y="1913281"/>
            <a:ext cx="256310" cy="256310"/>
          </a:xfrm>
          <a:prstGeom prst="rect">
            <a:avLst/>
          </a:prstGeom>
        </p:spPr>
      </p:pic>
      <p:pic>
        <p:nvPicPr>
          <p:cNvPr id="27" name="Graphique 26" descr="Coche avec un remplissage uni">
            <a:extLst>
              <a:ext uri="{FF2B5EF4-FFF2-40B4-BE49-F238E27FC236}">
                <a16:creationId xmlns:a16="http://schemas.microsoft.com/office/drawing/2014/main" id="{E0C07270-2489-88A1-A72E-DC98BC26D73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95854" y="2274787"/>
            <a:ext cx="256310" cy="256310"/>
          </a:xfrm>
          <a:prstGeom prst="rect">
            <a:avLst/>
          </a:prstGeom>
        </p:spPr>
      </p:pic>
      <p:pic>
        <p:nvPicPr>
          <p:cNvPr id="29" name="Graphique 28" descr="Coche avec un remplissage uni">
            <a:extLst>
              <a:ext uri="{FF2B5EF4-FFF2-40B4-BE49-F238E27FC236}">
                <a16:creationId xmlns:a16="http://schemas.microsoft.com/office/drawing/2014/main" id="{B9706AAC-710D-04BC-28B2-F3941DAFA46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95854" y="1029784"/>
            <a:ext cx="256310" cy="256310"/>
          </a:xfrm>
          <a:prstGeom prst="rect">
            <a:avLst/>
          </a:prstGeom>
        </p:spPr>
      </p:pic>
      <p:pic>
        <p:nvPicPr>
          <p:cNvPr id="30" name="Graphique 29" descr="Coche avec un remplissage uni">
            <a:extLst>
              <a:ext uri="{FF2B5EF4-FFF2-40B4-BE49-F238E27FC236}">
                <a16:creationId xmlns:a16="http://schemas.microsoft.com/office/drawing/2014/main" id="{564A969F-5A69-92BE-982C-B286FCF61CF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95854" y="2546450"/>
            <a:ext cx="256310" cy="256310"/>
          </a:xfrm>
          <a:prstGeom prst="rect">
            <a:avLst/>
          </a:prstGeom>
        </p:spPr>
      </p:pic>
    </p:spTree>
    <p:extLst>
      <p:ext uri="{BB962C8B-B14F-4D97-AF65-F5344CB8AC3E}">
        <p14:creationId xmlns:p14="http://schemas.microsoft.com/office/powerpoint/2010/main" val="20307734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FEBE4-29BF-941B-44CE-5FB1DE96A5C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63E5211-D56C-238A-1B4C-BAC237AD5511}"/>
              </a:ext>
            </a:extLst>
          </p:cNvPr>
          <p:cNvSpPr>
            <a:spLocks noGrp="1"/>
          </p:cNvSpPr>
          <p:nvPr>
            <p:ph type="title"/>
          </p:nvPr>
        </p:nvSpPr>
        <p:spPr>
          <a:xfrm>
            <a:off x="214744" y="1"/>
            <a:ext cx="8929255" cy="491836"/>
          </a:xfrm>
          <a:solidFill>
            <a:schemeClr val="tx1"/>
          </a:solidFill>
        </p:spPr>
        <p:txBody>
          <a:bodyPr vert="horz" lIns="91440" tIns="45720" rIns="91440" bIns="45720" rtlCol="0" anchor="ctr">
            <a:normAutofit/>
          </a:bodyPr>
          <a:lstStyle/>
          <a:p>
            <a:r>
              <a:rPr lang="fr-CA" sz="2400" b="1" noProof="0">
                <a:solidFill>
                  <a:schemeClr val="bg1"/>
                </a:solidFill>
              </a:rPr>
              <a:t>Positionnements pris</a:t>
            </a:r>
          </a:p>
        </p:txBody>
      </p:sp>
      <p:graphicFrame>
        <p:nvGraphicFramePr>
          <p:cNvPr id="4" name="Espace réservé du contenu 3">
            <a:extLst>
              <a:ext uri="{FF2B5EF4-FFF2-40B4-BE49-F238E27FC236}">
                <a16:creationId xmlns:a16="http://schemas.microsoft.com/office/drawing/2014/main" id="{70ED0420-6EBE-2754-EA6F-71B1EBF6C592}"/>
              </a:ext>
            </a:extLst>
          </p:cNvPr>
          <p:cNvGraphicFramePr>
            <a:graphicFrameLocks noGrp="1"/>
          </p:cNvGraphicFramePr>
          <p:nvPr>
            <p:ph idx="1"/>
            <p:extLst>
              <p:ext uri="{D42A27DB-BD31-4B8C-83A1-F6EECF244321}">
                <p14:modId xmlns:p14="http://schemas.microsoft.com/office/powerpoint/2010/main" val="2147182700"/>
              </p:ext>
            </p:extLst>
          </p:nvPr>
        </p:nvGraphicFramePr>
        <p:xfrm>
          <a:off x="335974" y="584222"/>
          <a:ext cx="8472052" cy="1661160"/>
        </p:xfrm>
        <a:graphic>
          <a:graphicData uri="http://schemas.openxmlformats.org/drawingml/2006/table">
            <a:tbl>
              <a:tblPr firstRow="1" bandRow="1">
                <a:tableStyleId>{5C22544A-7EE6-4342-B048-85BDC9FD1C3A}</a:tableStyleId>
              </a:tblPr>
              <a:tblGrid>
                <a:gridCol w="2647450">
                  <a:extLst>
                    <a:ext uri="{9D8B030D-6E8A-4147-A177-3AD203B41FA5}">
                      <a16:colId xmlns:a16="http://schemas.microsoft.com/office/drawing/2014/main" val="876695907"/>
                    </a:ext>
                  </a:extLst>
                </a:gridCol>
                <a:gridCol w="4200040">
                  <a:extLst>
                    <a:ext uri="{9D8B030D-6E8A-4147-A177-3AD203B41FA5}">
                      <a16:colId xmlns:a16="http://schemas.microsoft.com/office/drawing/2014/main" val="3284901904"/>
                    </a:ext>
                  </a:extLst>
                </a:gridCol>
                <a:gridCol w="1624562">
                  <a:extLst>
                    <a:ext uri="{9D8B030D-6E8A-4147-A177-3AD203B41FA5}">
                      <a16:colId xmlns:a16="http://schemas.microsoft.com/office/drawing/2014/main" val="2818072408"/>
                    </a:ext>
                  </a:extLst>
                </a:gridCol>
              </a:tblGrid>
              <a:tr h="370840">
                <a:tc>
                  <a:txBody>
                    <a:bodyPr/>
                    <a:lstStyle/>
                    <a:p>
                      <a:pPr algn="ctr"/>
                      <a:r>
                        <a:rPr lang="fr-CA" noProof="0"/>
                        <a:t>Positionnements - description</a:t>
                      </a:r>
                    </a:p>
                  </a:txBody>
                  <a:tcPr anchor="ctr"/>
                </a:tc>
                <a:tc>
                  <a:txBody>
                    <a:bodyPr/>
                    <a:lstStyle/>
                    <a:p>
                      <a:pPr algn="ctr"/>
                      <a:r>
                        <a:rPr lang="fr-CA" noProof="0"/>
                        <a:t>Décision</a:t>
                      </a:r>
                    </a:p>
                  </a:txBody>
                  <a:tcPr anchor="ctr"/>
                </a:tc>
                <a:tc>
                  <a:txBody>
                    <a:bodyPr/>
                    <a:lstStyle/>
                    <a:p>
                      <a:pPr algn="ctr"/>
                      <a:r>
                        <a:rPr lang="fr-CA" noProof="0"/>
                        <a:t>Lien</a:t>
                      </a:r>
                    </a:p>
                  </a:txBody>
                  <a:tcPr anchor="ctr"/>
                </a:tc>
                <a:extLst>
                  <a:ext uri="{0D108BD9-81ED-4DB2-BD59-A6C34878D82A}">
                    <a16:rowId xmlns:a16="http://schemas.microsoft.com/office/drawing/2014/main" val="33848605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100" noProof="0"/>
                        <a:t>Gestion des coordonnées bancaires V2 (avec Banking Info)</a:t>
                      </a:r>
                    </a:p>
                  </a:txBody>
                  <a:tcPr/>
                </a:tc>
                <a:tc>
                  <a:txBody>
                    <a:bodyPr/>
                    <a:lstStyle/>
                    <a:p>
                      <a:r>
                        <a:rPr lang="fr-CA" sz="1100" noProof="0"/>
                        <a:t>Reconduction du positionnement précédent (v1), soit le Statut-Quo : reproduire dans Kyriba la fonction actuellement de TRAX</a:t>
                      </a:r>
                    </a:p>
                  </a:txBody>
                  <a:tcPr/>
                </a:tc>
                <a:tc>
                  <a:txBody>
                    <a:bodyPr/>
                    <a:lstStyle/>
                    <a:p>
                      <a:r>
                        <a:rPr lang="fr-CA" sz="1100" noProof="0">
                          <a:hlinkClick r:id="rId4"/>
                        </a:rPr>
                        <a:t>Gestion des coordonnées bancaires v2.0.pptx</a:t>
                      </a:r>
                      <a:endParaRPr lang="fr-CA" sz="1100" noProof="0"/>
                    </a:p>
                  </a:txBody>
                  <a:tcPr/>
                </a:tc>
                <a:extLst>
                  <a:ext uri="{0D108BD9-81ED-4DB2-BD59-A6C34878D82A}">
                    <a16:rowId xmlns:a16="http://schemas.microsoft.com/office/drawing/2014/main" val="361841248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100" noProof="0"/>
                        <a:t>Outil de saisie des paiements, de consultation des statuts de paiements et d’approbation des paiement manuelles</a:t>
                      </a:r>
                    </a:p>
                  </a:txBody>
                  <a:tcPr/>
                </a:tc>
                <a:tc>
                  <a:txBody>
                    <a:bodyPr/>
                    <a:lstStyle/>
                    <a:p>
                      <a:r>
                        <a:rPr lang="fr-CA" sz="1100" noProof="0"/>
                        <a:t>le remplacement des outils actuellement utilisés (OSLC, Opérations bancaires, les plateformes bancaire et Power Bi) par le nouveau Hub de paiement Kyriba</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100" noProof="0">
                          <a:hlinkClick r:id="rId5"/>
                        </a:rPr>
                        <a:t>013_POSI-0010_Outils consultation et saisie de paiements CFO.pptx</a:t>
                      </a:r>
                      <a:endParaRPr lang="fr-CA" sz="1100" noProof="0"/>
                    </a:p>
                  </a:txBody>
                  <a:tcPr/>
                </a:tc>
                <a:extLst>
                  <a:ext uri="{0D108BD9-81ED-4DB2-BD59-A6C34878D82A}">
                    <a16:rowId xmlns:a16="http://schemas.microsoft.com/office/drawing/2014/main" val="1361097276"/>
                  </a:ext>
                </a:extLst>
              </a:tr>
            </a:tbl>
          </a:graphicData>
        </a:graphic>
      </p:graphicFrame>
    </p:spTree>
    <p:extLst>
      <p:ext uri="{BB962C8B-B14F-4D97-AF65-F5344CB8AC3E}">
        <p14:creationId xmlns:p14="http://schemas.microsoft.com/office/powerpoint/2010/main" val="2295080848"/>
      </p:ext>
    </p:extLst>
  </p:cSld>
  <p:clrMapOvr>
    <a:masterClrMapping/>
  </p:clrMapOvr>
  <p:extLst>
    <p:ext uri="{6950BFC3-D8DA-4A85-94F7-54DA5524770B}">
      <p188:commentRel xmlns:p188="http://schemas.microsoft.com/office/powerpoint/2018/8/main" r:id="rId3"/>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98DB2-A72B-6180-A70A-85DE1AEF20F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AA12E49-512A-37E4-EDD0-CE3D830CB85B}"/>
              </a:ext>
            </a:extLst>
          </p:cNvPr>
          <p:cNvSpPr>
            <a:spLocks noGrp="1"/>
          </p:cNvSpPr>
          <p:nvPr>
            <p:ph type="title"/>
          </p:nvPr>
        </p:nvSpPr>
        <p:spPr>
          <a:xfrm>
            <a:off x="214744" y="1"/>
            <a:ext cx="8929255" cy="491836"/>
          </a:xfrm>
          <a:solidFill>
            <a:schemeClr val="tx1"/>
          </a:solidFill>
        </p:spPr>
        <p:txBody>
          <a:bodyPr vert="horz" lIns="91440" tIns="45720" rIns="91440" bIns="45720" rtlCol="0" anchor="ctr">
            <a:normAutofit/>
          </a:bodyPr>
          <a:lstStyle/>
          <a:p>
            <a:r>
              <a:rPr lang="fr-CA" sz="2400" b="1" noProof="0">
                <a:solidFill>
                  <a:schemeClr val="bg1"/>
                </a:solidFill>
              </a:rPr>
              <a:t>Décisions projets prises</a:t>
            </a:r>
          </a:p>
        </p:txBody>
      </p:sp>
      <p:graphicFrame>
        <p:nvGraphicFramePr>
          <p:cNvPr id="5" name="Espace réservé du contenu 3">
            <a:extLst>
              <a:ext uri="{FF2B5EF4-FFF2-40B4-BE49-F238E27FC236}">
                <a16:creationId xmlns:a16="http://schemas.microsoft.com/office/drawing/2014/main" id="{AFDD324B-8885-9FDB-6925-6ED13FC0E37B}"/>
              </a:ext>
            </a:extLst>
          </p:cNvPr>
          <p:cNvGraphicFramePr>
            <a:graphicFrameLocks/>
          </p:cNvGraphicFramePr>
          <p:nvPr>
            <p:extLst>
              <p:ext uri="{D42A27DB-BD31-4B8C-83A1-F6EECF244321}">
                <p14:modId xmlns:p14="http://schemas.microsoft.com/office/powerpoint/2010/main" val="2473643066"/>
              </p:ext>
            </p:extLst>
          </p:nvPr>
        </p:nvGraphicFramePr>
        <p:xfrm>
          <a:off x="340963" y="557875"/>
          <a:ext cx="8467063" cy="4471326"/>
        </p:xfrm>
        <a:graphic>
          <a:graphicData uri="http://schemas.openxmlformats.org/drawingml/2006/table">
            <a:tbl>
              <a:tblPr firstRow="1" bandRow="1">
                <a:tableStyleId>{5C22544A-7EE6-4342-B048-85BDC9FD1C3A}</a:tableStyleId>
              </a:tblPr>
              <a:tblGrid>
                <a:gridCol w="3704095">
                  <a:extLst>
                    <a:ext uri="{9D8B030D-6E8A-4147-A177-3AD203B41FA5}">
                      <a16:colId xmlns:a16="http://schemas.microsoft.com/office/drawing/2014/main" val="876695907"/>
                    </a:ext>
                  </a:extLst>
                </a:gridCol>
                <a:gridCol w="4762968">
                  <a:extLst>
                    <a:ext uri="{9D8B030D-6E8A-4147-A177-3AD203B41FA5}">
                      <a16:colId xmlns:a16="http://schemas.microsoft.com/office/drawing/2014/main" val="3284901904"/>
                    </a:ext>
                  </a:extLst>
                </a:gridCol>
              </a:tblGrid>
              <a:tr h="431185">
                <a:tc>
                  <a:txBody>
                    <a:bodyPr/>
                    <a:lstStyle/>
                    <a:p>
                      <a:r>
                        <a:rPr lang="fr-CA" noProof="0"/>
                        <a:t>Décision - description</a:t>
                      </a:r>
                    </a:p>
                  </a:txBody>
                  <a:tcPr/>
                </a:tc>
                <a:tc>
                  <a:txBody>
                    <a:bodyPr/>
                    <a:lstStyle/>
                    <a:p>
                      <a:pPr algn="ctr"/>
                      <a:r>
                        <a:rPr lang="fr-CA" noProof="0"/>
                        <a:t>Décision prise par le CSP bancaire</a:t>
                      </a:r>
                    </a:p>
                  </a:txBody>
                  <a:tcPr/>
                </a:tc>
                <a:extLst>
                  <a:ext uri="{0D108BD9-81ED-4DB2-BD59-A6C34878D82A}">
                    <a16:rowId xmlns:a16="http://schemas.microsoft.com/office/drawing/2014/main" val="338486059"/>
                  </a:ext>
                </a:extLst>
              </a:tr>
              <a:tr h="531598">
                <a:tc>
                  <a:txBody>
                    <a:bodyPr/>
                    <a:lstStyle/>
                    <a:p>
                      <a:r>
                        <a:rPr lang="fr-CA" sz="1200" noProof="0"/>
                        <a:t>Traitement comptable des chèques périmés</a:t>
                      </a:r>
                    </a:p>
                  </a:txBody>
                  <a:tcPr/>
                </a:tc>
                <a:tc>
                  <a:txBody>
                    <a:bodyPr/>
                    <a:lstStyle/>
                    <a:p>
                      <a:r>
                        <a:rPr lang="fr-CA" sz="1200" noProof="0"/>
                        <a:t>100% des chèques périmés devront être renversé dans des comptes comptables désigné par le partenaire</a:t>
                      </a:r>
                    </a:p>
                  </a:txBody>
                  <a:tcPr/>
                </a:tc>
                <a:extLst>
                  <a:ext uri="{0D108BD9-81ED-4DB2-BD59-A6C34878D82A}">
                    <a16:rowId xmlns:a16="http://schemas.microsoft.com/office/drawing/2014/main" val="3618412485"/>
                  </a:ext>
                </a:extLst>
              </a:tr>
              <a:tr h="744236">
                <a:tc>
                  <a:txBody>
                    <a:bodyPr/>
                    <a:lstStyle/>
                    <a:p>
                      <a:r>
                        <a:rPr lang="fr-CA" sz="1200" noProof="0"/>
                        <a:t>Banques à connecter au module paiement</a:t>
                      </a:r>
                    </a:p>
                  </a:txBody>
                  <a:tcPr/>
                </a:tc>
                <a:tc>
                  <a:txBody>
                    <a:bodyPr/>
                    <a:lstStyle/>
                    <a:p>
                      <a:r>
                        <a:rPr lang="fr-CA" sz="1200" noProof="0"/>
                        <a:t>Les banques sélectionnées pour être connecté au module de paiement de Kyriba sont : </a:t>
                      </a: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1200" noProof="0"/>
                        <a:t>      RBC               BMO           CIBC</a:t>
                      </a:r>
                    </a:p>
                  </a:txBody>
                  <a:tcPr/>
                </a:tc>
                <a:extLst>
                  <a:ext uri="{0D108BD9-81ED-4DB2-BD59-A6C34878D82A}">
                    <a16:rowId xmlns:a16="http://schemas.microsoft.com/office/drawing/2014/main" val="262924435"/>
                  </a:ext>
                </a:extLst>
              </a:tr>
              <a:tr h="744236">
                <a:tc rowSpan="2">
                  <a:txBody>
                    <a:bodyPr/>
                    <a:lstStyle/>
                    <a:p>
                      <a:r>
                        <a:rPr lang="fr-CA" sz="1200" noProof="0"/>
                        <a:t>Banques à connecter au module BFA </a:t>
                      </a:r>
                    </a:p>
                    <a:p>
                      <a:r>
                        <a:rPr lang="en-CA" sz="1200" i="1" noProof="0"/>
                        <a:t>Bank fees Analysis</a:t>
                      </a:r>
                    </a:p>
                  </a:txBody>
                  <a:tcPr anchor="ctr"/>
                </a:tc>
                <a:tc>
                  <a:txBody>
                    <a:bodyPr/>
                    <a:lstStyle/>
                    <a:p>
                      <a:pPr>
                        <a:spcAft>
                          <a:spcPts val="600"/>
                        </a:spcAft>
                      </a:pPr>
                      <a:r>
                        <a:rPr lang="fr-CA" sz="1200" noProof="0"/>
                        <a:t>Les banques sélectionnées pour être connectées au module BFA de Kyriba</a:t>
                      </a:r>
                      <a:r>
                        <a:rPr lang="fr-CA" sz="1200" b="1" noProof="0"/>
                        <a:t> en priorité par Huron</a:t>
                      </a:r>
                      <a:r>
                        <a:rPr lang="fr-CA" sz="1200" noProof="0"/>
                        <a:t> sont : </a:t>
                      </a: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fr-CA" sz="1200" b="0" i="0" u="none" strike="noStrike" kern="1200" cap="none" spc="0" normalizeH="0" baseline="0" noProof="0">
                          <a:ln>
                            <a:noFill/>
                          </a:ln>
                          <a:solidFill>
                            <a:srgbClr val="003DA5"/>
                          </a:solidFill>
                          <a:effectLst/>
                          <a:uLnTx/>
                          <a:uFillTx/>
                          <a:latin typeface="+mn-lt"/>
                          <a:ea typeface="+mn-ea"/>
                          <a:cs typeface="+mn-cs"/>
                        </a:rPr>
                        <a:t>      RBC                </a:t>
                      </a:r>
                      <a:r>
                        <a:rPr kumimoji="0" lang="fr-CA" sz="1200" b="0" i="0" u="none" strike="noStrike" kern="1200" cap="none" spc="0" normalizeH="0" baseline="0" noProof="0" err="1">
                          <a:ln>
                            <a:noFill/>
                          </a:ln>
                          <a:solidFill>
                            <a:srgbClr val="003DA5"/>
                          </a:solidFill>
                          <a:effectLst/>
                          <a:uLnTx/>
                          <a:uFillTx/>
                          <a:latin typeface="+mn-lt"/>
                          <a:ea typeface="+mn-ea"/>
                          <a:cs typeface="+mn-cs"/>
                        </a:rPr>
                        <a:t>BoA</a:t>
                      </a:r>
                      <a:r>
                        <a:rPr kumimoji="0" lang="fr-CA" sz="1200" b="0" i="0" u="none" strike="noStrike" kern="1200" cap="none" spc="0" normalizeH="0" baseline="0" noProof="0">
                          <a:ln>
                            <a:noFill/>
                          </a:ln>
                          <a:solidFill>
                            <a:srgbClr val="003DA5"/>
                          </a:solidFill>
                          <a:effectLst/>
                          <a:uLnTx/>
                          <a:uFillTx/>
                          <a:latin typeface="+mn-lt"/>
                          <a:ea typeface="+mn-ea"/>
                          <a:cs typeface="+mn-cs"/>
                        </a:rPr>
                        <a:t>             BNC</a:t>
                      </a:r>
                    </a:p>
                  </a:txBody>
                  <a:tcPr/>
                </a:tc>
                <a:extLst>
                  <a:ext uri="{0D108BD9-81ED-4DB2-BD59-A6C34878D82A}">
                    <a16:rowId xmlns:a16="http://schemas.microsoft.com/office/drawing/2014/main" val="3590129655"/>
                  </a:ext>
                </a:extLst>
              </a:tr>
              <a:tr h="956875">
                <a:tc vMerge="1">
                  <a:txBody>
                    <a:bodyPr/>
                    <a:lstStyle/>
                    <a:p>
                      <a:endParaRPr lang="en-CA" sz="1200" i="1" noProof="0"/>
                    </a:p>
                  </a:txBody>
                  <a:tcPr/>
                </a:tc>
                <a:tc>
                  <a:txBody>
                    <a:bodyPr/>
                    <a:lstStyle/>
                    <a:p>
                      <a:pPr marL="0" marR="0" lvl="0" indent="0" algn="just"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fr-CA" sz="1200" noProof="0"/>
                        <a:t>Les banques sélectionnées pour être connectées au module BFA de Kyriba</a:t>
                      </a:r>
                      <a:r>
                        <a:rPr lang="fr-CA" sz="1200" b="1" noProof="0"/>
                        <a:t> dans un second temps par IA </a:t>
                      </a:r>
                      <a:r>
                        <a:rPr lang="fr-CA" sz="1200" noProof="0"/>
                        <a:t>sont : </a:t>
                      </a: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fr-CA" sz="1200" b="0" i="0" u="none" strike="noStrike" kern="1200" cap="none" spc="0" normalizeH="0" baseline="0" noProof="0">
                          <a:ln>
                            <a:noFill/>
                          </a:ln>
                          <a:solidFill>
                            <a:srgbClr val="003DA5"/>
                          </a:solidFill>
                          <a:effectLst/>
                          <a:uLnTx/>
                          <a:uFillTx/>
                          <a:latin typeface="+mn-lt"/>
                          <a:ea typeface="+mn-ea"/>
                          <a:cs typeface="+mn-cs"/>
                        </a:rPr>
                        <a:t>BMO,  Scotia,  CIBC,  TD,   Central National Bank,  First National Bank , </a:t>
                      </a: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fr-CA" sz="1200" b="0" i="0" u="none" strike="noStrike" kern="1200" cap="none" spc="0" normalizeH="0" baseline="0" noProof="0">
                          <a:ln>
                            <a:noFill/>
                          </a:ln>
                          <a:solidFill>
                            <a:srgbClr val="003DA5"/>
                          </a:solidFill>
                          <a:effectLst/>
                          <a:uLnTx/>
                          <a:uFillTx/>
                          <a:latin typeface="+mn-lt"/>
                          <a:ea typeface="+mn-ea"/>
                          <a:cs typeface="+mn-cs"/>
                        </a:rPr>
                        <a:t>    M&amp;T Bank,   US Bank  et Desjardins</a:t>
                      </a:r>
                    </a:p>
                  </a:txBody>
                  <a:tcPr/>
                </a:tc>
                <a:extLst>
                  <a:ext uri="{0D108BD9-81ED-4DB2-BD59-A6C34878D82A}">
                    <a16:rowId xmlns:a16="http://schemas.microsoft.com/office/drawing/2014/main" val="271215607"/>
                  </a:ext>
                </a:extLst>
              </a:tr>
              <a:tr h="531598">
                <a:tc>
                  <a:txBody>
                    <a:bodyPr/>
                    <a:lstStyle/>
                    <a:p>
                      <a:r>
                        <a:rPr kumimoji="0" lang="fr-FR" sz="1200" b="0" i="0" u="none" strike="noStrike" kern="1200" cap="none" spc="0" normalizeH="0" baseline="0" noProof="0">
                          <a:ln>
                            <a:noFill/>
                          </a:ln>
                          <a:solidFill>
                            <a:srgbClr val="003DA5"/>
                          </a:solidFill>
                          <a:effectLst/>
                          <a:uLnTx/>
                          <a:uFillTx/>
                          <a:latin typeface="+mn-lt"/>
                          <a:ea typeface="+mn-ea"/>
                          <a:cs typeface="+mn-cs"/>
                        </a:rPr>
                        <a:t>Maintien de l’option d’annulation des chèques</a:t>
                      </a:r>
                    </a:p>
                  </a:txBody>
                  <a:tcPr/>
                </a:tc>
                <a:tc>
                  <a:txBody>
                    <a:bodyPr/>
                    <a:lstStyle/>
                    <a:p>
                      <a:pPr marL="0" indent="0">
                        <a:buFont typeface="Arial" panose="020B0604020202020204" pitchFamily="34" charset="0"/>
                        <a:buNone/>
                      </a:pPr>
                      <a:r>
                        <a:rPr lang="fr-CA" sz="1200" noProof="0"/>
                        <a:t>Statut-Quo : Nous conservons les 2 modes d’annulations cela ne constitue aucun risque et peu générer des économies si correctement utilisés.</a:t>
                      </a:r>
                    </a:p>
                  </a:txBody>
                  <a:tcPr/>
                </a:tc>
                <a:extLst>
                  <a:ext uri="{0D108BD9-81ED-4DB2-BD59-A6C34878D82A}">
                    <a16:rowId xmlns:a16="http://schemas.microsoft.com/office/drawing/2014/main" val="1344296721"/>
                  </a:ext>
                </a:extLst>
              </a:tr>
              <a:tr h="531598">
                <a:tc>
                  <a:txBody>
                    <a:bodyPr/>
                    <a:lstStyle/>
                    <a:p>
                      <a:r>
                        <a:rPr kumimoji="0" lang="fr-CA" sz="1200" b="0" i="0" u="none" strike="noStrike" kern="1200" cap="none" spc="0" normalizeH="0" baseline="0" noProof="0">
                          <a:ln>
                            <a:noFill/>
                          </a:ln>
                          <a:solidFill>
                            <a:srgbClr val="003DA5"/>
                          </a:solidFill>
                          <a:effectLst/>
                          <a:uLnTx/>
                          <a:uFillTx/>
                          <a:latin typeface="+mn-lt"/>
                          <a:ea typeface="+mn-ea"/>
                          <a:cs typeface="+mn-cs"/>
                        </a:rPr>
                        <a:t>Intégration des partenaires non connectés à ERP Cloud au module de paiement Kyriba</a:t>
                      </a:r>
                      <a:endParaRPr lang="en-CA" sz="1200" i="1" noProof="0"/>
                    </a:p>
                  </a:txBody>
                  <a:tcPr/>
                </a:tc>
                <a:tc>
                  <a:txBody>
                    <a:bodyPr/>
                    <a:lstStyle/>
                    <a:p>
                      <a:pPr marL="0" indent="0">
                        <a:buFont typeface="Arial" panose="020B0604020202020204" pitchFamily="34" charset="0"/>
                        <a:buNone/>
                      </a:pPr>
                      <a:r>
                        <a:rPr lang="fr-CA" sz="1200" noProof="0"/>
                        <a:t>Statut-Quo : Pour la phase 2 les partenaires dont la comptabilité ne se fait pas dans ERP Cloud reste en dehors de la porté (Hors scope)</a:t>
                      </a:r>
                    </a:p>
                  </a:txBody>
                  <a:tcPr/>
                </a:tc>
                <a:extLst>
                  <a:ext uri="{0D108BD9-81ED-4DB2-BD59-A6C34878D82A}">
                    <a16:rowId xmlns:a16="http://schemas.microsoft.com/office/drawing/2014/main" val="1448800374"/>
                  </a:ext>
                </a:extLst>
              </a:tr>
            </a:tbl>
          </a:graphicData>
        </a:graphic>
      </p:graphicFrame>
    </p:spTree>
    <p:extLst>
      <p:ext uri="{BB962C8B-B14F-4D97-AF65-F5344CB8AC3E}">
        <p14:creationId xmlns:p14="http://schemas.microsoft.com/office/powerpoint/2010/main" val="10375649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60F7F-3450-6084-1284-6E332BD74F7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537CAF7-6391-0211-BD17-4186DD4324B4}"/>
              </a:ext>
            </a:extLst>
          </p:cNvPr>
          <p:cNvSpPr>
            <a:spLocks noGrp="1"/>
          </p:cNvSpPr>
          <p:nvPr>
            <p:ph type="title"/>
          </p:nvPr>
        </p:nvSpPr>
        <p:spPr>
          <a:xfrm>
            <a:off x="214744" y="1"/>
            <a:ext cx="8929255" cy="491836"/>
          </a:xfrm>
          <a:solidFill>
            <a:schemeClr val="tx1"/>
          </a:solidFill>
        </p:spPr>
        <p:txBody>
          <a:bodyPr vert="horz" lIns="91440" tIns="45720" rIns="91440" bIns="45720" rtlCol="0" anchor="ctr">
            <a:normAutofit/>
          </a:bodyPr>
          <a:lstStyle/>
          <a:p>
            <a:r>
              <a:rPr lang="fr-CA" sz="2400" b="1" noProof="0">
                <a:solidFill>
                  <a:schemeClr val="bg1"/>
                </a:solidFill>
              </a:rPr>
              <a:t>Décisions projets prises</a:t>
            </a:r>
          </a:p>
        </p:txBody>
      </p:sp>
      <p:graphicFrame>
        <p:nvGraphicFramePr>
          <p:cNvPr id="5" name="Espace réservé du contenu 3">
            <a:extLst>
              <a:ext uri="{FF2B5EF4-FFF2-40B4-BE49-F238E27FC236}">
                <a16:creationId xmlns:a16="http://schemas.microsoft.com/office/drawing/2014/main" id="{4211D8C0-0074-8C36-C8FE-41C3348E672E}"/>
              </a:ext>
            </a:extLst>
          </p:cNvPr>
          <p:cNvGraphicFramePr>
            <a:graphicFrameLocks/>
          </p:cNvGraphicFramePr>
          <p:nvPr>
            <p:extLst>
              <p:ext uri="{D42A27DB-BD31-4B8C-83A1-F6EECF244321}">
                <p14:modId xmlns:p14="http://schemas.microsoft.com/office/powerpoint/2010/main" val="761373399"/>
              </p:ext>
            </p:extLst>
          </p:nvPr>
        </p:nvGraphicFramePr>
        <p:xfrm>
          <a:off x="340963" y="557875"/>
          <a:ext cx="8467063" cy="1468120"/>
        </p:xfrm>
        <a:graphic>
          <a:graphicData uri="http://schemas.openxmlformats.org/drawingml/2006/table">
            <a:tbl>
              <a:tblPr firstRow="1" bandRow="1">
                <a:tableStyleId>{5C22544A-7EE6-4342-B048-85BDC9FD1C3A}</a:tableStyleId>
              </a:tblPr>
              <a:tblGrid>
                <a:gridCol w="3704095">
                  <a:extLst>
                    <a:ext uri="{9D8B030D-6E8A-4147-A177-3AD203B41FA5}">
                      <a16:colId xmlns:a16="http://schemas.microsoft.com/office/drawing/2014/main" val="876695907"/>
                    </a:ext>
                  </a:extLst>
                </a:gridCol>
                <a:gridCol w="4762968">
                  <a:extLst>
                    <a:ext uri="{9D8B030D-6E8A-4147-A177-3AD203B41FA5}">
                      <a16:colId xmlns:a16="http://schemas.microsoft.com/office/drawing/2014/main" val="3284901904"/>
                    </a:ext>
                  </a:extLst>
                </a:gridCol>
              </a:tblGrid>
              <a:tr h="370840">
                <a:tc>
                  <a:txBody>
                    <a:bodyPr/>
                    <a:lstStyle/>
                    <a:p>
                      <a:r>
                        <a:rPr lang="fr-CA" noProof="0"/>
                        <a:t>Décision - description</a:t>
                      </a:r>
                    </a:p>
                  </a:txBody>
                  <a:tcPr/>
                </a:tc>
                <a:tc>
                  <a:txBody>
                    <a:bodyPr/>
                    <a:lstStyle/>
                    <a:p>
                      <a:pPr algn="ctr"/>
                      <a:r>
                        <a:rPr lang="fr-CA" noProof="0"/>
                        <a:t>Décision prise par le CSP bancaire</a:t>
                      </a:r>
                    </a:p>
                  </a:txBody>
                  <a:tcPr/>
                </a:tc>
                <a:extLst>
                  <a:ext uri="{0D108BD9-81ED-4DB2-BD59-A6C34878D82A}">
                    <a16:rowId xmlns:a16="http://schemas.microsoft.com/office/drawing/2014/main" val="33848605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CA" sz="1200" b="0" i="0" u="none" strike="noStrike" kern="1200" cap="none" spc="0" normalizeH="0" baseline="0" noProof="0">
                          <a:ln>
                            <a:noFill/>
                          </a:ln>
                          <a:solidFill>
                            <a:srgbClr val="003DA5"/>
                          </a:solidFill>
                          <a:effectLst/>
                          <a:uLnTx/>
                          <a:uFillTx/>
                          <a:latin typeface="+mn-lt"/>
                          <a:ea typeface="+mn-ea"/>
                          <a:cs typeface="+mn-cs"/>
                        </a:rPr>
                        <a:t>Clarifier la façon dont doivent être gérer les chèques en circulation pondant les 6 mois après </a:t>
                      </a:r>
                      <a:r>
                        <a:rPr kumimoji="0" lang="fr-CA" sz="1200" b="0" i="0" u="none" strike="noStrike" kern="1200" cap="none" spc="0" normalizeH="0" baseline="0" noProof="0" err="1">
                          <a:ln>
                            <a:noFill/>
                          </a:ln>
                          <a:solidFill>
                            <a:srgbClr val="003DA5"/>
                          </a:solidFill>
                          <a:effectLst/>
                          <a:uLnTx/>
                          <a:uFillTx/>
                          <a:latin typeface="+mn-lt"/>
                          <a:ea typeface="+mn-ea"/>
                          <a:cs typeface="+mn-cs"/>
                        </a:rPr>
                        <a:t>GoLive</a:t>
                      </a:r>
                      <a:endParaRPr lang="en-CA" sz="1200" i="1" noProof="0"/>
                    </a:p>
                  </a:txBody>
                  <a:tcPr/>
                </a:tc>
                <a:tc>
                  <a:txBody>
                    <a:bodyPr/>
                    <a:lstStyle/>
                    <a:p>
                      <a:pPr marL="0" indent="0">
                        <a:buFont typeface="Arial" panose="020B0604020202020204" pitchFamily="34" charset="0"/>
                        <a:buNone/>
                      </a:pPr>
                      <a:r>
                        <a:rPr lang="fr-CA" sz="1200" noProof="0">
                          <a:highlight>
                            <a:srgbClr val="FFFF00"/>
                          </a:highlight>
                        </a:rPr>
                        <a:t>???</a:t>
                      </a:r>
                    </a:p>
                  </a:txBody>
                  <a:tcPr/>
                </a:tc>
                <a:extLst>
                  <a:ext uri="{0D108BD9-81ED-4DB2-BD59-A6C34878D82A}">
                    <a16:rowId xmlns:a16="http://schemas.microsoft.com/office/drawing/2014/main" val="2545133380"/>
                  </a:ext>
                </a:extLst>
              </a:tr>
              <a:tr h="31523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i="1" noProof="0"/>
                        <a:t>Livrer les chèques automatiques en Même temps que les chèques manuels </a:t>
                      </a:r>
                    </a:p>
                  </a:txBody>
                  <a:tcPr/>
                </a:tc>
                <a:tc>
                  <a:txBody>
                    <a:bodyPr/>
                    <a:lstStyle/>
                    <a:p>
                      <a:pPr marL="0" indent="0">
                        <a:buFont typeface="Arial" panose="020B0604020202020204" pitchFamily="34" charset="0"/>
                        <a:buNone/>
                      </a:pPr>
                      <a:r>
                        <a:rPr lang="fr-CA" sz="1200" noProof="0"/>
                        <a:t>Déplacer chèques automatisés avec R3  (chèques manuels + autres paiements manuels)</a:t>
                      </a:r>
                      <a:endParaRPr lang="fr-CA" sz="1200" noProof="0">
                        <a:highlight>
                          <a:srgbClr val="FFFF00"/>
                        </a:highlight>
                      </a:endParaRPr>
                    </a:p>
                    <a:p>
                      <a:pPr marL="0" indent="0">
                        <a:buFont typeface="Arial" panose="020B0604020202020204" pitchFamily="34" charset="0"/>
                        <a:buNone/>
                      </a:pPr>
                      <a:r>
                        <a:rPr lang="fr-CA" sz="1200">
                          <a:hlinkClick r:id="rId3"/>
                        </a:rPr>
                        <a:t>Stratégie de livraison des chèques.pptx</a:t>
                      </a:r>
                      <a:endParaRPr lang="fr-CA" sz="1200" noProof="0">
                        <a:highlight>
                          <a:srgbClr val="FFFF00"/>
                        </a:highlight>
                      </a:endParaRPr>
                    </a:p>
                  </a:txBody>
                  <a:tcPr/>
                </a:tc>
                <a:extLst>
                  <a:ext uri="{0D108BD9-81ED-4DB2-BD59-A6C34878D82A}">
                    <a16:rowId xmlns:a16="http://schemas.microsoft.com/office/drawing/2014/main" val="3060542993"/>
                  </a:ext>
                </a:extLst>
              </a:tr>
            </a:tbl>
          </a:graphicData>
        </a:graphic>
      </p:graphicFrame>
    </p:spTree>
    <p:extLst>
      <p:ext uri="{BB962C8B-B14F-4D97-AF65-F5344CB8AC3E}">
        <p14:creationId xmlns:p14="http://schemas.microsoft.com/office/powerpoint/2010/main" val="37232052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FE43C-820B-67F5-5C00-BD68FA5B487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0B3E45C-2B90-9159-4296-4C69E8D79129}"/>
              </a:ext>
            </a:extLst>
          </p:cNvPr>
          <p:cNvSpPr>
            <a:spLocks noGrp="1"/>
          </p:cNvSpPr>
          <p:nvPr>
            <p:ph type="title"/>
          </p:nvPr>
        </p:nvSpPr>
        <p:spPr>
          <a:xfrm>
            <a:off x="214744" y="1"/>
            <a:ext cx="8929255" cy="491836"/>
          </a:xfrm>
          <a:solidFill>
            <a:schemeClr val="tx1"/>
          </a:solidFill>
        </p:spPr>
        <p:txBody>
          <a:bodyPr vert="horz" lIns="91440" tIns="45720" rIns="91440" bIns="45720" rtlCol="0" anchor="ctr">
            <a:normAutofit/>
          </a:bodyPr>
          <a:lstStyle/>
          <a:p>
            <a:r>
              <a:rPr lang="fr-CA" sz="2400" b="1" noProof="0">
                <a:solidFill>
                  <a:schemeClr val="bg1"/>
                </a:solidFill>
              </a:rPr>
              <a:t>Positionnements à venir</a:t>
            </a:r>
          </a:p>
        </p:txBody>
      </p:sp>
      <p:graphicFrame>
        <p:nvGraphicFramePr>
          <p:cNvPr id="4" name="Espace réservé du contenu 3">
            <a:extLst>
              <a:ext uri="{FF2B5EF4-FFF2-40B4-BE49-F238E27FC236}">
                <a16:creationId xmlns:a16="http://schemas.microsoft.com/office/drawing/2014/main" id="{CDEA6E58-9505-D818-116C-D41ACC0BD7CC}"/>
              </a:ext>
            </a:extLst>
          </p:cNvPr>
          <p:cNvGraphicFramePr>
            <a:graphicFrameLocks noGrp="1"/>
          </p:cNvGraphicFramePr>
          <p:nvPr>
            <p:ph idx="1"/>
            <p:extLst>
              <p:ext uri="{D42A27DB-BD31-4B8C-83A1-F6EECF244321}">
                <p14:modId xmlns:p14="http://schemas.microsoft.com/office/powerpoint/2010/main" val="317437835"/>
              </p:ext>
            </p:extLst>
          </p:nvPr>
        </p:nvGraphicFramePr>
        <p:xfrm>
          <a:off x="435538" y="733945"/>
          <a:ext cx="8506984" cy="1442720"/>
        </p:xfrm>
        <a:graphic>
          <a:graphicData uri="http://schemas.openxmlformats.org/drawingml/2006/table">
            <a:tbl>
              <a:tblPr firstRow="1" bandRow="1">
                <a:tableStyleId>{5C22544A-7EE6-4342-B048-85BDC9FD1C3A}</a:tableStyleId>
              </a:tblPr>
              <a:tblGrid>
                <a:gridCol w="3948512">
                  <a:extLst>
                    <a:ext uri="{9D8B030D-6E8A-4147-A177-3AD203B41FA5}">
                      <a16:colId xmlns:a16="http://schemas.microsoft.com/office/drawing/2014/main" val="876695907"/>
                    </a:ext>
                  </a:extLst>
                </a:gridCol>
                <a:gridCol w="2289082">
                  <a:extLst>
                    <a:ext uri="{9D8B030D-6E8A-4147-A177-3AD203B41FA5}">
                      <a16:colId xmlns:a16="http://schemas.microsoft.com/office/drawing/2014/main" val="3284901904"/>
                    </a:ext>
                  </a:extLst>
                </a:gridCol>
                <a:gridCol w="2269390">
                  <a:extLst>
                    <a:ext uri="{9D8B030D-6E8A-4147-A177-3AD203B41FA5}">
                      <a16:colId xmlns:a16="http://schemas.microsoft.com/office/drawing/2014/main" val="2818072408"/>
                    </a:ext>
                  </a:extLst>
                </a:gridCol>
              </a:tblGrid>
              <a:tr h="370840">
                <a:tc>
                  <a:txBody>
                    <a:bodyPr/>
                    <a:lstStyle/>
                    <a:p>
                      <a:r>
                        <a:rPr lang="fr-CA" noProof="0"/>
                        <a:t>Positionnements - description</a:t>
                      </a:r>
                    </a:p>
                  </a:txBody>
                  <a:tcPr/>
                </a:tc>
                <a:tc>
                  <a:txBody>
                    <a:bodyPr/>
                    <a:lstStyle/>
                    <a:p>
                      <a:r>
                        <a:rPr lang="fr-CA" noProof="0"/>
                        <a:t>Timing estimé</a:t>
                      </a:r>
                    </a:p>
                  </a:txBody>
                  <a:tcPr/>
                </a:tc>
                <a:tc>
                  <a:txBody>
                    <a:bodyPr/>
                    <a:lstStyle/>
                    <a:p>
                      <a:r>
                        <a:rPr lang="fr-CA" noProof="0"/>
                        <a:t>Efforts requis</a:t>
                      </a:r>
                    </a:p>
                  </a:txBody>
                  <a:tcPr/>
                </a:tc>
                <a:extLst>
                  <a:ext uri="{0D108BD9-81ED-4DB2-BD59-A6C34878D82A}">
                    <a16:rowId xmlns:a16="http://schemas.microsoft.com/office/drawing/2014/main" val="338486059"/>
                  </a:ext>
                </a:extLst>
              </a:tr>
              <a:tr h="370840">
                <a:tc>
                  <a:txBody>
                    <a:bodyPr/>
                    <a:lstStyle/>
                    <a:p>
                      <a:r>
                        <a:rPr lang="fr-CA" sz="1400" noProof="0"/>
                        <a:t>Clarifier le périmètre du modèle opérationnel du CSP bancaire</a:t>
                      </a:r>
                    </a:p>
                  </a:txBody>
                  <a:tcPr/>
                </a:tc>
                <a:tc>
                  <a:txBody>
                    <a:bodyPr/>
                    <a:lstStyle/>
                    <a:p>
                      <a:r>
                        <a:rPr lang="fr-CA" sz="1600" noProof="0"/>
                        <a:t>Q1 2026</a:t>
                      </a:r>
                    </a:p>
                  </a:txBody>
                  <a:tcPr/>
                </a:tc>
                <a:tc>
                  <a:txBody>
                    <a:bodyPr/>
                    <a:lstStyle/>
                    <a:p>
                      <a:r>
                        <a:rPr lang="fr-CA" sz="1600" noProof="0"/>
                        <a:t>M</a:t>
                      </a:r>
                    </a:p>
                    <a:p>
                      <a:r>
                        <a:rPr lang="fr-CA" sz="1200" i="1" noProof="0"/>
                        <a:t>En collaboration avec le projet Finance+</a:t>
                      </a:r>
                      <a:endParaRPr lang="fr-CA" sz="1050" i="1" noProof="0"/>
                    </a:p>
                  </a:txBody>
                  <a:tcPr/>
                </a:tc>
                <a:extLst>
                  <a:ext uri="{0D108BD9-81ED-4DB2-BD59-A6C34878D82A}">
                    <a16:rowId xmlns:a16="http://schemas.microsoft.com/office/drawing/2014/main" val="3618412485"/>
                  </a:ext>
                </a:extLst>
              </a:tr>
              <a:tr h="370840">
                <a:tc>
                  <a:txBody>
                    <a:bodyPr/>
                    <a:lstStyle/>
                    <a:p>
                      <a:endParaRPr lang="fr-CA" sz="1400" noProof="0"/>
                    </a:p>
                  </a:txBody>
                  <a:tcPr/>
                </a:tc>
                <a:tc>
                  <a:txBody>
                    <a:bodyPr/>
                    <a:lstStyle/>
                    <a:p>
                      <a:endParaRPr lang="fr-CA" sz="1600" noProof="0"/>
                    </a:p>
                  </a:txBody>
                  <a:tcPr/>
                </a:tc>
                <a:tc>
                  <a:txBody>
                    <a:bodyPr/>
                    <a:lstStyle/>
                    <a:p>
                      <a:endParaRPr lang="fr-CA" sz="1050" i="1" noProof="0"/>
                    </a:p>
                  </a:txBody>
                  <a:tcPr/>
                </a:tc>
                <a:extLst>
                  <a:ext uri="{0D108BD9-81ED-4DB2-BD59-A6C34878D82A}">
                    <a16:rowId xmlns:a16="http://schemas.microsoft.com/office/drawing/2014/main" val="1068945166"/>
                  </a:ext>
                </a:extLst>
              </a:tr>
            </a:tbl>
          </a:graphicData>
        </a:graphic>
      </p:graphicFrame>
      <p:sp>
        <p:nvSpPr>
          <p:cNvPr id="3" name="ZoneTexte 2">
            <a:extLst>
              <a:ext uri="{FF2B5EF4-FFF2-40B4-BE49-F238E27FC236}">
                <a16:creationId xmlns:a16="http://schemas.microsoft.com/office/drawing/2014/main" id="{3CC837F5-C57A-D00B-3B0E-FB315C20858B}"/>
              </a:ext>
            </a:extLst>
          </p:cNvPr>
          <p:cNvSpPr txBox="1"/>
          <p:nvPr/>
        </p:nvSpPr>
        <p:spPr>
          <a:xfrm>
            <a:off x="435538" y="4532515"/>
            <a:ext cx="7877189" cy="307777"/>
          </a:xfrm>
          <a:prstGeom prst="rect">
            <a:avLst/>
          </a:prstGeom>
          <a:noFill/>
        </p:spPr>
        <p:txBody>
          <a:bodyPr wrap="square" rtlCol="0">
            <a:spAutoFit/>
          </a:bodyPr>
          <a:lstStyle/>
          <a:p>
            <a:pPr marL="0" marR="0" lvl="0" indent="0" algn="l" defTabSz="914286" rtl="0" eaLnBrk="1" fontAlgn="auto" latinLnBrk="0" hangingPunct="1">
              <a:lnSpc>
                <a:spcPct val="100000"/>
              </a:lnSpc>
              <a:spcBef>
                <a:spcPts val="0"/>
              </a:spcBef>
              <a:spcAft>
                <a:spcPts val="0"/>
              </a:spcAft>
              <a:buClrTx/>
              <a:buSzTx/>
              <a:buFontTx/>
              <a:buNone/>
              <a:tabLst/>
              <a:defRPr/>
            </a:pPr>
            <a:r>
              <a:rPr kumimoji="0" lang="fr-CA" sz="1400" b="0" i="1" u="none" strike="noStrike" kern="1200" cap="none" spc="0" normalizeH="0" baseline="0" noProof="0">
                <a:ln>
                  <a:noFill/>
                </a:ln>
                <a:solidFill>
                  <a:srgbClr val="003DA5"/>
                </a:solidFill>
                <a:effectLst/>
                <a:uLnTx/>
                <a:uFillTx/>
                <a:latin typeface="Calibri" panose="020F0502020204030204"/>
                <a:ea typeface="+mn-ea"/>
                <a:cs typeface="+mn-cs"/>
              </a:rPr>
              <a:t>Aucun positionnement n’impacte l’architecture détaillée</a:t>
            </a:r>
          </a:p>
        </p:txBody>
      </p:sp>
    </p:spTree>
    <p:extLst>
      <p:ext uri="{BB962C8B-B14F-4D97-AF65-F5344CB8AC3E}">
        <p14:creationId xmlns:p14="http://schemas.microsoft.com/office/powerpoint/2010/main" val="3775729816"/>
      </p:ext>
    </p:extLst>
  </p:cSld>
  <p:clrMapOvr>
    <a:masterClrMapping/>
  </p:clrMapOvr>
  <p:extLst>
    <p:ext uri="{6950BFC3-D8DA-4A85-94F7-54DA5524770B}">
      <p188:commentRel xmlns:p188="http://schemas.microsoft.com/office/powerpoint/2018/8/main" r:id="rId3"/>
    </p:ext>
  </p:extLs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AF4FC-69A0-0864-2352-45112AC48A5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032E06D-CA11-6C7E-BDD5-F77B0A561EB6}"/>
              </a:ext>
            </a:extLst>
          </p:cNvPr>
          <p:cNvSpPr>
            <a:spLocks noGrp="1"/>
          </p:cNvSpPr>
          <p:nvPr>
            <p:ph type="title"/>
          </p:nvPr>
        </p:nvSpPr>
        <p:spPr>
          <a:xfrm>
            <a:off x="214744" y="1"/>
            <a:ext cx="8929255" cy="491836"/>
          </a:xfrm>
          <a:solidFill>
            <a:schemeClr val="tx1"/>
          </a:solidFill>
        </p:spPr>
        <p:txBody>
          <a:bodyPr vert="horz" lIns="91440" tIns="45720" rIns="91440" bIns="45720" rtlCol="0" anchor="ctr">
            <a:normAutofit/>
          </a:bodyPr>
          <a:lstStyle/>
          <a:p>
            <a:r>
              <a:rPr lang="fr-CA" sz="2400" b="1" noProof="0">
                <a:solidFill>
                  <a:schemeClr val="bg1"/>
                </a:solidFill>
              </a:rPr>
              <a:t>Découpage de projet</a:t>
            </a:r>
          </a:p>
        </p:txBody>
      </p:sp>
      <p:graphicFrame>
        <p:nvGraphicFramePr>
          <p:cNvPr id="6" name="Diagramme 5">
            <a:extLst>
              <a:ext uri="{FF2B5EF4-FFF2-40B4-BE49-F238E27FC236}">
                <a16:creationId xmlns:a16="http://schemas.microsoft.com/office/drawing/2014/main" id="{587B9292-2B3D-BC9E-41AD-85480297AB9D}"/>
              </a:ext>
            </a:extLst>
          </p:cNvPr>
          <p:cNvGraphicFramePr/>
          <p:nvPr>
            <p:extLst>
              <p:ext uri="{D42A27DB-BD31-4B8C-83A1-F6EECF244321}">
                <p14:modId xmlns:p14="http://schemas.microsoft.com/office/powerpoint/2010/main" val="555550064"/>
              </p:ext>
            </p:extLst>
          </p:nvPr>
        </p:nvGraphicFramePr>
        <p:xfrm>
          <a:off x="981733" y="562996"/>
          <a:ext cx="7395275" cy="452044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7" name="ZoneTexte 6">
            <a:extLst>
              <a:ext uri="{FF2B5EF4-FFF2-40B4-BE49-F238E27FC236}">
                <a16:creationId xmlns:a16="http://schemas.microsoft.com/office/drawing/2014/main" id="{850FA4E4-DF72-ECDE-C05E-7CF2FBF377E2}"/>
              </a:ext>
            </a:extLst>
          </p:cNvPr>
          <p:cNvSpPr txBox="1"/>
          <p:nvPr/>
        </p:nvSpPr>
        <p:spPr>
          <a:xfrm>
            <a:off x="1836549" y="4714549"/>
            <a:ext cx="6927742" cy="430887"/>
          </a:xfrm>
          <a:prstGeom prst="rect">
            <a:avLst/>
          </a:prstGeom>
          <a:noFill/>
        </p:spPr>
        <p:txBody>
          <a:bodyPr wrap="square" rtlCol="0">
            <a:spAutoFit/>
          </a:bodyPr>
          <a:lstStyle/>
          <a:p>
            <a:r>
              <a:rPr lang="fr-CA" sz="1100" noProof="0"/>
              <a:t>* </a:t>
            </a:r>
            <a:r>
              <a:rPr lang="fr-CA" sz="1000" noProof="0"/>
              <a:t>Les chèques automatiques et manuels doivent être déployés en même temps pour pouvoir gérer convenablement la phase transitoire de purge des chèques en circulation (maximum 6 mois).</a:t>
            </a:r>
            <a:endParaRPr lang="fr-CA" noProof="0"/>
          </a:p>
        </p:txBody>
      </p:sp>
    </p:spTree>
    <p:extLst>
      <p:ext uri="{BB962C8B-B14F-4D97-AF65-F5344CB8AC3E}">
        <p14:creationId xmlns:p14="http://schemas.microsoft.com/office/powerpoint/2010/main" val="696883208"/>
      </p:ext>
    </p:extLst>
  </p:cSld>
  <p:clrMapOvr>
    <a:masterClrMapping/>
  </p:clrMapOvr>
  <p:extLst>
    <p:ext uri="{6950BFC3-D8DA-4A85-94F7-54DA5524770B}">
      <p188:commentRel xmlns:p188="http://schemas.microsoft.com/office/powerpoint/2018/8/main" r:id="rId3"/>
    </p:ext>
  </p:extLs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B1E9E-56C0-3CFF-F60F-E6BE91D483F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1C87276-4280-3501-D05C-48794A9D00D0}"/>
              </a:ext>
            </a:extLst>
          </p:cNvPr>
          <p:cNvSpPr>
            <a:spLocks noGrp="1"/>
          </p:cNvSpPr>
          <p:nvPr>
            <p:ph type="title"/>
          </p:nvPr>
        </p:nvSpPr>
        <p:spPr>
          <a:xfrm>
            <a:off x="214744" y="1"/>
            <a:ext cx="8929255" cy="491836"/>
          </a:xfrm>
          <a:solidFill>
            <a:schemeClr val="tx1"/>
          </a:solidFill>
        </p:spPr>
        <p:txBody>
          <a:bodyPr vert="horz" lIns="91440" tIns="45720" rIns="91440" bIns="45720" rtlCol="0" anchor="ctr">
            <a:normAutofit/>
          </a:bodyPr>
          <a:lstStyle/>
          <a:p>
            <a:r>
              <a:rPr lang="fr-CA" sz="2400" b="1" noProof="0">
                <a:solidFill>
                  <a:schemeClr val="bg1"/>
                </a:solidFill>
              </a:rPr>
              <a:t>Découpage de projet</a:t>
            </a:r>
          </a:p>
        </p:txBody>
      </p:sp>
      <p:sp>
        <p:nvSpPr>
          <p:cNvPr id="3" name="Rectangle : coins arrondis 2">
            <a:extLst>
              <a:ext uri="{FF2B5EF4-FFF2-40B4-BE49-F238E27FC236}">
                <a16:creationId xmlns:a16="http://schemas.microsoft.com/office/drawing/2014/main" id="{0F6B4B3C-1B6E-6ED3-B042-1B4D2B974C23}"/>
              </a:ext>
            </a:extLst>
          </p:cNvPr>
          <p:cNvSpPr/>
          <p:nvPr/>
        </p:nvSpPr>
        <p:spPr>
          <a:xfrm>
            <a:off x="340963" y="844658"/>
            <a:ext cx="8524068" cy="821410"/>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lIns="90000" rIns="2376000" rtlCol="0" anchor="ctr"/>
          <a:lstStyle/>
          <a:p>
            <a:pPr algn="ctr" defTabSz="852488"/>
            <a:r>
              <a:rPr lang="fr-CA" i="1" noProof="0">
                <a:solidFill>
                  <a:srgbClr val="262626"/>
                </a:solidFill>
              </a:rPr>
              <a:t>Object 1 : </a:t>
            </a:r>
            <a:r>
              <a:rPr lang="fr-CA" i="1" noProof="0">
                <a:solidFill>
                  <a:srgbClr val="262626"/>
                </a:solidFill>
                <a:ea typeface="Calibri"/>
                <a:cs typeface="Calibri"/>
              </a:rPr>
              <a:t>Implémentation de la nouvelle </a:t>
            </a:r>
          </a:p>
          <a:p>
            <a:pPr algn="ctr" defTabSz="852488"/>
            <a:r>
              <a:rPr lang="fr-CA" i="1" noProof="0">
                <a:solidFill>
                  <a:srgbClr val="262626"/>
                </a:solidFill>
                <a:ea typeface="Calibri"/>
                <a:cs typeface="Calibri"/>
              </a:rPr>
              <a:t>solution bancaire à la CFO</a:t>
            </a:r>
            <a:r>
              <a:rPr lang="fr-CA" i="1" noProof="0">
                <a:solidFill>
                  <a:srgbClr val="262626"/>
                </a:solidFill>
              </a:rPr>
              <a:t> </a:t>
            </a:r>
          </a:p>
        </p:txBody>
      </p:sp>
      <p:sp>
        <p:nvSpPr>
          <p:cNvPr id="4" name="Rectangle : coins arrondis 3">
            <a:extLst>
              <a:ext uri="{FF2B5EF4-FFF2-40B4-BE49-F238E27FC236}">
                <a16:creationId xmlns:a16="http://schemas.microsoft.com/office/drawing/2014/main" id="{9FB38560-B98C-BA90-AC0D-F3F71D744510}"/>
              </a:ext>
            </a:extLst>
          </p:cNvPr>
          <p:cNvSpPr/>
          <p:nvPr/>
        </p:nvSpPr>
        <p:spPr>
          <a:xfrm>
            <a:off x="340964" y="2161045"/>
            <a:ext cx="8524068" cy="821410"/>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Ins="2376000" rtlCol="0" anchor="ctr"/>
          <a:lstStyle/>
          <a:p>
            <a:pPr algn="ctr"/>
            <a:r>
              <a:rPr lang="fr-CA" i="1" noProof="0">
                <a:solidFill>
                  <a:srgbClr val="262626"/>
                </a:solidFill>
              </a:rPr>
              <a:t>Object 2 : Simplifier, automatiser et standardiser les processus d’affaires</a:t>
            </a:r>
          </a:p>
        </p:txBody>
      </p:sp>
      <p:sp>
        <p:nvSpPr>
          <p:cNvPr id="5" name="Rectangle : coins arrondis 4">
            <a:extLst>
              <a:ext uri="{FF2B5EF4-FFF2-40B4-BE49-F238E27FC236}">
                <a16:creationId xmlns:a16="http://schemas.microsoft.com/office/drawing/2014/main" id="{C5DA10E9-3644-58A9-18B0-2EE7B51BE434}"/>
              </a:ext>
            </a:extLst>
          </p:cNvPr>
          <p:cNvSpPr/>
          <p:nvPr/>
        </p:nvSpPr>
        <p:spPr>
          <a:xfrm>
            <a:off x="340963" y="3477432"/>
            <a:ext cx="8524068" cy="821410"/>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Ins="2376000" rtlCol="0" anchor="ctr"/>
          <a:lstStyle/>
          <a:p>
            <a:pPr algn="ctr"/>
            <a:r>
              <a:rPr lang="fr-CA" i="1" noProof="0">
                <a:solidFill>
                  <a:srgbClr val="262626"/>
                </a:solidFill>
              </a:rPr>
              <a:t>Object 3 : Définir et diffuser le modèle opérationnel du CSP bancaire</a:t>
            </a:r>
          </a:p>
        </p:txBody>
      </p:sp>
      <p:sp>
        <p:nvSpPr>
          <p:cNvPr id="8" name="Flèche : bas 7">
            <a:extLst>
              <a:ext uri="{FF2B5EF4-FFF2-40B4-BE49-F238E27FC236}">
                <a16:creationId xmlns:a16="http://schemas.microsoft.com/office/drawing/2014/main" id="{B7E21A1A-62EA-E080-9476-F6122F09F46E}"/>
              </a:ext>
            </a:extLst>
          </p:cNvPr>
          <p:cNvSpPr/>
          <p:nvPr/>
        </p:nvSpPr>
        <p:spPr>
          <a:xfrm>
            <a:off x="6040473" y="650929"/>
            <a:ext cx="767166" cy="1510116"/>
          </a:xfrm>
          <a:prstGeom prst="downArrow">
            <a:avLst/>
          </a:prstGeom>
        </p:spPr>
        <p:style>
          <a:lnRef idx="0">
            <a:schemeClr val="accent1"/>
          </a:lnRef>
          <a:fillRef idx="3">
            <a:schemeClr val="accent1"/>
          </a:fillRef>
          <a:effectRef idx="3">
            <a:schemeClr val="accent1"/>
          </a:effectRef>
          <a:fontRef idx="minor">
            <a:schemeClr val="lt1"/>
          </a:fontRef>
        </p:style>
        <p:txBody>
          <a:bodyPr vert="vert270" rtlCol="0" anchor="ctr"/>
          <a:lstStyle/>
          <a:p>
            <a:pPr algn="ctr"/>
            <a:r>
              <a:rPr lang="fr-CA" sz="1600" b="1" noProof="0"/>
              <a:t>R1</a:t>
            </a:r>
            <a:r>
              <a:rPr lang="fr-CA" sz="1600" noProof="0"/>
              <a:t> : BAM BFA</a:t>
            </a:r>
          </a:p>
        </p:txBody>
      </p:sp>
      <p:sp>
        <p:nvSpPr>
          <p:cNvPr id="11" name="Flèche : bas 10">
            <a:extLst>
              <a:ext uri="{FF2B5EF4-FFF2-40B4-BE49-F238E27FC236}">
                <a16:creationId xmlns:a16="http://schemas.microsoft.com/office/drawing/2014/main" id="{9FCB9D73-ED09-C6FE-1CAD-8DCD5EEC28C3}"/>
              </a:ext>
            </a:extLst>
          </p:cNvPr>
          <p:cNvSpPr/>
          <p:nvPr/>
        </p:nvSpPr>
        <p:spPr>
          <a:xfrm>
            <a:off x="7880888" y="565688"/>
            <a:ext cx="1263111" cy="4068305"/>
          </a:xfrm>
          <a:prstGeom prst="downArrow">
            <a:avLst/>
          </a:prstGeom>
        </p:spPr>
        <p:style>
          <a:lnRef idx="0">
            <a:schemeClr val="accent5"/>
          </a:lnRef>
          <a:fillRef idx="3">
            <a:schemeClr val="accent5"/>
          </a:fillRef>
          <a:effectRef idx="3">
            <a:schemeClr val="accent5"/>
          </a:effectRef>
          <a:fontRef idx="minor">
            <a:schemeClr val="lt1"/>
          </a:fontRef>
        </p:style>
        <p:txBody>
          <a:bodyPr vert="vert270" rtlCol="0" anchor="ctr"/>
          <a:lstStyle/>
          <a:p>
            <a:pPr algn="ctr"/>
            <a:r>
              <a:rPr lang="fr-CA" sz="1600" b="1" noProof="0"/>
              <a:t>R4</a:t>
            </a:r>
            <a:r>
              <a:rPr lang="fr-CA" sz="1600" noProof="0"/>
              <a:t> : Offre de service CSP</a:t>
            </a:r>
          </a:p>
          <a:p>
            <a:pPr algn="ctr"/>
            <a:r>
              <a:rPr lang="fr-CA" sz="1600" noProof="0"/>
              <a:t>+ Processus </a:t>
            </a:r>
            <a:r>
              <a:rPr lang="fr-CA" sz="1600" b="1" noProof="0"/>
              <a:t>R1, R2 et R3 </a:t>
            </a:r>
            <a:r>
              <a:rPr lang="fr-CA" sz="1600" noProof="0"/>
              <a:t>non utiles à Huron</a:t>
            </a:r>
          </a:p>
        </p:txBody>
      </p:sp>
      <p:sp>
        <p:nvSpPr>
          <p:cNvPr id="10" name="Flèche : bas 9">
            <a:extLst>
              <a:ext uri="{FF2B5EF4-FFF2-40B4-BE49-F238E27FC236}">
                <a16:creationId xmlns:a16="http://schemas.microsoft.com/office/drawing/2014/main" id="{EB76E3FA-2513-BF0A-9408-CF249C1D41F9}"/>
              </a:ext>
            </a:extLst>
          </p:cNvPr>
          <p:cNvSpPr/>
          <p:nvPr/>
        </p:nvSpPr>
        <p:spPr>
          <a:xfrm>
            <a:off x="7384951" y="650929"/>
            <a:ext cx="767166" cy="2758697"/>
          </a:xfrm>
          <a:prstGeom prst="downArrow">
            <a:avLst/>
          </a:prstGeom>
        </p:spPr>
        <p:style>
          <a:lnRef idx="0">
            <a:schemeClr val="accent4"/>
          </a:lnRef>
          <a:fillRef idx="3">
            <a:schemeClr val="accent4"/>
          </a:fillRef>
          <a:effectRef idx="3">
            <a:schemeClr val="accent4"/>
          </a:effectRef>
          <a:fontRef idx="minor">
            <a:schemeClr val="lt1"/>
          </a:fontRef>
        </p:style>
        <p:txBody>
          <a:bodyPr vert="vert270" rtlCol="0" anchor="ctr"/>
          <a:lstStyle/>
          <a:p>
            <a:pPr algn="ctr"/>
            <a:r>
              <a:rPr lang="fr-CA" sz="1600" b="1" noProof="0"/>
              <a:t>R3</a:t>
            </a:r>
            <a:r>
              <a:rPr lang="fr-CA" sz="1600" noProof="0"/>
              <a:t> : Paiement Manuelles</a:t>
            </a:r>
          </a:p>
        </p:txBody>
      </p:sp>
      <p:sp>
        <p:nvSpPr>
          <p:cNvPr id="9" name="Flèche : bas 8">
            <a:extLst>
              <a:ext uri="{FF2B5EF4-FFF2-40B4-BE49-F238E27FC236}">
                <a16:creationId xmlns:a16="http://schemas.microsoft.com/office/drawing/2014/main" id="{B52DE1CC-940D-9250-80EB-CF1AC877C02A}"/>
              </a:ext>
            </a:extLst>
          </p:cNvPr>
          <p:cNvSpPr/>
          <p:nvPr/>
        </p:nvSpPr>
        <p:spPr>
          <a:xfrm>
            <a:off x="6617785" y="650929"/>
            <a:ext cx="767166" cy="2758697"/>
          </a:xfrm>
          <a:prstGeom prst="downArrow">
            <a:avLst/>
          </a:prstGeom>
        </p:spPr>
        <p:style>
          <a:lnRef idx="0">
            <a:schemeClr val="accent2"/>
          </a:lnRef>
          <a:fillRef idx="3">
            <a:schemeClr val="accent2"/>
          </a:fillRef>
          <a:effectRef idx="3">
            <a:schemeClr val="accent2"/>
          </a:effectRef>
          <a:fontRef idx="minor">
            <a:schemeClr val="lt1"/>
          </a:fontRef>
        </p:style>
        <p:txBody>
          <a:bodyPr vert="vert270" rtlCol="0" anchor="ctr"/>
          <a:lstStyle/>
          <a:p>
            <a:pPr algn="ctr"/>
            <a:r>
              <a:rPr lang="fr-CA" sz="1600" b="1" noProof="0"/>
              <a:t>R2</a:t>
            </a:r>
            <a:r>
              <a:rPr lang="fr-CA" sz="1600" noProof="0"/>
              <a:t> : Paiements Automatiques</a:t>
            </a:r>
          </a:p>
        </p:txBody>
      </p:sp>
    </p:spTree>
    <p:extLst>
      <p:ext uri="{BB962C8B-B14F-4D97-AF65-F5344CB8AC3E}">
        <p14:creationId xmlns:p14="http://schemas.microsoft.com/office/powerpoint/2010/main" val="977546701"/>
      </p:ext>
    </p:extLst>
  </p:cSld>
  <p:clrMapOvr>
    <a:masterClrMapping/>
  </p:clrMapOvr>
  <p:extLst>
    <p:ext uri="{6950BFC3-D8DA-4A85-94F7-54DA5524770B}">
      <p188:commentRel xmlns:p188="http://schemas.microsoft.com/office/powerpoint/2018/8/main" r:id="rId3"/>
    </p:ext>
  </p:extLs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68486B8-90C7-1313-9162-9B53FE4AE866}"/>
              </a:ext>
            </a:extLst>
          </p:cNvPr>
          <p:cNvSpPr>
            <a:spLocks noGrp="1"/>
          </p:cNvSpPr>
          <p:nvPr>
            <p:ph type="title"/>
          </p:nvPr>
        </p:nvSpPr>
        <p:spPr>
          <a:xfrm>
            <a:off x="238990" y="8659"/>
            <a:ext cx="8905009" cy="401782"/>
          </a:xfrm>
          <a:solidFill>
            <a:schemeClr val="tx1"/>
          </a:solidFill>
        </p:spPr>
        <p:txBody>
          <a:bodyPr vert="horz" lIns="91440" tIns="45720" rIns="91440" bIns="45720" rtlCol="0" anchor="ctr">
            <a:normAutofit fontScale="90000"/>
          </a:bodyPr>
          <a:lstStyle/>
          <a:p>
            <a:r>
              <a:rPr lang="fr-CA" sz="2400" b="1" noProof="0">
                <a:solidFill>
                  <a:schemeClr val="bg1"/>
                </a:solidFill>
              </a:rPr>
              <a:t>Besoins d’affaires</a:t>
            </a:r>
          </a:p>
        </p:txBody>
      </p:sp>
      <p:sp>
        <p:nvSpPr>
          <p:cNvPr id="3" name="Espace réservé du contenu 2">
            <a:extLst>
              <a:ext uri="{FF2B5EF4-FFF2-40B4-BE49-F238E27FC236}">
                <a16:creationId xmlns:a16="http://schemas.microsoft.com/office/drawing/2014/main" id="{636B8524-4C84-82DA-8A9B-0C5FBE24D264}"/>
              </a:ext>
            </a:extLst>
          </p:cNvPr>
          <p:cNvSpPr>
            <a:spLocks noGrp="1"/>
          </p:cNvSpPr>
          <p:nvPr>
            <p:ph idx="1"/>
          </p:nvPr>
        </p:nvSpPr>
        <p:spPr>
          <a:xfrm>
            <a:off x="238990" y="519546"/>
            <a:ext cx="8458199" cy="4615295"/>
          </a:xfrm>
        </p:spPr>
        <p:txBody>
          <a:bodyPr>
            <a:normAutofit/>
          </a:bodyPr>
          <a:lstStyle/>
          <a:p>
            <a:pPr marL="457200" indent="-457200">
              <a:buFont typeface="+mj-lt"/>
              <a:buAutoNum type="arabicPeriod"/>
            </a:pPr>
            <a:endParaRPr lang="fr-CA" sz="1100" noProof="0"/>
          </a:p>
          <a:p>
            <a:pPr marL="457200" indent="-457200">
              <a:buFont typeface="+mj-lt"/>
              <a:buAutoNum type="arabicPeriod"/>
            </a:pPr>
            <a:endParaRPr lang="fr-CA" sz="1100" noProof="0"/>
          </a:p>
          <a:p>
            <a:pPr marL="457200" indent="-457200">
              <a:buFont typeface="+mj-lt"/>
              <a:buAutoNum type="arabicPeriod"/>
            </a:pPr>
            <a:endParaRPr lang="fr-CA" sz="1100" noProof="0"/>
          </a:p>
          <a:p>
            <a:pPr marL="457200" indent="-457200">
              <a:lnSpc>
                <a:spcPct val="100000"/>
              </a:lnSpc>
              <a:buFont typeface="+mj-lt"/>
              <a:buAutoNum type="arabicPeriod"/>
            </a:pPr>
            <a:endParaRPr lang="fr-CA" sz="1100" noProof="0"/>
          </a:p>
          <a:p>
            <a:pPr marL="457200" indent="-457200">
              <a:buFont typeface="+mj-lt"/>
              <a:buAutoNum type="arabicPeriod"/>
            </a:pPr>
            <a:endParaRPr lang="fr-CA" sz="1100" noProof="0"/>
          </a:p>
        </p:txBody>
      </p:sp>
      <p:graphicFrame>
        <p:nvGraphicFramePr>
          <p:cNvPr id="5" name="Espace réservé du contenu 3">
            <a:extLst>
              <a:ext uri="{FF2B5EF4-FFF2-40B4-BE49-F238E27FC236}">
                <a16:creationId xmlns:a16="http://schemas.microsoft.com/office/drawing/2014/main" id="{F44EE005-2522-C3E3-F09F-0ED69636B64E}"/>
              </a:ext>
            </a:extLst>
          </p:cNvPr>
          <p:cNvGraphicFramePr>
            <a:graphicFrameLocks/>
          </p:cNvGraphicFramePr>
          <p:nvPr>
            <p:extLst>
              <p:ext uri="{D42A27DB-BD31-4B8C-83A1-F6EECF244321}">
                <p14:modId xmlns:p14="http://schemas.microsoft.com/office/powerpoint/2010/main" val="3707103725"/>
              </p:ext>
            </p:extLst>
          </p:nvPr>
        </p:nvGraphicFramePr>
        <p:xfrm>
          <a:off x="313841" y="519546"/>
          <a:ext cx="8744918" cy="4290060"/>
        </p:xfrm>
        <a:graphic>
          <a:graphicData uri="http://schemas.openxmlformats.org/drawingml/2006/table">
            <a:tbl>
              <a:tblPr firstRow="1" bandRow="1">
                <a:tableStyleId>{5C22544A-7EE6-4342-B048-85BDC9FD1C3A}</a:tableStyleId>
              </a:tblPr>
              <a:tblGrid>
                <a:gridCol w="924830">
                  <a:extLst>
                    <a:ext uri="{9D8B030D-6E8A-4147-A177-3AD203B41FA5}">
                      <a16:colId xmlns:a16="http://schemas.microsoft.com/office/drawing/2014/main" val="876695907"/>
                    </a:ext>
                  </a:extLst>
                </a:gridCol>
                <a:gridCol w="577532">
                  <a:extLst>
                    <a:ext uri="{9D8B030D-6E8A-4147-A177-3AD203B41FA5}">
                      <a16:colId xmlns:a16="http://schemas.microsoft.com/office/drawing/2014/main" val="3547307920"/>
                    </a:ext>
                  </a:extLst>
                </a:gridCol>
                <a:gridCol w="7242556">
                  <a:extLst>
                    <a:ext uri="{9D8B030D-6E8A-4147-A177-3AD203B41FA5}">
                      <a16:colId xmlns:a16="http://schemas.microsoft.com/office/drawing/2014/main" val="3284901904"/>
                    </a:ext>
                  </a:extLst>
                </a:gridCol>
              </a:tblGrid>
              <a:tr h="154630">
                <a:tc>
                  <a:txBody>
                    <a:bodyPr/>
                    <a:lstStyle/>
                    <a:p>
                      <a:pPr algn="ctr"/>
                      <a:r>
                        <a:rPr lang="fr-CA" sz="1400" noProof="0"/>
                        <a:t>Release</a:t>
                      </a:r>
                    </a:p>
                  </a:txBody>
                  <a:tcPr anchor="ctr"/>
                </a:tc>
                <a:tc>
                  <a:txBody>
                    <a:bodyPr/>
                    <a:lstStyle/>
                    <a:p>
                      <a:pPr algn="ctr"/>
                      <a:r>
                        <a:rPr lang="fr-CA" sz="1050" noProof="0"/>
                        <a:t>Thème</a:t>
                      </a:r>
                    </a:p>
                  </a:txBody>
                  <a:tcPr anchor="ctr"/>
                </a:tc>
                <a:tc>
                  <a:txBody>
                    <a:bodyPr/>
                    <a:lstStyle/>
                    <a:p>
                      <a:pPr algn="ctr"/>
                      <a:r>
                        <a:rPr lang="fr-CA" sz="1400" noProof="0"/>
                        <a:t>Besoins d’affaires</a:t>
                      </a:r>
                    </a:p>
                  </a:txBody>
                  <a:tcPr anchor="ctr"/>
                </a:tc>
                <a:extLst>
                  <a:ext uri="{0D108BD9-81ED-4DB2-BD59-A6C34878D82A}">
                    <a16:rowId xmlns:a16="http://schemas.microsoft.com/office/drawing/2014/main" val="338486059"/>
                  </a:ext>
                </a:extLst>
              </a:tr>
              <a:tr h="2579573">
                <a:tc rowSpan="2">
                  <a:txBody>
                    <a:bodyPr/>
                    <a:lstStyle/>
                    <a:p>
                      <a:r>
                        <a:rPr lang="fr-CA" sz="1400" b="1" i="1" noProof="0"/>
                        <a:t>Release 1</a:t>
                      </a:r>
                    </a:p>
                  </a:txBody>
                  <a:tcPr anchor="ctr"/>
                </a:tc>
                <a:tc>
                  <a:txBody>
                    <a:bodyPr/>
                    <a:lstStyle/>
                    <a:p>
                      <a:r>
                        <a:rPr lang="fr-CA" sz="1100" b="1" i="1" noProof="0"/>
                        <a:t>BAM</a:t>
                      </a:r>
                    </a:p>
                  </a:txBody>
                  <a:tcPr anchor="ctr"/>
                </a:tc>
                <a:tc>
                  <a:txBody>
                    <a:bodyPr/>
                    <a:lstStyle/>
                    <a:p>
                      <a:pPr marL="228600" indent="-228600">
                        <a:spcAft>
                          <a:spcPts val="400"/>
                        </a:spcAft>
                        <a:buFont typeface="+mj-lt"/>
                        <a:buAutoNum type="arabicPeriod"/>
                      </a:pPr>
                      <a:r>
                        <a:rPr lang="fr-CA" sz="1200" noProof="0"/>
                        <a:t>Avoir une visibilité centralisée sur toutes les informations en liens avec les comptes bancaires.</a:t>
                      </a:r>
                    </a:p>
                    <a:p>
                      <a:pPr marL="228600" indent="-228600">
                        <a:spcAft>
                          <a:spcPts val="400"/>
                        </a:spcAft>
                        <a:buFont typeface="+mj-lt"/>
                        <a:buAutoNum type="arabicPeriod"/>
                      </a:pPr>
                      <a:r>
                        <a:rPr lang="fr-CA" sz="1200" noProof="0"/>
                        <a:t>Standardiser l'ouverture/fermeture/modification de comptes à fin d'optimiser les coûts liés aux comptes bancaires</a:t>
                      </a:r>
                    </a:p>
                    <a:p>
                      <a:pPr marL="271463" marR="0" lvl="0" indent="-271463" algn="l" defTabSz="914400" rtl="0" eaLnBrk="1" fontAlgn="auto" latinLnBrk="0" hangingPunct="1">
                        <a:lnSpc>
                          <a:spcPct val="100000"/>
                        </a:lnSpc>
                        <a:spcBef>
                          <a:spcPts val="0"/>
                        </a:spcBef>
                        <a:spcAft>
                          <a:spcPts val="500"/>
                        </a:spcAft>
                        <a:buClrTx/>
                        <a:buSzTx/>
                        <a:buFont typeface="+mj-lt"/>
                        <a:buAutoNum type="arabicPeriod"/>
                        <a:tabLst/>
                        <a:defRPr/>
                      </a:pPr>
                      <a:r>
                        <a:rPr lang="fr-CA" sz="1200" noProof="0"/>
                        <a:t>Avoir accès rapidement aux informations stratégiques, en liens avec les comptes bancaires, pour facilité la prise de    décision.</a:t>
                      </a:r>
                    </a:p>
                    <a:p>
                      <a:pPr marL="271463" marR="0" lvl="0" indent="-271463" algn="l" defTabSz="914400" rtl="0" eaLnBrk="1" fontAlgn="auto" latinLnBrk="0" hangingPunct="1">
                        <a:lnSpc>
                          <a:spcPct val="100000"/>
                        </a:lnSpc>
                        <a:spcBef>
                          <a:spcPts val="0"/>
                        </a:spcBef>
                        <a:spcAft>
                          <a:spcPts val="500"/>
                        </a:spcAft>
                        <a:buClrTx/>
                        <a:buSzTx/>
                        <a:buFont typeface="+mj-lt"/>
                        <a:buAutoNum type="arabicPeriod"/>
                        <a:tabLst/>
                        <a:defRPr/>
                      </a:pPr>
                      <a:r>
                        <a:rPr lang="fr-CA" sz="1200" noProof="0"/>
                        <a:t>Maintenir les résolutions bancaires rapidement et efficacement.</a:t>
                      </a:r>
                    </a:p>
                    <a:p>
                      <a:pPr marL="271463" marR="0" lvl="0" indent="-271463" algn="l" defTabSz="914400" rtl="0" eaLnBrk="1" fontAlgn="auto" latinLnBrk="0" hangingPunct="1">
                        <a:lnSpc>
                          <a:spcPct val="100000"/>
                        </a:lnSpc>
                        <a:spcBef>
                          <a:spcPts val="0"/>
                        </a:spcBef>
                        <a:spcAft>
                          <a:spcPts val="500"/>
                        </a:spcAft>
                        <a:buClrTx/>
                        <a:buSzTx/>
                        <a:buFont typeface="+mj-lt"/>
                        <a:buAutoNum type="arabicPeriod"/>
                        <a:tabLst/>
                        <a:defRPr/>
                      </a:pPr>
                      <a:r>
                        <a:rPr lang="fr-CA" sz="1200" noProof="0"/>
                        <a:t>Standardiser le processus d’ouverture, de modification et de fermeture de comptes afin d’optimiser les coûts.</a:t>
                      </a:r>
                    </a:p>
                    <a:p>
                      <a:pPr marL="228600" indent="-228600">
                        <a:spcAft>
                          <a:spcPts val="500"/>
                        </a:spcAft>
                        <a:buFont typeface="+mj-lt"/>
                        <a:buAutoNum type="arabicPeriod"/>
                      </a:pPr>
                      <a:r>
                        <a:rPr lang="fr-CA" sz="1200" noProof="0"/>
                        <a:t>Mettre en place une gestion stricte des signataires</a:t>
                      </a:r>
                    </a:p>
                    <a:p>
                      <a:pPr marL="228600" indent="-228600">
                        <a:spcAft>
                          <a:spcPts val="500"/>
                        </a:spcAft>
                        <a:buFont typeface="+mj-lt"/>
                        <a:buAutoNum type="arabicPeriod"/>
                      </a:pPr>
                      <a:r>
                        <a:rPr lang="fr-CA" sz="1200" noProof="0"/>
                        <a:t>Réduire le risque de fraude.</a:t>
                      </a:r>
                    </a:p>
                    <a:p>
                      <a:pPr marL="228600" indent="-228600">
                        <a:spcAft>
                          <a:spcPts val="500"/>
                        </a:spcAft>
                        <a:buFont typeface="+mj-lt"/>
                        <a:buAutoNum type="arabicPeriod"/>
                      </a:pPr>
                      <a:r>
                        <a:rPr lang="fr-CA" sz="1200" noProof="0"/>
                        <a:t>Appliquer correctement les directives relatives aux comptes bancaires</a:t>
                      </a:r>
                    </a:p>
                    <a:p>
                      <a:pPr marL="228600" indent="-228600">
                        <a:spcAft>
                          <a:spcPts val="500"/>
                        </a:spcAft>
                        <a:buFont typeface="+mj-lt"/>
                        <a:buAutoNum type="arabicPeriod"/>
                      </a:pPr>
                      <a:r>
                        <a:rPr lang="fr-CA" sz="1200" noProof="0"/>
                        <a:t>Pouvoir gérer les services liés aux comptes avec la banque</a:t>
                      </a:r>
                    </a:p>
                    <a:p>
                      <a:pPr marL="228600" indent="-228600">
                        <a:spcAft>
                          <a:spcPts val="500"/>
                        </a:spcAft>
                        <a:buFont typeface="+mj-lt"/>
                        <a:buAutoNum type="arabicPeriod"/>
                      </a:pPr>
                      <a:r>
                        <a:rPr lang="fr-CA" sz="1200" noProof="0"/>
                        <a:t>Être capable d'opérationnaliser l'architecture de compte de banques</a:t>
                      </a:r>
                    </a:p>
                  </a:txBody>
                  <a:tcPr/>
                </a:tc>
                <a:extLst>
                  <a:ext uri="{0D108BD9-81ED-4DB2-BD59-A6C34878D82A}">
                    <a16:rowId xmlns:a16="http://schemas.microsoft.com/office/drawing/2014/main" val="3618412485"/>
                  </a:ext>
                </a:extLst>
              </a:tr>
              <a:tr h="1117138">
                <a:tc vMerge="1">
                  <a:txBody>
                    <a:bodyPr/>
                    <a:lstStyle/>
                    <a:p>
                      <a:endParaRPr lang="fr-CA" sz="1100"/>
                    </a:p>
                  </a:txBody>
                  <a:tcPr/>
                </a:tc>
                <a:tc>
                  <a:txBody>
                    <a:bodyPr/>
                    <a:lstStyle/>
                    <a:p>
                      <a:r>
                        <a:rPr lang="fr-CA" sz="1100" b="1" i="1" noProof="0"/>
                        <a:t>BFA</a:t>
                      </a:r>
                    </a:p>
                  </a:txBody>
                  <a:tcPr anchor="ctr"/>
                </a:tc>
                <a:tc>
                  <a:txBody>
                    <a:bodyPr/>
                    <a:lstStyle/>
                    <a:p>
                      <a:pPr marL="314325" marR="0" lvl="0" indent="-228600" algn="l" defTabSz="914400" rtl="0" eaLnBrk="1" fontAlgn="t" latinLnBrk="0" hangingPunct="1">
                        <a:lnSpc>
                          <a:spcPct val="100000"/>
                        </a:lnSpc>
                        <a:spcBef>
                          <a:spcPts val="0"/>
                        </a:spcBef>
                        <a:spcAft>
                          <a:spcPts val="500"/>
                        </a:spcAft>
                        <a:buClrTx/>
                        <a:buSzTx/>
                        <a:buFont typeface="+mj-lt"/>
                        <a:buAutoNum type="arabicPeriod" startAt="11"/>
                        <a:tabLst/>
                        <a:defRPr/>
                      </a:pPr>
                      <a:r>
                        <a:rPr lang="fr-CA" sz="1200" noProof="0"/>
                        <a:t>Optimiser les coûts des comptes et services</a:t>
                      </a:r>
                    </a:p>
                    <a:p>
                      <a:pPr marL="314325" indent="-228600" algn="l" fontAlgn="t">
                        <a:spcAft>
                          <a:spcPts val="500"/>
                        </a:spcAft>
                        <a:buFont typeface="+mj-lt"/>
                        <a:buAutoNum type="arabicPeriod" startAt="11"/>
                      </a:pPr>
                      <a:r>
                        <a:rPr lang="fr-CA" sz="1200" kern="1200" noProof="0">
                          <a:solidFill>
                            <a:schemeClr val="dk1"/>
                          </a:solidFill>
                          <a:latin typeface="+mn-lt"/>
                          <a:ea typeface="+mn-ea"/>
                          <a:cs typeface="+mn-cs"/>
                        </a:rPr>
                        <a:t>Être capable de faire le suivi et l'application des ententes de frais bancaires avec les banques</a:t>
                      </a:r>
                    </a:p>
                    <a:p>
                      <a:pPr marL="314325" indent="-228600" algn="l" fontAlgn="t">
                        <a:spcAft>
                          <a:spcPts val="500"/>
                        </a:spcAft>
                        <a:buFont typeface="+mj-lt"/>
                        <a:buAutoNum type="arabicPeriod" startAt="11"/>
                      </a:pPr>
                      <a:r>
                        <a:rPr lang="fr-CA" sz="1200" kern="1200" noProof="0">
                          <a:solidFill>
                            <a:schemeClr val="dk1"/>
                          </a:solidFill>
                          <a:latin typeface="+mn-lt"/>
                          <a:ea typeface="+mn-ea"/>
                          <a:cs typeface="+mn-cs"/>
                        </a:rPr>
                        <a:t>Questionner l'utilisation de certains services pour lesquels ont se fait charger des frais</a:t>
                      </a:r>
                    </a:p>
                    <a:p>
                      <a:pPr marL="314325" indent="-228600" algn="l" fontAlgn="t">
                        <a:spcAft>
                          <a:spcPts val="500"/>
                        </a:spcAft>
                        <a:buFont typeface="+mj-lt"/>
                        <a:buAutoNum type="arabicPeriod" startAt="11"/>
                      </a:pPr>
                      <a:r>
                        <a:rPr lang="fr-CA" sz="1200" kern="1200" noProof="0">
                          <a:solidFill>
                            <a:schemeClr val="dk1"/>
                          </a:solidFill>
                          <a:latin typeface="+mn-lt"/>
                          <a:ea typeface="+mn-ea"/>
                          <a:cs typeface="+mn-cs"/>
                        </a:rPr>
                        <a:t>S'assurer que tous les partenaires bénéficient des ententes du groupe</a:t>
                      </a:r>
                    </a:p>
                    <a:p>
                      <a:pPr marL="85725" indent="0" algn="l" fontAlgn="t">
                        <a:buNone/>
                      </a:pPr>
                      <a:endParaRPr lang="fr-CA" sz="1100" kern="1200" noProof="0">
                        <a:solidFill>
                          <a:schemeClr val="dk1"/>
                        </a:solidFill>
                        <a:latin typeface="+mn-lt"/>
                        <a:ea typeface="+mn-ea"/>
                        <a:cs typeface="+mn-cs"/>
                      </a:endParaRPr>
                    </a:p>
                  </a:txBody>
                  <a:tcPr marL="0" marR="0" marT="0" marB="0"/>
                </a:tc>
                <a:extLst>
                  <a:ext uri="{0D108BD9-81ED-4DB2-BD59-A6C34878D82A}">
                    <a16:rowId xmlns:a16="http://schemas.microsoft.com/office/drawing/2014/main" val="4054300764"/>
                  </a:ext>
                </a:extLst>
              </a:tr>
            </a:tbl>
          </a:graphicData>
        </a:graphic>
      </p:graphicFrame>
    </p:spTree>
    <p:extLst>
      <p:ext uri="{BB962C8B-B14F-4D97-AF65-F5344CB8AC3E}">
        <p14:creationId xmlns:p14="http://schemas.microsoft.com/office/powerpoint/2010/main" val="37178191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B410B-F806-094C-B930-F500E1B0806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3E4A641-21F9-17CF-2CB4-66441465969A}"/>
              </a:ext>
            </a:extLst>
          </p:cNvPr>
          <p:cNvSpPr>
            <a:spLocks noGrp="1"/>
          </p:cNvSpPr>
          <p:nvPr>
            <p:ph type="title"/>
          </p:nvPr>
        </p:nvSpPr>
        <p:spPr>
          <a:xfrm>
            <a:off x="238990" y="8659"/>
            <a:ext cx="8905009" cy="401782"/>
          </a:xfrm>
          <a:solidFill>
            <a:schemeClr val="tx1"/>
          </a:solidFill>
        </p:spPr>
        <p:txBody>
          <a:bodyPr vert="horz" lIns="91440" tIns="45720" rIns="91440" bIns="45720" rtlCol="0" anchor="ctr">
            <a:normAutofit fontScale="90000"/>
          </a:bodyPr>
          <a:lstStyle/>
          <a:p>
            <a:r>
              <a:rPr lang="fr-CA" sz="2400" b="1" noProof="0">
                <a:solidFill>
                  <a:schemeClr val="bg1"/>
                </a:solidFill>
              </a:rPr>
              <a:t>Besoins d’affaires</a:t>
            </a:r>
          </a:p>
        </p:txBody>
      </p:sp>
      <p:sp>
        <p:nvSpPr>
          <p:cNvPr id="3" name="Espace réservé du contenu 2">
            <a:extLst>
              <a:ext uri="{FF2B5EF4-FFF2-40B4-BE49-F238E27FC236}">
                <a16:creationId xmlns:a16="http://schemas.microsoft.com/office/drawing/2014/main" id="{A3A9F9DE-4C44-7DDA-4F49-762EA83D113B}"/>
              </a:ext>
            </a:extLst>
          </p:cNvPr>
          <p:cNvSpPr>
            <a:spLocks noGrp="1"/>
          </p:cNvSpPr>
          <p:nvPr>
            <p:ph idx="1"/>
          </p:nvPr>
        </p:nvSpPr>
        <p:spPr>
          <a:xfrm>
            <a:off x="238990" y="519546"/>
            <a:ext cx="8458199" cy="4615295"/>
          </a:xfrm>
        </p:spPr>
        <p:txBody>
          <a:bodyPr>
            <a:normAutofit/>
          </a:bodyPr>
          <a:lstStyle/>
          <a:p>
            <a:pPr marL="457200" indent="-457200">
              <a:buFont typeface="+mj-lt"/>
              <a:buAutoNum type="arabicPeriod"/>
            </a:pPr>
            <a:endParaRPr lang="fr-CA" sz="1100" noProof="0"/>
          </a:p>
          <a:p>
            <a:pPr marL="457200" indent="-457200">
              <a:buFont typeface="+mj-lt"/>
              <a:buAutoNum type="arabicPeriod"/>
            </a:pPr>
            <a:endParaRPr lang="fr-CA" sz="1100" noProof="0"/>
          </a:p>
          <a:p>
            <a:pPr marL="457200" indent="-457200">
              <a:buFont typeface="+mj-lt"/>
              <a:buAutoNum type="arabicPeriod"/>
            </a:pPr>
            <a:endParaRPr lang="fr-CA" sz="1100" noProof="0"/>
          </a:p>
          <a:p>
            <a:pPr marL="457200" indent="-457200">
              <a:lnSpc>
                <a:spcPct val="100000"/>
              </a:lnSpc>
              <a:buFont typeface="+mj-lt"/>
              <a:buAutoNum type="arabicPeriod"/>
            </a:pPr>
            <a:endParaRPr lang="fr-CA" sz="1100" noProof="0"/>
          </a:p>
          <a:p>
            <a:pPr marL="457200" indent="-457200">
              <a:buFont typeface="+mj-lt"/>
              <a:buAutoNum type="arabicPeriod"/>
            </a:pPr>
            <a:endParaRPr lang="fr-CA" sz="1100" noProof="0"/>
          </a:p>
        </p:txBody>
      </p:sp>
      <p:graphicFrame>
        <p:nvGraphicFramePr>
          <p:cNvPr id="5" name="Espace réservé du contenu 3">
            <a:extLst>
              <a:ext uri="{FF2B5EF4-FFF2-40B4-BE49-F238E27FC236}">
                <a16:creationId xmlns:a16="http://schemas.microsoft.com/office/drawing/2014/main" id="{23A32E30-AEA6-0EEB-CF86-118AF7D2830E}"/>
              </a:ext>
            </a:extLst>
          </p:cNvPr>
          <p:cNvGraphicFramePr>
            <a:graphicFrameLocks/>
          </p:cNvGraphicFramePr>
          <p:nvPr>
            <p:extLst>
              <p:ext uri="{D42A27DB-BD31-4B8C-83A1-F6EECF244321}">
                <p14:modId xmlns:p14="http://schemas.microsoft.com/office/powerpoint/2010/main" val="3966634103"/>
              </p:ext>
            </p:extLst>
          </p:nvPr>
        </p:nvGraphicFramePr>
        <p:xfrm>
          <a:off x="313840" y="519546"/>
          <a:ext cx="8706175" cy="3566160"/>
        </p:xfrm>
        <a:graphic>
          <a:graphicData uri="http://schemas.openxmlformats.org/drawingml/2006/table">
            <a:tbl>
              <a:tblPr firstRow="1" bandRow="1">
                <a:tableStyleId>{5C22544A-7EE6-4342-B048-85BDC9FD1C3A}</a:tableStyleId>
              </a:tblPr>
              <a:tblGrid>
                <a:gridCol w="885564">
                  <a:extLst>
                    <a:ext uri="{9D8B030D-6E8A-4147-A177-3AD203B41FA5}">
                      <a16:colId xmlns:a16="http://schemas.microsoft.com/office/drawing/2014/main" val="876695907"/>
                    </a:ext>
                  </a:extLst>
                </a:gridCol>
                <a:gridCol w="1016854">
                  <a:extLst>
                    <a:ext uri="{9D8B030D-6E8A-4147-A177-3AD203B41FA5}">
                      <a16:colId xmlns:a16="http://schemas.microsoft.com/office/drawing/2014/main" val="45188345"/>
                    </a:ext>
                  </a:extLst>
                </a:gridCol>
                <a:gridCol w="6803757">
                  <a:extLst>
                    <a:ext uri="{9D8B030D-6E8A-4147-A177-3AD203B41FA5}">
                      <a16:colId xmlns:a16="http://schemas.microsoft.com/office/drawing/2014/main" val="3284901904"/>
                    </a:ext>
                  </a:extLst>
                </a:gridCol>
              </a:tblGrid>
              <a:tr h="259270">
                <a:tc>
                  <a:txBody>
                    <a:bodyPr/>
                    <a:lstStyle/>
                    <a:p>
                      <a:pPr algn="ctr"/>
                      <a:r>
                        <a:rPr lang="fr-CA" sz="1400" noProof="0"/>
                        <a:t>Release</a:t>
                      </a:r>
                    </a:p>
                  </a:txBody>
                  <a:tcPr anchor="ctr"/>
                </a:tc>
                <a:tc>
                  <a:txBody>
                    <a:bodyPr/>
                    <a:lstStyle/>
                    <a:p>
                      <a:pPr algn="ctr"/>
                      <a:r>
                        <a:rPr lang="fr-CA" sz="1400" noProof="0"/>
                        <a:t>Modes</a:t>
                      </a:r>
                    </a:p>
                  </a:txBody>
                  <a:tcPr anchor="ctr"/>
                </a:tc>
                <a:tc>
                  <a:txBody>
                    <a:bodyPr/>
                    <a:lstStyle/>
                    <a:p>
                      <a:pPr algn="ctr"/>
                      <a:r>
                        <a:rPr lang="fr-CA" sz="1400" noProof="0"/>
                        <a:t>Besoins d’affaires</a:t>
                      </a:r>
                    </a:p>
                  </a:txBody>
                  <a:tcPr anchor="ctr"/>
                </a:tc>
                <a:extLst>
                  <a:ext uri="{0D108BD9-81ED-4DB2-BD59-A6C34878D82A}">
                    <a16:rowId xmlns:a16="http://schemas.microsoft.com/office/drawing/2014/main" val="338486059"/>
                  </a:ext>
                </a:extLst>
              </a:tr>
              <a:tr h="3016174">
                <a:tc>
                  <a:txBody>
                    <a:bodyPr/>
                    <a:lstStyle/>
                    <a:p>
                      <a:r>
                        <a:rPr lang="fr-CA" sz="1400" b="1" i="1" noProof="0"/>
                        <a:t>Release 2</a:t>
                      </a:r>
                    </a:p>
                  </a:txBody>
                  <a:tcPr anchor="ctr"/>
                </a:tc>
                <a:tc>
                  <a:txBody>
                    <a:bodyPr/>
                    <a:lstStyle/>
                    <a:p>
                      <a:pPr algn="ctr"/>
                      <a:r>
                        <a:rPr lang="fr-CA" sz="1200" b="0" i="1" noProof="0"/>
                        <a:t>Paiements et perception</a:t>
                      </a:r>
                    </a:p>
                    <a:p>
                      <a:pPr algn="ctr"/>
                      <a:r>
                        <a:rPr lang="fr-CA" sz="1200" b="0" i="1" noProof="0"/>
                        <a:t>DD &amp;  DPA</a:t>
                      </a:r>
                    </a:p>
                  </a:txBody>
                  <a:tcPr anchor="ctr"/>
                </a:tc>
                <a:tc>
                  <a:txBody>
                    <a:bodyPr/>
                    <a:lstStyle/>
                    <a:p>
                      <a:pPr marL="228600" indent="-228600">
                        <a:spcAft>
                          <a:spcPts val="400"/>
                        </a:spcAft>
                        <a:buFont typeface="+mj-lt"/>
                        <a:buAutoNum type="arabicPeriod"/>
                      </a:pPr>
                      <a:r>
                        <a:rPr lang="fr-CA" sz="1200" noProof="0"/>
                        <a:t>Pouvoir traiter des transactions de façon automatisé et standardisé en CAD </a:t>
                      </a:r>
                    </a:p>
                    <a:p>
                      <a:pPr marL="228600" indent="-228600">
                        <a:spcAft>
                          <a:spcPts val="400"/>
                        </a:spcAft>
                        <a:buFont typeface="+mj-lt"/>
                        <a:buAutoNum type="arabicPeriod"/>
                      </a:pPr>
                      <a:r>
                        <a:rPr lang="fr-CA" sz="1200" noProof="0"/>
                        <a:t>Pouvoir traiter une transaction dans des délais établis (SLA)</a:t>
                      </a:r>
                    </a:p>
                    <a:p>
                      <a:pPr marL="228600" indent="-228600">
                        <a:spcAft>
                          <a:spcPts val="400"/>
                        </a:spcAft>
                        <a:buFont typeface="+mj-lt"/>
                        <a:buAutoNum type="arabicPeriod"/>
                      </a:pPr>
                      <a:r>
                        <a:rPr lang="fr-CA" sz="1200" noProof="0"/>
                        <a:t>Pouvoir appliquer des contrôles 360 de façon automatisée </a:t>
                      </a:r>
                    </a:p>
                    <a:p>
                      <a:pPr marL="228600" indent="-228600">
                        <a:spcAft>
                          <a:spcPts val="400"/>
                        </a:spcAft>
                        <a:buFont typeface="+mj-lt"/>
                        <a:buAutoNum type="arabicPeriod"/>
                      </a:pPr>
                      <a:r>
                        <a:rPr lang="fr-CA" sz="1200" noProof="0"/>
                        <a:t>Pouvoir m'assurer de l'exhaustivité et de la qualité de la donnée</a:t>
                      </a:r>
                    </a:p>
                    <a:p>
                      <a:pPr marL="228600" indent="-228600">
                        <a:spcAft>
                          <a:spcPts val="400"/>
                        </a:spcAft>
                        <a:buFont typeface="+mj-lt"/>
                        <a:buAutoNum type="arabicPeriod"/>
                      </a:pPr>
                      <a:r>
                        <a:rPr lang="fr-CA" sz="1200" noProof="0"/>
                        <a:t>Avoir la visibilité sur les transactions dont le montant  est au-dessus d'un certain seuil </a:t>
                      </a:r>
                    </a:p>
                    <a:p>
                      <a:pPr marL="228600" indent="-228600">
                        <a:spcAft>
                          <a:spcPts val="400"/>
                        </a:spcAft>
                        <a:buFont typeface="+mj-lt"/>
                        <a:buAutoNum type="arabicPeriod"/>
                      </a:pPr>
                      <a:r>
                        <a:rPr lang="fr-CA" sz="1200" noProof="0"/>
                        <a:t>Pouvoir mettre en suspens/relâcher des transactions ( avant transmission à la banque) </a:t>
                      </a:r>
                    </a:p>
                    <a:p>
                      <a:pPr marL="228600" indent="-228600">
                        <a:spcAft>
                          <a:spcPts val="400"/>
                        </a:spcAft>
                        <a:buFont typeface="+mj-lt"/>
                        <a:buAutoNum type="arabicPeriod"/>
                      </a:pPr>
                      <a:r>
                        <a:rPr lang="fr-CA" sz="1200" noProof="0"/>
                        <a:t>Pouvoir annuler ou arrêter une transaction avant ou après la transmission à la banque</a:t>
                      </a:r>
                    </a:p>
                    <a:p>
                      <a:pPr marL="228600" indent="-228600">
                        <a:spcAft>
                          <a:spcPts val="400"/>
                        </a:spcAft>
                        <a:buFont typeface="+mj-lt"/>
                        <a:buAutoNum type="arabicPeriod"/>
                      </a:pPr>
                      <a:r>
                        <a:rPr lang="fr-CA" sz="1200" noProof="0"/>
                        <a:t>Être informé des rejets d’une transaction</a:t>
                      </a:r>
                    </a:p>
                    <a:p>
                      <a:pPr marL="228600" indent="-228600">
                        <a:spcAft>
                          <a:spcPts val="400"/>
                        </a:spcAft>
                        <a:buFont typeface="+mj-lt"/>
                        <a:buAutoNum type="arabicPeriod"/>
                      </a:pPr>
                      <a:r>
                        <a:rPr lang="fr-CA" sz="1200" noProof="0"/>
                        <a:t>Pouvoir consulter le statut de la transaction</a:t>
                      </a:r>
                    </a:p>
                    <a:p>
                      <a:pPr marL="228600" indent="-228600">
                        <a:spcAft>
                          <a:spcPts val="400"/>
                        </a:spcAft>
                        <a:buFont typeface="+mj-lt"/>
                        <a:buAutoNum type="arabicPeriod"/>
                      </a:pPr>
                      <a:r>
                        <a:rPr lang="fr-CA" sz="1200" noProof="0"/>
                        <a:t>Pouvoir être alerté de potentiel fraude, blanchiment d'argent et autres actions malveillantes (</a:t>
                      </a:r>
                      <a:r>
                        <a:rPr lang="fr-CA" sz="1200" kern="1200">
                          <a:solidFill>
                            <a:schemeClr val="dk1"/>
                          </a:solidFill>
                          <a:latin typeface="+mn-lt"/>
                          <a:ea typeface="+mn-ea"/>
                          <a:cs typeface="+mn-cs"/>
                        </a:rPr>
                        <a:t>fréquence, seuil, redondance)</a:t>
                      </a:r>
                      <a:endParaRPr lang="fr-CA" sz="1200" kern="1200" noProof="0">
                        <a:solidFill>
                          <a:schemeClr val="dk1"/>
                        </a:solidFill>
                        <a:latin typeface="+mn-lt"/>
                        <a:ea typeface="+mn-ea"/>
                        <a:cs typeface="+mn-cs"/>
                      </a:endParaRPr>
                    </a:p>
                    <a:p>
                      <a:pPr marL="228600" indent="-228600">
                        <a:spcAft>
                          <a:spcPts val="400"/>
                        </a:spcAft>
                        <a:buFont typeface="+mj-lt"/>
                        <a:buAutoNum type="arabicPeriod"/>
                      </a:pPr>
                      <a:r>
                        <a:rPr lang="fr-CA" sz="1200" noProof="0"/>
                        <a:t>Pouvoir identifier chaque transaction unitairement</a:t>
                      </a:r>
                    </a:p>
                    <a:p>
                      <a:pPr marL="228600" indent="-228600">
                        <a:spcAft>
                          <a:spcPts val="400"/>
                        </a:spcAft>
                        <a:buFont typeface="+mj-lt"/>
                        <a:buAutoNum type="arabicPeriod"/>
                      </a:pPr>
                      <a:r>
                        <a:rPr lang="fr-CA" sz="1200" noProof="0"/>
                        <a:t>Pouvoir gérer le seuil minimal et maximal en dollar selon le mode de la transaction </a:t>
                      </a:r>
                    </a:p>
                    <a:p>
                      <a:pPr marL="228600" indent="-228600">
                        <a:spcAft>
                          <a:spcPts val="400"/>
                        </a:spcAft>
                        <a:buFont typeface="+mj-lt"/>
                        <a:buAutoNum type="arabicPeriod"/>
                      </a:pPr>
                      <a:r>
                        <a:rPr lang="fr-CA" sz="1200" noProof="0"/>
                        <a:t>Pouvoir tracer toutes les transactions durant tout leur cycle de vie</a:t>
                      </a:r>
                    </a:p>
                  </a:txBody>
                  <a:tcPr/>
                </a:tc>
                <a:extLst>
                  <a:ext uri="{0D108BD9-81ED-4DB2-BD59-A6C34878D82A}">
                    <a16:rowId xmlns:a16="http://schemas.microsoft.com/office/drawing/2014/main" val="3618412485"/>
                  </a:ext>
                </a:extLst>
              </a:tr>
            </a:tbl>
          </a:graphicData>
        </a:graphic>
      </p:graphicFrame>
    </p:spTree>
    <p:extLst>
      <p:ext uri="{BB962C8B-B14F-4D97-AF65-F5344CB8AC3E}">
        <p14:creationId xmlns:p14="http://schemas.microsoft.com/office/powerpoint/2010/main" val="1498941877"/>
      </p:ext>
    </p:extLst>
  </p:cSld>
  <p:clrMapOvr>
    <a:masterClrMapping/>
  </p:clrMapOvr>
  <p:extLst>
    <p:ext uri="{6950BFC3-D8DA-4A85-94F7-54DA5524770B}">
      <p188:commentRel xmlns:p188="http://schemas.microsoft.com/office/powerpoint/2018/8/main" r:id="rId3"/>
    </p:ext>
  </p:extLs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361D0-28DB-65D9-49BC-667B1DE07D6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69CC5C6-000D-FC95-2702-5DBAC0B88ECE}"/>
              </a:ext>
            </a:extLst>
          </p:cNvPr>
          <p:cNvSpPr>
            <a:spLocks noGrp="1"/>
          </p:cNvSpPr>
          <p:nvPr>
            <p:ph type="title"/>
          </p:nvPr>
        </p:nvSpPr>
        <p:spPr>
          <a:xfrm>
            <a:off x="238990" y="8659"/>
            <a:ext cx="8905009" cy="401782"/>
          </a:xfrm>
          <a:solidFill>
            <a:schemeClr val="tx1"/>
          </a:solidFill>
        </p:spPr>
        <p:txBody>
          <a:bodyPr vert="horz" lIns="91440" tIns="45720" rIns="91440" bIns="45720" rtlCol="0" anchor="ctr">
            <a:normAutofit fontScale="90000"/>
          </a:bodyPr>
          <a:lstStyle/>
          <a:p>
            <a:r>
              <a:rPr lang="fr-CA" sz="2400" b="1" noProof="0">
                <a:solidFill>
                  <a:schemeClr val="bg1"/>
                </a:solidFill>
              </a:rPr>
              <a:t>Besoins d’affaires</a:t>
            </a:r>
          </a:p>
        </p:txBody>
      </p:sp>
      <p:sp>
        <p:nvSpPr>
          <p:cNvPr id="3" name="Espace réservé du contenu 2">
            <a:extLst>
              <a:ext uri="{FF2B5EF4-FFF2-40B4-BE49-F238E27FC236}">
                <a16:creationId xmlns:a16="http://schemas.microsoft.com/office/drawing/2014/main" id="{418264F2-360B-49DD-0C42-90C0B12D88E1}"/>
              </a:ext>
            </a:extLst>
          </p:cNvPr>
          <p:cNvSpPr>
            <a:spLocks noGrp="1"/>
          </p:cNvSpPr>
          <p:nvPr>
            <p:ph idx="1"/>
          </p:nvPr>
        </p:nvSpPr>
        <p:spPr>
          <a:xfrm>
            <a:off x="238990" y="519546"/>
            <a:ext cx="8458199" cy="4615295"/>
          </a:xfrm>
        </p:spPr>
        <p:txBody>
          <a:bodyPr>
            <a:normAutofit/>
          </a:bodyPr>
          <a:lstStyle/>
          <a:p>
            <a:pPr marL="457200" indent="-457200">
              <a:buFont typeface="+mj-lt"/>
              <a:buAutoNum type="arabicPeriod"/>
            </a:pPr>
            <a:endParaRPr lang="fr-CA" sz="1100" noProof="0"/>
          </a:p>
          <a:p>
            <a:pPr marL="457200" indent="-457200">
              <a:buFont typeface="+mj-lt"/>
              <a:buAutoNum type="arabicPeriod"/>
            </a:pPr>
            <a:endParaRPr lang="fr-CA" sz="1100" noProof="0"/>
          </a:p>
          <a:p>
            <a:pPr marL="457200" indent="-457200">
              <a:buFont typeface="+mj-lt"/>
              <a:buAutoNum type="arabicPeriod"/>
            </a:pPr>
            <a:endParaRPr lang="fr-CA" sz="1100" noProof="0"/>
          </a:p>
          <a:p>
            <a:pPr marL="457200" indent="-457200">
              <a:lnSpc>
                <a:spcPct val="100000"/>
              </a:lnSpc>
              <a:buFont typeface="+mj-lt"/>
              <a:buAutoNum type="arabicPeriod"/>
            </a:pPr>
            <a:endParaRPr lang="fr-CA" sz="1100" noProof="0"/>
          </a:p>
          <a:p>
            <a:pPr marL="457200" indent="-457200">
              <a:buFont typeface="+mj-lt"/>
              <a:buAutoNum type="arabicPeriod"/>
            </a:pPr>
            <a:endParaRPr lang="fr-CA" sz="1100" noProof="0"/>
          </a:p>
        </p:txBody>
      </p:sp>
      <p:graphicFrame>
        <p:nvGraphicFramePr>
          <p:cNvPr id="5" name="Espace réservé du contenu 3">
            <a:extLst>
              <a:ext uri="{FF2B5EF4-FFF2-40B4-BE49-F238E27FC236}">
                <a16:creationId xmlns:a16="http://schemas.microsoft.com/office/drawing/2014/main" id="{DF328D30-4672-4FE2-2E36-89A1A35FC027}"/>
              </a:ext>
            </a:extLst>
          </p:cNvPr>
          <p:cNvGraphicFramePr>
            <a:graphicFrameLocks/>
          </p:cNvGraphicFramePr>
          <p:nvPr>
            <p:extLst>
              <p:ext uri="{D42A27DB-BD31-4B8C-83A1-F6EECF244321}">
                <p14:modId xmlns:p14="http://schemas.microsoft.com/office/powerpoint/2010/main" val="2319513663"/>
              </p:ext>
            </p:extLst>
          </p:nvPr>
        </p:nvGraphicFramePr>
        <p:xfrm>
          <a:off x="313840" y="519546"/>
          <a:ext cx="8706175" cy="4276293"/>
        </p:xfrm>
        <a:graphic>
          <a:graphicData uri="http://schemas.openxmlformats.org/drawingml/2006/table">
            <a:tbl>
              <a:tblPr firstRow="1" bandRow="1">
                <a:tableStyleId>{5C22544A-7EE6-4342-B048-85BDC9FD1C3A}</a:tableStyleId>
              </a:tblPr>
              <a:tblGrid>
                <a:gridCol w="885564">
                  <a:extLst>
                    <a:ext uri="{9D8B030D-6E8A-4147-A177-3AD203B41FA5}">
                      <a16:colId xmlns:a16="http://schemas.microsoft.com/office/drawing/2014/main" val="876695907"/>
                    </a:ext>
                  </a:extLst>
                </a:gridCol>
                <a:gridCol w="1016854">
                  <a:extLst>
                    <a:ext uri="{9D8B030D-6E8A-4147-A177-3AD203B41FA5}">
                      <a16:colId xmlns:a16="http://schemas.microsoft.com/office/drawing/2014/main" val="45188345"/>
                    </a:ext>
                  </a:extLst>
                </a:gridCol>
                <a:gridCol w="6803757">
                  <a:extLst>
                    <a:ext uri="{9D8B030D-6E8A-4147-A177-3AD203B41FA5}">
                      <a16:colId xmlns:a16="http://schemas.microsoft.com/office/drawing/2014/main" val="3284901904"/>
                    </a:ext>
                  </a:extLst>
                </a:gridCol>
              </a:tblGrid>
              <a:tr h="154630">
                <a:tc>
                  <a:txBody>
                    <a:bodyPr/>
                    <a:lstStyle/>
                    <a:p>
                      <a:pPr algn="ctr"/>
                      <a:r>
                        <a:rPr lang="fr-CA" sz="1400" noProof="0"/>
                        <a:t>Release</a:t>
                      </a:r>
                    </a:p>
                  </a:txBody>
                  <a:tcPr anchor="ctr"/>
                </a:tc>
                <a:tc>
                  <a:txBody>
                    <a:bodyPr/>
                    <a:lstStyle/>
                    <a:p>
                      <a:pPr algn="ctr"/>
                      <a:r>
                        <a:rPr lang="fr-CA" sz="1400" noProof="0"/>
                        <a:t>Thème</a:t>
                      </a:r>
                    </a:p>
                  </a:txBody>
                  <a:tcPr anchor="ctr"/>
                </a:tc>
                <a:tc>
                  <a:txBody>
                    <a:bodyPr/>
                    <a:lstStyle/>
                    <a:p>
                      <a:pPr algn="ctr"/>
                      <a:r>
                        <a:rPr lang="fr-CA" sz="1400" noProof="0"/>
                        <a:t>Besoins d’affaires</a:t>
                      </a:r>
                    </a:p>
                  </a:txBody>
                  <a:tcPr anchor="ctr"/>
                </a:tc>
                <a:extLst>
                  <a:ext uri="{0D108BD9-81ED-4DB2-BD59-A6C34878D82A}">
                    <a16:rowId xmlns:a16="http://schemas.microsoft.com/office/drawing/2014/main" val="338486059"/>
                  </a:ext>
                </a:extLst>
              </a:tr>
              <a:tr h="322529">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400" b="1" i="1" noProof="0"/>
                        <a:t>Release 2</a:t>
                      </a:r>
                    </a:p>
                  </a:txBody>
                  <a:tcPr anchor="ctr"/>
                </a:tc>
                <a:tc>
                  <a:txBody>
                    <a:bodyPr/>
                    <a:lstStyle/>
                    <a:p>
                      <a:pPr algn="ctr"/>
                      <a:r>
                        <a:rPr lang="fr-CA" sz="900" b="0" i="1" noProof="0"/>
                        <a:t>Comptabilisation</a:t>
                      </a:r>
                    </a:p>
                  </a:txBody>
                  <a:tcPr anchor="ctr"/>
                </a:tc>
                <a:tc>
                  <a:txBody>
                    <a:bodyPr/>
                    <a:lstStyle/>
                    <a:p>
                      <a:pPr marL="228600" indent="-228600">
                        <a:spcAft>
                          <a:spcPts val="400"/>
                        </a:spcAft>
                        <a:buFont typeface="+mj-lt"/>
                        <a:buAutoNum type="arabicPeriod" startAt="14"/>
                      </a:pPr>
                      <a:r>
                        <a:rPr lang="fr-CA" sz="1200" noProof="0"/>
                        <a:t>Pouvoir comptabiliser automatiquement toutes les transactions émises</a:t>
                      </a:r>
                    </a:p>
                    <a:p>
                      <a:pPr marL="228600" marR="0" lvl="0" indent="-228600" algn="l" defTabSz="914400" rtl="0" eaLnBrk="1" fontAlgn="auto" latinLnBrk="0" hangingPunct="1">
                        <a:lnSpc>
                          <a:spcPct val="100000"/>
                        </a:lnSpc>
                        <a:spcBef>
                          <a:spcPts val="0"/>
                        </a:spcBef>
                        <a:spcAft>
                          <a:spcPts val="400"/>
                        </a:spcAft>
                        <a:buClrTx/>
                        <a:buSzTx/>
                        <a:buFont typeface="+mj-lt"/>
                        <a:buAutoNum type="arabicPeriod" startAt="14"/>
                        <a:tabLst/>
                        <a:defRPr/>
                      </a:pPr>
                      <a:r>
                        <a:rPr lang="fr-CA" sz="1200" noProof="0"/>
                        <a:t>Être en mesure de générer la comptabilité sur plus d’une ligne </a:t>
                      </a:r>
                      <a:r>
                        <a:rPr lang="fr-CA" sz="1000" noProof="0"/>
                        <a:t>(Attribution dans plus d’un compte comptable)</a:t>
                      </a:r>
                    </a:p>
                    <a:p>
                      <a:pPr marL="228600" marR="0" lvl="0" indent="-228600" algn="l" defTabSz="914400" rtl="0" eaLnBrk="1" fontAlgn="auto" latinLnBrk="0" hangingPunct="1">
                        <a:lnSpc>
                          <a:spcPct val="100000"/>
                        </a:lnSpc>
                        <a:spcBef>
                          <a:spcPts val="0"/>
                        </a:spcBef>
                        <a:spcAft>
                          <a:spcPts val="400"/>
                        </a:spcAft>
                        <a:buClrTx/>
                        <a:buSzTx/>
                        <a:buFont typeface="+mj-lt"/>
                        <a:buAutoNum type="arabicPeriod" startAt="14"/>
                        <a:tabLst/>
                        <a:defRPr/>
                      </a:pPr>
                      <a:r>
                        <a:rPr lang="fr-CA" sz="1200" noProof="0"/>
                        <a:t>Conserver et transmettre l'information comptable fournie par la banque</a:t>
                      </a:r>
                    </a:p>
                    <a:p>
                      <a:pPr marL="228600" marR="0" lvl="0" indent="-228600" algn="l" defTabSz="914400" rtl="0" eaLnBrk="1" fontAlgn="auto" latinLnBrk="0" hangingPunct="1">
                        <a:lnSpc>
                          <a:spcPct val="100000"/>
                        </a:lnSpc>
                        <a:spcBef>
                          <a:spcPts val="0"/>
                        </a:spcBef>
                        <a:spcAft>
                          <a:spcPts val="400"/>
                        </a:spcAft>
                        <a:buClrTx/>
                        <a:buSzTx/>
                        <a:buFont typeface="+mj-lt"/>
                        <a:buAutoNum type="arabicPeriod" startAt="14"/>
                        <a:tabLst/>
                        <a:defRPr/>
                      </a:pPr>
                      <a:r>
                        <a:rPr lang="fr-CA" sz="1200" noProof="0"/>
                        <a:t>S'assurer que la comptabilité soit émise vers Oracle dès qu'un chèque est émis</a:t>
                      </a:r>
                    </a:p>
                    <a:p>
                      <a:pPr marL="228600" marR="0" lvl="0" indent="-228600" algn="l" defTabSz="914400" rtl="0" eaLnBrk="1" fontAlgn="auto" latinLnBrk="0" hangingPunct="1">
                        <a:lnSpc>
                          <a:spcPct val="100000"/>
                        </a:lnSpc>
                        <a:spcBef>
                          <a:spcPts val="0"/>
                        </a:spcBef>
                        <a:spcAft>
                          <a:spcPts val="400"/>
                        </a:spcAft>
                        <a:buClrTx/>
                        <a:buSzTx/>
                        <a:buFont typeface="+mj-lt"/>
                        <a:buAutoNum type="arabicPeriod" startAt="14"/>
                        <a:tabLst/>
                        <a:defRPr/>
                      </a:pPr>
                      <a:r>
                        <a:rPr lang="fr-CA" sz="1200" noProof="0"/>
                        <a:t>Pouvoir comptabiliser un rejet ou péremption de chèque automatiquement dans une combinaison comptable différente de celle de l’émission.</a:t>
                      </a:r>
                    </a:p>
                  </a:txBody>
                  <a:tcPr/>
                </a:tc>
                <a:extLst>
                  <a:ext uri="{0D108BD9-81ED-4DB2-BD59-A6C34878D82A}">
                    <a16:rowId xmlns:a16="http://schemas.microsoft.com/office/drawing/2014/main" val="1676914588"/>
                  </a:ext>
                </a:extLst>
              </a:tr>
              <a:tr h="2579573">
                <a:tc vMerge="1">
                  <a:txBody>
                    <a:bodyPr/>
                    <a:lstStyle/>
                    <a:p>
                      <a:endParaRPr lang="fr-CA" sz="1400" b="1" i="1"/>
                    </a:p>
                  </a:txBody>
                  <a:tcPr anchor="ctr"/>
                </a:tc>
                <a:tc>
                  <a:txBody>
                    <a:bodyPr/>
                    <a:lstStyle/>
                    <a:p>
                      <a:pPr algn="ctr"/>
                      <a:r>
                        <a:rPr lang="fr-CA" sz="1200" b="0" i="1" noProof="0"/>
                        <a:t>Conciliation </a:t>
                      </a:r>
                    </a:p>
                  </a:txBody>
                  <a:tcPr anchor="ctr"/>
                </a:tc>
                <a:tc>
                  <a:txBody>
                    <a:bodyPr/>
                    <a:lstStyle/>
                    <a:p>
                      <a:pPr marL="228600" indent="-228600">
                        <a:spcAft>
                          <a:spcPts val="400"/>
                        </a:spcAft>
                        <a:buFont typeface="+mj-lt"/>
                        <a:buAutoNum type="arabicPeriod" startAt="19"/>
                      </a:pPr>
                      <a:r>
                        <a:rPr lang="fr-CA" sz="1200" noProof="0"/>
                        <a:t>Être en mesure de concilier les comptes bancaires avec la comptabilité dans un outil automatisé </a:t>
                      </a:r>
                    </a:p>
                    <a:p>
                      <a:pPr marL="228600" indent="-228600">
                        <a:spcAft>
                          <a:spcPts val="400"/>
                        </a:spcAft>
                        <a:buFont typeface="+mj-lt"/>
                        <a:buAutoNum type="arabicPeriod" startAt="19"/>
                      </a:pPr>
                      <a:r>
                        <a:rPr lang="fr-CA" sz="1200" noProof="0"/>
                        <a:t>Être en mesure de concilier les comptes bancaires quotidiennement ou mensuellement selon le volume de transactions du compte bancaire</a:t>
                      </a:r>
                    </a:p>
                    <a:p>
                      <a:pPr marL="228600" indent="-228600">
                        <a:spcAft>
                          <a:spcPts val="400"/>
                        </a:spcAft>
                        <a:buFont typeface="+mj-lt"/>
                        <a:buAutoNum type="arabicPeriod" startAt="19"/>
                      </a:pPr>
                      <a:r>
                        <a:rPr lang="fr-CA" sz="1200" noProof="0"/>
                        <a:t>Être en mesure de suivre l’avancement des conciliations bancaires​ </a:t>
                      </a:r>
                      <a:r>
                        <a:rPr lang="fr-CA" sz="900" noProof="0"/>
                        <a:t>(gestion quotidienne)</a:t>
                      </a:r>
                    </a:p>
                    <a:p>
                      <a:pPr marL="228600" indent="-228600">
                        <a:spcAft>
                          <a:spcPts val="400"/>
                        </a:spcAft>
                        <a:buFont typeface="+mj-lt"/>
                        <a:buAutoNum type="arabicPeriod" startAt="19"/>
                      </a:pPr>
                      <a:r>
                        <a:rPr lang="fr-CA" sz="1200" noProof="0"/>
                        <a:t>Être en mesure d'approuver la conciliation mensuelle directement dans un outil de suivi de conciliation</a:t>
                      </a:r>
                    </a:p>
                    <a:p>
                      <a:pPr marL="228600" indent="-228600">
                        <a:spcAft>
                          <a:spcPts val="400"/>
                        </a:spcAft>
                        <a:buFont typeface="+mj-lt"/>
                        <a:buAutoNum type="arabicPeriod" startAt="19"/>
                      </a:pPr>
                      <a:r>
                        <a:rPr lang="fr-CA" sz="1200" noProof="0"/>
                        <a:t>Être en mesure d'ajouter des comptes bancaires facilement dans l'outil de conciliation</a:t>
                      </a:r>
                    </a:p>
                    <a:p>
                      <a:pPr marL="228600" indent="-228600">
                        <a:spcAft>
                          <a:spcPts val="400"/>
                        </a:spcAft>
                        <a:buFont typeface="+mj-lt"/>
                        <a:buAutoNum type="arabicPeriod" startAt="19"/>
                      </a:pPr>
                      <a:r>
                        <a:rPr lang="fr-CA" sz="1200" noProof="0"/>
                        <a:t>Compléter les conciliations mensuelles selon les délais établis (SLA)</a:t>
                      </a:r>
                    </a:p>
                    <a:p>
                      <a:pPr marL="228600" indent="-228600">
                        <a:spcAft>
                          <a:spcPts val="400"/>
                        </a:spcAft>
                        <a:buFont typeface="+mj-lt"/>
                        <a:buAutoNum type="arabicPeriod" startAt="19"/>
                      </a:pPr>
                      <a:r>
                        <a:rPr lang="fr-CA" sz="1200" noProof="0"/>
                        <a:t>Être en mesure de consulter les donnée sources servant à la conciliation </a:t>
                      </a:r>
                      <a:r>
                        <a:rPr lang="fr-CA" sz="900" noProof="0"/>
                        <a:t>(Hub de paiement, banques, ERP Cloud)</a:t>
                      </a:r>
                    </a:p>
                    <a:p>
                      <a:pPr marL="228600" indent="-228600">
                        <a:spcAft>
                          <a:spcPts val="400"/>
                        </a:spcAft>
                        <a:buFont typeface="+mj-lt"/>
                        <a:buAutoNum type="arabicPeriod" startAt="19"/>
                      </a:pPr>
                      <a:r>
                        <a:rPr lang="fr-CA" sz="1200" kern="1200" noProof="0">
                          <a:solidFill>
                            <a:schemeClr val="dk1"/>
                          </a:solidFill>
                          <a:latin typeface="+mn-lt"/>
                          <a:ea typeface="+mn-ea"/>
                          <a:cs typeface="+mn-cs"/>
                        </a:rPr>
                        <a:t>Être en mesure de prendre charge les conciliations bancaires pour nos partenaires</a:t>
                      </a:r>
                      <a:endParaRPr lang="fr-CA" sz="1200" kern="1200" noProof="0">
                        <a:solidFill>
                          <a:schemeClr val="dk1"/>
                        </a:solidFill>
                        <a:highlight>
                          <a:srgbClr val="FFFF00"/>
                        </a:highlight>
                        <a:latin typeface="+mn-lt"/>
                        <a:ea typeface="+mn-ea"/>
                        <a:cs typeface="+mn-cs"/>
                      </a:endParaRPr>
                    </a:p>
                  </a:txBody>
                  <a:tcPr/>
                </a:tc>
                <a:extLst>
                  <a:ext uri="{0D108BD9-81ED-4DB2-BD59-A6C34878D82A}">
                    <a16:rowId xmlns:a16="http://schemas.microsoft.com/office/drawing/2014/main" val="3618412485"/>
                  </a:ext>
                </a:extLst>
              </a:tr>
            </a:tbl>
          </a:graphicData>
        </a:graphic>
      </p:graphicFrame>
    </p:spTree>
    <p:extLst>
      <p:ext uri="{BB962C8B-B14F-4D97-AF65-F5344CB8AC3E}">
        <p14:creationId xmlns:p14="http://schemas.microsoft.com/office/powerpoint/2010/main" val="2137936346"/>
      </p:ext>
    </p:extLst>
  </p:cSld>
  <p:clrMapOvr>
    <a:masterClrMapping/>
  </p:clrMapOvr>
  <p:extLst>
    <p:ext uri="{6950BFC3-D8DA-4A85-94F7-54DA5524770B}">
      <p188:commentRel xmlns:p188="http://schemas.microsoft.com/office/powerpoint/2018/8/main" r:id="rId3"/>
    </p:ext>
  </p:extLs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8233D-1502-4888-D464-58EF9400A90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B739C68-7310-7942-8029-5D5262F1737B}"/>
              </a:ext>
            </a:extLst>
          </p:cNvPr>
          <p:cNvSpPr>
            <a:spLocks noGrp="1"/>
          </p:cNvSpPr>
          <p:nvPr>
            <p:ph type="title"/>
          </p:nvPr>
        </p:nvSpPr>
        <p:spPr>
          <a:xfrm>
            <a:off x="238990" y="8659"/>
            <a:ext cx="8905009" cy="401782"/>
          </a:xfrm>
          <a:solidFill>
            <a:schemeClr val="tx1"/>
          </a:solidFill>
        </p:spPr>
        <p:txBody>
          <a:bodyPr vert="horz" lIns="91440" tIns="45720" rIns="91440" bIns="45720" rtlCol="0" anchor="ctr">
            <a:normAutofit fontScale="90000"/>
          </a:bodyPr>
          <a:lstStyle/>
          <a:p>
            <a:r>
              <a:rPr lang="fr-CA" sz="2400" b="1" noProof="0">
                <a:solidFill>
                  <a:schemeClr val="bg1"/>
                </a:solidFill>
              </a:rPr>
              <a:t>Besoins d’affaires</a:t>
            </a:r>
          </a:p>
        </p:txBody>
      </p:sp>
      <p:sp>
        <p:nvSpPr>
          <p:cNvPr id="3" name="Espace réservé du contenu 2">
            <a:extLst>
              <a:ext uri="{FF2B5EF4-FFF2-40B4-BE49-F238E27FC236}">
                <a16:creationId xmlns:a16="http://schemas.microsoft.com/office/drawing/2014/main" id="{6D77DEB9-816C-DD81-C4C3-92250170123D}"/>
              </a:ext>
            </a:extLst>
          </p:cNvPr>
          <p:cNvSpPr>
            <a:spLocks noGrp="1"/>
          </p:cNvSpPr>
          <p:nvPr>
            <p:ph idx="1"/>
          </p:nvPr>
        </p:nvSpPr>
        <p:spPr>
          <a:xfrm>
            <a:off x="238990" y="519546"/>
            <a:ext cx="8458199" cy="4615295"/>
          </a:xfrm>
        </p:spPr>
        <p:txBody>
          <a:bodyPr>
            <a:normAutofit/>
          </a:bodyPr>
          <a:lstStyle/>
          <a:p>
            <a:pPr marL="457200" indent="-457200">
              <a:buFont typeface="+mj-lt"/>
              <a:buAutoNum type="arabicPeriod"/>
            </a:pPr>
            <a:endParaRPr lang="fr-CA" sz="1100" noProof="0"/>
          </a:p>
          <a:p>
            <a:pPr marL="457200" indent="-457200">
              <a:buFont typeface="+mj-lt"/>
              <a:buAutoNum type="arabicPeriod"/>
            </a:pPr>
            <a:endParaRPr lang="fr-CA" sz="1100" noProof="0"/>
          </a:p>
          <a:p>
            <a:pPr marL="457200" indent="-457200">
              <a:buFont typeface="+mj-lt"/>
              <a:buAutoNum type="arabicPeriod"/>
            </a:pPr>
            <a:endParaRPr lang="fr-CA" sz="1100" noProof="0"/>
          </a:p>
          <a:p>
            <a:pPr marL="457200" indent="-457200">
              <a:lnSpc>
                <a:spcPct val="100000"/>
              </a:lnSpc>
              <a:buFont typeface="+mj-lt"/>
              <a:buAutoNum type="arabicPeriod"/>
            </a:pPr>
            <a:endParaRPr lang="fr-CA" sz="1100" noProof="0"/>
          </a:p>
          <a:p>
            <a:pPr marL="457200" indent="-457200">
              <a:buFont typeface="+mj-lt"/>
              <a:buAutoNum type="arabicPeriod"/>
            </a:pPr>
            <a:endParaRPr lang="fr-CA" sz="1100" noProof="0"/>
          </a:p>
        </p:txBody>
      </p:sp>
      <p:graphicFrame>
        <p:nvGraphicFramePr>
          <p:cNvPr id="5" name="Espace réservé du contenu 3">
            <a:extLst>
              <a:ext uri="{FF2B5EF4-FFF2-40B4-BE49-F238E27FC236}">
                <a16:creationId xmlns:a16="http://schemas.microsoft.com/office/drawing/2014/main" id="{2295C359-C94A-33E2-7891-DE26E84A057B}"/>
              </a:ext>
            </a:extLst>
          </p:cNvPr>
          <p:cNvGraphicFramePr>
            <a:graphicFrameLocks/>
          </p:cNvGraphicFramePr>
          <p:nvPr>
            <p:extLst>
              <p:ext uri="{D42A27DB-BD31-4B8C-83A1-F6EECF244321}">
                <p14:modId xmlns:p14="http://schemas.microsoft.com/office/powerpoint/2010/main" val="358130396"/>
              </p:ext>
            </p:extLst>
          </p:nvPr>
        </p:nvGraphicFramePr>
        <p:xfrm>
          <a:off x="313840" y="519546"/>
          <a:ext cx="8706175" cy="3850467"/>
        </p:xfrm>
        <a:graphic>
          <a:graphicData uri="http://schemas.openxmlformats.org/drawingml/2006/table">
            <a:tbl>
              <a:tblPr firstRow="1" bandRow="1">
                <a:tableStyleId>{5C22544A-7EE6-4342-B048-85BDC9FD1C3A}</a:tableStyleId>
              </a:tblPr>
              <a:tblGrid>
                <a:gridCol w="885564">
                  <a:extLst>
                    <a:ext uri="{9D8B030D-6E8A-4147-A177-3AD203B41FA5}">
                      <a16:colId xmlns:a16="http://schemas.microsoft.com/office/drawing/2014/main" val="876695907"/>
                    </a:ext>
                  </a:extLst>
                </a:gridCol>
                <a:gridCol w="1016854">
                  <a:extLst>
                    <a:ext uri="{9D8B030D-6E8A-4147-A177-3AD203B41FA5}">
                      <a16:colId xmlns:a16="http://schemas.microsoft.com/office/drawing/2014/main" val="45188345"/>
                    </a:ext>
                  </a:extLst>
                </a:gridCol>
                <a:gridCol w="6803757">
                  <a:extLst>
                    <a:ext uri="{9D8B030D-6E8A-4147-A177-3AD203B41FA5}">
                      <a16:colId xmlns:a16="http://schemas.microsoft.com/office/drawing/2014/main" val="3284901904"/>
                    </a:ext>
                  </a:extLst>
                </a:gridCol>
              </a:tblGrid>
              <a:tr h="225104">
                <a:tc>
                  <a:txBody>
                    <a:bodyPr/>
                    <a:lstStyle/>
                    <a:p>
                      <a:pPr algn="ctr"/>
                      <a:r>
                        <a:rPr lang="fr-CA" sz="1400" noProof="0"/>
                        <a:t>Release</a:t>
                      </a:r>
                    </a:p>
                  </a:txBody>
                  <a:tcPr anchor="ctr"/>
                </a:tc>
                <a:tc>
                  <a:txBody>
                    <a:bodyPr/>
                    <a:lstStyle/>
                    <a:p>
                      <a:pPr algn="ctr"/>
                      <a:r>
                        <a:rPr lang="fr-CA" sz="1400" noProof="0"/>
                        <a:t>Modes</a:t>
                      </a:r>
                    </a:p>
                  </a:txBody>
                  <a:tcPr anchor="ctr"/>
                </a:tc>
                <a:tc>
                  <a:txBody>
                    <a:bodyPr/>
                    <a:lstStyle/>
                    <a:p>
                      <a:pPr algn="ctr"/>
                      <a:r>
                        <a:rPr lang="fr-CA" sz="1400" noProof="0"/>
                        <a:t>Besoins d’affaires</a:t>
                      </a:r>
                    </a:p>
                  </a:txBody>
                  <a:tcPr anchor="ctr"/>
                </a:tc>
                <a:extLst>
                  <a:ext uri="{0D108BD9-81ED-4DB2-BD59-A6C34878D82A}">
                    <a16:rowId xmlns:a16="http://schemas.microsoft.com/office/drawing/2014/main" val="338486059"/>
                  </a:ext>
                </a:extLst>
              </a:tr>
              <a:tr h="1205932">
                <a:tc rowSpan="3">
                  <a:txBody>
                    <a:bodyPr/>
                    <a:lstStyle/>
                    <a:p>
                      <a:r>
                        <a:rPr lang="fr-CA" sz="1400" b="1" i="1" noProof="0"/>
                        <a:t>Release 3</a:t>
                      </a:r>
                    </a:p>
                  </a:txBody>
                  <a:tcPr anchor="ctr"/>
                </a:tc>
                <a:tc>
                  <a:txBody>
                    <a:bodyPr/>
                    <a:lstStyle/>
                    <a:p>
                      <a:pPr algn="ctr"/>
                      <a:r>
                        <a:rPr lang="fr-CA" sz="1200" b="0" i="1" noProof="0"/>
                        <a:t>DD, DPA Chèque et Virements</a:t>
                      </a:r>
                    </a:p>
                  </a:txBody>
                  <a:tcPr anchor="ctr"/>
                </a:tc>
                <a:tc>
                  <a:txBody>
                    <a:bodyPr/>
                    <a:lstStyle/>
                    <a:p>
                      <a:pPr marL="228600" marR="0" lvl="0" indent="-228600" algn="l" defTabSz="914400" rtl="0" eaLnBrk="1" fontAlgn="auto" latinLnBrk="0" hangingPunct="1">
                        <a:lnSpc>
                          <a:spcPct val="100000"/>
                        </a:lnSpc>
                        <a:spcBef>
                          <a:spcPts val="0"/>
                        </a:spcBef>
                        <a:spcAft>
                          <a:spcPts val="400"/>
                        </a:spcAft>
                        <a:buClrTx/>
                        <a:buSzTx/>
                        <a:buFont typeface="+mj-lt"/>
                        <a:buAutoNum type="arabicPeriod" startAt="27"/>
                        <a:tabLst/>
                        <a:defRPr/>
                      </a:pPr>
                      <a:r>
                        <a:rPr lang="fr-CA" sz="1200" strike="noStrike" noProof="0"/>
                        <a:t>Pouvoir traiter des transactions de façon standardisé en CAD </a:t>
                      </a:r>
                    </a:p>
                    <a:p>
                      <a:pPr marL="228600" marR="0" lvl="0" indent="-228600" algn="l" defTabSz="914400" rtl="0" eaLnBrk="1" fontAlgn="auto" latinLnBrk="0" hangingPunct="1">
                        <a:lnSpc>
                          <a:spcPct val="100000"/>
                        </a:lnSpc>
                        <a:spcBef>
                          <a:spcPts val="0"/>
                        </a:spcBef>
                        <a:spcAft>
                          <a:spcPts val="400"/>
                        </a:spcAft>
                        <a:buClrTx/>
                        <a:buSzTx/>
                        <a:buFont typeface="+mj-lt"/>
                        <a:buAutoNum type="arabicPeriod" startAt="27"/>
                        <a:tabLst/>
                        <a:defRPr/>
                      </a:pPr>
                      <a:r>
                        <a:rPr lang="fr-CA" sz="1200" strike="noStrike" noProof="0"/>
                        <a:t>Pouvoir gérer des transactions manuelles ad-hoc</a:t>
                      </a:r>
                    </a:p>
                    <a:p>
                      <a:pPr marL="228600" marR="0" lvl="0" indent="-228600" algn="l" defTabSz="914400" rtl="0" eaLnBrk="1" fontAlgn="auto" latinLnBrk="0" hangingPunct="1">
                        <a:lnSpc>
                          <a:spcPct val="100000"/>
                        </a:lnSpc>
                        <a:spcBef>
                          <a:spcPts val="0"/>
                        </a:spcBef>
                        <a:spcAft>
                          <a:spcPts val="400"/>
                        </a:spcAft>
                        <a:buClrTx/>
                        <a:buSzTx/>
                        <a:buFont typeface="+mj-lt"/>
                        <a:buAutoNum type="arabicPeriod" startAt="27"/>
                        <a:tabLst/>
                        <a:defRPr/>
                      </a:pPr>
                      <a:r>
                        <a:rPr lang="fr-CA" sz="1200" strike="noStrike" noProof="0"/>
                        <a:t>Pouvoir effectuer des demandes de transactions récurrentes de façon manuelle</a:t>
                      </a:r>
                    </a:p>
                    <a:p>
                      <a:pPr marL="228600" marR="0" lvl="0" indent="-228600" algn="l" defTabSz="914400" rtl="0" eaLnBrk="1" fontAlgn="auto" latinLnBrk="0" hangingPunct="1">
                        <a:lnSpc>
                          <a:spcPct val="100000"/>
                        </a:lnSpc>
                        <a:spcBef>
                          <a:spcPts val="0"/>
                        </a:spcBef>
                        <a:spcAft>
                          <a:spcPts val="400"/>
                        </a:spcAft>
                        <a:buClrTx/>
                        <a:buSzTx/>
                        <a:buFont typeface="+mj-lt"/>
                        <a:buAutoNum type="arabicPeriod" startAt="27"/>
                        <a:tabLst/>
                        <a:defRPr/>
                      </a:pPr>
                      <a:r>
                        <a:rPr lang="fr-CA" sz="1200" noProof="0"/>
                        <a:t>Pouvoir saisir des coordonnées bancaires dans un système sécuritaire</a:t>
                      </a:r>
                    </a:p>
                    <a:p>
                      <a:pPr marL="228600" marR="0" lvl="0" indent="-228600" algn="l" defTabSz="914400" rtl="0" eaLnBrk="1" fontAlgn="auto" latinLnBrk="0" hangingPunct="1">
                        <a:lnSpc>
                          <a:spcPct val="100000"/>
                        </a:lnSpc>
                        <a:spcBef>
                          <a:spcPts val="0"/>
                        </a:spcBef>
                        <a:spcAft>
                          <a:spcPts val="400"/>
                        </a:spcAft>
                        <a:buClrTx/>
                        <a:buSzTx/>
                        <a:buFont typeface="+mj-lt"/>
                        <a:buAutoNum type="arabicPeriod" startAt="27"/>
                        <a:tabLst/>
                        <a:defRPr/>
                      </a:pPr>
                      <a:r>
                        <a:rPr lang="fr-CA" sz="1200" kern="1200" noProof="0">
                          <a:solidFill>
                            <a:schemeClr val="dk1"/>
                          </a:solidFill>
                          <a:latin typeface="+mn-lt"/>
                          <a:ea typeface="+mn-ea"/>
                          <a:cs typeface="+mn-cs"/>
                        </a:rPr>
                        <a:t>Pouvoir mettre en place une politique d'approbation/validation des transactions initiées manuellement</a:t>
                      </a:r>
                      <a:endParaRPr lang="fr-CA" sz="1200" strike="noStrike" noProof="0"/>
                    </a:p>
                  </a:txBody>
                  <a:tcPr/>
                </a:tc>
                <a:extLst>
                  <a:ext uri="{0D108BD9-81ED-4DB2-BD59-A6C34878D82A}">
                    <a16:rowId xmlns:a16="http://schemas.microsoft.com/office/drawing/2014/main" val="3618412485"/>
                  </a:ext>
                </a:extLst>
              </a:tr>
              <a:tr h="294467">
                <a:tc vMerge="1">
                  <a:txBody>
                    <a:bodyPr/>
                    <a:lstStyle/>
                    <a:p>
                      <a:endParaRPr lang="fr-CA" sz="1400" b="1" i="1"/>
                    </a:p>
                  </a:txBody>
                  <a:tcPr anchor="ctr"/>
                </a:tc>
                <a:tc>
                  <a:txBody>
                    <a:bodyPr/>
                    <a:lstStyle/>
                    <a:p>
                      <a:pPr algn="ctr"/>
                      <a:r>
                        <a:rPr lang="fr-CA" sz="1200" b="0" i="1" noProof="0"/>
                        <a:t>Virements</a:t>
                      </a:r>
                    </a:p>
                  </a:txBody>
                  <a:tcPr anchor="ctr"/>
                </a:tc>
                <a:tc>
                  <a:txBody>
                    <a:bodyPr/>
                    <a:lstStyle/>
                    <a:p>
                      <a:pPr marL="228600" marR="0" lvl="0" indent="-228600" algn="l" defTabSz="914400" rtl="0" eaLnBrk="1" fontAlgn="auto" latinLnBrk="0" hangingPunct="1">
                        <a:lnSpc>
                          <a:spcPct val="100000"/>
                        </a:lnSpc>
                        <a:spcBef>
                          <a:spcPts val="0"/>
                        </a:spcBef>
                        <a:spcAft>
                          <a:spcPts val="400"/>
                        </a:spcAft>
                        <a:buClrTx/>
                        <a:buSzTx/>
                        <a:buFont typeface="+mj-lt"/>
                        <a:buAutoNum type="arabicPeriod" startAt="32"/>
                        <a:tabLst/>
                        <a:defRPr/>
                      </a:pPr>
                      <a:r>
                        <a:rPr lang="fr-CA" sz="1200" strike="noStrike" noProof="0"/>
                        <a:t>Pouvoir effectuer des </a:t>
                      </a:r>
                      <a:r>
                        <a:rPr lang="fr-CA" sz="1200" b="1" strike="noStrike" noProof="0"/>
                        <a:t>virements</a:t>
                      </a:r>
                      <a:r>
                        <a:rPr lang="fr-CA" sz="1200" strike="noStrike" noProof="0"/>
                        <a:t> mondiaux (toutes devises)</a:t>
                      </a:r>
                      <a:endParaRPr lang="fr-CA" sz="1200" noProof="0"/>
                    </a:p>
                  </a:txBody>
                  <a:tcPr/>
                </a:tc>
                <a:extLst>
                  <a:ext uri="{0D108BD9-81ED-4DB2-BD59-A6C34878D82A}">
                    <a16:rowId xmlns:a16="http://schemas.microsoft.com/office/drawing/2014/main" val="3570901329"/>
                  </a:ext>
                </a:extLst>
              </a:tr>
              <a:tr h="1461901">
                <a:tc vMerge="1">
                  <a:txBody>
                    <a:bodyPr/>
                    <a:lstStyle/>
                    <a:p>
                      <a:endParaRPr lang="fr-CA" sz="1400" b="1" i="1"/>
                    </a:p>
                  </a:txBody>
                  <a:tcPr anchor="ctr"/>
                </a:tc>
                <a:tc>
                  <a:txBody>
                    <a:bodyPr/>
                    <a:lstStyle/>
                    <a:p>
                      <a:pPr algn="ctr"/>
                      <a:r>
                        <a:rPr lang="fr-CA" sz="1200" b="0" i="1" noProof="0"/>
                        <a:t>Chèque</a:t>
                      </a:r>
                    </a:p>
                  </a:txBody>
                  <a:tcPr anchor="ctr"/>
                </a:tc>
                <a:tc>
                  <a:txBody>
                    <a:bodyPr/>
                    <a:lstStyle/>
                    <a:p>
                      <a:pPr marL="228600" marR="0" lvl="0" indent="-228600" algn="l" defTabSz="914400" rtl="0" eaLnBrk="1" fontAlgn="auto" latinLnBrk="0" hangingPunct="1">
                        <a:lnSpc>
                          <a:spcPct val="100000"/>
                        </a:lnSpc>
                        <a:spcBef>
                          <a:spcPts val="0"/>
                        </a:spcBef>
                        <a:spcAft>
                          <a:spcPts val="400"/>
                        </a:spcAft>
                        <a:buClrTx/>
                        <a:buSzTx/>
                        <a:buFont typeface="+mj-lt"/>
                        <a:buAutoNum type="arabicPeriod" startAt="33"/>
                        <a:tabLst/>
                        <a:defRPr/>
                      </a:pPr>
                      <a:r>
                        <a:rPr lang="fr-CA" sz="1200" noProof="0"/>
                        <a:t>Pouvoir annuler ou arrêter une demande de paiement par </a:t>
                      </a:r>
                      <a:r>
                        <a:rPr lang="fr-CA" sz="1200" b="1" noProof="0"/>
                        <a:t>chèque</a:t>
                      </a:r>
                    </a:p>
                    <a:p>
                      <a:pPr marL="228600" marR="0" lvl="0" indent="-228600" algn="l" defTabSz="914400" rtl="0" eaLnBrk="1" fontAlgn="auto" latinLnBrk="0" hangingPunct="1">
                        <a:lnSpc>
                          <a:spcPct val="100000"/>
                        </a:lnSpc>
                        <a:spcBef>
                          <a:spcPts val="0"/>
                        </a:spcBef>
                        <a:spcAft>
                          <a:spcPts val="400"/>
                        </a:spcAft>
                        <a:buClrTx/>
                        <a:buSzTx/>
                        <a:buFont typeface="+mj-lt"/>
                        <a:buAutoNum type="arabicPeriod" startAt="33"/>
                        <a:tabLst/>
                        <a:defRPr/>
                      </a:pPr>
                      <a:r>
                        <a:rPr lang="fr-CA" sz="1200" kern="1200" noProof="0">
                          <a:solidFill>
                            <a:schemeClr val="dk1"/>
                          </a:solidFill>
                          <a:latin typeface="+mn-lt"/>
                          <a:ea typeface="+mn-ea"/>
                          <a:cs typeface="+mn-cs"/>
                        </a:rPr>
                        <a:t>Avoir un service de contrôle d'appariement de bénéficiaires pour les paiements par </a:t>
                      </a:r>
                      <a:r>
                        <a:rPr lang="fr-CA" sz="1200" b="1" kern="1200" noProof="0">
                          <a:solidFill>
                            <a:schemeClr val="dk1"/>
                          </a:solidFill>
                          <a:latin typeface="+mn-lt"/>
                          <a:ea typeface="+mn-ea"/>
                          <a:cs typeface="+mn-cs"/>
                        </a:rPr>
                        <a:t>chèques</a:t>
                      </a:r>
                      <a:r>
                        <a:rPr lang="fr-CA" sz="1200" kern="1200" noProof="0">
                          <a:solidFill>
                            <a:schemeClr val="dk1"/>
                          </a:solidFill>
                          <a:latin typeface="+mn-lt"/>
                          <a:ea typeface="+mn-ea"/>
                          <a:cs typeface="+mn-cs"/>
                        </a:rPr>
                        <a:t> pour chaque banque</a:t>
                      </a:r>
                    </a:p>
                    <a:p>
                      <a:pPr marL="228600" marR="0" lvl="0" indent="-228600" algn="l" defTabSz="914400" rtl="0" eaLnBrk="1" fontAlgn="auto" latinLnBrk="0" hangingPunct="1">
                        <a:lnSpc>
                          <a:spcPct val="100000"/>
                        </a:lnSpc>
                        <a:spcBef>
                          <a:spcPts val="0"/>
                        </a:spcBef>
                        <a:spcAft>
                          <a:spcPts val="400"/>
                        </a:spcAft>
                        <a:buClrTx/>
                        <a:buSzTx/>
                        <a:buFont typeface="+mj-lt"/>
                        <a:buAutoNum type="arabicPeriod" startAt="33"/>
                        <a:tabLst/>
                        <a:defRPr/>
                      </a:pPr>
                      <a:r>
                        <a:rPr lang="fr-CA" sz="1200" kern="1200" noProof="0">
                          <a:solidFill>
                            <a:schemeClr val="dk1"/>
                          </a:solidFill>
                          <a:latin typeface="+mn-lt"/>
                          <a:ea typeface="+mn-ea"/>
                          <a:cs typeface="+mn-cs"/>
                        </a:rPr>
                        <a:t>Pouvoir ajouter des documents lors d'un paiement par </a:t>
                      </a:r>
                      <a:r>
                        <a:rPr lang="fr-CA" sz="1200" b="1" kern="1200" noProof="0">
                          <a:solidFill>
                            <a:schemeClr val="dk1"/>
                          </a:solidFill>
                          <a:latin typeface="+mn-lt"/>
                          <a:ea typeface="+mn-ea"/>
                          <a:cs typeface="+mn-cs"/>
                        </a:rPr>
                        <a:t>chèque</a:t>
                      </a:r>
                    </a:p>
                    <a:p>
                      <a:pPr marL="228600" marR="0" lvl="0" indent="-228600" algn="l" defTabSz="914400" rtl="0" eaLnBrk="1" fontAlgn="auto" latinLnBrk="0" hangingPunct="1">
                        <a:lnSpc>
                          <a:spcPct val="100000"/>
                        </a:lnSpc>
                        <a:spcBef>
                          <a:spcPts val="0"/>
                        </a:spcBef>
                        <a:spcAft>
                          <a:spcPts val="400"/>
                        </a:spcAft>
                        <a:buClrTx/>
                        <a:buSzTx/>
                        <a:buFont typeface="+mj-lt"/>
                        <a:buAutoNum type="arabicPeriod" startAt="33"/>
                        <a:tabLst/>
                        <a:defRPr/>
                      </a:pPr>
                      <a:r>
                        <a:rPr lang="fr-CA" sz="1200" kern="1200" noProof="0">
                          <a:solidFill>
                            <a:schemeClr val="dk1"/>
                          </a:solidFill>
                          <a:latin typeface="+mn-lt"/>
                          <a:ea typeface="+mn-ea"/>
                          <a:cs typeface="+mn-cs"/>
                        </a:rPr>
                        <a:t>Pouvoir sélectionner le transporteur de courrier avec lequel le </a:t>
                      </a:r>
                      <a:r>
                        <a:rPr lang="fr-CA" sz="1200" b="1" kern="1200" noProof="0">
                          <a:solidFill>
                            <a:schemeClr val="dk1"/>
                          </a:solidFill>
                          <a:latin typeface="+mn-lt"/>
                          <a:ea typeface="+mn-ea"/>
                          <a:cs typeface="+mn-cs"/>
                        </a:rPr>
                        <a:t>chèque</a:t>
                      </a:r>
                      <a:r>
                        <a:rPr lang="fr-CA" sz="1200" kern="1200" noProof="0">
                          <a:solidFill>
                            <a:schemeClr val="dk1"/>
                          </a:solidFill>
                          <a:latin typeface="+mn-lt"/>
                          <a:ea typeface="+mn-ea"/>
                          <a:cs typeface="+mn-cs"/>
                        </a:rPr>
                        <a:t>, saisie manuellement,  doit être envoyé</a:t>
                      </a:r>
                    </a:p>
                    <a:p>
                      <a:pPr marL="228600" marR="0" lvl="0" indent="-228600" algn="l" defTabSz="914400" rtl="0" eaLnBrk="1" fontAlgn="auto" latinLnBrk="0" hangingPunct="1">
                        <a:lnSpc>
                          <a:spcPct val="100000"/>
                        </a:lnSpc>
                        <a:spcBef>
                          <a:spcPts val="0"/>
                        </a:spcBef>
                        <a:spcAft>
                          <a:spcPts val="400"/>
                        </a:spcAft>
                        <a:buClrTx/>
                        <a:buSzTx/>
                        <a:buFont typeface="+mj-lt"/>
                        <a:buAutoNum type="arabicPeriod" startAt="33"/>
                        <a:tabLst/>
                        <a:defRPr/>
                      </a:pPr>
                      <a:r>
                        <a:rPr lang="fr-CA" sz="1200" kern="1200" noProof="0">
                          <a:solidFill>
                            <a:schemeClr val="dk1"/>
                          </a:solidFill>
                          <a:latin typeface="+mn-lt"/>
                          <a:ea typeface="+mn-ea"/>
                          <a:cs typeface="+mn-cs"/>
                        </a:rPr>
                        <a:t>Pouvoir émettre des paiements par </a:t>
                      </a:r>
                      <a:r>
                        <a:rPr lang="fr-CA" sz="1200" b="1" kern="1200" noProof="0">
                          <a:solidFill>
                            <a:schemeClr val="dk1"/>
                          </a:solidFill>
                          <a:latin typeface="+mn-lt"/>
                          <a:ea typeface="+mn-ea"/>
                          <a:cs typeface="+mn-cs"/>
                        </a:rPr>
                        <a:t>chèques</a:t>
                      </a:r>
                      <a:r>
                        <a:rPr lang="fr-CA" sz="1200" kern="1200" noProof="0">
                          <a:solidFill>
                            <a:schemeClr val="dk1"/>
                          </a:solidFill>
                          <a:latin typeface="+mn-lt"/>
                          <a:ea typeface="+mn-ea"/>
                          <a:cs typeface="+mn-cs"/>
                        </a:rPr>
                        <a:t> référents à plus d'une personne physique et/ou morale</a:t>
                      </a:r>
                    </a:p>
                    <a:p>
                      <a:pPr marL="228600" marR="0" lvl="0" indent="-228600" algn="l" defTabSz="914400" rtl="0" eaLnBrk="1" fontAlgn="auto" latinLnBrk="0" hangingPunct="1">
                        <a:lnSpc>
                          <a:spcPct val="100000"/>
                        </a:lnSpc>
                        <a:spcBef>
                          <a:spcPts val="0"/>
                        </a:spcBef>
                        <a:spcAft>
                          <a:spcPts val="400"/>
                        </a:spcAft>
                        <a:buClrTx/>
                        <a:buSzTx/>
                        <a:buFont typeface="+mj-lt"/>
                        <a:buAutoNum type="arabicPeriod" startAt="33"/>
                        <a:tabLst/>
                        <a:defRPr/>
                      </a:pPr>
                      <a:r>
                        <a:rPr lang="fr-CA" sz="1200" kern="1200" noProof="0">
                          <a:solidFill>
                            <a:schemeClr val="dk1"/>
                          </a:solidFill>
                          <a:latin typeface="+mn-lt"/>
                          <a:ea typeface="+mn-ea"/>
                          <a:cs typeface="+mn-cs"/>
                        </a:rPr>
                        <a:t>Pouvoir gérer les émissions de </a:t>
                      </a:r>
                      <a:r>
                        <a:rPr lang="fr-CA" sz="1200" b="1" kern="1200" noProof="0">
                          <a:solidFill>
                            <a:schemeClr val="dk1"/>
                          </a:solidFill>
                          <a:latin typeface="+mn-lt"/>
                          <a:ea typeface="+mn-ea"/>
                          <a:cs typeface="+mn-cs"/>
                        </a:rPr>
                        <a:t>chèques</a:t>
                      </a:r>
                      <a:r>
                        <a:rPr lang="fr-CA" sz="1200" kern="1200" noProof="0">
                          <a:solidFill>
                            <a:schemeClr val="dk1"/>
                          </a:solidFill>
                          <a:latin typeface="+mn-lt"/>
                          <a:ea typeface="+mn-ea"/>
                          <a:cs typeface="+mn-cs"/>
                        </a:rPr>
                        <a:t> postdatés et antidatées</a:t>
                      </a:r>
                    </a:p>
                    <a:p>
                      <a:pPr marL="228600" indent="-228600">
                        <a:spcAft>
                          <a:spcPts val="400"/>
                        </a:spcAft>
                        <a:buFont typeface="+mj-lt"/>
                        <a:buAutoNum type="arabicPeriod" startAt="33"/>
                      </a:pPr>
                      <a:endParaRPr lang="fr-CA" sz="1200" noProof="0"/>
                    </a:p>
                  </a:txBody>
                  <a:tcPr/>
                </a:tc>
                <a:extLst>
                  <a:ext uri="{0D108BD9-81ED-4DB2-BD59-A6C34878D82A}">
                    <a16:rowId xmlns:a16="http://schemas.microsoft.com/office/drawing/2014/main" val="1212680136"/>
                  </a:ext>
                </a:extLst>
              </a:tr>
            </a:tbl>
          </a:graphicData>
        </a:graphic>
      </p:graphicFrame>
    </p:spTree>
    <p:extLst>
      <p:ext uri="{BB962C8B-B14F-4D97-AF65-F5344CB8AC3E}">
        <p14:creationId xmlns:p14="http://schemas.microsoft.com/office/powerpoint/2010/main" val="32547775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181A1-781B-C044-7157-0A156D4837C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2928D13-EAA7-ECB2-F755-0DE026F734EA}"/>
              </a:ext>
            </a:extLst>
          </p:cNvPr>
          <p:cNvSpPr>
            <a:spLocks noGrp="1"/>
          </p:cNvSpPr>
          <p:nvPr>
            <p:ph type="title"/>
          </p:nvPr>
        </p:nvSpPr>
        <p:spPr>
          <a:xfrm>
            <a:off x="238990" y="8659"/>
            <a:ext cx="8905009" cy="401782"/>
          </a:xfrm>
          <a:solidFill>
            <a:schemeClr val="tx1"/>
          </a:solidFill>
        </p:spPr>
        <p:txBody>
          <a:bodyPr vert="horz" lIns="91440" tIns="45720" rIns="91440" bIns="45720" rtlCol="0" anchor="ctr">
            <a:normAutofit fontScale="90000"/>
          </a:bodyPr>
          <a:lstStyle/>
          <a:p>
            <a:r>
              <a:rPr lang="fr-CA" sz="2400" b="1" noProof="0">
                <a:solidFill>
                  <a:schemeClr val="bg1"/>
                </a:solidFill>
              </a:rPr>
              <a:t>Besoins d’affaires</a:t>
            </a:r>
          </a:p>
        </p:txBody>
      </p:sp>
      <p:sp>
        <p:nvSpPr>
          <p:cNvPr id="3" name="Espace réservé du contenu 2">
            <a:extLst>
              <a:ext uri="{FF2B5EF4-FFF2-40B4-BE49-F238E27FC236}">
                <a16:creationId xmlns:a16="http://schemas.microsoft.com/office/drawing/2014/main" id="{8D8C99E7-F286-4C39-4B40-CC31BE461EB9}"/>
              </a:ext>
            </a:extLst>
          </p:cNvPr>
          <p:cNvSpPr>
            <a:spLocks noGrp="1"/>
          </p:cNvSpPr>
          <p:nvPr>
            <p:ph idx="1"/>
          </p:nvPr>
        </p:nvSpPr>
        <p:spPr>
          <a:xfrm>
            <a:off x="238990" y="519546"/>
            <a:ext cx="8458199" cy="4615295"/>
          </a:xfrm>
        </p:spPr>
        <p:txBody>
          <a:bodyPr>
            <a:normAutofit/>
          </a:bodyPr>
          <a:lstStyle/>
          <a:p>
            <a:pPr marL="457200" indent="-457200">
              <a:buFont typeface="+mj-lt"/>
              <a:buAutoNum type="arabicPeriod"/>
            </a:pPr>
            <a:endParaRPr lang="fr-CA" sz="1100" noProof="0"/>
          </a:p>
          <a:p>
            <a:pPr marL="457200" indent="-457200">
              <a:buFont typeface="+mj-lt"/>
              <a:buAutoNum type="arabicPeriod"/>
            </a:pPr>
            <a:endParaRPr lang="fr-CA" sz="1100" noProof="0"/>
          </a:p>
          <a:p>
            <a:pPr marL="457200" indent="-457200">
              <a:buFont typeface="+mj-lt"/>
              <a:buAutoNum type="arabicPeriod"/>
            </a:pPr>
            <a:endParaRPr lang="fr-CA" sz="1100" noProof="0"/>
          </a:p>
          <a:p>
            <a:pPr marL="457200" indent="-457200">
              <a:lnSpc>
                <a:spcPct val="100000"/>
              </a:lnSpc>
              <a:buFont typeface="+mj-lt"/>
              <a:buAutoNum type="arabicPeriod"/>
            </a:pPr>
            <a:endParaRPr lang="fr-CA" sz="1100" noProof="0"/>
          </a:p>
          <a:p>
            <a:pPr marL="457200" indent="-457200">
              <a:buFont typeface="+mj-lt"/>
              <a:buAutoNum type="arabicPeriod"/>
            </a:pPr>
            <a:endParaRPr lang="fr-CA" sz="1100" noProof="0"/>
          </a:p>
        </p:txBody>
      </p:sp>
      <p:graphicFrame>
        <p:nvGraphicFramePr>
          <p:cNvPr id="5" name="Espace réservé du contenu 3">
            <a:extLst>
              <a:ext uri="{FF2B5EF4-FFF2-40B4-BE49-F238E27FC236}">
                <a16:creationId xmlns:a16="http://schemas.microsoft.com/office/drawing/2014/main" id="{F0EAC504-388A-76FF-3FEE-1C675EBB612D}"/>
              </a:ext>
            </a:extLst>
          </p:cNvPr>
          <p:cNvGraphicFramePr>
            <a:graphicFrameLocks/>
          </p:cNvGraphicFramePr>
          <p:nvPr>
            <p:extLst>
              <p:ext uri="{D42A27DB-BD31-4B8C-83A1-F6EECF244321}">
                <p14:modId xmlns:p14="http://schemas.microsoft.com/office/powerpoint/2010/main" val="3131375220"/>
              </p:ext>
            </p:extLst>
          </p:nvPr>
        </p:nvGraphicFramePr>
        <p:xfrm>
          <a:off x="313840" y="519546"/>
          <a:ext cx="8706175" cy="3320974"/>
        </p:xfrm>
        <a:graphic>
          <a:graphicData uri="http://schemas.openxmlformats.org/drawingml/2006/table">
            <a:tbl>
              <a:tblPr firstRow="1" bandRow="1">
                <a:tableStyleId>{5C22544A-7EE6-4342-B048-85BDC9FD1C3A}</a:tableStyleId>
              </a:tblPr>
              <a:tblGrid>
                <a:gridCol w="885564">
                  <a:extLst>
                    <a:ext uri="{9D8B030D-6E8A-4147-A177-3AD203B41FA5}">
                      <a16:colId xmlns:a16="http://schemas.microsoft.com/office/drawing/2014/main" val="876695907"/>
                    </a:ext>
                  </a:extLst>
                </a:gridCol>
                <a:gridCol w="1016854">
                  <a:extLst>
                    <a:ext uri="{9D8B030D-6E8A-4147-A177-3AD203B41FA5}">
                      <a16:colId xmlns:a16="http://schemas.microsoft.com/office/drawing/2014/main" val="45188345"/>
                    </a:ext>
                  </a:extLst>
                </a:gridCol>
                <a:gridCol w="6803757">
                  <a:extLst>
                    <a:ext uri="{9D8B030D-6E8A-4147-A177-3AD203B41FA5}">
                      <a16:colId xmlns:a16="http://schemas.microsoft.com/office/drawing/2014/main" val="3284901904"/>
                    </a:ext>
                  </a:extLst>
                </a:gridCol>
              </a:tblGrid>
              <a:tr h="259270">
                <a:tc>
                  <a:txBody>
                    <a:bodyPr/>
                    <a:lstStyle/>
                    <a:p>
                      <a:pPr algn="ctr"/>
                      <a:r>
                        <a:rPr lang="fr-CA" sz="1400" noProof="0"/>
                        <a:t>Release</a:t>
                      </a:r>
                    </a:p>
                  </a:txBody>
                  <a:tcPr anchor="ctr"/>
                </a:tc>
                <a:tc>
                  <a:txBody>
                    <a:bodyPr/>
                    <a:lstStyle/>
                    <a:p>
                      <a:pPr algn="ctr"/>
                      <a:r>
                        <a:rPr lang="fr-CA" sz="1400" noProof="0"/>
                        <a:t>Modes</a:t>
                      </a:r>
                    </a:p>
                  </a:txBody>
                  <a:tcPr anchor="ctr"/>
                </a:tc>
                <a:tc>
                  <a:txBody>
                    <a:bodyPr/>
                    <a:lstStyle/>
                    <a:p>
                      <a:pPr algn="ctr"/>
                      <a:r>
                        <a:rPr lang="fr-CA" sz="1400" noProof="0"/>
                        <a:t>Besoins d’affaires</a:t>
                      </a:r>
                    </a:p>
                  </a:txBody>
                  <a:tcPr anchor="ctr"/>
                </a:tc>
                <a:extLst>
                  <a:ext uri="{0D108BD9-81ED-4DB2-BD59-A6C34878D82A}">
                    <a16:rowId xmlns:a16="http://schemas.microsoft.com/office/drawing/2014/main" val="338486059"/>
                  </a:ext>
                </a:extLst>
              </a:tr>
              <a:tr h="3016174">
                <a:tc>
                  <a:txBody>
                    <a:bodyPr/>
                    <a:lstStyle/>
                    <a:p>
                      <a:r>
                        <a:rPr lang="fr-CA" sz="1400" b="1" i="1" noProof="0"/>
                        <a:t>Release 3</a:t>
                      </a:r>
                    </a:p>
                  </a:txBody>
                  <a:tcPr anchor="ctr"/>
                </a:tc>
                <a:tc>
                  <a:txBody>
                    <a:bodyPr/>
                    <a:lstStyle/>
                    <a:p>
                      <a:pPr algn="ctr"/>
                      <a:r>
                        <a:rPr lang="fr-CA" sz="1200" b="0" i="1" noProof="0"/>
                        <a:t>DD, DPA Chèque et Virements</a:t>
                      </a:r>
                    </a:p>
                  </a:txBody>
                  <a:tcPr anchor="ctr"/>
                </a:tc>
                <a:tc>
                  <a:txBody>
                    <a:bodyPr/>
                    <a:lstStyle/>
                    <a:p>
                      <a:pPr marL="0" marR="0" lvl="0" indent="0" algn="l" defTabSz="914400" rtl="0" eaLnBrk="1" fontAlgn="auto" latinLnBrk="0" hangingPunct="1">
                        <a:lnSpc>
                          <a:spcPct val="100000"/>
                        </a:lnSpc>
                        <a:spcBef>
                          <a:spcPts val="0"/>
                        </a:spcBef>
                        <a:spcAft>
                          <a:spcPts val="400"/>
                        </a:spcAft>
                        <a:buClrTx/>
                        <a:buSzTx/>
                        <a:buFont typeface="+mj-lt"/>
                        <a:buNone/>
                        <a:tabLst/>
                        <a:defRPr/>
                      </a:pPr>
                      <a:r>
                        <a:rPr lang="fr-CA" sz="1050" i="1" noProof="0"/>
                        <a:t>Les Règles de la R 2 s’appliquent également :</a:t>
                      </a:r>
                    </a:p>
                    <a:p>
                      <a:pPr marL="357188" indent="-228600">
                        <a:spcAft>
                          <a:spcPts val="400"/>
                        </a:spcAft>
                        <a:buFont typeface="Wingdings" panose="05000000000000000000" pitchFamily="2" charset="2"/>
                        <a:buChar char="v"/>
                      </a:pPr>
                      <a:r>
                        <a:rPr lang="fr-CA" sz="1000" noProof="0"/>
                        <a:t>Pouvoir traiter une transaction dans des délais établis (SLA)</a:t>
                      </a:r>
                    </a:p>
                    <a:p>
                      <a:pPr marL="357188" indent="-228600">
                        <a:spcAft>
                          <a:spcPts val="400"/>
                        </a:spcAft>
                        <a:buFont typeface="Wingdings" panose="05000000000000000000" pitchFamily="2" charset="2"/>
                        <a:buChar char="v"/>
                      </a:pPr>
                      <a:r>
                        <a:rPr lang="fr-CA" sz="1000" noProof="0"/>
                        <a:t>Pouvoir appliquer des contrôles 360 de façon automatisée </a:t>
                      </a:r>
                    </a:p>
                    <a:p>
                      <a:pPr marL="357188" indent="-228600">
                        <a:spcAft>
                          <a:spcPts val="400"/>
                        </a:spcAft>
                        <a:buFont typeface="Wingdings" panose="05000000000000000000" pitchFamily="2" charset="2"/>
                        <a:buChar char="v"/>
                      </a:pPr>
                      <a:r>
                        <a:rPr lang="fr-CA" sz="1000" noProof="0"/>
                        <a:t>Avoir la visibilité sur les transactions dont le montant  est au-dessus d'un certain seuil </a:t>
                      </a:r>
                    </a:p>
                    <a:p>
                      <a:pPr marL="357188" indent="-228600">
                        <a:spcAft>
                          <a:spcPts val="400"/>
                        </a:spcAft>
                        <a:buFont typeface="Wingdings" panose="05000000000000000000" pitchFamily="2" charset="2"/>
                        <a:buChar char="v"/>
                      </a:pPr>
                      <a:r>
                        <a:rPr lang="fr-CA" sz="1000" noProof="0"/>
                        <a:t>Pouvoir mettre en suspens/relâcher des transactions ( avant transmission à la banque) </a:t>
                      </a:r>
                    </a:p>
                    <a:p>
                      <a:pPr marL="357188" indent="-228600">
                        <a:spcAft>
                          <a:spcPts val="400"/>
                        </a:spcAft>
                        <a:buFont typeface="Wingdings" panose="05000000000000000000" pitchFamily="2" charset="2"/>
                        <a:buChar char="v"/>
                      </a:pPr>
                      <a:r>
                        <a:rPr lang="fr-CA" sz="1000" noProof="0"/>
                        <a:t>Pouvoir annuler ou arrêter une transaction avant ou après la transmission à la banque</a:t>
                      </a:r>
                    </a:p>
                    <a:p>
                      <a:pPr marL="357188" indent="-228600" algn="l" defTabSz="914400" rtl="0" eaLnBrk="1" latinLnBrk="0" hangingPunct="1">
                        <a:spcAft>
                          <a:spcPts val="400"/>
                        </a:spcAft>
                        <a:buFont typeface="Wingdings" panose="05000000000000000000" pitchFamily="2" charset="2"/>
                        <a:buChar char="v"/>
                      </a:pPr>
                      <a:r>
                        <a:rPr lang="fr-CA" sz="1000" kern="1200" noProof="0">
                          <a:solidFill>
                            <a:schemeClr val="dk1"/>
                          </a:solidFill>
                          <a:latin typeface="+mn-lt"/>
                          <a:ea typeface="+mn-ea"/>
                          <a:cs typeface="+mn-cs"/>
                        </a:rPr>
                        <a:t>Être informé des rejets d’une transaction</a:t>
                      </a:r>
                    </a:p>
                    <a:p>
                      <a:pPr marL="357188" indent="-228600" algn="l" defTabSz="914400" rtl="0" eaLnBrk="1" latinLnBrk="0" hangingPunct="1">
                        <a:spcAft>
                          <a:spcPts val="400"/>
                        </a:spcAft>
                        <a:buFont typeface="Wingdings" panose="05000000000000000000" pitchFamily="2" charset="2"/>
                        <a:buChar char="v"/>
                      </a:pPr>
                      <a:r>
                        <a:rPr lang="fr-CA" sz="1000" kern="1200" noProof="0">
                          <a:solidFill>
                            <a:schemeClr val="dk1"/>
                          </a:solidFill>
                          <a:latin typeface="+mn-lt"/>
                          <a:ea typeface="+mn-ea"/>
                          <a:cs typeface="+mn-cs"/>
                        </a:rPr>
                        <a:t>Pouvoir consulter le statut de la transaction</a:t>
                      </a:r>
                    </a:p>
                    <a:p>
                      <a:pPr marL="357188" indent="-228600" algn="l" defTabSz="914400" rtl="0" eaLnBrk="1" latinLnBrk="0" hangingPunct="1">
                        <a:spcAft>
                          <a:spcPts val="400"/>
                        </a:spcAft>
                        <a:buFont typeface="Wingdings" panose="05000000000000000000" pitchFamily="2" charset="2"/>
                        <a:buChar char="v"/>
                      </a:pPr>
                      <a:r>
                        <a:rPr lang="fr-CA" sz="1000" kern="1200" noProof="0">
                          <a:solidFill>
                            <a:schemeClr val="dk1"/>
                          </a:solidFill>
                          <a:latin typeface="+mn-lt"/>
                          <a:ea typeface="+mn-ea"/>
                          <a:cs typeface="+mn-cs"/>
                        </a:rPr>
                        <a:t>Pouvoir être alerté de potentiel fraude, blanchiment d'argent et autres actions malveillantes</a:t>
                      </a:r>
                    </a:p>
                    <a:p>
                      <a:pPr marL="357188" indent="-228600" algn="l" defTabSz="914400" rtl="0" eaLnBrk="1" latinLnBrk="0" hangingPunct="1">
                        <a:spcAft>
                          <a:spcPts val="400"/>
                        </a:spcAft>
                        <a:buFont typeface="Wingdings" panose="05000000000000000000" pitchFamily="2" charset="2"/>
                        <a:buChar char="v"/>
                      </a:pPr>
                      <a:r>
                        <a:rPr lang="fr-CA" sz="1000" kern="1200" noProof="0">
                          <a:solidFill>
                            <a:schemeClr val="dk1"/>
                          </a:solidFill>
                          <a:latin typeface="+mn-lt"/>
                          <a:ea typeface="+mn-ea"/>
                          <a:cs typeface="+mn-cs"/>
                        </a:rPr>
                        <a:t>Pouvoir identifier chaque transaction unitairement</a:t>
                      </a:r>
                    </a:p>
                    <a:p>
                      <a:pPr marL="357188" indent="-228600" algn="l" defTabSz="914400" rtl="0" eaLnBrk="1" latinLnBrk="0" hangingPunct="1">
                        <a:spcAft>
                          <a:spcPts val="400"/>
                        </a:spcAft>
                        <a:buFont typeface="Wingdings" panose="05000000000000000000" pitchFamily="2" charset="2"/>
                        <a:buChar char="v"/>
                      </a:pPr>
                      <a:r>
                        <a:rPr lang="fr-CA" sz="1000" kern="1200" noProof="0">
                          <a:solidFill>
                            <a:schemeClr val="dk1"/>
                          </a:solidFill>
                          <a:latin typeface="+mn-lt"/>
                          <a:ea typeface="+mn-ea"/>
                          <a:cs typeface="+mn-cs"/>
                        </a:rPr>
                        <a:t>Pouvoir gérer le seuil minimal et maximal en dollar selon le mode de la transaction </a:t>
                      </a:r>
                    </a:p>
                    <a:p>
                      <a:pPr marL="357188" indent="-228600" algn="l" defTabSz="914400" rtl="0" eaLnBrk="1" latinLnBrk="0" hangingPunct="1">
                        <a:spcAft>
                          <a:spcPts val="400"/>
                        </a:spcAft>
                        <a:buFont typeface="Wingdings" panose="05000000000000000000" pitchFamily="2" charset="2"/>
                        <a:buChar char="v"/>
                      </a:pPr>
                      <a:r>
                        <a:rPr lang="fr-CA" sz="1000" kern="1200" noProof="0">
                          <a:solidFill>
                            <a:schemeClr val="dk1"/>
                          </a:solidFill>
                          <a:latin typeface="+mn-lt"/>
                          <a:ea typeface="+mn-ea"/>
                          <a:cs typeface="+mn-cs"/>
                        </a:rPr>
                        <a:t>Pouvoir tracer toutes les transactions durant tout leur cycle de vie</a:t>
                      </a:r>
                    </a:p>
                    <a:p>
                      <a:pPr marL="357188" indent="-228600">
                        <a:spcAft>
                          <a:spcPts val="400"/>
                        </a:spcAft>
                        <a:buFont typeface="Wingdings" panose="05000000000000000000" pitchFamily="2" charset="2"/>
                        <a:buChar char="v"/>
                      </a:pPr>
                      <a:endParaRPr lang="fr-CA" sz="1000" noProof="0"/>
                    </a:p>
                    <a:p>
                      <a:pPr marL="228600" indent="-228600">
                        <a:spcAft>
                          <a:spcPts val="400"/>
                        </a:spcAft>
                        <a:buFont typeface="+mj-lt"/>
                        <a:buAutoNum type="arabicPeriod"/>
                      </a:pPr>
                      <a:endParaRPr lang="fr-CA" sz="1200" noProof="0"/>
                    </a:p>
                  </a:txBody>
                  <a:tcPr/>
                </a:tc>
                <a:extLst>
                  <a:ext uri="{0D108BD9-81ED-4DB2-BD59-A6C34878D82A}">
                    <a16:rowId xmlns:a16="http://schemas.microsoft.com/office/drawing/2014/main" val="3618412485"/>
                  </a:ext>
                </a:extLst>
              </a:tr>
            </a:tbl>
          </a:graphicData>
        </a:graphic>
      </p:graphicFrame>
    </p:spTree>
    <p:extLst>
      <p:ext uri="{BB962C8B-B14F-4D97-AF65-F5344CB8AC3E}">
        <p14:creationId xmlns:p14="http://schemas.microsoft.com/office/powerpoint/2010/main" val="4139792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7B21B-2033-FF3D-3B15-3EACC48B812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A921BCD-17ED-6BBA-909F-B366BE99AEAC}"/>
              </a:ext>
            </a:extLst>
          </p:cNvPr>
          <p:cNvSpPr>
            <a:spLocks noGrp="1"/>
          </p:cNvSpPr>
          <p:nvPr>
            <p:ph type="title"/>
          </p:nvPr>
        </p:nvSpPr>
        <p:spPr>
          <a:xfrm>
            <a:off x="238990" y="8659"/>
            <a:ext cx="8905009" cy="401782"/>
          </a:xfrm>
          <a:solidFill>
            <a:schemeClr val="tx1"/>
          </a:solidFill>
        </p:spPr>
        <p:txBody>
          <a:bodyPr vert="horz" lIns="91440" tIns="45720" rIns="91440" bIns="45720" rtlCol="0" anchor="ctr">
            <a:normAutofit fontScale="90000"/>
          </a:bodyPr>
          <a:lstStyle/>
          <a:p>
            <a:r>
              <a:rPr lang="fr-CA" sz="2400" b="1" noProof="0">
                <a:solidFill>
                  <a:schemeClr val="bg1"/>
                </a:solidFill>
              </a:rPr>
              <a:t>Besoins d’affaires</a:t>
            </a:r>
          </a:p>
        </p:txBody>
      </p:sp>
      <p:sp>
        <p:nvSpPr>
          <p:cNvPr id="3" name="Espace réservé du contenu 2">
            <a:extLst>
              <a:ext uri="{FF2B5EF4-FFF2-40B4-BE49-F238E27FC236}">
                <a16:creationId xmlns:a16="http://schemas.microsoft.com/office/drawing/2014/main" id="{A8918D61-B73F-F63E-F282-5A28A42F9247}"/>
              </a:ext>
            </a:extLst>
          </p:cNvPr>
          <p:cNvSpPr>
            <a:spLocks noGrp="1"/>
          </p:cNvSpPr>
          <p:nvPr>
            <p:ph idx="1"/>
          </p:nvPr>
        </p:nvSpPr>
        <p:spPr>
          <a:xfrm>
            <a:off x="238990" y="519546"/>
            <a:ext cx="8458199" cy="4615295"/>
          </a:xfrm>
        </p:spPr>
        <p:txBody>
          <a:bodyPr>
            <a:normAutofit/>
          </a:bodyPr>
          <a:lstStyle/>
          <a:p>
            <a:pPr marL="457200" indent="-457200">
              <a:buFont typeface="+mj-lt"/>
              <a:buAutoNum type="arabicPeriod"/>
            </a:pPr>
            <a:endParaRPr lang="fr-CA" sz="1100" noProof="0"/>
          </a:p>
          <a:p>
            <a:pPr marL="457200" indent="-457200">
              <a:buFont typeface="+mj-lt"/>
              <a:buAutoNum type="arabicPeriod"/>
            </a:pPr>
            <a:endParaRPr lang="fr-CA" sz="1100" noProof="0"/>
          </a:p>
          <a:p>
            <a:pPr marL="457200" indent="-457200">
              <a:buFont typeface="+mj-lt"/>
              <a:buAutoNum type="arabicPeriod"/>
            </a:pPr>
            <a:endParaRPr lang="fr-CA" sz="1100" noProof="0"/>
          </a:p>
          <a:p>
            <a:pPr marL="457200" indent="-457200">
              <a:lnSpc>
                <a:spcPct val="100000"/>
              </a:lnSpc>
              <a:buFont typeface="+mj-lt"/>
              <a:buAutoNum type="arabicPeriod"/>
            </a:pPr>
            <a:endParaRPr lang="fr-CA" sz="1100" noProof="0"/>
          </a:p>
          <a:p>
            <a:pPr marL="457200" indent="-457200">
              <a:buFont typeface="+mj-lt"/>
              <a:buAutoNum type="arabicPeriod"/>
            </a:pPr>
            <a:endParaRPr lang="fr-CA" sz="1100" noProof="0"/>
          </a:p>
        </p:txBody>
      </p:sp>
      <p:graphicFrame>
        <p:nvGraphicFramePr>
          <p:cNvPr id="5" name="Espace réservé du contenu 3">
            <a:extLst>
              <a:ext uri="{FF2B5EF4-FFF2-40B4-BE49-F238E27FC236}">
                <a16:creationId xmlns:a16="http://schemas.microsoft.com/office/drawing/2014/main" id="{C3FFD4C6-C9FE-7F3D-C9F8-7F7B07E90D5B}"/>
              </a:ext>
            </a:extLst>
          </p:cNvPr>
          <p:cNvGraphicFramePr>
            <a:graphicFrameLocks/>
          </p:cNvGraphicFramePr>
          <p:nvPr>
            <p:extLst>
              <p:ext uri="{D42A27DB-BD31-4B8C-83A1-F6EECF244321}">
                <p14:modId xmlns:p14="http://schemas.microsoft.com/office/powerpoint/2010/main" val="3335477971"/>
              </p:ext>
            </p:extLst>
          </p:nvPr>
        </p:nvGraphicFramePr>
        <p:xfrm>
          <a:off x="313840" y="519547"/>
          <a:ext cx="8706175" cy="4453280"/>
        </p:xfrm>
        <a:graphic>
          <a:graphicData uri="http://schemas.openxmlformats.org/drawingml/2006/table">
            <a:tbl>
              <a:tblPr firstRow="1" bandRow="1">
                <a:tableStyleId>{5C22544A-7EE6-4342-B048-85BDC9FD1C3A}</a:tableStyleId>
              </a:tblPr>
              <a:tblGrid>
                <a:gridCol w="885564">
                  <a:extLst>
                    <a:ext uri="{9D8B030D-6E8A-4147-A177-3AD203B41FA5}">
                      <a16:colId xmlns:a16="http://schemas.microsoft.com/office/drawing/2014/main" val="876695907"/>
                    </a:ext>
                  </a:extLst>
                </a:gridCol>
                <a:gridCol w="1016854">
                  <a:extLst>
                    <a:ext uri="{9D8B030D-6E8A-4147-A177-3AD203B41FA5}">
                      <a16:colId xmlns:a16="http://schemas.microsoft.com/office/drawing/2014/main" val="45188345"/>
                    </a:ext>
                  </a:extLst>
                </a:gridCol>
                <a:gridCol w="6803757">
                  <a:extLst>
                    <a:ext uri="{9D8B030D-6E8A-4147-A177-3AD203B41FA5}">
                      <a16:colId xmlns:a16="http://schemas.microsoft.com/office/drawing/2014/main" val="3284901904"/>
                    </a:ext>
                  </a:extLst>
                </a:gridCol>
              </a:tblGrid>
              <a:tr h="299180">
                <a:tc>
                  <a:txBody>
                    <a:bodyPr/>
                    <a:lstStyle/>
                    <a:p>
                      <a:pPr algn="ctr"/>
                      <a:r>
                        <a:rPr lang="fr-CA" sz="1400" noProof="0"/>
                        <a:t>Release</a:t>
                      </a:r>
                    </a:p>
                  </a:txBody>
                  <a:tcPr anchor="ctr"/>
                </a:tc>
                <a:tc>
                  <a:txBody>
                    <a:bodyPr/>
                    <a:lstStyle/>
                    <a:p>
                      <a:pPr algn="ctr"/>
                      <a:r>
                        <a:rPr lang="fr-CA" sz="1400" noProof="0"/>
                        <a:t>Réf.</a:t>
                      </a:r>
                    </a:p>
                  </a:txBody>
                  <a:tcPr anchor="ctr"/>
                </a:tc>
                <a:tc>
                  <a:txBody>
                    <a:bodyPr/>
                    <a:lstStyle/>
                    <a:p>
                      <a:pPr algn="ctr"/>
                      <a:r>
                        <a:rPr lang="fr-CA" sz="1400" noProof="0"/>
                        <a:t>Besoins d’affaires</a:t>
                      </a:r>
                    </a:p>
                  </a:txBody>
                  <a:tcPr anchor="ctr"/>
                </a:tc>
                <a:extLst>
                  <a:ext uri="{0D108BD9-81ED-4DB2-BD59-A6C34878D82A}">
                    <a16:rowId xmlns:a16="http://schemas.microsoft.com/office/drawing/2014/main" val="338486059"/>
                  </a:ext>
                </a:extLst>
              </a:tr>
              <a:tr h="2580034">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400" b="1" i="1" noProof="0"/>
                        <a:t>Release 1, 2 et 3</a:t>
                      </a:r>
                    </a:p>
                  </a:txBody>
                  <a:tcPr anchor="ctr"/>
                </a:tc>
                <a:tc>
                  <a:txBody>
                    <a:bodyPr/>
                    <a:lstStyle/>
                    <a:p>
                      <a:pPr algn="ctr"/>
                      <a:r>
                        <a:rPr lang="fr-CA" sz="1200" b="0" i="1" noProof="0"/>
                        <a:t>Reporting</a:t>
                      </a:r>
                    </a:p>
                  </a:txBody>
                  <a:tcPr anchor="ctr"/>
                </a:tc>
                <a:tc>
                  <a:txBody>
                    <a:bodyPr/>
                    <a:lstStyle/>
                    <a:p>
                      <a:pPr marL="228600" indent="-228600">
                        <a:spcAft>
                          <a:spcPts val="400"/>
                        </a:spcAft>
                        <a:buFont typeface="Wingdings" panose="05000000000000000000" pitchFamily="2" charset="2"/>
                        <a:buChar char="q"/>
                      </a:pPr>
                      <a:r>
                        <a:rPr lang="fr-CA" sz="1200" noProof="0"/>
                        <a:t>Être en mesure de mettre en place des indicateurs performants (KPI)</a:t>
                      </a:r>
                    </a:p>
                    <a:p>
                      <a:pPr marL="228600" indent="-228600">
                        <a:spcAft>
                          <a:spcPts val="400"/>
                        </a:spcAft>
                        <a:buFont typeface="Wingdings" panose="05000000000000000000" pitchFamily="2" charset="2"/>
                        <a:buChar char="q"/>
                      </a:pPr>
                      <a:r>
                        <a:rPr lang="fr-CA" sz="1200" noProof="0"/>
                        <a:t>Pouvoir produire un rapport de conciliation de fin de mois</a:t>
                      </a:r>
                    </a:p>
                    <a:p>
                      <a:pPr marL="228600" indent="-228600">
                        <a:spcAft>
                          <a:spcPts val="400"/>
                        </a:spcAft>
                        <a:buFont typeface="Wingdings" panose="05000000000000000000" pitchFamily="2" charset="2"/>
                        <a:buChar char="q"/>
                      </a:pPr>
                      <a:r>
                        <a:rPr lang="fr-CA" sz="1200" noProof="0"/>
                        <a:t>Pouvoir accéder à de l'information sur les paiements/perceptions en temps réel </a:t>
                      </a:r>
                      <a:r>
                        <a:rPr lang="fr-CA" sz="900" noProof="0"/>
                        <a:t>(Statuts, transaction en circulation...etc.)</a:t>
                      </a:r>
                    </a:p>
                    <a:p>
                      <a:pPr marL="228600" indent="-228600">
                        <a:spcAft>
                          <a:spcPts val="400"/>
                        </a:spcAft>
                        <a:buFont typeface="Wingdings" panose="05000000000000000000" pitchFamily="2" charset="2"/>
                        <a:buChar char="q"/>
                      </a:pPr>
                      <a:r>
                        <a:rPr lang="fr-CA" sz="1200" noProof="0"/>
                        <a:t>Pouvoir produire des rapports administratifs bancaires de différentes natures</a:t>
                      </a:r>
                    </a:p>
                    <a:p>
                      <a:pPr marL="228600" indent="-228600">
                        <a:spcAft>
                          <a:spcPts val="400"/>
                        </a:spcAft>
                        <a:buFont typeface="Wingdings" panose="05000000000000000000" pitchFamily="2" charset="2"/>
                        <a:buChar char="q"/>
                      </a:pPr>
                      <a:r>
                        <a:rPr lang="fr-CA" sz="1200" noProof="0"/>
                        <a:t>Pouvoir produire des rapports sur la gestion des accès et droits</a:t>
                      </a:r>
                    </a:p>
                    <a:p>
                      <a:pPr marL="228600" indent="-228600">
                        <a:spcAft>
                          <a:spcPts val="400"/>
                        </a:spcAft>
                        <a:buFont typeface="Wingdings" panose="05000000000000000000" pitchFamily="2" charset="2"/>
                        <a:buChar char="q"/>
                      </a:pPr>
                      <a:r>
                        <a:rPr lang="fr-CA" sz="1200" noProof="0"/>
                        <a:t>Être alertée de toute action à apporter sur les ententes et résolutions bancaires</a:t>
                      </a:r>
                    </a:p>
                    <a:p>
                      <a:pPr marL="228600" indent="-228600">
                        <a:spcAft>
                          <a:spcPts val="400"/>
                        </a:spcAft>
                        <a:buFont typeface="Wingdings" panose="05000000000000000000" pitchFamily="2" charset="2"/>
                        <a:buChar char="q"/>
                      </a:pPr>
                      <a:r>
                        <a:rPr lang="fr-CA" sz="1200" noProof="0"/>
                        <a:t>Être en mesure de configurer des rapports consultables et personnalisables par nos partenaires</a:t>
                      </a:r>
                    </a:p>
                    <a:p>
                      <a:pPr marL="228600" indent="-228600">
                        <a:spcAft>
                          <a:spcPts val="400"/>
                        </a:spcAft>
                        <a:buFont typeface="Wingdings" panose="05000000000000000000" pitchFamily="2" charset="2"/>
                        <a:buChar char="q"/>
                      </a:pPr>
                      <a:r>
                        <a:rPr lang="fr-CA" sz="1200" noProof="0"/>
                        <a:t>Être en mesure de configurer des rapports consultables et personnalisables pour les membres du CSP bancaire</a:t>
                      </a:r>
                    </a:p>
                    <a:p>
                      <a:pPr marL="228600" indent="-228600">
                        <a:spcAft>
                          <a:spcPts val="400"/>
                        </a:spcAft>
                        <a:buFont typeface="Wingdings" panose="05000000000000000000" pitchFamily="2" charset="2"/>
                        <a:buChar char="q"/>
                      </a:pPr>
                      <a:r>
                        <a:rPr lang="fr-CA" sz="1200" noProof="0"/>
                        <a:t>Être en mesure de configurer des rapports d’audit</a:t>
                      </a:r>
                    </a:p>
                  </a:txBody>
                  <a:tcPr anchor="ctr"/>
                </a:tc>
                <a:extLst>
                  <a:ext uri="{0D108BD9-81ED-4DB2-BD59-A6C34878D82A}">
                    <a16:rowId xmlns:a16="http://schemas.microsoft.com/office/drawing/2014/main" val="1174288348"/>
                  </a:ext>
                </a:extLst>
              </a:tr>
              <a:tr h="1568446">
                <a:tc vMerge="1">
                  <a:txBody>
                    <a:bodyPr/>
                    <a:lstStyle/>
                    <a:p>
                      <a:endParaRPr lang="fr-CA" sz="1400" b="1" i="1"/>
                    </a:p>
                  </a:txBody>
                  <a:tcPr anchor="ctr"/>
                </a:tc>
                <a:tc>
                  <a:txBody>
                    <a:bodyPr/>
                    <a:lstStyle/>
                    <a:p>
                      <a:pPr algn="ctr"/>
                      <a:r>
                        <a:rPr lang="fr-CA" sz="1200" b="0" i="1" noProof="0"/>
                        <a:t>Système &amp; Sécurité</a:t>
                      </a:r>
                    </a:p>
                  </a:txBody>
                  <a:tcPr anchor="ctr"/>
                </a:tc>
                <a:tc>
                  <a:txBody>
                    <a:bodyPr/>
                    <a:lstStyle/>
                    <a:p>
                      <a:pPr marL="228600" indent="-228600">
                        <a:spcAft>
                          <a:spcPts val="400"/>
                        </a:spcAft>
                        <a:buFont typeface="Wingdings" panose="05000000000000000000" pitchFamily="2" charset="2"/>
                        <a:buChar char="q"/>
                      </a:pPr>
                      <a:r>
                        <a:rPr lang="fr-CA" sz="1200" noProof="0"/>
                        <a:t>S’assurer que la solution est conforme au normes bancaires US et Canadiennes.</a:t>
                      </a:r>
                    </a:p>
                    <a:p>
                      <a:pPr marL="228600" indent="-228600">
                        <a:spcAft>
                          <a:spcPts val="400"/>
                        </a:spcAft>
                        <a:buFont typeface="Wingdings" panose="05000000000000000000" pitchFamily="2" charset="2"/>
                        <a:buChar char="q"/>
                      </a:pPr>
                      <a:r>
                        <a:rPr lang="fr-CA" sz="1200" noProof="0"/>
                        <a:t>Pouvoir affecter des règles d'affaires et des rôles bien définis dans le système bancaire</a:t>
                      </a:r>
                    </a:p>
                    <a:p>
                      <a:pPr marL="228600" indent="-228600">
                        <a:spcAft>
                          <a:spcPts val="400"/>
                        </a:spcAft>
                        <a:buFont typeface="Wingdings" panose="05000000000000000000" pitchFamily="2" charset="2"/>
                        <a:buChar char="q"/>
                      </a:pPr>
                      <a:r>
                        <a:rPr lang="fr-CA" sz="1200" noProof="0"/>
                        <a:t>Pouvoir utiliser un système qui permet d'ajouter des volumes de transactions</a:t>
                      </a:r>
                    </a:p>
                    <a:p>
                      <a:pPr marL="228600" indent="-228600">
                        <a:spcAft>
                          <a:spcPts val="400"/>
                        </a:spcAft>
                        <a:buFont typeface="Wingdings" panose="05000000000000000000" pitchFamily="2" charset="2"/>
                        <a:buChar char="q"/>
                      </a:pPr>
                      <a:r>
                        <a:rPr lang="fr-CA" sz="1200" noProof="0"/>
                        <a:t>S’assurer que l'accès aux données soit bien segmenté</a:t>
                      </a:r>
                    </a:p>
                    <a:p>
                      <a:pPr marL="228600" indent="-228600">
                        <a:spcAft>
                          <a:spcPts val="400"/>
                        </a:spcAft>
                        <a:buFont typeface="Wingdings" panose="05000000000000000000" pitchFamily="2" charset="2"/>
                        <a:buChar char="q"/>
                      </a:pPr>
                      <a:r>
                        <a:rPr lang="fr-CA" sz="1200" noProof="0"/>
                        <a:t>Pouvoir identifier la provenance des transactions</a:t>
                      </a:r>
                    </a:p>
                  </a:txBody>
                  <a:tcPr anchor="ctr"/>
                </a:tc>
                <a:extLst>
                  <a:ext uri="{0D108BD9-81ED-4DB2-BD59-A6C34878D82A}">
                    <a16:rowId xmlns:a16="http://schemas.microsoft.com/office/drawing/2014/main" val="3618412485"/>
                  </a:ext>
                </a:extLst>
              </a:tr>
            </a:tbl>
          </a:graphicData>
        </a:graphic>
      </p:graphicFrame>
    </p:spTree>
    <p:extLst>
      <p:ext uri="{BB962C8B-B14F-4D97-AF65-F5344CB8AC3E}">
        <p14:creationId xmlns:p14="http://schemas.microsoft.com/office/powerpoint/2010/main" val="20536670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A67F4-1453-A5D5-B8A6-392C7B22DCC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DD6838E-E0EB-880B-92A3-2EA3B6E08C07}"/>
              </a:ext>
            </a:extLst>
          </p:cNvPr>
          <p:cNvSpPr>
            <a:spLocks noGrp="1"/>
          </p:cNvSpPr>
          <p:nvPr>
            <p:ph type="title"/>
          </p:nvPr>
        </p:nvSpPr>
        <p:spPr>
          <a:xfrm>
            <a:off x="238990" y="8659"/>
            <a:ext cx="8905009" cy="401782"/>
          </a:xfrm>
          <a:solidFill>
            <a:schemeClr val="tx1"/>
          </a:solidFill>
        </p:spPr>
        <p:txBody>
          <a:bodyPr vert="horz" lIns="91440" tIns="45720" rIns="91440" bIns="45720" rtlCol="0" anchor="ctr">
            <a:normAutofit fontScale="90000"/>
          </a:bodyPr>
          <a:lstStyle/>
          <a:p>
            <a:r>
              <a:rPr lang="fr-CA" sz="2400" b="1" noProof="0">
                <a:solidFill>
                  <a:schemeClr val="bg1"/>
                </a:solidFill>
              </a:rPr>
              <a:t>Besoins d’affaires</a:t>
            </a:r>
          </a:p>
        </p:txBody>
      </p:sp>
      <p:sp>
        <p:nvSpPr>
          <p:cNvPr id="3" name="Espace réservé du contenu 2">
            <a:extLst>
              <a:ext uri="{FF2B5EF4-FFF2-40B4-BE49-F238E27FC236}">
                <a16:creationId xmlns:a16="http://schemas.microsoft.com/office/drawing/2014/main" id="{B3533833-259B-DB8E-5107-6E59215B8FBE}"/>
              </a:ext>
            </a:extLst>
          </p:cNvPr>
          <p:cNvSpPr>
            <a:spLocks noGrp="1"/>
          </p:cNvSpPr>
          <p:nvPr>
            <p:ph idx="1"/>
          </p:nvPr>
        </p:nvSpPr>
        <p:spPr>
          <a:xfrm>
            <a:off x="238990" y="519546"/>
            <a:ext cx="8458199" cy="4615295"/>
          </a:xfrm>
        </p:spPr>
        <p:txBody>
          <a:bodyPr>
            <a:normAutofit/>
          </a:bodyPr>
          <a:lstStyle/>
          <a:p>
            <a:pPr marL="457200" indent="-457200">
              <a:buFont typeface="+mj-lt"/>
              <a:buAutoNum type="arabicPeriod"/>
            </a:pPr>
            <a:endParaRPr lang="fr-CA" sz="1100" noProof="0"/>
          </a:p>
          <a:p>
            <a:pPr marL="457200" indent="-457200">
              <a:buFont typeface="+mj-lt"/>
              <a:buAutoNum type="arabicPeriod"/>
            </a:pPr>
            <a:endParaRPr lang="fr-CA" sz="1100" noProof="0"/>
          </a:p>
          <a:p>
            <a:pPr marL="457200" indent="-457200">
              <a:buFont typeface="+mj-lt"/>
              <a:buAutoNum type="arabicPeriod"/>
            </a:pPr>
            <a:endParaRPr lang="fr-CA" sz="1100" noProof="0"/>
          </a:p>
          <a:p>
            <a:pPr marL="457200" indent="-457200">
              <a:lnSpc>
                <a:spcPct val="100000"/>
              </a:lnSpc>
              <a:buFont typeface="+mj-lt"/>
              <a:buAutoNum type="arabicPeriod"/>
            </a:pPr>
            <a:endParaRPr lang="fr-CA" sz="1100" noProof="0"/>
          </a:p>
          <a:p>
            <a:pPr marL="457200" indent="-457200">
              <a:buFont typeface="+mj-lt"/>
              <a:buAutoNum type="arabicPeriod"/>
            </a:pPr>
            <a:endParaRPr lang="fr-CA" sz="1100" noProof="0"/>
          </a:p>
        </p:txBody>
      </p:sp>
      <p:graphicFrame>
        <p:nvGraphicFramePr>
          <p:cNvPr id="5" name="Espace réservé du contenu 3">
            <a:extLst>
              <a:ext uri="{FF2B5EF4-FFF2-40B4-BE49-F238E27FC236}">
                <a16:creationId xmlns:a16="http://schemas.microsoft.com/office/drawing/2014/main" id="{38459744-9609-1338-B725-AADEAA3DCCA0}"/>
              </a:ext>
            </a:extLst>
          </p:cNvPr>
          <p:cNvGraphicFramePr>
            <a:graphicFrameLocks/>
          </p:cNvGraphicFramePr>
          <p:nvPr>
            <p:extLst>
              <p:ext uri="{D42A27DB-BD31-4B8C-83A1-F6EECF244321}">
                <p14:modId xmlns:p14="http://schemas.microsoft.com/office/powerpoint/2010/main" val="2396844296"/>
              </p:ext>
            </p:extLst>
          </p:nvPr>
        </p:nvGraphicFramePr>
        <p:xfrm>
          <a:off x="313840" y="519547"/>
          <a:ext cx="8706175" cy="2518121"/>
        </p:xfrm>
        <a:graphic>
          <a:graphicData uri="http://schemas.openxmlformats.org/drawingml/2006/table">
            <a:tbl>
              <a:tblPr firstRow="1" bandRow="1">
                <a:tableStyleId>{5C22544A-7EE6-4342-B048-85BDC9FD1C3A}</a:tableStyleId>
              </a:tblPr>
              <a:tblGrid>
                <a:gridCol w="885564">
                  <a:extLst>
                    <a:ext uri="{9D8B030D-6E8A-4147-A177-3AD203B41FA5}">
                      <a16:colId xmlns:a16="http://schemas.microsoft.com/office/drawing/2014/main" val="876695907"/>
                    </a:ext>
                  </a:extLst>
                </a:gridCol>
                <a:gridCol w="1016854">
                  <a:extLst>
                    <a:ext uri="{9D8B030D-6E8A-4147-A177-3AD203B41FA5}">
                      <a16:colId xmlns:a16="http://schemas.microsoft.com/office/drawing/2014/main" val="45188345"/>
                    </a:ext>
                  </a:extLst>
                </a:gridCol>
                <a:gridCol w="6803757">
                  <a:extLst>
                    <a:ext uri="{9D8B030D-6E8A-4147-A177-3AD203B41FA5}">
                      <a16:colId xmlns:a16="http://schemas.microsoft.com/office/drawing/2014/main" val="3284901904"/>
                    </a:ext>
                  </a:extLst>
                </a:gridCol>
              </a:tblGrid>
              <a:tr h="387525">
                <a:tc>
                  <a:txBody>
                    <a:bodyPr/>
                    <a:lstStyle/>
                    <a:p>
                      <a:pPr algn="ctr"/>
                      <a:r>
                        <a:rPr lang="fr-CA" sz="1400" noProof="0"/>
                        <a:t>Release</a:t>
                      </a:r>
                    </a:p>
                  </a:txBody>
                  <a:tcPr anchor="ctr"/>
                </a:tc>
                <a:tc>
                  <a:txBody>
                    <a:bodyPr/>
                    <a:lstStyle/>
                    <a:p>
                      <a:pPr algn="ctr"/>
                      <a:r>
                        <a:rPr lang="fr-CA" sz="1400" noProof="0"/>
                        <a:t>Réf.</a:t>
                      </a:r>
                    </a:p>
                  </a:txBody>
                  <a:tcPr anchor="ctr"/>
                </a:tc>
                <a:tc>
                  <a:txBody>
                    <a:bodyPr/>
                    <a:lstStyle/>
                    <a:p>
                      <a:pPr algn="ctr"/>
                      <a:r>
                        <a:rPr lang="fr-CA" sz="1400" noProof="0"/>
                        <a:t>Besoins d’affaires</a:t>
                      </a:r>
                    </a:p>
                  </a:txBody>
                  <a:tcPr anchor="ctr"/>
                </a:tc>
                <a:extLst>
                  <a:ext uri="{0D108BD9-81ED-4DB2-BD59-A6C34878D82A}">
                    <a16:rowId xmlns:a16="http://schemas.microsoft.com/office/drawing/2014/main" val="338486059"/>
                  </a:ext>
                </a:extLst>
              </a:tr>
              <a:tr h="2130596">
                <a:tc>
                  <a:txBody>
                    <a:bodyPr/>
                    <a:lstStyle/>
                    <a:p>
                      <a:r>
                        <a:rPr lang="fr-CA" sz="1400" b="1" i="1" noProof="0"/>
                        <a:t>Release 4</a:t>
                      </a:r>
                    </a:p>
                  </a:txBody>
                  <a:tcPr anchor="ctr"/>
                </a:tc>
                <a:tc>
                  <a:txBody>
                    <a:bodyPr/>
                    <a:lstStyle/>
                    <a:p>
                      <a:pPr algn="ctr"/>
                      <a:r>
                        <a:rPr lang="fr-CA" sz="1200" b="0" i="1" noProof="0"/>
                        <a:t>Offre de service</a:t>
                      </a:r>
                    </a:p>
                  </a:txBody>
                  <a:tcPr anchor="ctr"/>
                </a:tc>
                <a:tc>
                  <a:txBody>
                    <a:bodyPr/>
                    <a:lstStyle/>
                    <a:p>
                      <a:pPr marL="357188" indent="-228600">
                        <a:spcAft>
                          <a:spcPts val="400"/>
                        </a:spcAft>
                        <a:buFont typeface="+mj-lt"/>
                        <a:buAutoNum type="arabicPeriod"/>
                      </a:pPr>
                      <a:r>
                        <a:rPr lang="fr-CA" sz="1200" noProof="0"/>
                        <a:t>Pouvoir Offrir un catalogue de services claire pour nos partenaires</a:t>
                      </a:r>
                    </a:p>
                    <a:p>
                      <a:pPr marL="357188" indent="-228600">
                        <a:spcAft>
                          <a:spcPts val="400"/>
                        </a:spcAft>
                        <a:buFont typeface="+mj-lt"/>
                        <a:buAutoNum type="arabicPeriod"/>
                      </a:pPr>
                      <a:r>
                        <a:rPr lang="fr-CA" sz="1200" noProof="0"/>
                        <a:t>Pourvoir avoir une vision claire pour les futures intégrations de nouvelles Filiales</a:t>
                      </a:r>
                    </a:p>
                    <a:p>
                      <a:pPr marL="357188" indent="-228600">
                        <a:spcAft>
                          <a:spcPts val="400"/>
                        </a:spcAft>
                        <a:buFont typeface="+mj-lt"/>
                        <a:buAutoNum type="arabicPeriod"/>
                      </a:pPr>
                      <a:r>
                        <a:rPr lang="fr-CA" sz="1200" noProof="0"/>
                        <a:t>Pouvoir avoir une vision claire pour les futures intégrations de nouvelles Lignes d’affaires et secteurs.</a:t>
                      </a:r>
                    </a:p>
                    <a:p>
                      <a:pPr marL="357188" indent="-228600">
                        <a:spcAft>
                          <a:spcPts val="400"/>
                        </a:spcAft>
                        <a:buFont typeface="+mj-lt"/>
                        <a:buAutoNum type="arabicPeriod"/>
                      </a:pPr>
                      <a:r>
                        <a:rPr lang="fr-CA" sz="1200" noProof="0"/>
                        <a:t>Avoir une cartographie complète des processus qui supporte les capacités du CSP bancaire</a:t>
                      </a:r>
                    </a:p>
                    <a:p>
                      <a:pPr marL="357188" indent="-228600">
                        <a:spcAft>
                          <a:spcPts val="400"/>
                        </a:spcAft>
                        <a:buFont typeface="+mj-lt"/>
                        <a:buAutoNum type="arabicPeriod"/>
                      </a:pPr>
                      <a:r>
                        <a:rPr lang="fr-CA" sz="1200" noProof="0"/>
                        <a:t>S’assurer que nos futures partenaires sont bien informés de l’offre de service du CSP bancaire</a:t>
                      </a:r>
                    </a:p>
                    <a:p>
                      <a:pPr marL="357188" indent="-228600">
                        <a:spcAft>
                          <a:spcPts val="400"/>
                        </a:spcAft>
                        <a:buFont typeface="+mj-lt"/>
                        <a:buAutoNum type="arabicPeriod"/>
                      </a:pPr>
                      <a:r>
                        <a:rPr lang="fr-CA" sz="1200" noProof="0"/>
                        <a:t>Avoir une vision claire et documentée des rôle et responsabilité entre le CSP Bancaire et ses partenaires  </a:t>
                      </a:r>
                    </a:p>
                  </a:txBody>
                  <a:tcPr anchor="ctr"/>
                </a:tc>
                <a:extLst>
                  <a:ext uri="{0D108BD9-81ED-4DB2-BD59-A6C34878D82A}">
                    <a16:rowId xmlns:a16="http://schemas.microsoft.com/office/drawing/2014/main" val="3618412485"/>
                  </a:ext>
                </a:extLst>
              </a:tr>
            </a:tbl>
          </a:graphicData>
        </a:graphic>
      </p:graphicFrame>
    </p:spTree>
    <p:extLst>
      <p:ext uri="{BB962C8B-B14F-4D97-AF65-F5344CB8AC3E}">
        <p14:creationId xmlns:p14="http://schemas.microsoft.com/office/powerpoint/2010/main" val="3384678792"/>
      </p:ext>
    </p:extLst>
  </p:cSld>
  <p:clrMapOvr>
    <a:masterClrMapping/>
  </p:clrMapOvr>
  <p:extLst>
    <p:ext uri="{6950BFC3-D8DA-4A85-94F7-54DA5524770B}">
      <p188:commentRel xmlns:p188="http://schemas.microsoft.com/office/powerpoint/2018/8/main" r:id="rId3"/>
    </p:ext>
  </p:extLs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E8397-F4A2-4688-C061-EC5054DCCFE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B0D244D-82A4-5FC3-4702-1AE5D47A1923}"/>
              </a:ext>
            </a:extLst>
          </p:cNvPr>
          <p:cNvSpPr>
            <a:spLocks noGrp="1"/>
          </p:cNvSpPr>
          <p:nvPr>
            <p:ph type="title"/>
          </p:nvPr>
        </p:nvSpPr>
        <p:spPr>
          <a:xfrm>
            <a:off x="207818" y="1"/>
            <a:ext cx="8936181" cy="429490"/>
          </a:xfrm>
          <a:solidFill>
            <a:schemeClr val="tx1"/>
          </a:solidFill>
        </p:spPr>
        <p:txBody>
          <a:bodyPr vert="horz" lIns="91440" tIns="45720" rIns="91440" bIns="45720" rtlCol="0" anchor="ctr">
            <a:normAutofit/>
          </a:bodyPr>
          <a:lstStyle/>
          <a:p>
            <a:r>
              <a:rPr lang="fr-CA" sz="2400" b="1" noProof="0">
                <a:solidFill>
                  <a:schemeClr val="bg1"/>
                </a:solidFill>
              </a:rPr>
              <a:t>Cas d’utilisation affaires R1</a:t>
            </a:r>
          </a:p>
        </p:txBody>
      </p:sp>
      <p:graphicFrame>
        <p:nvGraphicFramePr>
          <p:cNvPr id="4" name="Tableau 8">
            <a:extLst>
              <a:ext uri="{FF2B5EF4-FFF2-40B4-BE49-F238E27FC236}">
                <a16:creationId xmlns:a16="http://schemas.microsoft.com/office/drawing/2014/main" id="{377D64BB-3203-7A3D-C586-BAE60231ED0C}"/>
              </a:ext>
            </a:extLst>
          </p:cNvPr>
          <p:cNvGraphicFramePr>
            <a:graphicFrameLocks noGrp="1"/>
          </p:cNvGraphicFramePr>
          <p:nvPr>
            <p:ph idx="1"/>
            <p:extLst>
              <p:ext uri="{D42A27DB-BD31-4B8C-83A1-F6EECF244321}">
                <p14:modId xmlns:p14="http://schemas.microsoft.com/office/powerpoint/2010/main" val="3941265993"/>
              </p:ext>
            </p:extLst>
          </p:nvPr>
        </p:nvGraphicFramePr>
        <p:xfrm>
          <a:off x="269811" y="471524"/>
          <a:ext cx="8843192" cy="4541520"/>
        </p:xfrm>
        <a:graphic>
          <a:graphicData uri="http://schemas.openxmlformats.org/drawingml/2006/table">
            <a:tbl>
              <a:tblPr firstRow="1">
                <a:tableStyleId>{073A0DAA-6AF3-43AB-8588-CEC1D06C72B9}</a:tableStyleId>
              </a:tblPr>
              <a:tblGrid>
                <a:gridCol w="962304">
                  <a:extLst>
                    <a:ext uri="{9D8B030D-6E8A-4147-A177-3AD203B41FA5}">
                      <a16:colId xmlns:a16="http://schemas.microsoft.com/office/drawing/2014/main" val="3500930570"/>
                    </a:ext>
                  </a:extLst>
                </a:gridCol>
                <a:gridCol w="1332854">
                  <a:extLst>
                    <a:ext uri="{9D8B030D-6E8A-4147-A177-3AD203B41FA5}">
                      <a16:colId xmlns:a16="http://schemas.microsoft.com/office/drawing/2014/main" val="382091172"/>
                    </a:ext>
                  </a:extLst>
                </a:gridCol>
                <a:gridCol w="968645">
                  <a:extLst>
                    <a:ext uri="{9D8B030D-6E8A-4147-A177-3AD203B41FA5}">
                      <a16:colId xmlns:a16="http://schemas.microsoft.com/office/drawing/2014/main" val="4174676584"/>
                    </a:ext>
                  </a:extLst>
                </a:gridCol>
                <a:gridCol w="1766806">
                  <a:extLst>
                    <a:ext uri="{9D8B030D-6E8A-4147-A177-3AD203B41FA5}">
                      <a16:colId xmlns:a16="http://schemas.microsoft.com/office/drawing/2014/main" val="311002029"/>
                    </a:ext>
                  </a:extLst>
                </a:gridCol>
                <a:gridCol w="2506339">
                  <a:extLst>
                    <a:ext uri="{9D8B030D-6E8A-4147-A177-3AD203B41FA5}">
                      <a16:colId xmlns:a16="http://schemas.microsoft.com/office/drawing/2014/main" val="1873745783"/>
                    </a:ext>
                  </a:extLst>
                </a:gridCol>
                <a:gridCol w="1306244">
                  <a:extLst>
                    <a:ext uri="{9D8B030D-6E8A-4147-A177-3AD203B41FA5}">
                      <a16:colId xmlns:a16="http://schemas.microsoft.com/office/drawing/2014/main" val="3393739696"/>
                    </a:ext>
                  </a:extLst>
                </a:gridCol>
              </a:tblGrid>
              <a:tr h="288000">
                <a:tc>
                  <a:txBody>
                    <a:bodyPr/>
                    <a:lstStyle/>
                    <a:p>
                      <a:pPr algn="ctr"/>
                      <a:r>
                        <a:rPr lang="fr-CA" sz="1000" noProof="0"/>
                        <a:t>Fonctions d’affaires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CA" sz="1000" noProof="0"/>
                        <a:t>Cas utilisation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Acteurs impliqués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Déclencheurs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Description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Résultat attendu</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955524767"/>
                  </a:ext>
                </a:extLst>
              </a:tr>
              <a:tr h="288000">
                <a:tc rowSpan="8">
                  <a:txBody>
                    <a:bodyPr/>
                    <a:lstStyle/>
                    <a:p>
                      <a:pPr algn="ctr"/>
                      <a:r>
                        <a:rPr lang="fr-CA" sz="800" noProof="0"/>
                        <a:t>Gérer la structure des comptes bancaires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CA" sz="800" noProof="0"/>
                        <a:t>Ouvrir un compte de banque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a:r>
                        <a:rPr lang="fr-CA" sz="800" noProof="0"/>
                        <a:t>CSP bancaire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buFont typeface="Arial" panose="020B0604020202020204" pitchFamily="34" charset="0"/>
                        <a:buChar char="•"/>
                      </a:pPr>
                      <a:r>
                        <a:rPr lang="fr-CA" sz="800" noProof="0"/>
                        <a:t>Évolution de la structure bancaire </a:t>
                      </a:r>
                    </a:p>
                    <a:p>
                      <a:pPr marL="85725" indent="-85725">
                        <a:buFont typeface="Arial" panose="020B0604020202020204" pitchFamily="34" charset="0"/>
                        <a:buChar char="•"/>
                      </a:pPr>
                      <a:r>
                        <a:rPr lang="fr-CA" sz="800" noProof="0"/>
                        <a:t>Demande d’un partenaire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fr-CA" sz="800" noProof="0"/>
                        <a:t>Ouvrir un compte bancaire au près de la banque et le répertorier dans l’inventaire des comptes actif</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Compte ouvert</a:t>
                      </a:r>
                    </a:p>
                    <a:p>
                      <a:pPr marL="85725"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Registre mis à jour</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51639710"/>
                  </a:ext>
                </a:extLst>
              </a:tr>
              <a:tr h="288000">
                <a:tc vMerge="1">
                  <a:txBody>
                    <a:bodyPr/>
                    <a:lstStyle/>
                    <a:p>
                      <a:pPr lvl="0"/>
                      <a:endParaRPr lang="fr-FR" sz="80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noProof="0"/>
                        <a:t>Modifier un compte de banque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a:r>
                        <a:rPr lang="fr-CA" sz="800" noProof="0"/>
                        <a:t>CSP bancaire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800" noProof="0"/>
                        <a:t>Évolution de la structure bancaire </a:t>
                      </a:r>
                    </a:p>
                    <a:p>
                      <a:pPr marL="85725" indent="-85725">
                        <a:buFont typeface="Arial" panose="020B0604020202020204" pitchFamily="34" charset="0"/>
                        <a:buChar char="•"/>
                      </a:pPr>
                      <a:r>
                        <a:rPr lang="fr-CA" sz="800" noProof="0"/>
                        <a:t>Ajout ou suppression d’un service </a:t>
                      </a:r>
                    </a:p>
                    <a:p>
                      <a:pPr marL="85725" indent="-85725">
                        <a:buFont typeface="Arial" panose="020B0604020202020204" pitchFamily="34" charset="0"/>
                        <a:buChar char="•"/>
                      </a:pPr>
                      <a:r>
                        <a:rPr lang="fr-CA" sz="800" noProof="0"/>
                        <a:t>Changement dans la liste des signataires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noProof="0"/>
                        <a:t>Modifier un compte bancaire au près de la banque et le répertorier la modification les informations rattachées au compte dans le système</a:t>
                      </a:r>
                    </a:p>
                    <a:p>
                      <a:pPr marL="0" algn="l" defTabSz="914400" rtl="0" eaLnBrk="1" latinLnBrk="0" hangingPunct="1"/>
                      <a:endParaRPr lang="fr-CA" sz="800" kern="1200" noProof="0">
                        <a:solidFill>
                          <a:schemeClr val="dk1"/>
                        </a:solidFill>
                        <a:latin typeface="+mn-lt"/>
                        <a:ea typeface="+mn-ea"/>
                        <a:cs typeface="+mn-cs"/>
                      </a:endParaRP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Compte modifié</a:t>
                      </a:r>
                    </a:p>
                    <a:p>
                      <a:pPr marL="85725"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Information du compte mises à jour</a:t>
                      </a:r>
                    </a:p>
                    <a:p>
                      <a:pPr marL="0" algn="l" defTabSz="914400" rtl="0" eaLnBrk="1" latinLnBrk="0" hangingPunct="1"/>
                      <a:endParaRPr lang="fr-CA" sz="800" kern="1200" noProof="0">
                        <a:solidFill>
                          <a:schemeClr val="dk1"/>
                        </a:solidFill>
                        <a:latin typeface="+mn-lt"/>
                        <a:ea typeface="+mn-ea"/>
                        <a:cs typeface="+mn-cs"/>
                      </a:endParaRP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87336233"/>
                  </a:ext>
                </a:extLst>
              </a:tr>
              <a:tr h="288000">
                <a:tc vMerge="1">
                  <a:txBody>
                    <a:bodyPr/>
                    <a:lstStyle/>
                    <a:p>
                      <a:pPr lvl="0"/>
                      <a:endParaRPr lang="fr-FR" sz="80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noProof="0"/>
                        <a:t>Fermer un compte de banque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fr-CA" sz="800" noProof="0"/>
                        <a:t>CSP bancaire </a:t>
                      </a:r>
                      <a:endParaRPr lang="fr-CA" sz="800" kern="1200" noProof="0">
                        <a:solidFill>
                          <a:schemeClr val="dk1"/>
                        </a:solidFill>
                        <a:latin typeface="+mn-lt"/>
                        <a:ea typeface="+mn-ea"/>
                        <a:cs typeface="+mn-cs"/>
                      </a:endParaRP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buFont typeface="Arial" panose="020B0604020202020204" pitchFamily="34" charset="0"/>
                        <a:buChar char="•"/>
                      </a:pPr>
                      <a:r>
                        <a:rPr lang="fr-CA" sz="800" noProof="0"/>
                        <a:t>Évolution de la structure bancaire </a:t>
                      </a:r>
                    </a:p>
                    <a:p>
                      <a:pPr marL="85725" indent="-85725">
                        <a:buFont typeface="Arial" panose="020B0604020202020204" pitchFamily="34" charset="0"/>
                        <a:buChar char="•"/>
                      </a:pPr>
                      <a:r>
                        <a:rPr lang="fr-CA" sz="800" noProof="0"/>
                        <a:t>Demande d’un partenaire</a:t>
                      </a:r>
                    </a:p>
                    <a:p>
                      <a:pPr marL="85725" indent="-85725">
                        <a:buFont typeface="Arial" panose="020B0604020202020204" pitchFamily="34" charset="0"/>
                        <a:buChar char="•"/>
                      </a:pPr>
                      <a:r>
                        <a:rPr lang="fr-CA" sz="800" noProof="0"/>
                        <a:t>Exercice de maintenance périodique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fr-CA" sz="800" noProof="0"/>
                        <a:t>Clôturer un compte bancaire au près de la banque et le répertorier dans l’inventaire des comptes clôturés archivés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Compte ouvert</a:t>
                      </a:r>
                    </a:p>
                    <a:p>
                      <a:pPr marL="85725"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Registre mis à jour</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7066582"/>
                  </a:ext>
                </a:extLst>
              </a:tr>
              <a:tr h="288000">
                <a:tc vMerge="1">
                  <a:txBody>
                    <a:bodyPr/>
                    <a:lstStyle/>
                    <a:p>
                      <a:endParaRPr lang="fr-F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noProof="0"/>
                        <a:t>Réviser la structure bancaire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 Trésorerie corpo</a:t>
                      </a:r>
                      <a:endParaRPr lang="fr-CA" sz="800" kern="1200" noProof="0">
                        <a:solidFill>
                          <a:schemeClr val="dk1"/>
                        </a:solidFill>
                        <a:latin typeface="+mn-lt"/>
                        <a:ea typeface="+mn-ea"/>
                        <a:cs typeface="+mn-cs"/>
                      </a:endParaRP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buFont typeface="Arial" panose="020B0604020202020204" pitchFamily="34" charset="0"/>
                        <a:buChar char="•"/>
                      </a:pPr>
                      <a:r>
                        <a:rPr lang="fr-CA" sz="800" noProof="0"/>
                        <a:t>Exercice périodique</a:t>
                      </a:r>
                    </a:p>
                    <a:p>
                      <a:pPr marL="85725" indent="-85725">
                        <a:buFont typeface="Arial" panose="020B0604020202020204" pitchFamily="34" charset="0"/>
                        <a:buChar char="•"/>
                      </a:pPr>
                      <a:r>
                        <a:rPr lang="fr-CA" sz="800" noProof="0"/>
                        <a:t>Évènement majeur</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fr-CA" sz="800" noProof="0"/>
                        <a:t>Réviser la structure des comptes bancaires à l’occasion de changement majeur au sein de IA, de ses relations partenaire ou à l’occasion d’un exercice périodique de maintenance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800" noProof="0"/>
                        <a:t>Un registre à jour</a:t>
                      </a:r>
                    </a:p>
                    <a:p>
                      <a:pPr marL="85725" indent="-85725">
                        <a:buFont typeface="Arial" panose="020B0604020202020204" pitchFamily="34" charset="0"/>
                        <a:buChar char="•"/>
                      </a:pPr>
                      <a:r>
                        <a:rPr lang="fr-CA" sz="800" noProof="0"/>
                        <a:t>Un plan d’action définit</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7571836"/>
                  </a:ext>
                </a:extLst>
              </a:tr>
              <a:tr h="288000">
                <a:tc vMerge="1">
                  <a:txBody>
                    <a:bodyPr/>
                    <a:lstStyle/>
                    <a:p>
                      <a:endParaRPr lang="fr-CA" sz="80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CA" sz="800" noProof="0"/>
                        <a:t>Mettre à jour la liste des signataires bancaire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fr-CA" sz="800" noProof="0"/>
                        <a:t>CSP bancaire Trésorerie corpo </a:t>
                      </a:r>
                      <a:endParaRPr lang="fr-CA" sz="800" kern="1200" noProof="0">
                        <a:solidFill>
                          <a:schemeClr val="dk1"/>
                        </a:solidFill>
                        <a:latin typeface="+mn-lt"/>
                        <a:ea typeface="+mn-ea"/>
                        <a:cs typeface="+mn-cs"/>
                      </a:endParaRP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buFont typeface="Arial" panose="020B0604020202020204" pitchFamily="34" charset="0"/>
                        <a:buChar char="•"/>
                      </a:pPr>
                      <a:r>
                        <a:rPr lang="fr-CA" sz="800" kern="1200" noProof="0">
                          <a:solidFill>
                            <a:schemeClr val="dk1"/>
                          </a:solidFill>
                          <a:latin typeface="+mn-lt"/>
                          <a:ea typeface="+mn-ea"/>
                          <a:cs typeface="+mn-cs"/>
                        </a:rPr>
                        <a:t>Un changement dans les résolutions bancaires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fr-CA" sz="800" noProof="0"/>
                        <a:t>Mettre à jour le nom d’un signataire bancaire d’une entité légale à la suite de la mise à jour par le Légal d’une résolution bancaire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buFont typeface="Arial" panose="020B0604020202020204" pitchFamily="34" charset="0"/>
                        <a:buChar char="•"/>
                      </a:pPr>
                      <a:r>
                        <a:rPr lang="fr-CA" sz="800" noProof="0"/>
                        <a:t>Liste des signataires à jour</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6716176"/>
                  </a:ext>
                </a:extLst>
              </a:tr>
              <a:tr h="288000">
                <a:tc vMerge="1">
                  <a:txBody>
                    <a:bodyPr/>
                    <a:lstStyle/>
                    <a:p>
                      <a:pPr lvl="0"/>
                      <a:endParaRPr lang="fr-FR" sz="80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CA" sz="800" noProof="0"/>
                        <a:t>Faire un suivi des relations bancaires (Ententes)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 Trésorerie corpo</a:t>
                      </a:r>
                      <a:endParaRPr lang="fr-CA" sz="800" kern="1200" noProof="0">
                        <a:solidFill>
                          <a:schemeClr val="dk1"/>
                        </a:solidFill>
                        <a:latin typeface="+mn-lt"/>
                        <a:ea typeface="+mn-ea"/>
                        <a:cs typeface="+mn-cs"/>
                      </a:endParaRP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buFont typeface="Arial" panose="020B0604020202020204" pitchFamily="34" charset="0"/>
                        <a:buChar char="•"/>
                      </a:pPr>
                      <a:r>
                        <a:rPr lang="fr-CA" sz="800" noProof="0"/>
                        <a:t>Exercice périodique</a:t>
                      </a:r>
                    </a:p>
                    <a:p>
                      <a:pPr marL="85725" indent="-85725">
                        <a:buFont typeface="Arial" panose="020B0604020202020204" pitchFamily="34" charset="0"/>
                        <a:buChar char="•"/>
                      </a:pPr>
                      <a:r>
                        <a:rPr lang="fr-CA" sz="800" noProof="0"/>
                        <a:t>Évènement majeur</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800" noProof="0"/>
                        <a:t>S’assurer de la bonne application des ententes bancaire en termes de tarification et de conditions</a:t>
                      </a: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800" noProof="0"/>
                        <a:t>Réviser les ententes bancaires à l’occasion de changement majeur au sein de IA, de ses relations partenaire, de l’échéance d’une entente ou à l’occasion d’un exercice périodique de maintenance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buFont typeface="Arial" panose="020B0604020202020204" pitchFamily="34" charset="0"/>
                        <a:buChar char="•"/>
                      </a:pPr>
                      <a:r>
                        <a:rPr lang="fr-CA" sz="800" noProof="0"/>
                        <a:t>Ententes révisées et conformes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93393506"/>
                  </a:ext>
                </a:extLst>
              </a:tr>
              <a:tr h="288000">
                <a:tc vMerge="1">
                  <a:txBody>
                    <a:bodyPr/>
                    <a:lstStyle/>
                    <a:p>
                      <a:pPr lvl="0"/>
                      <a:endParaRPr lang="fr-FR" sz="80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CA" sz="800" noProof="0"/>
                        <a:t>Conformité et Audit</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 Trésorerie corpo</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Légal</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noProof="0"/>
                        <a:t>Exercice périodique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fr-CA" sz="800" noProof="0"/>
                        <a:t>Éditer les éléments d’audite réglementaire soit pour audite interne ou audite externe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fr-CA" sz="800" noProof="0"/>
                        <a:t>Éléments d’audite édités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04848127"/>
                  </a:ext>
                </a:extLst>
              </a:tr>
              <a:tr h="288000">
                <a:tc vMerge="1">
                  <a:txBody>
                    <a:bodyPr/>
                    <a:lstStyle/>
                    <a:p>
                      <a:pPr lvl="0"/>
                      <a:endParaRPr lang="fr-FR" sz="80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CA" sz="800" noProof="0"/>
                        <a:t>Éditer un rapport ou un KPI</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fr-CA" sz="800" noProof="0"/>
                        <a:t>CSP bancaire </a:t>
                      </a:r>
                    </a:p>
                    <a:p>
                      <a:pPr marL="0" algn="ctr" defTabSz="914400" rtl="0" eaLnBrk="1" latinLnBrk="0" hangingPunct="1"/>
                      <a:r>
                        <a:rPr lang="fr-CA" sz="800" noProof="0"/>
                        <a:t>Trésorerie corpo </a:t>
                      </a:r>
                      <a:endParaRPr lang="fr-CA" sz="800" kern="1200" noProof="0">
                        <a:solidFill>
                          <a:schemeClr val="dk1"/>
                        </a:solidFill>
                        <a:latin typeface="+mn-lt"/>
                        <a:ea typeface="+mn-ea"/>
                        <a:cs typeface="+mn-cs"/>
                      </a:endParaRP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800" noProof="0"/>
                        <a:t>Exercice périodique</a:t>
                      </a: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800" noProof="0"/>
                        <a:t>Demande d’un partenaire</a:t>
                      </a:r>
                    </a:p>
                    <a:p>
                      <a:pPr marL="85725" indent="-85725">
                        <a:buFont typeface="Arial" panose="020B0604020202020204" pitchFamily="34" charset="0"/>
                        <a:buChar char="•"/>
                      </a:pPr>
                      <a:r>
                        <a:rPr lang="fr-CA" sz="800" kern="1200" noProof="0">
                          <a:solidFill>
                            <a:schemeClr val="dk1"/>
                          </a:solidFill>
                          <a:latin typeface="+mn-lt"/>
                          <a:ea typeface="+mn-ea"/>
                          <a:cs typeface="+mn-cs"/>
                        </a:rPr>
                        <a:t>Adhoc</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buFont typeface="Arial" panose="020B0604020202020204" pitchFamily="34" charset="0"/>
                        <a:buChar char="•"/>
                      </a:pPr>
                      <a:r>
                        <a:rPr lang="fr-CA" sz="800" noProof="0"/>
                        <a:t>Éditer les rapport et Indicateur de performance nécessaire selon le besoin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fr-CA" sz="800" noProof="0"/>
                        <a:t>Rapport ou KPI Édité</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90008736"/>
                  </a:ext>
                </a:extLst>
              </a:tr>
            </a:tbl>
          </a:graphicData>
        </a:graphic>
      </p:graphicFrame>
    </p:spTree>
    <p:extLst>
      <p:ext uri="{BB962C8B-B14F-4D97-AF65-F5344CB8AC3E}">
        <p14:creationId xmlns:p14="http://schemas.microsoft.com/office/powerpoint/2010/main" val="1174290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5E68F-F03B-3E66-DCAF-BFF792C39AA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9A88FF3-B2EB-010F-908D-70F5E0DEA87F}"/>
              </a:ext>
            </a:extLst>
          </p:cNvPr>
          <p:cNvSpPr>
            <a:spLocks noGrp="1"/>
          </p:cNvSpPr>
          <p:nvPr>
            <p:ph type="title"/>
          </p:nvPr>
        </p:nvSpPr>
        <p:spPr>
          <a:xfrm>
            <a:off x="207818" y="1"/>
            <a:ext cx="8936181" cy="429490"/>
          </a:xfrm>
          <a:solidFill>
            <a:schemeClr val="tx1"/>
          </a:solidFill>
        </p:spPr>
        <p:txBody>
          <a:bodyPr vert="horz" lIns="91440" tIns="45720" rIns="91440" bIns="45720" rtlCol="0" anchor="ctr">
            <a:normAutofit/>
          </a:bodyPr>
          <a:lstStyle/>
          <a:p>
            <a:r>
              <a:rPr lang="fr-CA" sz="2400" b="1" noProof="0">
                <a:solidFill>
                  <a:schemeClr val="bg1"/>
                </a:solidFill>
              </a:rPr>
              <a:t>Cas d’utilisation affaires R1</a:t>
            </a:r>
          </a:p>
        </p:txBody>
      </p:sp>
      <p:graphicFrame>
        <p:nvGraphicFramePr>
          <p:cNvPr id="4" name="Tableau 8">
            <a:extLst>
              <a:ext uri="{FF2B5EF4-FFF2-40B4-BE49-F238E27FC236}">
                <a16:creationId xmlns:a16="http://schemas.microsoft.com/office/drawing/2014/main" id="{2457A525-E331-8640-1628-D244606CB3B0}"/>
              </a:ext>
            </a:extLst>
          </p:cNvPr>
          <p:cNvGraphicFramePr>
            <a:graphicFrameLocks noGrp="1"/>
          </p:cNvGraphicFramePr>
          <p:nvPr>
            <p:ph idx="1"/>
            <p:extLst>
              <p:ext uri="{D42A27DB-BD31-4B8C-83A1-F6EECF244321}">
                <p14:modId xmlns:p14="http://schemas.microsoft.com/office/powerpoint/2010/main" val="2722961683"/>
              </p:ext>
            </p:extLst>
          </p:nvPr>
        </p:nvGraphicFramePr>
        <p:xfrm>
          <a:off x="269811" y="471524"/>
          <a:ext cx="8843192" cy="3704436"/>
        </p:xfrm>
        <a:graphic>
          <a:graphicData uri="http://schemas.openxmlformats.org/drawingml/2006/table">
            <a:tbl>
              <a:tblPr firstRow="1">
                <a:tableStyleId>{073A0DAA-6AF3-43AB-8588-CEC1D06C72B9}</a:tableStyleId>
              </a:tblPr>
              <a:tblGrid>
                <a:gridCol w="962304">
                  <a:extLst>
                    <a:ext uri="{9D8B030D-6E8A-4147-A177-3AD203B41FA5}">
                      <a16:colId xmlns:a16="http://schemas.microsoft.com/office/drawing/2014/main" val="3500930570"/>
                    </a:ext>
                  </a:extLst>
                </a:gridCol>
                <a:gridCol w="1332854">
                  <a:extLst>
                    <a:ext uri="{9D8B030D-6E8A-4147-A177-3AD203B41FA5}">
                      <a16:colId xmlns:a16="http://schemas.microsoft.com/office/drawing/2014/main" val="382091172"/>
                    </a:ext>
                  </a:extLst>
                </a:gridCol>
                <a:gridCol w="968645">
                  <a:extLst>
                    <a:ext uri="{9D8B030D-6E8A-4147-A177-3AD203B41FA5}">
                      <a16:colId xmlns:a16="http://schemas.microsoft.com/office/drawing/2014/main" val="4174676584"/>
                    </a:ext>
                  </a:extLst>
                </a:gridCol>
                <a:gridCol w="1766806">
                  <a:extLst>
                    <a:ext uri="{9D8B030D-6E8A-4147-A177-3AD203B41FA5}">
                      <a16:colId xmlns:a16="http://schemas.microsoft.com/office/drawing/2014/main" val="311002029"/>
                    </a:ext>
                  </a:extLst>
                </a:gridCol>
                <a:gridCol w="2506339">
                  <a:extLst>
                    <a:ext uri="{9D8B030D-6E8A-4147-A177-3AD203B41FA5}">
                      <a16:colId xmlns:a16="http://schemas.microsoft.com/office/drawing/2014/main" val="1873745783"/>
                    </a:ext>
                  </a:extLst>
                </a:gridCol>
                <a:gridCol w="1306244">
                  <a:extLst>
                    <a:ext uri="{9D8B030D-6E8A-4147-A177-3AD203B41FA5}">
                      <a16:colId xmlns:a16="http://schemas.microsoft.com/office/drawing/2014/main" val="3393739696"/>
                    </a:ext>
                  </a:extLst>
                </a:gridCol>
              </a:tblGrid>
              <a:tr h="439256">
                <a:tc>
                  <a:txBody>
                    <a:bodyPr/>
                    <a:lstStyle/>
                    <a:p>
                      <a:pPr algn="ctr"/>
                      <a:r>
                        <a:rPr lang="fr-CA" sz="1000" noProof="0"/>
                        <a:t>Fonctions d’affaires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CA" sz="1000" noProof="0"/>
                        <a:t>Cas utilisation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Acteurs impliqués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Déclencheurs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Description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Résultat attendu</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955524767"/>
                  </a:ext>
                </a:extLst>
              </a:tr>
              <a:tr h="506834">
                <a:tc rowSpan="5">
                  <a:txBody>
                    <a:bodyPr/>
                    <a:lstStyle/>
                    <a:p>
                      <a:pPr algn="ctr"/>
                      <a:r>
                        <a:rPr lang="fr-CA" sz="800" noProof="0"/>
                        <a:t>Gestion des frais bancaires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CA" sz="800" noProof="0"/>
                        <a:t>Importer et intégrer les relevés de frais bancaires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a:r>
                        <a:rPr lang="fr-CA" sz="800" noProof="0"/>
                        <a:t>Équipe système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buFont typeface="Arial" panose="020B0604020202020204" pitchFamily="34" charset="0"/>
                        <a:buChar char="•"/>
                      </a:pPr>
                      <a:r>
                        <a:rPr lang="fr-CA" sz="800" noProof="0"/>
                        <a:t>Envoie du relevé de frai bancaire par la banque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fr-CA" sz="800" noProof="0"/>
                        <a:t>À fin de réaliser l’analyse, les relevés de frais bancaires envoyé par la banque doivent être intégré dans la solution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Relevés importés dans la solution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51639710"/>
                  </a:ext>
                </a:extLst>
              </a:tr>
              <a:tr h="777146">
                <a:tc vMerge="1">
                  <a:txBody>
                    <a:bodyPr/>
                    <a:lstStyle/>
                    <a:p>
                      <a:pPr lvl="0"/>
                      <a:endParaRPr lang="fr-FR" sz="80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noProof="0"/>
                        <a:t>Analyser les frais bancaires par service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 Trésorerie corpo</a:t>
                      </a:r>
                      <a:endParaRPr lang="fr-CA" sz="800" kern="1200" noProof="0">
                        <a:solidFill>
                          <a:schemeClr val="dk1"/>
                        </a:solidFill>
                        <a:latin typeface="+mn-lt"/>
                        <a:ea typeface="+mn-ea"/>
                        <a:cs typeface="+mn-cs"/>
                      </a:endParaRPr>
                    </a:p>
                    <a:p>
                      <a:pPr algn="ctr"/>
                      <a:endParaRPr lang="fr-CA" sz="800" noProof="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800" noProof="0"/>
                        <a:t>Exercice périodique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Comparer les frais bancaires entre les différentes banques pour tirer les conclusions affaires nécessaires</a:t>
                      </a:r>
                    </a:p>
                    <a:p>
                      <a:pPr marL="177800" lvl="1"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CSP bancaire :  Édite les rapports et initie l’analyse </a:t>
                      </a:r>
                    </a:p>
                    <a:p>
                      <a:pPr marL="177800" lvl="1"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Trésorerie : Pousse l’analyse et négocie avec les banques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Frais bancaires analysés</a:t>
                      </a:r>
                    </a:p>
                    <a:p>
                      <a:pPr marL="85725"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Plan d’action définit</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87336233"/>
                  </a:ext>
                </a:extLst>
              </a:tr>
              <a:tr h="506834">
                <a:tc vMerge="1">
                  <a:txBody>
                    <a:bodyPr/>
                    <a:lstStyle/>
                    <a:p>
                      <a:pPr lvl="0"/>
                      <a:endParaRPr lang="fr-FR" sz="80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noProof="0"/>
                        <a:t>Valider le respect des ententes bancaires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 Trésorerie corpo</a:t>
                      </a:r>
                      <a:endParaRPr lang="fr-CA" sz="800" kern="1200" noProof="0">
                        <a:solidFill>
                          <a:schemeClr val="dk1"/>
                        </a:solidFill>
                        <a:latin typeface="+mn-lt"/>
                        <a:ea typeface="+mn-ea"/>
                        <a:cs typeface="+mn-cs"/>
                      </a:endParaRP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800" noProof="0"/>
                        <a:t>Exercice périodique</a:t>
                      </a:r>
                    </a:p>
                    <a:p>
                      <a:pPr marL="85725" indent="-85725">
                        <a:buFont typeface="Arial" panose="020B0604020202020204" pitchFamily="34" charset="0"/>
                        <a:buChar char="•"/>
                      </a:pPr>
                      <a:r>
                        <a:rPr lang="fr-CA" sz="800" noProof="0"/>
                        <a:t>Détection d’anomalie dans d’autres processus</a:t>
                      </a: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800" noProof="0"/>
                        <a:t>Adhoc</a:t>
                      </a:r>
                    </a:p>
                    <a:p>
                      <a:pPr marL="0" indent="0">
                        <a:buFont typeface="Arial" panose="020B0604020202020204" pitchFamily="34" charset="0"/>
                        <a:buNone/>
                      </a:pPr>
                      <a:endParaRPr lang="fr-CA" sz="800" noProof="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800" kern="1200" noProof="0">
                          <a:solidFill>
                            <a:schemeClr val="dk1"/>
                          </a:solidFill>
                          <a:latin typeface="+mn-lt"/>
                          <a:ea typeface="+mn-ea"/>
                          <a:cs typeface="+mn-cs"/>
                        </a:rPr>
                        <a:t>Les frais bancaires doivent être comparés à ce que la banque nous facture à fin de mettre en lumière les éventuels écarts</a:t>
                      </a:r>
                    </a:p>
                    <a:p>
                      <a:pPr marL="177800" lvl="1"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CSP bancaire : monitore les cas simples </a:t>
                      </a:r>
                    </a:p>
                    <a:p>
                      <a:pPr marL="177800" lvl="1"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Trésorerie : monitore les cas les plus complexes</a:t>
                      </a:r>
                    </a:p>
                    <a:p>
                      <a:pPr marL="0" indent="0">
                        <a:buFont typeface="Arial" panose="020B0604020202020204" pitchFamily="34" charset="0"/>
                        <a:buNone/>
                      </a:pPr>
                      <a:endParaRPr lang="fr-CA" sz="800" noProof="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Respect des ententes bancaire validé</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7066582"/>
                  </a:ext>
                </a:extLst>
              </a:tr>
              <a:tr h="371679">
                <a:tc vMerge="1">
                  <a:txBody>
                    <a:bodyPr/>
                    <a:lstStyle/>
                    <a:p>
                      <a:endParaRPr lang="fr-F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noProof="0"/>
                        <a:t>Mettre en place les rapports et tableaux de bord</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 Trésorerie corpo</a:t>
                      </a:r>
                      <a:endParaRPr lang="fr-CA" sz="800" kern="1200" noProof="0">
                        <a:solidFill>
                          <a:schemeClr val="dk1"/>
                        </a:solidFill>
                        <a:latin typeface="+mn-lt"/>
                        <a:ea typeface="+mn-ea"/>
                        <a:cs typeface="+mn-cs"/>
                      </a:endParaRP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800" noProof="0"/>
                        <a:t>Exercice périodique</a:t>
                      </a:r>
                    </a:p>
                    <a:p>
                      <a:pPr marL="85725" indent="-85725">
                        <a:buFont typeface="Arial" panose="020B0604020202020204" pitchFamily="34" charset="0"/>
                        <a:buChar char="•"/>
                      </a:pPr>
                      <a:r>
                        <a:rPr lang="fr-CA" sz="800" noProof="0"/>
                        <a:t>Adhoc</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fr-CA" sz="800" noProof="0"/>
                        <a:t>Mettre en places les rapports et Dashboard nécessaires au suivi des frais bancaire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800" noProof="0"/>
                        <a:t>Rapport e Dashboard configurées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7571836"/>
                  </a:ext>
                </a:extLst>
              </a:tr>
              <a:tr h="506834">
                <a:tc vMerge="1">
                  <a:txBody>
                    <a:bodyPr/>
                    <a:lstStyle/>
                    <a:p>
                      <a:endParaRPr lang="fr-CA" sz="80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CA" sz="800" noProof="0"/>
                        <a:t>Réviser les ententes de frais bancaires avec les banques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fr-CA" sz="800" noProof="0"/>
                        <a:t>CSP bancaire Trésorerie corpo</a:t>
                      </a:r>
                      <a:endParaRPr lang="fr-CA" sz="800" kern="1200" noProof="0">
                        <a:solidFill>
                          <a:schemeClr val="dk1"/>
                        </a:solidFill>
                        <a:latin typeface="+mn-lt"/>
                        <a:ea typeface="+mn-ea"/>
                        <a:cs typeface="+mn-cs"/>
                      </a:endParaRP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800" noProof="0"/>
                        <a:t>Exercice périodique</a:t>
                      </a:r>
                    </a:p>
                    <a:p>
                      <a:pPr marL="85725" indent="-85725">
                        <a:buFont typeface="Arial" panose="020B0604020202020204" pitchFamily="34" charset="0"/>
                        <a:buChar char="•"/>
                      </a:pPr>
                      <a:r>
                        <a:rPr lang="fr-CA" sz="800" kern="1200" noProof="0">
                          <a:solidFill>
                            <a:schemeClr val="dk1"/>
                          </a:solidFill>
                          <a:latin typeface="+mn-lt"/>
                          <a:ea typeface="+mn-ea"/>
                          <a:cs typeface="+mn-cs"/>
                        </a:rPr>
                        <a:t>Échéance d’une entente bancaire</a:t>
                      </a:r>
                    </a:p>
                    <a:p>
                      <a:pPr marL="85725" indent="-85725">
                        <a:buFont typeface="Arial" panose="020B0604020202020204" pitchFamily="34" charset="0"/>
                        <a:buChar char="•"/>
                      </a:pPr>
                      <a:r>
                        <a:rPr lang="fr-CA" sz="800" kern="1200" noProof="0">
                          <a:solidFill>
                            <a:schemeClr val="dk1"/>
                          </a:solidFill>
                          <a:latin typeface="+mn-lt"/>
                          <a:ea typeface="+mn-ea"/>
                          <a:cs typeface="+mn-cs"/>
                        </a:rPr>
                        <a:t>Évènement majeur</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177800" lvl="1"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CSP bancaire : Identifier et communiquer les opportunités, opérationnaliser les changements dans la structure bancaires</a:t>
                      </a:r>
                    </a:p>
                    <a:p>
                      <a:pPr marL="177800" lvl="1"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Trésorerie : Négocie avec la banque et adapte la stratégie de gestion de structure bancaire</a:t>
                      </a:r>
                      <a:endParaRPr lang="fr-CA" sz="800" noProof="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buFont typeface="Arial" panose="020B0604020202020204" pitchFamily="34" charset="0"/>
                        <a:buChar char="•"/>
                      </a:pPr>
                      <a:r>
                        <a:rPr lang="fr-CA" sz="800" noProof="0"/>
                        <a:t>Ententes révisées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6716176"/>
                  </a:ext>
                </a:extLst>
              </a:tr>
            </a:tbl>
          </a:graphicData>
        </a:graphic>
      </p:graphicFrame>
    </p:spTree>
    <p:extLst>
      <p:ext uri="{BB962C8B-B14F-4D97-AF65-F5344CB8AC3E}">
        <p14:creationId xmlns:p14="http://schemas.microsoft.com/office/powerpoint/2010/main" val="15104404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9B4919-7FAE-F3BE-C866-94CAE861D03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D7B65F3-7F00-9890-FC4A-129B8D9B5838}"/>
              </a:ext>
            </a:extLst>
          </p:cNvPr>
          <p:cNvSpPr>
            <a:spLocks noGrp="1"/>
          </p:cNvSpPr>
          <p:nvPr>
            <p:ph type="title"/>
          </p:nvPr>
        </p:nvSpPr>
        <p:spPr>
          <a:xfrm>
            <a:off x="207818" y="1"/>
            <a:ext cx="8936181" cy="429490"/>
          </a:xfrm>
          <a:solidFill>
            <a:schemeClr val="tx1"/>
          </a:solidFill>
        </p:spPr>
        <p:txBody>
          <a:bodyPr vert="horz" lIns="91440" tIns="45720" rIns="91440" bIns="45720" rtlCol="0" anchor="ctr">
            <a:normAutofit/>
          </a:bodyPr>
          <a:lstStyle/>
          <a:p>
            <a:r>
              <a:rPr lang="fr-CA" sz="2400" b="1" noProof="0">
                <a:solidFill>
                  <a:schemeClr val="bg1"/>
                </a:solidFill>
              </a:rPr>
              <a:t>Cas d’utilisation affaires R2</a:t>
            </a:r>
          </a:p>
        </p:txBody>
      </p:sp>
      <p:graphicFrame>
        <p:nvGraphicFramePr>
          <p:cNvPr id="4" name="Tableau 8">
            <a:extLst>
              <a:ext uri="{FF2B5EF4-FFF2-40B4-BE49-F238E27FC236}">
                <a16:creationId xmlns:a16="http://schemas.microsoft.com/office/drawing/2014/main" id="{0C1B8995-DC45-BFF1-234F-617444E04D35}"/>
              </a:ext>
            </a:extLst>
          </p:cNvPr>
          <p:cNvGraphicFramePr>
            <a:graphicFrameLocks noGrp="1"/>
          </p:cNvGraphicFramePr>
          <p:nvPr>
            <p:ph idx="1"/>
            <p:extLst>
              <p:ext uri="{D42A27DB-BD31-4B8C-83A1-F6EECF244321}">
                <p14:modId xmlns:p14="http://schemas.microsoft.com/office/powerpoint/2010/main" val="787832037"/>
              </p:ext>
            </p:extLst>
          </p:nvPr>
        </p:nvGraphicFramePr>
        <p:xfrm>
          <a:off x="366674" y="874479"/>
          <a:ext cx="8618468" cy="1876470"/>
        </p:xfrm>
        <a:graphic>
          <a:graphicData uri="http://schemas.openxmlformats.org/drawingml/2006/table">
            <a:tbl>
              <a:tblPr firstRow="1">
                <a:tableStyleId>{073A0DAA-6AF3-43AB-8588-CEC1D06C72B9}</a:tableStyleId>
              </a:tblPr>
              <a:tblGrid>
                <a:gridCol w="937850">
                  <a:extLst>
                    <a:ext uri="{9D8B030D-6E8A-4147-A177-3AD203B41FA5}">
                      <a16:colId xmlns:a16="http://schemas.microsoft.com/office/drawing/2014/main" val="3500930570"/>
                    </a:ext>
                  </a:extLst>
                </a:gridCol>
                <a:gridCol w="1178148">
                  <a:extLst>
                    <a:ext uri="{9D8B030D-6E8A-4147-A177-3AD203B41FA5}">
                      <a16:colId xmlns:a16="http://schemas.microsoft.com/office/drawing/2014/main" val="382091172"/>
                    </a:ext>
                  </a:extLst>
                </a:gridCol>
                <a:gridCol w="1336745">
                  <a:extLst>
                    <a:ext uri="{9D8B030D-6E8A-4147-A177-3AD203B41FA5}">
                      <a16:colId xmlns:a16="http://schemas.microsoft.com/office/drawing/2014/main" val="4174676584"/>
                    </a:ext>
                  </a:extLst>
                </a:gridCol>
                <a:gridCol w="1450028">
                  <a:extLst>
                    <a:ext uri="{9D8B030D-6E8A-4147-A177-3AD203B41FA5}">
                      <a16:colId xmlns:a16="http://schemas.microsoft.com/office/drawing/2014/main" val="311002029"/>
                    </a:ext>
                  </a:extLst>
                </a:gridCol>
                <a:gridCol w="2129730">
                  <a:extLst>
                    <a:ext uri="{9D8B030D-6E8A-4147-A177-3AD203B41FA5}">
                      <a16:colId xmlns:a16="http://schemas.microsoft.com/office/drawing/2014/main" val="1873745783"/>
                    </a:ext>
                  </a:extLst>
                </a:gridCol>
                <a:gridCol w="1585967">
                  <a:extLst>
                    <a:ext uri="{9D8B030D-6E8A-4147-A177-3AD203B41FA5}">
                      <a16:colId xmlns:a16="http://schemas.microsoft.com/office/drawing/2014/main" val="3393739696"/>
                    </a:ext>
                  </a:extLst>
                </a:gridCol>
              </a:tblGrid>
              <a:tr h="515964">
                <a:tc>
                  <a:txBody>
                    <a:bodyPr/>
                    <a:lstStyle/>
                    <a:p>
                      <a:pPr algn="ctr"/>
                      <a:r>
                        <a:rPr lang="fr-CA" sz="1000" noProof="0"/>
                        <a:t>Fonctions d’affaires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CA" sz="1000" noProof="0"/>
                        <a:t>Cas utilisation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Acteurs impliqués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Déclencheurs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Description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Résultat attendu</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955524767"/>
                  </a:ext>
                </a:extLst>
              </a:tr>
              <a:tr h="680253">
                <a:tc rowSpan="2">
                  <a:txBody>
                    <a:bodyPr/>
                    <a:lstStyle/>
                    <a:p>
                      <a:pPr algn="ctr"/>
                      <a:r>
                        <a:rPr lang="fr-CA" sz="800" noProof="0"/>
                        <a:t>Traiter un paiement ou</a:t>
                      </a:r>
                    </a:p>
                    <a:p>
                      <a:pPr algn="ctr"/>
                      <a:r>
                        <a:rPr lang="fr-CA" sz="800" noProof="0"/>
                        <a:t>Une perception</a:t>
                      </a:r>
                    </a:p>
                  </a:txBody>
                  <a:tcPr marL="84092" marR="840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CA" sz="800" noProof="0"/>
                        <a:t>Soumettre un paiement par Dépôt Direct</a:t>
                      </a:r>
                    </a:p>
                    <a:p>
                      <a:r>
                        <a:rPr lang="fr-CA" sz="800" b="1" noProof="0"/>
                        <a:t>automatiquement</a:t>
                      </a:r>
                    </a:p>
                  </a:txBody>
                  <a:tcPr marL="84092" marR="840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CA" sz="800" noProof="0"/>
                        <a:t>CSP bancaires</a:t>
                      </a:r>
                    </a:p>
                    <a:p>
                      <a:pPr algn="ctr"/>
                      <a:r>
                        <a:rPr lang="fr-CA" sz="800" noProof="0"/>
                        <a:t>Assurance VI</a:t>
                      </a:r>
                    </a:p>
                  </a:txBody>
                  <a:tcPr marL="84092" marR="840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pPr>
                      <a:r>
                        <a:rPr lang="fr-CA" sz="800" noProof="0"/>
                        <a:t>Échéance de paiement due (pas obligatoirement le jour même, peut être anticipée)</a:t>
                      </a:r>
                    </a:p>
                  </a:txBody>
                  <a:tcPr marL="84092" marR="840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fr-CA" sz="800" noProof="0"/>
                        <a:t>Le système de mission soumet les demandes de paiement par lot plusieurs fois par jour</a:t>
                      </a:r>
                    </a:p>
                  </a:txBody>
                  <a:tcPr marL="84092" marR="840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kern="1200" noProof="0">
                          <a:solidFill>
                            <a:schemeClr val="dk1"/>
                          </a:solidFill>
                          <a:latin typeface="+mn-lt"/>
                          <a:ea typeface="+mn-ea"/>
                          <a:cs typeface="+mn-cs"/>
                        </a:rPr>
                        <a:t>Demandes de paiements reçut dans le hub de paiement et soumises pour validation.</a:t>
                      </a:r>
                    </a:p>
                  </a:txBody>
                  <a:tcPr marL="84092" marR="840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51639710"/>
                  </a:ext>
                </a:extLst>
              </a:tr>
              <a:tr h="680253">
                <a:tc vMerge="1">
                  <a:txBody>
                    <a:bodyPr/>
                    <a:lstStyle/>
                    <a:p>
                      <a:endParaRPr lang="fr-FR"/>
                    </a:p>
                  </a:txBody>
                  <a:tcPr>
                    <a:lnT w="6350" cap="flat" cmpd="sng" algn="ctr">
                      <a:solidFill>
                        <a:schemeClr val="tx1"/>
                      </a:solid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noProof="0"/>
                        <a:t>Soumettre une perception par DPA</a:t>
                      </a:r>
                    </a:p>
                    <a:p>
                      <a:pPr marL="0" marR="0" lvl="0" indent="0" algn="l" defTabSz="914400" rtl="0" eaLnBrk="1" fontAlgn="auto" latinLnBrk="0" hangingPunct="1">
                        <a:lnSpc>
                          <a:spcPct val="100000"/>
                        </a:lnSpc>
                        <a:spcBef>
                          <a:spcPts val="0"/>
                        </a:spcBef>
                        <a:spcAft>
                          <a:spcPts val="0"/>
                        </a:spcAft>
                        <a:buClrTx/>
                        <a:buSzTx/>
                        <a:buFontTx/>
                        <a:buNone/>
                        <a:tabLst/>
                        <a:defRPr/>
                      </a:pPr>
                      <a:r>
                        <a:rPr lang="fr-CA" sz="800" b="1" noProof="0"/>
                        <a:t>automatiquement</a:t>
                      </a:r>
                      <a:endParaRPr lang="fr-CA" sz="800" noProof="0"/>
                    </a:p>
                  </a:txBody>
                  <a:tcPr marL="84092" marR="840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fr-CA" sz="800" noProof="0"/>
                        <a:t>CSP bancaires</a:t>
                      </a:r>
                    </a:p>
                    <a:p>
                      <a:pPr algn="ctr"/>
                      <a:r>
                        <a:rPr lang="fr-CA" sz="800" noProof="0"/>
                        <a:t>Assurance VI</a:t>
                      </a:r>
                    </a:p>
                  </a:txBody>
                  <a:tcPr marL="84092" marR="840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buFont typeface="Arial" panose="020B0604020202020204" pitchFamily="34" charset="0"/>
                        <a:buNone/>
                      </a:pPr>
                      <a:r>
                        <a:rPr lang="fr-CA" sz="800" noProof="0"/>
                        <a:t>Perception due selon  entente mise en place</a:t>
                      </a:r>
                    </a:p>
                  </a:txBody>
                  <a:tcPr marL="84092" marR="840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noProof="0"/>
                        <a:t>Le système de mission soumet les demandes de perception par lot plusieurs fois par jour</a:t>
                      </a:r>
                    </a:p>
                  </a:txBody>
                  <a:tcPr marL="84092" marR="840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kern="1200" noProof="0">
                          <a:solidFill>
                            <a:schemeClr val="dk1"/>
                          </a:solidFill>
                          <a:latin typeface="+mn-lt"/>
                          <a:ea typeface="+mn-ea"/>
                          <a:cs typeface="+mn-cs"/>
                        </a:rPr>
                        <a:t>Demandes de perceptions reçut dans le hub de paiement et soumises pour validation.</a:t>
                      </a:r>
                    </a:p>
                  </a:txBody>
                  <a:tcPr marL="84092" marR="840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53130270"/>
                  </a:ext>
                </a:extLst>
              </a:tr>
            </a:tbl>
          </a:graphicData>
        </a:graphic>
      </p:graphicFrame>
      <p:sp>
        <p:nvSpPr>
          <p:cNvPr id="5" name="ZoneTexte 4">
            <a:extLst>
              <a:ext uri="{FF2B5EF4-FFF2-40B4-BE49-F238E27FC236}">
                <a16:creationId xmlns:a16="http://schemas.microsoft.com/office/drawing/2014/main" id="{67B04254-9789-B205-0CB2-CCA3A6095269}"/>
              </a:ext>
            </a:extLst>
          </p:cNvPr>
          <p:cNvSpPr txBox="1"/>
          <p:nvPr/>
        </p:nvSpPr>
        <p:spPr>
          <a:xfrm>
            <a:off x="356462" y="4843085"/>
            <a:ext cx="4572000" cy="276999"/>
          </a:xfrm>
          <a:prstGeom prst="rect">
            <a:avLst/>
          </a:prstGeom>
          <a:noFill/>
        </p:spPr>
        <p:txBody>
          <a:bodyPr wrap="square">
            <a:spAutoFit/>
          </a:bodyPr>
          <a:lstStyle/>
          <a:p>
            <a:r>
              <a:rPr lang="fr-CA" sz="1200" i="1" noProof="0"/>
              <a:t>* Unités d’affaires : Lignes d’affaire, secteurs corporatifs et filiales</a:t>
            </a:r>
          </a:p>
        </p:txBody>
      </p:sp>
    </p:spTree>
    <p:extLst>
      <p:ext uri="{BB962C8B-B14F-4D97-AF65-F5344CB8AC3E}">
        <p14:creationId xmlns:p14="http://schemas.microsoft.com/office/powerpoint/2010/main" val="14776304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3DE84-CBD8-6D29-EE74-3BD2A8FBF69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5A726B6-59DF-F4BE-1D11-54D5A8F70EA2}"/>
              </a:ext>
            </a:extLst>
          </p:cNvPr>
          <p:cNvSpPr>
            <a:spLocks noGrp="1"/>
          </p:cNvSpPr>
          <p:nvPr>
            <p:ph type="title"/>
          </p:nvPr>
        </p:nvSpPr>
        <p:spPr>
          <a:xfrm>
            <a:off x="207818" y="1"/>
            <a:ext cx="8936181" cy="429490"/>
          </a:xfrm>
          <a:solidFill>
            <a:schemeClr val="tx1"/>
          </a:solidFill>
        </p:spPr>
        <p:txBody>
          <a:bodyPr vert="horz" lIns="91440" tIns="45720" rIns="91440" bIns="45720" rtlCol="0" anchor="ctr">
            <a:normAutofit/>
          </a:bodyPr>
          <a:lstStyle/>
          <a:p>
            <a:r>
              <a:rPr lang="fr-CA" sz="2400" b="1" noProof="0">
                <a:solidFill>
                  <a:schemeClr val="bg1"/>
                </a:solidFill>
              </a:rPr>
              <a:t>Cas d’utilisation affaires R3</a:t>
            </a:r>
          </a:p>
        </p:txBody>
      </p:sp>
      <p:graphicFrame>
        <p:nvGraphicFramePr>
          <p:cNvPr id="4" name="Tableau 8">
            <a:extLst>
              <a:ext uri="{FF2B5EF4-FFF2-40B4-BE49-F238E27FC236}">
                <a16:creationId xmlns:a16="http://schemas.microsoft.com/office/drawing/2014/main" id="{93C4E7E3-90A9-362C-0130-57EE81691ECC}"/>
              </a:ext>
            </a:extLst>
          </p:cNvPr>
          <p:cNvGraphicFramePr>
            <a:graphicFrameLocks noGrp="1"/>
          </p:cNvGraphicFramePr>
          <p:nvPr>
            <p:ph idx="1"/>
            <p:extLst>
              <p:ext uri="{D42A27DB-BD31-4B8C-83A1-F6EECF244321}">
                <p14:modId xmlns:p14="http://schemas.microsoft.com/office/powerpoint/2010/main" val="638657372"/>
              </p:ext>
            </p:extLst>
          </p:nvPr>
        </p:nvGraphicFramePr>
        <p:xfrm>
          <a:off x="320179" y="520774"/>
          <a:ext cx="8711458" cy="4129116"/>
        </p:xfrm>
        <a:graphic>
          <a:graphicData uri="http://schemas.openxmlformats.org/drawingml/2006/table">
            <a:tbl>
              <a:tblPr firstRow="1">
                <a:tableStyleId>{073A0DAA-6AF3-43AB-8588-CEC1D06C72B9}</a:tableStyleId>
              </a:tblPr>
              <a:tblGrid>
                <a:gridCol w="947969">
                  <a:extLst>
                    <a:ext uri="{9D8B030D-6E8A-4147-A177-3AD203B41FA5}">
                      <a16:colId xmlns:a16="http://schemas.microsoft.com/office/drawing/2014/main" val="3500930570"/>
                    </a:ext>
                  </a:extLst>
                </a:gridCol>
                <a:gridCol w="1190860">
                  <a:extLst>
                    <a:ext uri="{9D8B030D-6E8A-4147-A177-3AD203B41FA5}">
                      <a16:colId xmlns:a16="http://schemas.microsoft.com/office/drawing/2014/main" val="382091172"/>
                    </a:ext>
                  </a:extLst>
                </a:gridCol>
                <a:gridCol w="1351168">
                  <a:extLst>
                    <a:ext uri="{9D8B030D-6E8A-4147-A177-3AD203B41FA5}">
                      <a16:colId xmlns:a16="http://schemas.microsoft.com/office/drawing/2014/main" val="4174676584"/>
                    </a:ext>
                  </a:extLst>
                </a:gridCol>
                <a:gridCol w="1465673">
                  <a:extLst>
                    <a:ext uri="{9D8B030D-6E8A-4147-A177-3AD203B41FA5}">
                      <a16:colId xmlns:a16="http://schemas.microsoft.com/office/drawing/2014/main" val="311002029"/>
                    </a:ext>
                  </a:extLst>
                </a:gridCol>
                <a:gridCol w="2290116">
                  <a:extLst>
                    <a:ext uri="{9D8B030D-6E8A-4147-A177-3AD203B41FA5}">
                      <a16:colId xmlns:a16="http://schemas.microsoft.com/office/drawing/2014/main" val="1873745783"/>
                    </a:ext>
                  </a:extLst>
                </a:gridCol>
                <a:gridCol w="1465672">
                  <a:extLst>
                    <a:ext uri="{9D8B030D-6E8A-4147-A177-3AD203B41FA5}">
                      <a16:colId xmlns:a16="http://schemas.microsoft.com/office/drawing/2014/main" val="3393739696"/>
                    </a:ext>
                  </a:extLst>
                </a:gridCol>
              </a:tblGrid>
              <a:tr h="559810">
                <a:tc>
                  <a:txBody>
                    <a:bodyPr/>
                    <a:lstStyle/>
                    <a:p>
                      <a:pPr algn="ctr"/>
                      <a:r>
                        <a:rPr lang="fr-CA" sz="1000" noProof="0"/>
                        <a:t>Fonctions d’affaires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CA" sz="1000" noProof="0"/>
                        <a:t>Cas utilisation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Acteurs impliqués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Déclencheurs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Description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Résultat attendu</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955524767"/>
                  </a:ext>
                </a:extLst>
              </a:tr>
              <a:tr h="738060">
                <a:tc rowSpan="5">
                  <a:txBody>
                    <a:bodyPr/>
                    <a:lstStyle/>
                    <a:p>
                      <a:pPr algn="ctr"/>
                      <a:r>
                        <a:rPr lang="fr-CA" sz="800" noProof="0"/>
                        <a:t>Traiter un paiement ou</a:t>
                      </a:r>
                    </a:p>
                    <a:p>
                      <a:pPr algn="ctr"/>
                      <a:r>
                        <a:rPr lang="fr-CA" sz="800" noProof="0"/>
                        <a:t>Une perception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CA" sz="800" noProof="0"/>
                        <a:t>Soumettre un paiement par chèque</a:t>
                      </a:r>
                    </a:p>
                    <a:p>
                      <a:r>
                        <a:rPr lang="fr-CA" sz="800" b="1" noProof="0"/>
                        <a:t>automatiquement</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bancaires</a:t>
                      </a:r>
                    </a:p>
                    <a:p>
                      <a:pPr algn="ctr"/>
                      <a:r>
                        <a:rPr lang="fr-CA" sz="800" noProof="0"/>
                        <a:t>Toutes les unités d’affaires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noProof="0"/>
                        <a:t>Échéance de paiement due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noProof="0"/>
                        <a:t>Le système de mission soumet les demandes de paiement par lot plusieurs fois par jour</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kern="1200" noProof="0">
                          <a:solidFill>
                            <a:schemeClr val="dk1"/>
                          </a:solidFill>
                          <a:latin typeface="+mn-lt"/>
                          <a:ea typeface="+mn-ea"/>
                          <a:cs typeface="+mn-cs"/>
                        </a:rPr>
                        <a:t>Demandes de paiements reçut dans le hub de paiement et soumises pour validation.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51639710"/>
                  </a:ext>
                </a:extLst>
              </a:tr>
              <a:tr h="645935">
                <a:tc vMerge="1">
                  <a:txBody>
                    <a:bodyPr/>
                    <a:lstStyle/>
                    <a:p>
                      <a:endParaRPr lang="fr-FR"/>
                    </a:p>
                  </a:txBody>
                  <a:tcPr/>
                </a:tc>
                <a:tc>
                  <a:txBody>
                    <a:bodyPr/>
                    <a:lstStyle/>
                    <a:p>
                      <a:r>
                        <a:rPr lang="fr-CA" sz="800" noProof="0"/>
                        <a:t>Soumettre un paiement par Dépôt Direct</a:t>
                      </a:r>
                    </a:p>
                    <a:p>
                      <a:r>
                        <a:rPr lang="fr-CA" sz="800" b="1" noProof="0"/>
                        <a:t>manuellement</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bancaires</a:t>
                      </a:r>
                    </a:p>
                    <a:p>
                      <a:pPr algn="ctr"/>
                      <a:r>
                        <a:rPr lang="fr-CA" sz="800" noProof="0"/>
                        <a:t>Toutes les unités d’affaire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buFont typeface="Arial" panose="020B0604020202020204" pitchFamily="34" charset="0"/>
                        <a:buChar char="•"/>
                      </a:pPr>
                      <a:r>
                        <a:rPr lang="fr-CA" sz="800" noProof="0"/>
                        <a:t>Échéance de paiement due</a:t>
                      </a:r>
                    </a:p>
                    <a:p>
                      <a:pPr marL="85725" indent="-85725">
                        <a:buFont typeface="Arial" panose="020B0604020202020204" pitchFamily="34" charset="0"/>
                        <a:buChar char="•"/>
                      </a:pPr>
                      <a:r>
                        <a:rPr lang="fr-CA" sz="800" noProof="0"/>
                        <a:t>Ad hoc</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fr-CA" sz="800" noProof="0"/>
                        <a:t>Saisir une demande de paiement par dépôt direct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l" defTabSz="914400" rtl="0" eaLnBrk="1" latinLnBrk="0" hangingPunct="1">
                        <a:buFont typeface="Arial" panose="020B0604020202020204" pitchFamily="34" charset="0"/>
                        <a:buNone/>
                      </a:pPr>
                      <a:r>
                        <a:rPr lang="fr-CA" sz="800" kern="1200" noProof="0">
                          <a:solidFill>
                            <a:schemeClr val="dk1"/>
                          </a:solidFill>
                          <a:latin typeface="+mn-lt"/>
                          <a:ea typeface="+mn-ea"/>
                          <a:cs typeface="+mn-cs"/>
                        </a:rPr>
                        <a:t>Demande de paiement saisie et soumise pour validation et approbation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32242139"/>
                  </a:ext>
                </a:extLst>
              </a:tr>
              <a:tr h="645935">
                <a:tc vMerge="1">
                  <a:txBody>
                    <a:bodyPr/>
                    <a:lstStyle/>
                    <a:p>
                      <a:endParaRPr lang="fr-FR"/>
                    </a:p>
                  </a:txBody>
                  <a:tcPr/>
                </a:tc>
                <a:tc>
                  <a:txBody>
                    <a:bodyPr/>
                    <a:lstStyle/>
                    <a:p>
                      <a:r>
                        <a:rPr lang="fr-CA" sz="800" noProof="0"/>
                        <a:t>Soumettre un paiement par chèque</a:t>
                      </a:r>
                    </a:p>
                    <a:p>
                      <a:r>
                        <a:rPr lang="fr-CA" sz="800" b="1" noProof="0"/>
                        <a:t>manuellement</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bancaires</a:t>
                      </a:r>
                    </a:p>
                    <a:p>
                      <a:pPr algn="ctr"/>
                      <a:r>
                        <a:rPr lang="fr-CA" sz="800" noProof="0"/>
                        <a:t>Toutes les unités d’affaires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buFont typeface="Arial" panose="020B0604020202020204" pitchFamily="34" charset="0"/>
                        <a:buChar char="•"/>
                      </a:pPr>
                      <a:r>
                        <a:rPr lang="fr-CA" sz="800" noProof="0"/>
                        <a:t>Échéance de paiement due</a:t>
                      </a:r>
                    </a:p>
                    <a:p>
                      <a:pPr marL="85725" indent="-85725">
                        <a:buFont typeface="Arial" panose="020B0604020202020204" pitchFamily="34" charset="0"/>
                        <a:buChar char="•"/>
                      </a:pPr>
                      <a:r>
                        <a:rPr lang="fr-CA" sz="800" noProof="0"/>
                        <a:t>Ad hoc</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noProof="0"/>
                        <a:t>Saisir une demande de paiement par chèques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kern="1200" noProof="0">
                          <a:solidFill>
                            <a:schemeClr val="dk1"/>
                          </a:solidFill>
                          <a:latin typeface="+mn-lt"/>
                          <a:ea typeface="+mn-ea"/>
                          <a:cs typeface="+mn-cs"/>
                        </a:rPr>
                        <a:t>Demande de paiement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kern="1200" noProof="0">
                          <a:solidFill>
                            <a:schemeClr val="dk1"/>
                          </a:solidFill>
                          <a:latin typeface="+mn-lt"/>
                          <a:ea typeface="+mn-ea"/>
                          <a:cs typeface="+mn-cs"/>
                        </a:rPr>
                        <a:t>saisie et soumise pour validation et approbation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53130270"/>
                  </a:ext>
                </a:extLst>
              </a:tr>
              <a:tr h="645935">
                <a:tc vMerge="1">
                  <a:txBody>
                    <a:bodyPr/>
                    <a:lstStyle/>
                    <a:p>
                      <a:endParaRPr lang="fr-F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noProof="0"/>
                        <a:t>Soumettre une perception par DPA</a:t>
                      </a:r>
                    </a:p>
                    <a:p>
                      <a:r>
                        <a:rPr lang="fr-CA" sz="800" b="1" noProof="0"/>
                        <a:t>manuellement</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bancaires</a:t>
                      </a:r>
                    </a:p>
                    <a:p>
                      <a:pPr algn="ctr"/>
                      <a:r>
                        <a:rPr lang="fr-CA" sz="800" noProof="0"/>
                        <a:t>Toutes les unités d’affaires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buFont typeface="Arial" panose="020B0604020202020204" pitchFamily="34" charset="0"/>
                        <a:buChar char="•"/>
                      </a:pPr>
                      <a:r>
                        <a:rPr lang="fr-CA" sz="800" noProof="0"/>
                        <a:t>Échéance de perception due</a:t>
                      </a:r>
                    </a:p>
                    <a:p>
                      <a:pPr marL="85725" indent="-85725">
                        <a:buFont typeface="Arial" panose="020B0604020202020204" pitchFamily="34" charset="0"/>
                        <a:buChar char="•"/>
                      </a:pPr>
                      <a:r>
                        <a:rPr lang="fr-CA" sz="800" noProof="0"/>
                        <a:t>Ad hoc</a:t>
                      </a:r>
                    </a:p>
                    <a:p>
                      <a:pPr marL="85725" indent="-85725">
                        <a:buFont typeface="Arial" panose="020B0604020202020204" pitchFamily="34" charset="0"/>
                        <a:buChar char="•"/>
                      </a:pPr>
                      <a:endParaRPr lang="fr-CA" sz="800" noProof="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fr-CA" sz="800" noProof="0"/>
                        <a:t>Saisir une demande de perception par DPA</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kern="1200" noProof="0">
                          <a:solidFill>
                            <a:schemeClr val="dk1"/>
                          </a:solidFill>
                          <a:latin typeface="+mn-lt"/>
                          <a:ea typeface="+mn-ea"/>
                          <a:cs typeface="+mn-cs"/>
                        </a:rPr>
                        <a:t>Demande de perception saisie et soumise pour validation et approbation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95744131"/>
                  </a:ext>
                </a:extLst>
              </a:tr>
              <a:tr h="893441">
                <a:tc vMerge="1">
                  <a:txBody>
                    <a:bodyPr/>
                    <a:lstStyle/>
                    <a:p>
                      <a:pPr algn="ctr"/>
                      <a:endParaRPr lang="fr-FR" sz="80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noProof="0"/>
                        <a:t>Soumettre un paiement  par virement</a:t>
                      </a:r>
                    </a:p>
                    <a:p>
                      <a:r>
                        <a:rPr lang="fr-CA" sz="800" b="1" noProof="0"/>
                        <a:t>Manuellement</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bancaires</a:t>
                      </a:r>
                    </a:p>
                    <a:p>
                      <a:pPr algn="ctr"/>
                      <a:r>
                        <a:rPr lang="fr-CA" sz="800" noProof="0"/>
                        <a:t>Toutes les unités d’affaires *</a:t>
                      </a:r>
                    </a:p>
                    <a:p>
                      <a:pPr algn="ctr"/>
                      <a:endParaRPr lang="fr-CA" sz="800" noProof="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buFont typeface="Arial" panose="020B0604020202020204" pitchFamily="34" charset="0"/>
                        <a:buChar char="•"/>
                      </a:pPr>
                      <a:r>
                        <a:rPr lang="fr-CA" sz="800" noProof="0"/>
                        <a:t>Transfert inter-filiales</a:t>
                      </a:r>
                    </a:p>
                    <a:p>
                      <a:pPr marL="85725" indent="-85725">
                        <a:buFont typeface="Arial" panose="020B0604020202020204" pitchFamily="34" charset="0"/>
                        <a:buChar char="•"/>
                      </a:pPr>
                      <a:r>
                        <a:rPr lang="fr-CA" sz="800" noProof="0"/>
                        <a:t>Renflouement de compte</a:t>
                      </a:r>
                    </a:p>
                    <a:p>
                      <a:pPr marL="85725" indent="-85725">
                        <a:buFont typeface="Arial" panose="020B0604020202020204" pitchFamily="34" charset="0"/>
                        <a:buChar char="•"/>
                      </a:pPr>
                      <a:r>
                        <a:rPr lang="fr-CA" sz="800" noProof="0"/>
                        <a:t>Acquisition</a:t>
                      </a:r>
                    </a:p>
                    <a:p>
                      <a:pPr marL="85725" indent="-85725">
                        <a:buFont typeface="Arial" panose="020B0604020202020204" pitchFamily="34" charset="0"/>
                        <a:buChar char="•"/>
                      </a:pPr>
                      <a:r>
                        <a:rPr lang="fr-CA" sz="800" noProof="0"/>
                        <a:t>Paiement fournisseur</a:t>
                      </a:r>
                    </a:p>
                    <a:p>
                      <a:pPr marL="85725" indent="-85725">
                        <a:buFont typeface="Arial" panose="020B0604020202020204" pitchFamily="34" charset="0"/>
                        <a:buChar char="•"/>
                      </a:pPr>
                      <a:endParaRPr lang="fr-CA" sz="800" noProof="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fr-CA" sz="800" noProof="0"/>
                        <a:t>Pour divers raisons les partenaires peuvent avoir besoin de saisir une demande de virement télégraphique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kern="1200" noProof="0">
                          <a:solidFill>
                            <a:schemeClr val="dk1"/>
                          </a:solidFill>
                          <a:latin typeface="+mn-lt"/>
                          <a:ea typeface="+mn-ea"/>
                          <a:cs typeface="+mn-cs"/>
                        </a:rPr>
                        <a:t>Demande de paiement saisie et soumise pour validation et approbation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97354087"/>
                  </a:ext>
                </a:extLst>
              </a:tr>
            </a:tbl>
          </a:graphicData>
        </a:graphic>
      </p:graphicFrame>
      <p:sp>
        <p:nvSpPr>
          <p:cNvPr id="5" name="ZoneTexte 4">
            <a:extLst>
              <a:ext uri="{FF2B5EF4-FFF2-40B4-BE49-F238E27FC236}">
                <a16:creationId xmlns:a16="http://schemas.microsoft.com/office/drawing/2014/main" id="{DEFA6519-1532-129B-287E-FA9E49BB42E6}"/>
              </a:ext>
            </a:extLst>
          </p:cNvPr>
          <p:cNvSpPr txBox="1"/>
          <p:nvPr/>
        </p:nvSpPr>
        <p:spPr>
          <a:xfrm>
            <a:off x="356462" y="4843085"/>
            <a:ext cx="4572000" cy="276999"/>
          </a:xfrm>
          <a:prstGeom prst="rect">
            <a:avLst/>
          </a:prstGeom>
          <a:noFill/>
        </p:spPr>
        <p:txBody>
          <a:bodyPr wrap="square">
            <a:spAutoFit/>
          </a:bodyPr>
          <a:lstStyle/>
          <a:p>
            <a:r>
              <a:rPr lang="fr-CA" sz="1200" i="1" noProof="0"/>
              <a:t>* Unités d’affaires : Lignes d’affaire, secteurs corporatifs et filiales</a:t>
            </a:r>
          </a:p>
        </p:txBody>
      </p:sp>
    </p:spTree>
    <p:extLst>
      <p:ext uri="{BB962C8B-B14F-4D97-AF65-F5344CB8AC3E}">
        <p14:creationId xmlns:p14="http://schemas.microsoft.com/office/powerpoint/2010/main" val="35392144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64EC3-25B5-8CA0-5D64-E5C9420B5BB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A639C1E-527B-28BC-4F0A-903FD6C2C850}"/>
              </a:ext>
            </a:extLst>
          </p:cNvPr>
          <p:cNvSpPr>
            <a:spLocks noGrp="1"/>
          </p:cNvSpPr>
          <p:nvPr>
            <p:ph type="title"/>
          </p:nvPr>
        </p:nvSpPr>
        <p:spPr>
          <a:xfrm>
            <a:off x="207818" y="1"/>
            <a:ext cx="8936181" cy="429490"/>
          </a:xfrm>
          <a:solidFill>
            <a:schemeClr val="tx1"/>
          </a:solidFill>
        </p:spPr>
        <p:txBody>
          <a:bodyPr vert="horz" lIns="91440" tIns="45720" rIns="91440" bIns="45720" rtlCol="0" anchor="ctr">
            <a:normAutofit/>
          </a:bodyPr>
          <a:lstStyle/>
          <a:p>
            <a:r>
              <a:rPr lang="fr-CA" sz="2400" b="1" noProof="0">
                <a:solidFill>
                  <a:schemeClr val="bg1"/>
                </a:solidFill>
              </a:rPr>
              <a:t>Cas d’utilisation affaires R3</a:t>
            </a:r>
          </a:p>
        </p:txBody>
      </p:sp>
      <p:graphicFrame>
        <p:nvGraphicFramePr>
          <p:cNvPr id="4" name="Tableau 8">
            <a:extLst>
              <a:ext uri="{FF2B5EF4-FFF2-40B4-BE49-F238E27FC236}">
                <a16:creationId xmlns:a16="http://schemas.microsoft.com/office/drawing/2014/main" id="{BE5AEA37-557B-DA02-3E39-193D13BA30A0}"/>
              </a:ext>
            </a:extLst>
          </p:cNvPr>
          <p:cNvGraphicFramePr>
            <a:graphicFrameLocks noGrp="1"/>
          </p:cNvGraphicFramePr>
          <p:nvPr>
            <p:ph idx="1"/>
            <p:extLst>
              <p:ext uri="{D42A27DB-BD31-4B8C-83A1-F6EECF244321}">
                <p14:modId xmlns:p14="http://schemas.microsoft.com/office/powerpoint/2010/main" val="1985872098"/>
              </p:ext>
            </p:extLst>
          </p:nvPr>
        </p:nvGraphicFramePr>
        <p:xfrm>
          <a:off x="254312" y="458382"/>
          <a:ext cx="8843192" cy="4276238"/>
        </p:xfrm>
        <a:graphic>
          <a:graphicData uri="http://schemas.openxmlformats.org/drawingml/2006/table">
            <a:tbl>
              <a:tblPr firstRow="1">
                <a:tableStyleId>{073A0DAA-6AF3-43AB-8588-CEC1D06C72B9}</a:tableStyleId>
              </a:tblPr>
              <a:tblGrid>
                <a:gridCol w="962304">
                  <a:extLst>
                    <a:ext uri="{9D8B030D-6E8A-4147-A177-3AD203B41FA5}">
                      <a16:colId xmlns:a16="http://schemas.microsoft.com/office/drawing/2014/main" val="3500930570"/>
                    </a:ext>
                  </a:extLst>
                </a:gridCol>
                <a:gridCol w="1208868">
                  <a:extLst>
                    <a:ext uri="{9D8B030D-6E8A-4147-A177-3AD203B41FA5}">
                      <a16:colId xmlns:a16="http://schemas.microsoft.com/office/drawing/2014/main" val="382091172"/>
                    </a:ext>
                  </a:extLst>
                </a:gridCol>
                <a:gridCol w="1371600">
                  <a:extLst>
                    <a:ext uri="{9D8B030D-6E8A-4147-A177-3AD203B41FA5}">
                      <a16:colId xmlns:a16="http://schemas.microsoft.com/office/drawing/2014/main" val="4174676584"/>
                    </a:ext>
                  </a:extLst>
                </a:gridCol>
                <a:gridCol w="1611824">
                  <a:extLst>
                    <a:ext uri="{9D8B030D-6E8A-4147-A177-3AD203B41FA5}">
                      <a16:colId xmlns:a16="http://schemas.microsoft.com/office/drawing/2014/main" val="311002029"/>
                    </a:ext>
                  </a:extLst>
                </a:gridCol>
                <a:gridCol w="2502977">
                  <a:extLst>
                    <a:ext uri="{9D8B030D-6E8A-4147-A177-3AD203B41FA5}">
                      <a16:colId xmlns:a16="http://schemas.microsoft.com/office/drawing/2014/main" val="1873745783"/>
                    </a:ext>
                  </a:extLst>
                </a:gridCol>
                <a:gridCol w="1185619">
                  <a:extLst>
                    <a:ext uri="{9D8B030D-6E8A-4147-A177-3AD203B41FA5}">
                      <a16:colId xmlns:a16="http://schemas.microsoft.com/office/drawing/2014/main" val="3393739696"/>
                    </a:ext>
                  </a:extLst>
                </a:gridCol>
              </a:tblGrid>
              <a:tr h="439256">
                <a:tc>
                  <a:txBody>
                    <a:bodyPr/>
                    <a:lstStyle/>
                    <a:p>
                      <a:pPr algn="ctr"/>
                      <a:r>
                        <a:rPr lang="fr-CA" sz="1000" noProof="0"/>
                        <a:t>Fonctions d’affaires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CA" sz="1000" noProof="0"/>
                        <a:t>Cas utilisation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Acteurs impliqués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Déclencheurs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Description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Résultat attendu</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955524767"/>
                  </a:ext>
                </a:extLst>
              </a:tr>
              <a:tr h="506834">
                <a:tc rowSpan="7">
                  <a:txBody>
                    <a:bodyPr/>
                    <a:lstStyle/>
                    <a:p>
                      <a:pPr algn="ctr"/>
                      <a:r>
                        <a:rPr lang="fr-CA" sz="800" noProof="0"/>
                        <a:t>Approbation d’une transaction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CA" sz="800" b="1" noProof="0"/>
                        <a:t>Transmettre automatiquement une demande d’approbation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Toutes les unités d’affaires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pPr>
                      <a:r>
                        <a:rPr lang="fr-CA" sz="800" noProof="0"/>
                        <a:t>Une transaction validée lors du contrôle de conformité</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fr-CA" sz="800" noProof="0"/>
                        <a:t>Les transactions conformes sont </a:t>
                      </a:r>
                      <a:r>
                        <a:rPr lang="fr-CA" sz="800" kern="1200" noProof="0">
                          <a:solidFill>
                            <a:schemeClr val="dk1"/>
                          </a:solidFill>
                          <a:latin typeface="+mn-lt"/>
                          <a:ea typeface="+mn-ea"/>
                          <a:cs typeface="+mn-cs"/>
                        </a:rPr>
                        <a:t>envoyées aux différents approbateurs définis dans la grille d’approbation pour qu’ils l’analysent et juge de sa pertinence affaire</a:t>
                      </a:r>
                      <a:endParaRPr lang="fr-CA" sz="800" noProof="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kern="1200" noProof="0">
                          <a:solidFill>
                            <a:schemeClr val="dk1"/>
                          </a:solidFill>
                          <a:latin typeface="+mn-lt"/>
                          <a:ea typeface="+mn-ea"/>
                          <a:cs typeface="+mn-cs"/>
                        </a:rPr>
                        <a:t> Transaction reçut par les approbateurs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68070035"/>
                  </a:ext>
                </a:extLst>
              </a:tr>
              <a:tr h="506834">
                <a:tc vMerge="1">
                  <a:txBody>
                    <a:bodyPr/>
                    <a:lstStyle/>
                    <a:p>
                      <a:pPr algn="ctr"/>
                      <a:endParaRPr lang="fr-FR" sz="80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CA" sz="800" b="1" noProof="0"/>
                        <a:t>Approuver/Refuser une transaction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a:r>
                        <a:rPr lang="fr-CA" sz="800" noProof="0"/>
                        <a:t>Toutes les unités d’affaires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pPr>
                      <a:r>
                        <a:rPr lang="fr-CA" sz="800" noProof="0"/>
                        <a:t>Une transaction reçut par l’approbateur désigné dans la grille d’approbation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fr-CA" sz="800" noProof="0"/>
                        <a:t>Approuver ou refusé une transaction à la suite de sont analyse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kern="1200" noProof="0">
                          <a:solidFill>
                            <a:schemeClr val="dk1"/>
                          </a:solidFill>
                          <a:latin typeface="+mn-lt"/>
                          <a:ea typeface="+mn-ea"/>
                          <a:cs typeface="+mn-cs"/>
                        </a:rPr>
                        <a:t>Transaction retournée à son initiateur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kern="1200" noProof="0">
                          <a:solidFill>
                            <a:schemeClr val="dk1"/>
                          </a:solidFill>
                          <a:latin typeface="+mn-lt"/>
                          <a:ea typeface="+mn-ea"/>
                          <a:cs typeface="+mn-cs"/>
                        </a:rPr>
                        <a:t>Transaction envoyée à l’institution bancaire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88919515"/>
                  </a:ext>
                </a:extLst>
              </a:tr>
              <a:tr h="506834">
                <a:tc vMerge="1">
                  <a:txBody>
                    <a:bodyPr/>
                    <a:lstStyle/>
                    <a:p>
                      <a:pPr algn="ctr"/>
                      <a:endParaRPr lang="fr-FR" sz="80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CA" sz="800" b="1" noProof="0"/>
                        <a:t>Relancer un approbateur</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bancaires</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Toutes les unités d’affaires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pPr>
                      <a:r>
                        <a:rPr lang="fr-CA" sz="800" noProof="0"/>
                        <a:t>Une transaction en attente d’approbation depuis un certain délais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fr-CA" sz="800" noProof="0"/>
                        <a:t>Une relance est envoyée à l’approbateur pour lui demander de procéder à l’approbation et ainsi respecter les délais établis (SLA)</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kern="1200" noProof="0">
                          <a:solidFill>
                            <a:schemeClr val="dk1"/>
                          </a:solidFill>
                          <a:latin typeface="+mn-lt"/>
                          <a:ea typeface="+mn-ea"/>
                          <a:cs typeface="+mn-cs"/>
                        </a:rPr>
                        <a:t>Relance reçut par l’approbateur</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26635724"/>
                  </a:ext>
                </a:extLst>
              </a:tr>
              <a:tr h="506834">
                <a:tc vMerge="1">
                  <a:txBody>
                    <a:bodyPr/>
                    <a:lstStyle/>
                    <a:p>
                      <a:pPr algn="ctr"/>
                      <a:endParaRPr lang="fr-FR" sz="80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CA" sz="800" b="1" noProof="0"/>
                        <a:t>Rerouter une approbation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bancaires</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Toutes les unités d’affaires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noProof="0"/>
                        <a:t>Une transaction en attente d’approbation depuis un certain délais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fr-CA" sz="800" noProof="0"/>
                        <a:t>Transmettre la demande d’approbation à un approbateur existant dans la grille d’approbation pour palier à une absence , indisponibilité ou pour tout autre raison affaire lié au dossier</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kern="1200" noProof="0">
                          <a:solidFill>
                            <a:schemeClr val="dk1"/>
                          </a:solidFill>
                          <a:latin typeface="+mn-lt"/>
                          <a:ea typeface="+mn-ea"/>
                          <a:cs typeface="+mn-cs"/>
                        </a:rPr>
                        <a:t>Transaction envoyée au nouvel approbateur désigné</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9382766"/>
                  </a:ext>
                </a:extLst>
              </a:tr>
              <a:tr h="506834">
                <a:tc vMerge="1">
                  <a:txBody>
                    <a:bodyPr/>
                    <a:lstStyle/>
                    <a:p>
                      <a:pPr algn="ctr"/>
                      <a:endParaRPr lang="fr-FR" sz="80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CA" sz="800" b="1" noProof="0"/>
                        <a:t>Mettre à jour la grille des approbateurs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800" noProof="0"/>
                        <a:t>Exercice périodique de maintenance</a:t>
                      </a: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800" noProof="0"/>
                        <a:t>Changement hiérarchique ou RH</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fr-CA" sz="800" noProof="0"/>
                        <a:t>Adapter la grille d’approbateur aux les arrivés/départs mais aussi aux changements de postes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kern="1200" noProof="0">
                          <a:solidFill>
                            <a:schemeClr val="dk1"/>
                          </a:solidFill>
                          <a:latin typeface="+mn-lt"/>
                          <a:ea typeface="+mn-ea"/>
                          <a:cs typeface="+mn-cs"/>
                        </a:rPr>
                        <a:t>Grille d’approbateurs mise à jour</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71722889"/>
                  </a:ext>
                </a:extLst>
              </a:tr>
              <a:tr h="506834">
                <a:tc vMerge="1">
                  <a:txBody>
                    <a:bodyPr/>
                    <a:lstStyle/>
                    <a:p>
                      <a:pPr algn="ctr"/>
                      <a:endParaRPr lang="fr-FR" sz="80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CA" sz="800" b="1" noProof="0"/>
                        <a:t>Mettre à jour la grille d’approbation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CA" sz="800" b="0" i="0" u="none" strike="noStrike" kern="1200" cap="none" spc="0" normalizeH="0" baseline="0" noProof="0">
                          <a:ln>
                            <a:noFill/>
                          </a:ln>
                          <a:solidFill>
                            <a:srgbClr val="003DA5"/>
                          </a:solidFill>
                          <a:effectLst/>
                          <a:uLnTx/>
                          <a:uFillTx/>
                          <a:latin typeface="+mn-lt"/>
                          <a:ea typeface="+mn-ea"/>
                          <a:cs typeface="+mn-cs"/>
                        </a:rPr>
                        <a:t>Exercice périodique de maintenance</a:t>
                      </a: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CA" sz="800" b="0" i="0" u="none" strike="noStrike" kern="1200" cap="none" spc="0" normalizeH="0" baseline="0" noProof="0">
                          <a:ln>
                            <a:noFill/>
                          </a:ln>
                          <a:solidFill>
                            <a:srgbClr val="003DA5"/>
                          </a:solidFill>
                          <a:effectLst/>
                          <a:uLnTx/>
                          <a:uFillTx/>
                          <a:latin typeface="+mn-lt"/>
                          <a:ea typeface="+mn-ea"/>
                          <a:cs typeface="+mn-cs"/>
                        </a:rPr>
                        <a:t>Changement dans le fonctionnement du CSP bancaire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fr-CA" sz="800" noProof="0"/>
                        <a:t>Adapter la grille d’approbation aux évolutions des services offerts par le  CSP bancaire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kern="1200" noProof="0">
                          <a:solidFill>
                            <a:schemeClr val="dk1"/>
                          </a:solidFill>
                          <a:latin typeface="+mn-lt"/>
                          <a:ea typeface="+mn-ea"/>
                          <a:cs typeface="+mn-cs"/>
                        </a:rPr>
                        <a:t>Grille d’approbation mise à jour</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14628976"/>
                  </a:ext>
                </a:extLst>
              </a:tr>
              <a:tr h="506834">
                <a:tc vMerge="1">
                  <a:txBody>
                    <a:bodyPr/>
                    <a:lstStyle/>
                    <a:p>
                      <a:pPr algn="ctr"/>
                      <a:endParaRPr lang="fr-FR" sz="80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CA" sz="800" b="1" noProof="0"/>
                        <a:t>Éditer un rapport ou un KPI</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800" noProof="0"/>
                        <a:t>Besoin d’audit</a:t>
                      </a: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CA" sz="800" b="0" i="0" u="none" strike="noStrike" kern="1200" cap="none" spc="0" normalizeH="0" baseline="0" noProof="0">
                          <a:ln>
                            <a:noFill/>
                          </a:ln>
                          <a:solidFill>
                            <a:srgbClr val="003DA5"/>
                          </a:solidFill>
                          <a:effectLst/>
                          <a:uLnTx/>
                          <a:uFillTx/>
                          <a:latin typeface="+mn-lt"/>
                          <a:ea typeface="+mn-ea"/>
                          <a:cs typeface="+mn-cs"/>
                        </a:rPr>
                        <a:t>Exercice périodique de suivi</a:t>
                      </a: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CA" sz="800" b="0" i="0" u="none" strike="noStrike" kern="1200" cap="none" spc="0" normalizeH="0" baseline="0" noProof="0">
                          <a:ln>
                            <a:noFill/>
                          </a:ln>
                          <a:solidFill>
                            <a:srgbClr val="003DA5"/>
                          </a:solidFill>
                          <a:effectLst/>
                          <a:uLnTx/>
                          <a:uFillTx/>
                          <a:latin typeface="+mn-lt"/>
                          <a:ea typeface="+mn-ea"/>
                          <a:cs typeface="+mn-cs"/>
                        </a:rPr>
                        <a:t>Ad hoc</a:t>
                      </a:r>
                      <a:endParaRPr lang="fr-CA" sz="800" noProof="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fr-CA" sz="800" noProof="0"/>
                        <a:t>Configurer et éditer les rapport et KPI nécessaires aux différents contexte affaires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kern="1200" noProof="0">
                          <a:solidFill>
                            <a:schemeClr val="dk1"/>
                          </a:solidFill>
                          <a:latin typeface="+mn-lt"/>
                          <a:ea typeface="+mn-ea"/>
                          <a:cs typeface="+mn-cs"/>
                        </a:rPr>
                        <a:t>Rapport ou KPI édité</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13665371"/>
                  </a:ext>
                </a:extLst>
              </a:tr>
            </a:tbl>
          </a:graphicData>
        </a:graphic>
      </p:graphicFrame>
      <p:sp>
        <p:nvSpPr>
          <p:cNvPr id="5" name="ZoneTexte 4">
            <a:extLst>
              <a:ext uri="{FF2B5EF4-FFF2-40B4-BE49-F238E27FC236}">
                <a16:creationId xmlns:a16="http://schemas.microsoft.com/office/drawing/2014/main" id="{99B1D09D-E80E-F0B4-1A98-DA3AF935DD27}"/>
              </a:ext>
            </a:extLst>
          </p:cNvPr>
          <p:cNvSpPr txBox="1"/>
          <p:nvPr/>
        </p:nvSpPr>
        <p:spPr>
          <a:xfrm>
            <a:off x="356462" y="4843085"/>
            <a:ext cx="4572000" cy="276999"/>
          </a:xfrm>
          <a:prstGeom prst="rect">
            <a:avLst/>
          </a:prstGeom>
          <a:noFill/>
        </p:spPr>
        <p:txBody>
          <a:bodyPr wrap="square">
            <a:spAutoFit/>
          </a:bodyPr>
          <a:lstStyle/>
          <a:p>
            <a:r>
              <a:rPr lang="fr-CA" sz="1200" i="1" noProof="0"/>
              <a:t>* Unités d’affaires : Lignes d’affaire, secteurs corporatifs et filiales</a:t>
            </a:r>
          </a:p>
        </p:txBody>
      </p:sp>
    </p:spTree>
    <p:extLst>
      <p:ext uri="{BB962C8B-B14F-4D97-AF65-F5344CB8AC3E}">
        <p14:creationId xmlns:p14="http://schemas.microsoft.com/office/powerpoint/2010/main" val="30521359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9138C-7F08-1853-7868-43A834AB319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24C0E4C-1AAC-8312-E5A7-42BB44DEB2F1}"/>
              </a:ext>
            </a:extLst>
          </p:cNvPr>
          <p:cNvSpPr>
            <a:spLocks noGrp="1"/>
          </p:cNvSpPr>
          <p:nvPr>
            <p:ph type="title"/>
          </p:nvPr>
        </p:nvSpPr>
        <p:spPr>
          <a:xfrm>
            <a:off x="207818" y="1"/>
            <a:ext cx="8936181" cy="429490"/>
          </a:xfrm>
          <a:solidFill>
            <a:schemeClr val="tx1"/>
          </a:solidFill>
        </p:spPr>
        <p:txBody>
          <a:bodyPr vert="horz" lIns="91440" tIns="45720" rIns="91440" bIns="45720" rtlCol="0" anchor="ctr">
            <a:normAutofit/>
          </a:bodyPr>
          <a:lstStyle/>
          <a:p>
            <a:r>
              <a:rPr lang="fr-CA" sz="2400" b="1" noProof="0">
                <a:solidFill>
                  <a:schemeClr val="bg1"/>
                </a:solidFill>
              </a:rPr>
              <a:t>Cas d’utilisation affaires R2 &amp; R3</a:t>
            </a:r>
          </a:p>
        </p:txBody>
      </p:sp>
      <p:graphicFrame>
        <p:nvGraphicFramePr>
          <p:cNvPr id="4" name="Tableau 8">
            <a:extLst>
              <a:ext uri="{FF2B5EF4-FFF2-40B4-BE49-F238E27FC236}">
                <a16:creationId xmlns:a16="http://schemas.microsoft.com/office/drawing/2014/main" id="{17D96521-91D4-5B38-3EDD-37E2032F197C}"/>
              </a:ext>
            </a:extLst>
          </p:cNvPr>
          <p:cNvGraphicFramePr>
            <a:graphicFrameLocks noGrp="1"/>
          </p:cNvGraphicFramePr>
          <p:nvPr>
            <p:ph idx="1"/>
            <p:extLst>
              <p:ext uri="{D42A27DB-BD31-4B8C-83A1-F6EECF244321}">
                <p14:modId xmlns:p14="http://schemas.microsoft.com/office/powerpoint/2010/main" val="3444798182"/>
              </p:ext>
            </p:extLst>
          </p:nvPr>
        </p:nvGraphicFramePr>
        <p:xfrm>
          <a:off x="269811" y="471524"/>
          <a:ext cx="8688209" cy="3628330"/>
        </p:xfrm>
        <a:graphic>
          <a:graphicData uri="http://schemas.openxmlformats.org/drawingml/2006/table">
            <a:tbl>
              <a:tblPr firstRow="1">
                <a:tableStyleId>{073A0DAA-6AF3-43AB-8588-CEC1D06C72B9}</a:tableStyleId>
              </a:tblPr>
              <a:tblGrid>
                <a:gridCol w="945439">
                  <a:extLst>
                    <a:ext uri="{9D8B030D-6E8A-4147-A177-3AD203B41FA5}">
                      <a16:colId xmlns:a16="http://schemas.microsoft.com/office/drawing/2014/main" val="3500930570"/>
                    </a:ext>
                  </a:extLst>
                </a:gridCol>
                <a:gridCol w="1218135">
                  <a:extLst>
                    <a:ext uri="{9D8B030D-6E8A-4147-A177-3AD203B41FA5}">
                      <a16:colId xmlns:a16="http://schemas.microsoft.com/office/drawing/2014/main" val="382091172"/>
                    </a:ext>
                  </a:extLst>
                </a:gridCol>
                <a:gridCol w="1355951">
                  <a:extLst>
                    <a:ext uri="{9D8B030D-6E8A-4147-A177-3AD203B41FA5}">
                      <a16:colId xmlns:a16="http://schemas.microsoft.com/office/drawing/2014/main" val="4174676584"/>
                    </a:ext>
                  </a:extLst>
                </a:gridCol>
                <a:gridCol w="1422919">
                  <a:extLst>
                    <a:ext uri="{9D8B030D-6E8A-4147-A177-3AD203B41FA5}">
                      <a16:colId xmlns:a16="http://schemas.microsoft.com/office/drawing/2014/main" val="311002029"/>
                    </a:ext>
                  </a:extLst>
                </a:gridCol>
                <a:gridCol w="2219182">
                  <a:extLst>
                    <a:ext uri="{9D8B030D-6E8A-4147-A177-3AD203B41FA5}">
                      <a16:colId xmlns:a16="http://schemas.microsoft.com/office/drawing/2014/main" val="1873745783"/>
                    </a:ext>
                  </a:extLst>
                </a:gridCol>
                <a:gridCol w="1526583">
                  <a:extLst>
                    <a:ext uri="{9D8B030D-6E8A-4147-A177-3AD203B41FA5}">
                      <a16:colId xmlns:a16="http://schemas.microsoft.com/office/drawing/2014/main" val="3393739696"/>
                    </a:ext>
                  </a:extLst>
                </a:gridCol>
              </a:tblGrid>
              <a:tr h="439256">
                <a:tc>
                  <a:txBody>
                    <a:bodyPr/>
                    <a:lstStyle/>
                    <a:p>
                      <a:pPr algn="ctr"/>
                      <a:r>
                        <a:rPr lang="fr-CA" sz="1000" noProof="0"/>
                        <a:t>Fonctions d’affaires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CA" sz="1000" noProof="0"/>
                        <a:t>Cas utilisation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Acteurs impliqués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Déclencheurs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Description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Résultat attendu</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955524767"/>
                  </a:ext>
                </a:extLst>
              </a:tr>
              <a:tr h="506834">
                <a:tc rowSpan="3">
                  <a:txBody>
                    <a:bodyPr/>
                    <a:lstStyle/>
                    <a:p>
                      <a:pPr algn="ctr"/>
                      <a:r>
                        <a:rPr lang="fr-CA" sz="800" noProof="0"/>
                        <a:t>Comptabiliser les transactions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CA" sz="800" noProof="0"/>
                        <a:t>Comptabiliser les émissions de paiements ou de perceptions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Production, </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Intégrité et intelligence d'affaire </a:t>
                      </a:r>
                      <a:r>
                        <a:rPr lang="fr-CA" sz="600" noProof="0"/>
                        <a:t>(AHCS)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buFont typeface="Arial" panose="020B0604020202020204" pitchFamily="34" charset="0"/>
                        <a:buChar char="•"/>
                      </a:pPr>
                      <a:r>
                        <a:rPr lang="fr-CA" sz="800" noProof="0"/>
                        <a:t>Paiement par chèque:</a:t>
                      </a:r>
                    </a:p>
                    <a:p>
                      <a:pPr marL="177800" lvl="1" indent="-85725">
                        <a:buFont typeface="Arial" panose="020B0604020202020204" pitchFamily="34" charset="0"/>
                        <a:buChar char="•"/>
                      </a:pPr>
                      <a:r>
                        <a:rPr lang="fr-CA" sz="800" noProof="0"/>
                        <a:t>automatique conforme</a:t>
                      </a:r>
                    </a:p>
                    <a:p>
                      <a:pPr marL="177800"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800" noProof="0"/>
                        <a:t>manuel approuvé</a:t>
                      </a:r>
                    </a:p>
                    <a:p>
                      <a:pPr marL="85725" indent="-85725">
                        <a:buFont typeface="Arial" panose="020B0604020202020204" pitchFamily="34" charset="0"/>
                        <a:buChar char="•"/>
                      </a:pPr>
                      <a:r>
                        <a:rPr lang="fr-CA" sz="800" noProof="0"/>
                        <a:t>Autre paiement perception exécuté par la banque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fr-CA" sz="800" noProof="0"/>
                        <a:t>Envoyer les écritures comptables d’émission au GL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Écriture reçut dans le GL </a:t>
                      </a:r>
                    </a:p>
                    <a:p>
                      <a:pPr marL="85725"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Écriture reçut par l’outil de conciliation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94224475"/>
                  </a:ext>
                </a:extLst>
              </a:tr>
              <a:tr h="506834">
                <a:tc vMerge="1">
                  <a:txBody>
                    <a:bodyPr/>
                    <a:lstStyle/>
                    <a:p>
                      <a:pPr algn="ctr"/>
                      <a:endParaRPr lang="fr-FR" sz="80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CA" sz="800" noProof="0"/>
                        <a:t>Comptabiliser les contrepassations de paiements ou perceptions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Production, </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Intégrité et intelligence d'affaire </a:t>
                      </a:r>
                      <a:r>
                        <a:rPr lang="fr-CA" sz="600" noProof="0"/>
                        <a:t>(AHCS)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pPr>
                      <a:r>
                        <a:rPr lang="fr-CA" sz="800" noProof="0"/>
                        <a:t>Paiement ou perception contrepassé ou annulé</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noProof="0"/>
                        <a:t>Envoyer les écritures comptables de renversement au GL </a:t>
                      </a:r>
                    </a:p>
                    <a:p>
                      <a:endParaRPr lang="fr-CA" sz="800" noProof="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Écriture reçut dans le GL </a:t>
                      </a:r>
                    </a:p>
                    <a:p>
                      <a:pPr marL="85725"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Écriture reçut par l’outil de conciliation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46102306"/>
                  </a:ext>
                </a:extLst>
              </a:tr>
              <a:tr h="506834">
                <a:tc vMerge="1">
                  <a:txBody>
                    <a:bodyPr/>
                    <a:lstStyle/>
                    <a:p>
                      <a:pPr algn="ctr"/>
                      <a:endParaRPr lang="fr-FR" sz="80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CA" sz="800" noProof="0"/>
                        <a:t>Comptabiliser la péremption d’un chèque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Production, </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Intégrité et intelligence d'affaire </a:t>
                      </a:r>
                      <a:r>
                        <a:rPr lang="fr-CA" sz="600" noProof="0"/>
                        <a:t>(AHCS)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pPr>
                      <a:r>
                        <a:rPr lang="fr-CA" sz="800" noProof="0"/>
                        <a:t>Chèque périmé</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noProof="0"/>
                        <a:t>Envoyer les écritures comptables de renversement au GL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Écriture reçut dans le GL </a:t>
                      </a:r>
                    </a:p>
                    <a:p>
                      <a:pPr marL="85725"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Écriture reçut par l’outil de conciliation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13997336"/>
                  </a:ext>
                </a:extLst>
              </a:tr>
              <a:tr h="506834">
                <a:tc rowSpan="2">
                  <a:txBody>
                    <a:bodyPr/>
                    <a:lstStyle/>
                    <a:p>
                      <a:pPr algn="ctr"/>
                      <a:r>
                        <a:rPr lang="fr-CA" sz="800" noProof="0"/>
                        <a:t>Suivre et traçabilité</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CA" sz="800" noProof="0"/>
                        <a:t>Consulter le statut d'une transaction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bancaires</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Toutes les unités d’affaires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pPr>
                      <a:r>
                        <a:rPr lang="fr-CA" sz="800" noProof="0"/>
                        <a:t>Transaction saisie et soumise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fr-CA" sz="800" noProof="0"/>
                        <a:t>Les unités d'affaires ainsi que le CSP bancaire suivent l'évolution de la transaction à travers les différents statuts de sont cycle de vie.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l" defTabSz="914400" rtl="0" eaLnBrk="1" latinLnBrk="0" hangingPunct="1">
                        <a:buFont typeface="Arial" panose="020B0604020202020204" pitchFamily="34" charset="0"/>
                        <a:buNone/>
                      </a:pPr>
                      <a:r>
                        <a:rPr lang="fr-CA" sz="800" kern="1200" noProof="0">
                          <a:solidFill>
                            <a:schemeClr val="dk1"/>
                          </a:solidFill>
                          <a:latin typeface="+mn-lt"/>
                          <a:ea typeface="+mn-ea"/>
                          <a:cs typeface="+mn-cs"/>
                        </a:rPr>
                        <a:t>Dernier statut consulté / connus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51639710"/>
                  </a:ext>
                </a:extLst>
              </a:tr>
              <a:tr h="777146">
                <a:tc vMerge="1">
                  <a:txBody>
                    <a:bodyPr/>
                    <a:lstStyle/>
                    <a:p>
                      <a:pPr lvl="0"/>
                      <a:endParaRPr lang="fr-FR" sz="80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noProof="0"/>
                        <a:t>Traiter le rejet d'une transaction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bancaires</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Toutes les unités d’affaires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800" noProof="0"/>
                        <a:t>Transaction rejetée par l’institution bancaire</a:t>
                      </a: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800" noProof="0"/>
                        <a:t>Transaction rejetée par un validateur ou un approbateur</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fr-CA" sz="800" noProof="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l" defTabSz="914400" rtl="0" eaLnBrk="1" latinLnBrk="0" hangingPunct="1">
                        <a:buFont typeface="Arial" panose="020B0604020202020204" pitchFamily="34" charset="0"/>
                        <a:buNone/>
                      </a:pPr>
                      <a:r>
                        <a:rPr lang="fr-CA" sz="800" kern="1200" noProof="0">
                          <a:solidFill>
                            <a:schemeClr val="dk1"/>
                          </a:solidFill>
                          <a:latin typeface="+mn-lt"/>
                          <a:ea typeface="+mn-ea"/>
                          <a:cs typeface="+mn-cs"/>
                        </a:rPr>
                        <a:t>Les unités d’affaires prennent ne charge la correction ou l’annulation d’un transaction e cas de rejet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l" defTabSz="914400" rtl="0" eaLnBrk="1" latinLnBrk="0" hangingPunct="1">
                        <a:buFont typeface="Arial" panose="020B0604020202020204" pitchFamily="34" charset="0"/>
                        <a:buNone/>
                      </a:pPr>
                      <a:r>
                        <a:rPr lang="fr-CA" sz="800" kern="1200" noProof="0">
                          <a:solidFill>
                            <a:schemeClr val="dk1"/>
                          </a:solidFill>
                          <a:latin typeface="+mn-lt"/>
                          <a:ea typeface="+mn-ea"/>
                          <a:cs typeface="+mn-cs"/>
                        </a:rPr>
                        <a:t>Transaction prise en charge et traité</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87336233"/>
                  </a:ext>
                </a:extLst>
              </a:tr>
            </a:tbl>
          </a:graphicData>
        </a:graphic>
      </p:graphicFrame>
      <p:sp>
        <p:nvSpPr>
          <p:cNvPr id="3" name="ZoneTexte 2">
            <a:extLst>
              <a:ext uri="{FF2B5EF4-FFF2-40B4-BE49-F238E27FC236}">
                <a16:creationId xmlns:a16="http://schemas.microsoft.com/office/drawing/2014/main" id="{7BDBA329-6B3F-AD11-2AE0-40A772F73C8F}"/>
              </a:ext>
            </a:extLst>
          </p:cNvPr>
          <p:cNvSpPr txBox="1"/>
          <p:nvPr/>
        </p:nvSpPr>
        <p:spPr>
          <a:xfrm>
            <a:off x="356462" y="4843085"/>
            <a:ext cx="4572000" cy="276999"/>
          </a:xfrm>
          <a:prstGeom prst="rect">
            <a:avLst/>
          </a:prstGeom>
          <a:noFill/>
        </p:spPr>
        <p:txBody>
          <a:bodyPr wrap="square">
            <a:spAutoFit/>
          </a:bodyPr>
          <a:lstStyle/>
          <a:p>
            <a:r>
              <a:rPr lang="fr-CA" sz="1200" i="1" noProof="0"/>
              <a:t>* Unités d’affaires : Lignes d’affaire, secteurs corporatifs et filiales</a:t>
            </a:r>
          </a:p>
        </p:txBody>
      </p:sp>
    </p:spTree>
    <p:extLst>
      <p:ext uri="{BB962C8B-B14F-4D97-AF65-F5344CB8AC3E}">
        <p14:creationId xmlns:p14="http://schemas.microsoft.com/office/powerpoint/2010/main" val="32235732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FEC75-CC89-C909-CCF7-8EC96E35166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84466F6-1578-E261-5F22-D7F6D5B0D8B2}"/>
              </a:ext>
            </a:extLst>
          </p:cNvPr>
          <p:cNvSpPr>
            <a:spLocks noGrp="1"/>
          </p:cNvSpPr>
          <p:nvPr>
            <p:ph type="title"/>
          </p:nvPr>
        </p:nvSpPr>
        <p:spPr>
          <a:xfrm>
            <a:off x="207818" y="1"/>
            <a:ext cx="8936181" cy="429490"/>
          </a:xfrm>
          <a:solidFill>
            <a:schemeClr val="tx1"/>
          </a:solidFill>
        </p:spPr>
        <p:txBody>
          <a:bodyPr vert="horz" lIns="91440" tIns="45720" rIns="91440" bIns="45720" rtlCol="0" anchor="ctr">
            <a:normAutofit/>
          </a:bodyPr>
          <a:lstStyle/>
          <a:p>
            <a:r>
              <a:rPr lang="fr-CA" sz="2400" b="1" noProof="0">
                <a:solidFill>
                  <a:schemeClr val="bg1"/>
                </a:solidFill>
              </a:rPr>
              <a:t>Cas d’utilisation affaires R2 &amp; R3</a:t>
            </a:r>
          </a:p>
        </p:txBody>
      </p:sp>
      <p:graphicFrame>
        <p:nvGraphicFramePr>
          <p:cNvPr id="4" name="Tableau 8">
            <a:extLst>
              <a:ext uri="{FF2B5EF4-FFF2-40B4-BE49-F238E27FC236}">
                <a16:creationId xmlns:a16="http://schemas.microsoft.com/office/drawing/2014/main" id="{DC63DC2F-E64D-B1B9-683D-B9DC74526BD1}"/>
              </a:ext>
            </a:extLst>
          </p:cNvPr>
          <p:cNvGraphicFramePr>
            <a:graphicFrameLocks noGrp="1"/>
          </p:cNvGraphicFramePr>
          <p:nvPr>
            <p:ph idx="1"/>
            <p:extLst>
              <p:ext uri="{D42A27DB-BD31-4B8C-83A1-F6EECF244321}">
                <p14:modId xmlns:p14="http://schemas.microsoft.com/office/powerpoint/2010/main" val="3952101771"/>
              </p:ext>
            </p:extLst>
          </p:nvPr>
        </p:nvGraphicFramePr>
        <p:xfrm>
          <a:off x="269811" y="471524"/>
          <a:ext cx="8843192" cy="4173472"/>
        </p:xfrm>
        <a:graphic>
          <a:graphicData uri="http://schemas.openxmlformats.org/drawingml/2006/table">
            <a:tbl>
              <a:tblPr firstRow="1">
                <a:tableStyleId>{073A0DAA-6AF3-43AB-8588-CEC1D06C72B9}</a:tableStyleId>
              </a:tblPr>
              <a:tblGrid>
                <a:gridCol w="962304">
                  <a:extLst>
                    <a:ext uri="{9D8B030D-6E8A-4147-A177-3AD203B41FA5}">
                      <a16:colId xmlns:a16="http://schemas.microsoft.com/office/drawing/2014/main" val="3500930570"/>
                    </a:ext>
                  </a:extLst>
                </a:gridCol>
                <a:gridCol w="1332854">
                  <a:extLst>
                    <a:ext uri="{9D8B030D-6E8A-4147-A177-3AD203B41FA5}">
                      <a16:colId xmlns:a16="http://schemas.microsoft.com/office/drawing/2014/main" val="382091172"/>
                    </a:ext>
                  </a:extLst>
                </a:gridCol>
                <a:gridCol w="1185621">
                  <a:extLst>
                    <a:ext uri="{9D8B030D-6E8A-4147-A177-3AD203B41FA5}">
                      <a16:colId xmlns:a16="http://schemas.microsoft.com/office/drawing/2014/main" val="4174676584"/>
                    </a:ext>
                  </a:extLst>
                </a:gridCol>
                <a:gridCol w="1549830">
                  <a:extLst>
                    <a:ext uri="{9D8B030D-6E8A-4147-A177-3AD203B41FA5}">
                      <a16:colId xmlns:a16="http://schemas.microsoft.com/office/drawing/2014/main" val="311002029"/>
                    </a:ext>
                  </a:extLst>
                </a:gridCol>
                <a:gridCol w="2131017">
                  <a:extLst>
                    <a:ext uri="{9D8B030D-6E8A-4147-A177-3AD203B41FA5}">
                      <a16:colId xmlns:a16="http://schemas.microsoft.com/office/drawing/2014/main" val="1873745783"/>
                    </a:ext>
                  </a:extLst>
                </a:gridCol>
                <a:gridCol w="1681566">
                  <a:extLst>
                    <a:ext uri="{9D8B030D-6E8A-4147-A177-3AD203B41FA5}">
                      <a16:colId xmlns:a16="http://schemas.microsoft.com/office/drawing/2014/main" val="3393739696"/>
                    </a:ext>
                  </a:extLst>
                </a:gridCol>
              </a:tblGrid>
              <a:tr h="439256">
                <a:tc>
                  <a:txBody>
                    <a:bodyPr/>
                    <a:lstStyle/>
                    <a:p>
                      <a:pPr algn="ctr"/>
                      <a:r>
                        <a:rPr lang="fr-CA" sz="1000" noProof="0"/>
                        <a:t>Fonctions d’affaires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CA" sz="1000" noProof="0"/>
                        <a:t>Cas utilisation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Acteurs impliqués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Déclencheurs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Description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Résultat attendu</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955524767"/>
                  </a:ext>
                </a:extLst>
              </a:tr>
              <a:tr h="506834">
                <a:tc rowSpan="7">
                  <a:txBody>
                    <a:bodyPr/>
                    <a:lstStyle/>
                    <a:p>
                      <a:pPr algn="ctr"/>
                      <a:r>
                        <a:rPr lang="fr-CA" sz="800" noProof="0"/>
                        <a:t>Conciliation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CA" sz="800" noProof="0"/>
                        <a:t>Importer les relevés bancaires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Institution bancaire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kern="1200" noProof="0">
                          <a:solidFill>
                            <a:schemeClr val="dk1"/>
                          </a:solidFill>
                          <a:latin typeface="+mn-lt"/>
                          <a:ea typeface="+mn-ea"/>
                          <a:cs typeface="+mn-cs"/>
                        </a:rPr>
                        <a:t>L’institution bancaire transmet le relevé bancaire (CAMT ou BAI)</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92075" lvl="1" indent="0" algn="l" defTabSz="914400" rtl="0" eaLnBrk="1" latinLnBrk="0" hangingPunct="1">
                        <a:buFont typeface="Arial" panose="020B0604020202020204" pitchFamily="34" charset="0"/>
                        <a:buNone/>
                      </a:pPr>
                      <a:r>
                        <a:rPr lang="fr-CA" sz="800" noProof="0"/>
                        <a:t>Le système récupère les fichiers ou flux des relevés bancaires provenant des institutions financières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pPr>
                      <a:r>
                        <a:rPr lang="fr-CA" sz="800" noProof="0"/>
                        <a:t>Transactions importées dans cash management et près à être conciliés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95536264"/>
                  </a:ext>
                </a:extLst>
              </a:tr>
              <a:tr h="506834">
                <a:tc vMerge="1">
                  <a:txBody>
                    <a:bodyPr/>
                    <a:lstStyle/>
                    <a:p>
                      <a:pPr algn="ctr"/>
                      <a:endParaRPr lang="fr-FR" sz="80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CA" sz="800" noProof="0"/>
                        <a:t>Associer automatiquement les transactions bancaires aux écritures GL de paiements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kern="1200" noProof="0">
                          <a:solidFill>
                            <a:schemeClr val="dk1"/>
                          </a:solidFill>
                          <a:latin typeface="+mn-lt"/>
                          <a:ea typeface="+mn-ea"/>
                          <a:cs typeface="+mn-cs"/>
                        </a:rPr>
                        <a:t>Transactions importées dans cash management et près à être conciliés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92075" lvl="1" indent="0" algn="l" defTabSz="914400" rtl="0" eaLnBrk="1" latinLnBrk="0" hangingPunct="1">
                        <a:buFont typeface="Arial" panose="020B0604020202020204" pitchFamily="34" charset="0"/>
                        <a:buNone/>
                      </a:pPr>
                      <a:r>
                        <a:rPr lang="fr-CA" sz="800" noProof="0"/>
                        <a:t>Concilier automatiquement les écritures en se basant sur des règles d'affaire définis préalablement</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rowSpan="2">
                  <a:txBody>
                    <a:bodyPr/>
                    <a:lstStyle/>
                    <a:p>
                      <a:pPr marL="0" indent="0">
                        <a:buFont typeface="Arial" panose="020B0604020202020204" pitchFamily="34" charset="0"/>
                        <a:buNone/>
                      </a:pPr>
                      <a:r>
                        <a:rPr lang="fr-CA" sz="800" noProof="0"/>
                        <a:t>95% des transactions bancaires associées aux écritures GL de paiement</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65902873"/>
                  </a:ext>
                </a:extLst>
              </a:tr>
              <a:tr h="506834">
                <a:tc vMerge="1">
                  <a:txBody>
                    <a:bodyPr/>
                    <a:lstStyle/>
                    <a:p>
                      <a:endParaRPr lang="fr-F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noProof="0"/>
                        <a:t>Associer manuellement les transactions bancaires aux écritures GL de paiements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endParaRP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fr-CA" sz="800" kern="1200" noProof="0">
                        <a:solidFill>
                          <a:schemeClr val="dk1"/>
                        </a:solidFill>
                        <a:latin typeface="+mn-lt"/>
                        <a:ea typeface="+mn-ea"/>
                        <a:cs typeface="+mn-cs"/>
                      </a:endParaRP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92075" lvl="1" indent="0" algn="l" defTabSz="914400" rtl="0" eaLnBrk="1" latinLnBrk="0" hangingPunct="1">
                        <a:buFont typeface="Arial" panose="020B0604020202020204" pitchFamily="34" charset="0"/>
                        <a:buNone/>
                      </a:pPr>
                      <a:r>
                        <a:rPr lang="fr-CA" sz="800" noProof="0"/>
                        <a:t>Concilier manuellement les écritures non conciliées automatiquement et pour lesquelles une analyse humaine est nécessaire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pPr marL="0" indent="0">
                        <a:buFont typeface="Arial" panose="020B0604020202020204" pitchFamily="34" charset="0"/>
                        <a:buNone/>
                      </a:pPr>
                      <a:endParaRPr lang="fr-CA" sz="800" noProof="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93872667"/>
                  </a:ext>
                </a:extLst>
              </a:tr>
              <a:tr h="506834">
                <a:tc vMerge="1">
                  <a:txBody>
                    <a:bodyPr/>
                    <a:lstStyle/>
                    <a:p>
                      <a:endParaRPr lang="fr-F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noProof="0"/>
                        <a:t>Produire les écritures comptables automatiquement</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CA" sz="800" noProof="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kern="1200" noProof="0">
                          <a:solidFill>
                            <a:schemeClr val="dk1"/>
                          </a:solidFill>
                          <a:latin typeface="+mn-lt"/>
                          <a:ea typeface="+mn-ea"/>
                          <a:cs typeface="+mn-cs"/>
                        </a:rPr>
                        <a:t>La référence au relevé bancaire correspond à une règle prédéfinie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92075" lvl="1" indent="0" algn="l" defTabSz="914400" rtl="0" eaLnBrk="1" latinLnBrk="0" hangingPunct="1">
                        <a:buFont typeface="Arial" panose="020B0604020202020204" pitchFamily="34" charset="0"/>
                        <a:buNone/>
                      </a:pPr>
                      <a:r>
                        <a:rPr lang="fr-CA" sz="800" noProof="0"/>
                        <a:t>Reporter l'écriture comptables au GL (Banque -&gt; Partenaire) automatiquement</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rowSpan="2">
                  <a:txBody>
                    <a:bodyPr/>
                    <a:lstStyle/>
                    <a:p>
                      <a:pPr marL="0" indent="0">
                        <a:buFont typeface="Arial" panose="020B0604020202020204" pitchFamily="34" charset="0"/>
                        <a:buNone/>
                      </a:pPr>
                      <a:r>
                        <a:rPr lang="fr-CA" sz="800" noProof="0"/>
                        <a:t>Écriture rapportée dans le GL</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66954053"/>
                  </a:ext>
                </a:extLst>
              </a:tr>
              <a:tr h="506834">
                <a:tc vMerge="1">
                  <a:txBody>
                    <a:bodyPr/>
                    <a:lstStyle/>
                    <a:p>
                      <a:endParaRPr lang="fr-FR"/>
                    </a:p>
                  </a:txBody>
                  <a:tcPr/>
                </a:tc>
                <a:tc>
                  <a:txBody>
                    <a:bodyPr/>
                    <a:lstStyle/>
                    <a:p>
                      <a:r>
                        <a:rPr lang="fr-CA" sz="800" noProof="0"/>
                        <a:t>Produire les écritures comptables manuellement</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Unités d'affaire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kern="1200" noProof="0">
                          <a:solidFill>
                            <a:schemeClr val="dk1"/>
                          </a:solidFill>
                          <a:latin typeface="+mn-lt"/>
                          <a:ea typeface="+mn-ea"/>
                          <a:cs typeface="+mn-cs"/>
                        </a:rPr>
                        <a:t>Transactions bancaires non associées automatiquement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92075" lvl="1" indent="0" algn="l" defTabSz="914400" rtl="0" eaLnBrk="1" latinLnBrk="0" hangingPunct="1">
                        <a:buFont typeface="Arial" panose="020B0604020202020204" pitchFamily="34" charset="0"/>
                        <a:buNone/>
                      </a:pPr>
                      <a:r>
                        <a:rPr lang="fr-CA" sz="800" noProof="0"/>
                        <a:t>Reporter l'écriture comptables au GL (Banque -&gt; Partenaire) manuellement</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pPr marL="0" indent="0">
                        <a:buFont typeface="Arial" panose="020B0604020202020204" pitchFamily="34" charset="0"/>
                        <a:buNone/>
                      </a:pPr>
                      <a:endParaRPr lang="fr-CA" sz="800" noProof="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20535481"/>
                  </a:ext>
                </a:extLst>
              </a:tr>
              <a:tr h="506834">
                <a:tc vMerge="1">
                  <a:txBody>
                    <a:bodyPr/>
                    <a:lstStyle/>
                    <a:p>
                      <a:endParaRPr lang="fr-FR"/>
                    </a:p>
                  </a:txBody>
                  <a:tcPr/>
                </a:tc>
                <a:tc>
                  <a:txBody>
                    <a:bodyPr/>
                    <a:lstStyle/>
                    <a:p>
                      <a:r>
                        <a:rPr lang="fr-CA" sz="800" noProof="0"/>
                        <a:t>Piloter/maintenir les règles de correspondance (montant, date, référence)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 </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Équipe Système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kern="1200" noProof="0">
                          <a:solidFill>
                            <a:schemeClr val="dk1"/>
                          </a:solidFill>
                          <a:latin typeface="+mn-lt"/>
                          <a:ea typeface="+mn-ea"/>
                          <a:cs typeface="+mn-cs"/>
                        </a:rPr>
                        <a:t>Règle d'affaire à ajouter ou  modifier</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92075" lvl="1" indent="0" algn="l" defTabSz="914400" rtl="0" eaLnBrk="1" latinLnBrk="0" hangingPunct="1">
                        <a:buFont typeface="Arial" panose="020B0604020202020204" pitchFamily="34" charset="0"/>
                        <a:buNone/>
                      </a:pPr>
                      <a:r>
                        <a:rPr lang="fr-CA" sz="800" noProof="0"/>
                        <a:t>Mettre à jour les règles de conciliation automatique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pPr>
                      <a:r>
                        <a:rPr lang="fr-CA" sz="800" noProof="0"/>
                        <a:t>Règles de correspondances ont été mises à jour</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20722729"/>
                  </a:ext>
                </a:extLst>
              </a:tr>
              <a:tr h="506834">
                <a:tc vMerge="1">
                  <a:txBody>
                    <a:bodyPr/>
                    <a:lstStyle/>
                    <a:p>
                      <a:endParaRPr lang="fr-FR"/>
                    </a:p>
                  </a:txBody>
                  <a:tcPr/>
                </a:tc>
                <a:tc>
                  <a:txBody>
                    <a:bodyPr/>
                    <a:lstStyle/>
                    <a:p>
                      <a:r>
                        <a:rPr lang="fr-CA" sz="800" noProof="0"/>
                        <a:t>Détecter/Analyser les écarts de conciliation </a:t>
                      </a:r>
                      <a:r>
                        <a:rPr lang="fr-CA" sz="700" noProof="0"/>
                        <a:t>(montant, absence de référence, doublons)</a:t>
                      </a:r>
                      <a:endParaRPr lang="fr-CA" sz="800" noProof="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kern="1200" noProof="0">
                          <a:solidFill>
                            <a:schemeClr val="dk1"/>
                          </a:solidFill>
                          <a:latin typeface="+mn-lt"/>
                          <a:ea typeface="+mn-ea"/>
                          <a:cs typeface="+mn-cs"/>
                        </a:rPr>
                        <a:t>Transaction bancaire non associé automatiquement</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92075" lvl="1" indent="0" algn="l" defTabSz="914400" rtl="0" eaLnBrk="1" latinLnBrk="0" hangingPunct="1">
                        <a:buFont typeface="Arial" panose="020B0604020202020204" pitchFamily="34" charset="0"/>
                        <a:buNone/>
                      </a:pPr>
                      <a:r>
                        <a:rPr lang="fr-CA" sz="800" noProof="0"/>
                        <a:t>Analyser les transactions à concilier manuellement</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pPr>
                      <a:r>
                        <a:rPr lang="fr-CA" sz="800" noProof="0"/>
                        <a:t>Les transactions non associées automatiquement sont toutes identifiés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66958516"/>
                  </a:ext>
                </a:extLst>
              </a:tr>
            </a:tbl>
          </a:graphicData>
        </a:graphic>
      </p:graphicFrame>
      <p:sp>
        <p:nvSpPr>
          <p:cNvPr id="3" name="ZoneTexte 2">
            <a:extLst>
              <a:ext uri="{FF2B5EF4-FFF2-40B4-BE49-F238E27FC236}">
                <a16:creationId xmlns:a16="http://schemas.microsoft.com/office/drawing/2014/main" id="{03A3614E-5364-A539-DA57-2F53079E7426}"/>
              </a:ext>
            </a:extLst>
          </p:cNvPr>
          <p:cNvSpPr txBox="1"/>
          <p:nvPr/>
        </p:nvSpPr>
        <p:spPr>
          <a:xfrm>
            <a:off x="356462" y="4843085"/>
            <a:ext cx="4572000" cy="276999"/>
          </a:xfrm>
          <a:prstGeom prst="rect">
            <a:avLst/>
          </a:prstGeom>
          <a:noFill/>
        </p:spPr>
        <p:txBody>
          <a:bodyPr wrap="square">
            <a:spAutoFit/>
          </a:bodyPr>
          <a:lstStyle/>
          <a:p>
            <a:r>
              <a:rPr lang="fr-CA" sz="1200" i="1" noProof="0"/>
              <a:t>* Unités d’affaires : Lignes d’affaire, secteurs corporatifs et filiales</a:t>
            </a:r>
          </a:p>
        </p:txBody>
      </p:sp>
    </p:spTree>
    <p:extLst>
      <p:ext uri="{BB962C8B-B14F-4D97-AF65-F5344CB8AC3E}">
        <p14:creationId xmlns:p14="http://schemas.microsoft.com/office/powerpoint/2010/main" val="42421380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A8911-06CE-3EAC-B185-880F06786F9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92CB0CE-D593-4735-78DA-953AB0B7B1D2}"/>
              </a:ext>
            </a:extLst>
          </p:cNvPr>
          <p:cNvSpPr>
            <a:spLocks noGrp="1"/>
          </p:cNvSpPr>
          <p:nvPr>
            <p:ph type="title"/>
          </p:nvPr>
        </p:nvSpPr>
        <p:spPr>
          <a:xfrm>
            <a:off x="207818" y="1"/>
            <a:ext cx="8936181" cy="429490"/>
          </a:xfrm>
          <a:solidFill>
            <a:schemeClr val="tx1"/>
          </a:solidFill>
        </p:spPr>
        <p:txBody>
          <a:bodyPr vert="horz" lIns="91440" tIns="45720" rIns="91440" bIns="45720" rtlCol="0" anchor="ctr">
            <a:normAutofit/>
          </a:bodyPr>
          <a:lstStyle/>
          <a:p>
            <a:r>
              <a:rPr lang="fr-CA" sz="2400" b="1" noProof="0">
                <a:solidFill>
                  <a:schemeClr val="bg1"/>
                </a:solidFill>
              </a:rPr>
              <a:t>Cas d’utilisation affaires R2 &amp; R3</a:t>
            </a:r>
          </a:p>
        </p:txBody>
      </p:sp>
      <p:graphicFrame>
        <p:nvGraphicFramePr>
          <p:cNvPr id="4" name="Tableau 8">
            <a:extLst>
              <a:ext uri="{FF2B5EF4-FFF2-40B4-BE49-F238E27FC236}">
                <a16:creationId xmlns:a16="http://schemas.microsoft.com/office/drawing/2014/main" id="{3B75F968-8CD1-EC11-7144-08A87D5ACA61}"/>
              </a:ext>
            </a:extLst>
          </p:cNvPr>
          <p:cNvGraphicFramePr>
            <a:graphicFrameLocks noGrp="1"/>
          </p:cNvGraphicFramePr>
          <p:nvPr>
            <p:ph idx="1"/>
            <p:extLst>
              <p:ext uri="{D42A27DB-BD31-4B8C-83A1-F6EECF244321}">
                <p14:modId xmlns:p14="http://schemas.microsoft.com/office/powerpoint/2010/main" val="3483681683"/>
              </p:ext>
            </p:extLst>
          </p:nvPr>
        </p:nvGraphicFramePr>
        <p:xfrm>
          <a:off x="269811" y="471524"/>
          <a:ext cx="8843192" cy="3996922"/>
        </p:xfrm>
        <a:graphic>
          <a:graphicData uri="http://schemas.openxmlformats.org/drawingml/2006/table">
            <a:tbl>
              <a:tblPr firstRow="1">
                <a:tableStyleId>{073A0DAA-6AF3-43AB-8588-CEC1D06C72B9}</a:tableStyleId>
              </a:tblPr>
              <a:tblGrid>
                <a:gridCol w="962304">
                  <a:extLst>
                    <a:ext uri="{9D8B030D-6E8A-4147-A177-3AD203B41FA5}">
                      <a16:colId xmlns:a16="http://schemas.microsoft.com/office/drawing/2014/main" val="3500930570"/>
                    </a:ext>
                  </a:extLst>
                </a:gridCol>
                <a:gridCol w="1286360">
                  <a:extLst>
                    <a:ext uri="{9D8B030D-6E8A-4147-A177-3AD203B41FA5}">
                      <a16:colId xmlns:a16="http://schemas.microsoft.com/office/drawing/2014/main" val="382091172"/>
                    </a:ext>
                  </a:extLst>
                </a:gridCol>
                <a:gridCol w="1232115">
                  <a:extLst>
                    <a:ext uri="{9D8B030D-6E8A-4147-A177-3AD203B41FA5}">
                      <a16:colId xmlns:a16="http://schemas.microsoft.com/office/drawing/2014/main" val="4174676584"/>
                    </a:ext>
                  </a:extLst>
                </a:gridCol>
                <a:gridCol w="1549830">
                  <a:extLst>
                    <a:ext uri="{9D8B030D-6E8A-4147-A177-3AD203B41FA5}">
                      <a16:colId xmlns:a16="http://schemas.microsoft.com/office/drawing/2014/main" val="311002029"/>
                    </a:ext>
                  </a:extLst>
                </a:gridCol>
                <a:gridCol w="2131017">
                  <a:extLst>
                    <a:ext uri="{9D8B030D-6E8A-4147-A177-3AD203B41FA5}">
                      <a16:colId xmlns:a16="http://schemas.microsoft.com/office/drawing/2014/main" val="1873745783"/>
                    </a:ext>
                  </a:extLst>
                </a:gridCol>
                <a:gridCol w="1681566">
                  <a:extLst>
                    <a:ext uri="{9D8B030D-6E8A-4147-A177-3AD203B41FA5}">
                      <a16:colId xmlns:a16="http://schemas.microsoft.com/office/drawing/2014/main" val="3393739696"/>
                    </a:ext>
                  </a:extLst>
                </a:gridCol>
              </a:tblGrid>
              <a:tr h="439256">
                <a:tc>
                  <a:txBody>
                    <a:bodyPr/>
                    <a:lstStyle/>
                    <a:p>
                      <a:pPr algn="ctr"/>
                      <a:r>
                        <a:rPr lang="fr-CA" sz="1000" noProof="0"/>
                        <a:t>Fonctions d’affaires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CA" sz="1000" noProof="0"/>
                        <a:t>Cas utilisation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Acteurs impliqués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Déclencheurs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Description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Résultat attendu</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955524767"/>
                  </a:ext>
                </a:extLst>
              </a:tr>
              <a:tr h="506834">
                <a:tc rowSpan="5">
                  <a:txBody>
                    <a:bodyPr/>
                    <a:lstStyle/>
                    <a:p>
                      <a:pPr algn="ctr"/>
                      <a:r>
                        <a:rPr lang="fr-CA" sz="800" noProof="0"/>
                        <a:t>Conciliation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CA" sz="800" noProof="0"/>
                        <a:t>Générer des alertes/rapports et permettre la résolution des cas d’écart</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Unités d'affaire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kern="1200" noProof="0">
                          <a:solidFill>
                            <a:schemeClr val="dk1"/>
                          </a:solidFill>
                          <a:latin typeface="+mn-lt"/>
                          <a:ea typeface="+mn-ea"/>
                          <a:cs typeface="+mn-cs"/>
                        </a:rPr>
                        <a:t>L’institution bancaire transmet le relevé bancaire (CAMT ou BAI)</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92075"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noProof="0"/>
                        <a:t>Générer des alertes/rapports et permettre la résolution des cas d’écart de façon manuelle ou semi-automatique. </a:t>
                      </a:r>
                    </a:p>
                    <a:p>
                      <a:pPr marL="92075"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noProof="0"/>
                        <a:t>Exemple : le Rapport DAC197 qui est envoyé au partenaire</a:t>
                      </a:r>
                    </a:p>
                    <a:p>
                      <a:pPr marL="92075" lvl="1" indent="0" algn="l" defTabSz="914400" rtl="0" eaLnBrk="1" latinLnBrk="0" hangingPunct="1">
                        <a:buFont typeface="Arial" panose="020B0604020202020204" pitchFamily="34" charset="0"/>
                        <a:buNone/>
                      </a:pPr>
                      <a:endParaRPr lang="fr-CA" sz="800" noProof="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lang="fr-CA" sz="800" noProof="0"/>
                        <a:t>Informations envoyées aux partenaires connus. </a:t>
                      </a:r>
                    </a:p>
                    <a:p>
                      <a:pPr marL="171450" indent="-171450">
                        <a:buFont typeface="Arial" panose="020B0604020202020204" pitchFamily="34" charset="0"/>
                        <a:buChar char="•"/>
                      </a:pPr>
                      <a:r>
                        <a:rPr lang="fr-CA" sz="800" noProof="0"/>
                        <a:t>Informations envoyées à tous, pour les transactions dont le partenaire n'est pas connu</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95536264"/>
                  </a:ext>
                </a:extLst>
              </a:tr>
              <a:tr h="631586">
                <a:tc vMerge="1">
                  <a:txBody>
                    <a:bodyPr/>
                    <a:lstStyle/>
                    <a:p>
                      <a:pPr algn="ctr"/>
                      <a:endParaRPr lang="fr-FR" sz="80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CA" sz="800" noProof="0"/>
                        <a:t>Suivre  la complétude des données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Unités d'affaire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kern="1200" noProof="0">
                          <a:solidFill>
                            <a:schemeClr val="dk1"/>
                          </a:solidFill>
                          <a:latin typeface="+mn-lt"/>
                          <a:ea typeface="+mn-ea"/>
                          <a:cs typeface="+mn-cs"/>
                        </a:rPr>
                        <a:t>Quotidien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92075" lvl="1" indent="0" algn="l" defTabSz="914400" rtl="0" eaLnBrk="1" latinLnBrk="0" hangingPunct="1">
                        <a:buFont typeface="Arial" panose="020B0604020202020204" pitchFamily="34" charset="0"/>
                        <a:buNone/>
                      </a:pPr>
                      <a:r>
                        <a:rPr lang="fr-CA" sz="800" noProof="0"/>
                        <a:t>Vérifier que toutes les transactions GL attendues sont reçut de la part des partenaires et mettre à jour les statuts, commentaires et explications des écarts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pPr>
                      <a:r>
                        <a:rPr lang="fr-CA" sz="800" noProof="0"/>
                        <a:t>Toutes les transactions non conciliées sont documentées et suivis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65902873"/>
                  </a:ext>
                </a:extLst>
              </a:tr>
              <a:tr h="506834">
                <a:tc vMerge="1">
                  <a:txBody>
                    <a:bodyPr/>
                    <a:lstStyle/>
                    <a:p>
                      <a:endParaRPr lang="fr-FR"/>
                    </a:p>
                  </a:txBody>
                  <a:tcPr>
                    <a:lnT w="6350" cap="flat" cmpd="sng" algn="ctr">
                      <a:solidFill>
                        <a:schemeClr val="tx1"/>
                      </a:solid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noProof="0"/>
                        <a:t>Éditer des rapports et indicateurs</a:t>
                      </a:r>
                    </a:p>
                  </a:txBody>
                  <a:tcPr marL="84092" marR="84092"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Auditeurs externes (EY) </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Équipe conciliation Corpo</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800" kern="1200" noProof="0">
                          <a:solidFill>
                            <a:schemeClr val="dk1"/>
                          </a:solidFill>
                          <a:latin typeface="+mn-lt"/>
                          <a:ea typeface="+mn-ea"/>
                          <a:cs typeface="+mn-cs"/>
                        </a:rPr>
                        <a:t>Mensuel (création des rapport)</a:t>
                      </a: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800" kern="1200" noProof="0">
                          <a:solidFill>
                            <a:schemeClr val="dk1"/>
                          </a:solidFill>
                          <a:latin typeface="+mn-lt"/>
                          <a:ea typeface="+mn-ea"/>
                          <a:cs typeface="+mn-cs"/>
                        </a:rPr>
                        <a:t>Annuel (Auditeur) </a:t>
                      </a: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800" kern="1200" noProof="0">
                          <a:solidFill>
                            <a:schemeClr val="dk1"/>
                          </a:solidFill>
                          <a:latin typeface="+mn-lt"/>
                          <a:ea typeface="+mn-ea"/>
                          <a:cs typeface="+mn-cs"/>
                        </a:rPr>
                        <a:t>Hadock (</a:t>
                      </a:r>
                      <a:r>
                        <a:rPr lang="fr-CA" sz="800" kern="1200" noProof="0" err="1">
                          <a:solidFill>
                            <a:schemeClr val="dk1"/>
                          </a:solidFill>
                          <a:latin typeface="+mn-lt"/>
                          <a:ea typeface="+mn-ea"/>
                          <a:cs typeface="+mn-cs"/>
                        </a:rPr>
                        <a:t>concil</a:t>
                      </a:r>
                      <a:r>
                        <a:rPr lang="fr-CA" sz="800" kern="1200" noProof="0">
                          <a:solidFill>
                            <a:schemeClr val="dk1"/>
                          </a:solidFill>
                          <a:latin typeface="+mn-lt"/>
                          <a:ea typeface="+mn-ea"/>
                          <a:cs typeface="+mn-cs"/>
                        </a:rPr>
                        <a:t> corpo)</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263525" lvl="1" indent="-171450" algn="l" defTabSz="914400" rtl="0" eaLnBrk="1" latinLnBrk="0" hangingPunct="1">
                        <a:buFont typeface="Arial" panose="020B0604020202020204" pitchFamily="34" charset="0"/>
                        <a:buChar char="•"/>
                      </a:pPr>
                      <a:r>
                        <a:rPr lang="fr-CA" sz="800" noProof="0"/>
                        <a:t>Fournir les rapports de sauvegarde des écarts et d'explication de ces écarts</a:t>
                      </a:r>
                    </a:p>
                    <a:p>
                      <a:pPr marL="263525" lvl="1" indent="-171450" algn="l" defTabSz="914400" rtl="0" eaLnBrk="1" latinLnBrk="0" hangingPunct="1">
                        <a:buFont typeface="Arial" panose="020B0604020202020204" pitchFamily="34" charset="0"/>
                        <a:buChar char="•"/>
                      </a:pPr>
                      <a:r>
                        <a:rPr lang="fr-CA" sz="800" noProof="0"/>
                        <a:t>Éditer /suivre les indicateur quotidiennement</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pPr>
                      <a:r>
                        <a:rPr lang="fr-CA" sz="800" noProof="0"/>
                        <a:t>Indicateur documenté et suivit. </a:t>
                      </a:r>
                    </a:p>
                    <a:p>
                      <a:pPr marL="171450" indent="-171450">
                        <a:buFont typeface="Arial" panose="020B0604020202020204" pitchFamily="34" charset="0"/>
                        <a:buChar char="•"/>
                      </a:pPr>
                      <a:r>
                        <a:rPr lang="fr-CA" sz="800" noProof="0" err="1"/>
                        <a:t>Qutidien</a:t>
                      </a:r>
                      <a:r>
                        <a:rPr lang="fr-CA" sz="800" noProof="0"/>
                        <a:t> : un plan d'escalade si &gt; 10 + 3 relances </a:t>
                      </a:r>
                    </a:p>
                    <a:p>
                      <a:pPr marL="171450" indent="-171450">
                        <a:buFont typeface="Arial" panose="020B0604020202020204" pitchFamily="34" charset="0"/>
                        <a:buChar char="•"/>
                      </a:pPr>
                      <a:r>
                        <a:rPr lang="fr-CA" sz="800" noProof="0"/>
                        <a:t>Mensuel : </a:t>
                      </a:r>
                      <a:r>
                        <a:rPr lang="fr-CA" sz="800" noProof="0" err="1"/>
                        <a:t>investatigation</a:t>
                      </a:r>
                      <a:r>
                        <a:rPr lang="fr-CA" sz="800" noProof="0"/>
                        <a:t> + un plan d'action pour amélioration continuer </a:t>
                      </a:r>
                    </a:p>
                    <a:p>
                      <a:pPr marL="171450" indent="-171450">
                        <a:buFont typeface="Arial" panose="020B0604020202020204" pitchFamily="34" charset="0"/>
                        <a:buChar char="•"/>
                      </a:pPr>
                      <a:r>
                        <a:rPr lang="fr-CA" sz="800" noProof="0"/>
                        <a:t>Donnée fournit </a:t>
                      </a:r>
                      <a:r>
                        <a:rPr lang="fr-CA" sz="800" noProof="0" err="1"/>
                        <a:t>axu</a:t>
                      </a:r>
                      <a:r>
                        <a:rPr lang="fr-CA" sz="800" noProof="0"/>
                        <a:t> auditeurs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93872667"/>
                  </a:ext>
                </a:extLst>
              </a:tr>
              <a:tr h="506834">
                <a:tc vMerge="1">
                  <a:txBody>
                    <a:bodyPr/>
                    <a:lstStyle/>
                    <a:p>
                      <a:endParaRPr lang="fr-FR"/>
                    </a:p>
                  </a:txBody>
                  <a:tcPr>
                    <a:lnT w="6350" cap="flat" cmpd="sng" algn="ctr">
                      <a:solidFill>
                        <a:schemeClr val="tx1"/>
                      </a:solidFill>
                      <a:prstDash val="solid"/>
                      <a:round/>
                      <a:headEnd type="none" w="med" len="med"/>
                      <a:tailEnd type="none" w="med" len="med"/>
                    </a:lnT>
                  </a:tcPr>
                </a:tc>
                <a:tc>
                  <a:txBody>
                    <a:bodyPr/>
                    <a:lstStyle/>
                    <a:p>
                      <a:r>
                        <a:rPr lang="fr-CA" sz="800" noProof="0"/>
                        <a:t>Arrêt, annulation &amp; péremption chèque</a:t>
                      </a:r>
                    </a:p>
                  </a:txBody>
                  <a:tcPr marL="84092" marR="84092"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Équipe Système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kern="1200" noProof="0">
                          <a:solidFill>
                            <a:schemeClr val="dk1"/>
                          </a:solidFill>
                          <a:latin typeface="+mn-lt"/>
                          <a:ea typeface="+mn-ea"/>
                          <a:cs typeface="+mn-cs"/>
                        </a:rPr>
                        <a:t>Chèques annulés, arrêtés ou périmés à concilier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kern="1200" noProof="0">
                          <a:solidFill>
                            <a:schemeClr val="dk1"/>
                          </a:solidFill>
                          <a:latin typeface="+mn-lt"/>
                          <a:ea typeface="+mn-ea"/>
                          <a:cs typeface="+mn-cs"/>
                        </a:rPr>
                        <a:t>(quotidien)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92075" lvl="1" indent="0" algn="l" defTabSz="914400" rtl="0" eaLnBrk="1" latinLnBrk="0" hangingPunct="1">
                        <a:buFont typeface="Arial" panose="020B0604020202020204" pitchFamily="34" charset="0"/>
                        <a:buNone/>
                      </a:pPr>
                      <a:r>
                        <a:rPr lang="fr-CA" sz="800" noProof="0"/>
                        <a:t>Générer les écritures permettant de maitriser les transactions de chèques annulés, arrêtés ou périmés, en attente de conciliation.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pPr>
                      <a:r>
                        <a:rPr lang="fr-CA" sz="800" noProof="0"/>
                        <a:t>Transactions de chèques, annulés, arrêtés ou périmés conciliées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20722729"/>
                  </a:ext>
                </a:extLst>
              </a:tr>
              <a:tr h="506834">
                <a:tc vMerge="1">
                  <a:txBody>
                    <a:bodyPr/>
                    <a:lstStyle/>
                    <a:p>
                      <a:endParaRPr lang="fr-FR"/>
                    </a:p>
                  </a:txBody>
                  <a:tcPr/>
                </a:tc>
                <a:tc>
                  <a:txBody>
                    <a:bodyPr/>
                    <a:lstStyle/>
                    <a:p>
                      <a:r>
                        <a:rPr lang="fr-CA" sz="800" noProof="0"/>
                        <a:t>Escalader pour les transactions non conciliées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Unités d'affaire</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Directeurs des </a:t>
                      </a:r>
                      <a:r>
                        <a:rPr lang="fr-CA" sz="800" noProof="0" err="1"/>
                        <a:t>UAs</a:t>
                      </a:r>
                      <a:endParaRPr lang="fr-CA" sz="800" noProof="0"/>
                    </a:p>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Institution bancaire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kern="1200" noProof="0">
                          <a:solidFill>
                            <a:schemeClr val="dk1"/>
                          </a:solidFill>
                          <a:latin typeface="+mn-lt"/>
                          <a:ea typeface="+mn-ea"/>
                          <a:cs typeface="+mn-cs"/>
                        </a:rPr>
                        <a:t>Transactions non conciliées depuis 3 relances et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92075" lvl="1" indent="0" algn="l" defTabSz="914400" rtl="0" eaLnBrk="1" latinLnBrk="0" hangingPunct="1">
                        <a:buFont typeface="Arial" panose="020B0604020202020204" pitchFamily="34" charset="0"/>
                        <a:buNone/>
                      </a:pPr>
                      <a:r>
                        <a:rPr lang="fr-CA" sz="800" noProof="0"/>
                        <a:t>Les transactions pour les qu'elles il y a eu au moins 3 suivit sans retour</a:t>
                      </a:r>
                    </a:p>
                    <a:p>
                      <a:pPr marL="92075" lvl="1" indent="0" algn="l" defTabSz="914400" rtl="0" eaLnBrk="1" latinLnBrk="0" hangingPunct="1">
                        <a:buFont typeface="Arial" panose="020B0604020202020204" pitchFamily="34" charset="0"/>
                        <a:buNone/>
                      </a:pPr>
                      <a:r>
                        <a:rPr lang="fr-CA" sz="800" noProof="0"/>
                        <a:t>Demander au UA de prendre actions</a:t>
                      </a:r>
                    </a:p>
                    <a:p>
                      <a:pPr marL="92075" lvl="1" indent="0" algn="l" defTabSz="914400" rtl="0" eaLnBrk="1" latinLnBrk="0" hangingPunct="1">
                        <a:buFont typeface="Arial" panose="020B0604020202020204" pitchFamily="34" charset="0"/>
                        <a:buNone/>
                      </a:pPr>
                      <a:r>
                        <a:rPr lang="fr-CA" sz="800" noProof="0"/>
                        <a:t>Demander des détails aux banques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pPr>
                      <a:r>
                        <a:rPr lang="fr-CA" sz="800" noProof="0"/>
                        <a:t>Transaction comptabilisée au GL et conciliée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66958516"/>
                  </a:ext>
                </a:extLst>
              </a:tr>
            </a:tbl>
          </a:graphicData>
        </a:graphic>
      </p:graphicFrame>
      <p:sp>
        <p:nvSpPr>
          <p:cNvPr id="3" name="ZoneTexte 2">
            <a:extLst>
              <a:ext uri="{FF2B5EF4-FFF2-40B4-BE49-F238E27FC236}">
                <a16:creationId xmlns:a16="http://schemas.microsoft.com/office/drawing/2014/main" id="{9D127726-BA21-1A38-F3D4-F8BED6D80E5F}"/>
              </a:ext>
            </a:extLst>
          </p:cNvPr>
          <p:cNvSpPr txBox="1"/>
          <p:nvPr/>
        </p:nvSpPr>
        <p:spPr>
          <a:xfrm>
            <a:off x="356461" y="4843085"/>
            <a:ext cx="4866467" cy="276999"/>
          </a:xfrm>
          <a:prstGeom prst="rect">
            <a:avLst/>
          </a:prstGeom>
          <a:noFill/>
        </p:spPr>
        <p:txBody>
          <a:bodyPr wrap="square">
            <a:spAutoFit/>
          </a:bodyPr>
          <a:lstStyle/>
          <a:p>
            <a:r>
              <a:rPr lang="fr-CA" sz="1200" i="1" noProof="0"/>
              <a:t>* Unités d’affaires (</a:t>
            </a:r>
            <a:r>
              <a:rPr lang="fr-CA" sz="1200" i="1" noProof="0" err="1"/>
              <a:t>UAs</a:t>
            </a:r>
            <a:r>
              <a:rPr lang="fr-CA" sz="1200" i="1" noProof="0"/>
              <a:t>) : Lignes d’affaire, secteurs corporatifs et filiales</a:t>
            </a:r>
          </a:p>
        </p:txBody>
      </p:sp>
    </p:spTree>
    <p:extLst>
      <p:ext uri="{BB962C8B-B14F-4D97-AF65-F5344CB8AC3E}">
        <p14:creationId xmlns:p14="http://schemas.microsoft.com/office/powerpoint/2010/main" val="22899191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30E07-F55C-B09F-F36E-E5FD48DC81C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E1AE7E8-0661-5113-EF8E-4771319883BA}"/>
              </a:ext>
            </a:extLst>
          </p:cNvPr>
          <p:cNvSpPr>
            <a:spLocks noGrp="1"/>
          </p:cNvSpPr>
          <p:nvPr>
            <p:ph type="title"/>
          </p:nvPr>
        </p:nvSpPr>
        <p:spPr>
          <a:xfrm>
            <a:off x="207818" y="1"/>
            <a:ext cx="8936181" cy="429490"/>
          </a:xfrm>
          <a:solidFill>
            <a:schemeClr val="tx1"/>
          </a:solidFill>
        </p:spPr>
        <p:txBody>
          <a:bodyPr vert="horz" lIns="91440" tIns="45720" rIns="91440" bIns="45720" rtlCol="0" anchor="ctr">
            <a:normAutofit/>
          </a:bodyPr>
          <a:lstStyle/>
          <a:p>
            <a:r>
              <a:rPr lang="fr-CA" sz="2400" b="1" noProof="0">
                <a:solidFill>
                  <a:schemeClr val="bg1"/>
                </a:solidFill>
              </a:rPr>
              <a:t>Cas d’utilisation affaires R2 &amp; R3</a:t>
            </a:r>
          </a:p>
        </p:txBody>
      </p:sp>
      <p:graphicFrame>
        <p:nvGraphicFramePr>
          <p:cNvPr id="4" name="Tableau 8">
            <a:extLst>
              <a:ext uri="{FF2B5EF4-FFF2-40B4-BE49-F238E27FC236}">
                <a16:creationId xmlns:a16="http://schemas.microsoft.com/office/drawing/2014/main" id="{96623C0A-2811-ACC5-9DF8-981742A94D50}"/>
              </a:ext>
            </a:extLst>
          </p:cNvPr>
          <p:cNvGraphicFramePr>
            <a:graphicFrameLocks noGrp="1"/>
          </p:cNvGraphicFramePr>
          <p:nvPr>
            <p:ph idx="1"/>
            <p:extLst>
              <p:ext uri="{D42A27DB-BD31-4B8C-83A1-F6EECF244321}">
                <p14:modId xmlns:p14="http://schemas.microsoft.com/office/powerpoint/2010/main" val="2901312540"/>
              </p:ext>
            </p:extLst>
          </p:nvPr>
        </p:nvGraphicFramePr>
        <p:xfrm>
          <a:off x="269811" y="471524"/>
          <a:ext cx="8843192" cy="3719770"/>
        </p:xfrm>
        <a:graphic>
          <a:graphicData uri="http://schemas.openxmlformats.org/drawingml/2006/table">
            <a:tbl>
              <a:tblPr firstRow="1">
                <a:tableStyleId>{073A0DAA-6AF3-43AB-8588-CEC1D06C72B9}</a:tableStyleId>
              </a:tblPr>
              <a:tblGrid>
                <a:gridCol w="962304">
                  <a:extLst>
                    <a:ext uri="{9D8B030D-6E8A-4147-A177-3AD203B41FA5}">
                      <a16:colId xmlns:a16="http://schemas.microsoft.com/office/drawing/2014/main" val="3500930570"/>
                    </a:ext>
                  </a:extLst>
                </a:gridCol>
                <a:gridCol w="1332854">
                  <a:extLst>
                    <a:ext uri="{9D8B030D-6E8A-4147-A177-3AD203B41FA5}">
                      <a16:colId xmlns:a16="http://schemas.microsoft.com/office/drawing/2014/main" val="382091172"/>
                    </a:ext>
                  </a:extLst>
                </a:gridCol>
                <a:gridCol w="1294109">
                  <a:extLst>
                    <a:ext uri="{9D8B030D-6E8A-4147-A177-3AD203B41FA5}">
                      <a16:colId xmlns:a16="http://schemas.microsoft.com/office/drawing/2014/main" val="4174676584"/>
                    </a:ext>
                  </a:extLst>
                </a:gridCol>
                <a:gridCol w="1441342">
                  <a:extLst>
                    <a:ext uri="{9D8B030D-6E8A-4147-A177-3AD203B41FA5}">
                      <a16:colId xmlns:a16="http://schemas.microsoft.com/office/drawing/2014/main" val="311002029"/>
                    </a:ext>
                  </a:extLst>
                </a:gridCol>
                <a:gridCol w="2425485">
                  <a:extLst>
                    <a:ext uri="{9D8B030D-6E8A-4147-A177-3AD203B41FA5}">
                      <a16:colId xmlns:a16="http://schemas.microsoft.com/office/drawing/2014/main" val="1873745783"/>
                    </a:ext>
                  </a:extLst>
                </a:gridCol>
                <a:gridCol w="1387098">
                  <a:extLst>
                    <a:ext uri="{9D8B030D-6E8A-4147-A177-3AD203B41FA5}">
                      <a16:colId xmlns:a16="http://schemas.microsoft.com/office/drawing/2014/main" val="3393739696"/>
                    </a:ext>
                  </a:extLst>
                </a:gridCol>
              </a:tblGrid>
              <a:tr h="439256">
                <a:tc>
                  <a:txBody>
                    <a:bodyPr/>
                    <a:lstStyle/>
                    <a:p>
                      <a:pPr algn="ctr"/>
                      <a:r>
                        <a:rPr lang="fr-CA" sz="1000" noProof="0"/>
                        <a:t>Fonctions d’affaires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CA" sz="1000" noProof="0"/>
                        <a:t>Cas utilisation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Acteurs impliqués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Déclencheurs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Description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Résultat attendu</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955524767"/>
                  </a:ext>
                </a:extLst>
              </a:tr>
              <a:tr h="506834">
                <a:tc rowSpan="5">
                  <a:txBody>
                    <a:bodyPr/>
                    <a:lstStyle/>
                    <a:p>
                      <a:pPr algn="ctr"/>
                      <a:r>
                        <a:rPr lang="fr-CA" sz="800" noProof="0"/>
                        <a:t>Annuler ou</a:t>
                      </a:r>
                    </a:p>
                    <a:p>
                      <a:pPr algn="ctr"/>
                      <a:r>
                        <a:rPr lang="fr-CA" sz="800" noProof="0"/>
                        <a:t>Contrepasser une transaction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CA" sz="800" noProof="0"/>
                        <a:t>Annuler une transaction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row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bancaires</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Unités d’affaires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solidFill>
                      <a:schemeClr val="bg1"/>
                    </a:solidFill>
                  </a:tcPr>
                </a:tc>
                <a:tc rowSpan="4">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800" kern="1200" noProof="0">
                          <a:solidFill>
                            <a:schemeClr val="dk1"/>
                          </a:solidFill>
                          <a:latin typeface="+mn-lt"/>
                          <a:ea typeface="+mn-ea"/>
                          <a:cs typeface="+mn-cs"/>
                        </a:rPr>
                        <a:t>Ad hoc</a:t>
                      </a: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800" kern="1200" noProof="0">
                          <a:solidFill>
                            <a:schemeClr val="dk1"/>
                          </a:solidFill>
                          <a:latin typeface="+mn-lt"/>
                          <a:ea typeface="+mn-ea"/>
                          <a:cs typeface="+mn-cs"/>
                        </a:rPr>
                        <a:t>Erreur d’émission </a:t>
                      </a: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800" kern="1200" noProof="0">
                          <a:solidFill>
                            <a:schemeClr val="dk1"/>
                          </a:solidFill>
                          <a:latin typeface="+mn-lt"/>
                          <a:ea typeface="+mn-ea"/>
                          <a:cs typeface="+mn-cs"/>
                        </a:rPr>
                        <a:t>Nouvel élément au dossier</a:t>
                      </a: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800" kern="1200" noProof="0">
                          <a:solidFill>
                            <a:schemeClr val="dk1"/>
                          </a:solidFill>
                          <a:latin typeface="+mn-lt"/>
                          <a:ea typeface="+mn-ea"/>
                          <a:cs typeface="+mn-cs"/>
                        </a:rPr>
                        <a:t>Demande du partenaire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solidFill>
                      <a:schemeClr val="bg1"/>
                    </a:solidFill>
                  </a:tcPr>
                </a:tc>
                <a:tc>
                  <a:txBody>
                    <a:bodyPr/>
                    <a:lstStyle/>
                    <a:p>
                      <a:pPr marL="92075" lvl="1" indent="0" algn="l" defTabSz="914400" rtl="0" eaLnBrk="1" latinLnBrk="0" hangingPunct="1">
                        <a:buFont typeface="Arial" panose="020B0604020202020204" pitchFamily="34" charset="0"/>
                        <a:buNone/>
                      </a:pPr>
                      <a:r>
                        <a:rPr lang="fr-CA" sz="800" noProof="0"/>
                        <a:t>Annuler une transaction (DD, DPA, Chèque ou virement / Manuel ou automatique) tout au long de son cycle de vie dans la solution avant qu’elle ne soit transmise à la banque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pPr>
                      <a:r>
                        <a:rPr lang="fr-CA" sz="800" noProof="0"/>
                        <a:t>Transaction annulée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04899060"/>
                  </a:ext>
                </a:extLst>
              </a:tr>
              <a:tr h="624057">
                <a:tc vMerge="1">
                  <a:txBody>
                    <a:bodyPr/>
                    <a:lstStyle/>
                    <a:p>
                      <a:pPr algn="ctr"/>
                      <a:endParaRPr lang="fr-FR" sz="80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CA" sz="800" noProof="0"/>
                        <a:t>Demande d'arrêts de paiement de chèque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CA" sz="800" noProof="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fr-CA" sz="800" kern="1200" noProof="0">
                        <a:solidFill>
                          <a:schemeClr val="dk1"/>
                        </a:solidFill>
                        <a:latin typeface="+mn-lt"/>
                        <a:ea typeface="+mn-ea"/>
                        <a:cs typeface="+mn-cs"/>
                      </a:endParaRP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92075" lvl="1" indent="0" algn="l" defTabSz="914400" rtl="0" eaLnBrk="1" latinLnBrk="0" hangingPunct="1">
                        <a:buFont typeface="Arial" panose="020B0604020202020204" pitchFamily="34" charset="0"/>
                        <a:buNone/>
                      </a:pPr>
                      <a:r>
                        <a:rPr lang="fr-CA" sz="800" noProof="0"/>
                        <a:t>Le partenaire saisie l'arrêt de paiement d’un chèque dans le système. Un arrêt de paiement est saisi lorsque le partenaire souhaite stoppé le paiement et </a:t>
                      </a:r>
                      <a:r>
                        <a:rPr lang="fr-CA" sz="800" b="0" noProof="0"/>
                        <a:t>que </a:t>
                      </a:r>
                      <a:r>
                        <a:rPr lang="fr-CA" sz="800" b="1" noProof="0"/>
                        <a:t>le chèque est déjà en cours d’acheminement </a:t>
                      </a:r>
                      <a:r>
                        <a:rPr lang="fr-CA" sz="800" noProof="0"/>
                        <a:t>vers le bénéficiaire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pPr>
                      <a:r>
                        <a:rPr lang="fr-CA" sz="800" noProof="0"/>
                        <a:t>Chèque bloqué à l'encaissement du côté de la banque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52118636"/>
                  </a:ext>
                </a:extLst>
              </a:tr>
              <a:tr h="656102">
                <a:tc vMerge="1">
                  <a:txBody>
                    <a:bodyPr/>
                    <a:lstStyle/>
                    <a:p>
                      <a:pPr algn="ctr"/>
                      <a:endParaRPr lang="fr-FR" sz="80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CA" sz="800" noProof="0"/>
                        <a:t>Demande d'annulation de paiements de chèque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CA" sz="800" noProof="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solidFill>
                      <a:schemeClr val="bg1"/>
                    </a:solidFill>
                  </a:tcPr>
                </a:tc>
                <a:tc vMerge="1">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fr-CA" sz="800" kern="1200" noProof="0">
                        <a:solidFill>
                          <a:schemeClr val="dk1"/>
                        </a:solidFill>
                        <a:latin typeface="+mn-lt"/>
                        <a:ea typeface="+mn-ea"/>
                        <a:cs typeface="+mn-cs"/>
                      </a:endParaRP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solidFill>
                      <a:schemeClr val="bg1"/>
                    </a:solidFill>
                  </a:tcPr>
                </a:tc>
                <a:tc>
                  <a:txBody>
                    <a:bodyPr/>
                    <a:lstStyle/>
                    <a:p>
                      <a:pPr marL="92075"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noProof="0"/>
                        <a:t>Le partenaire saisie une annulation d’un chèque dans le système. Une annulation d’un chèque est saisie lorsque le partenaire souhaite stoppé le paiement et que</a:t>
                      </a:r>
                      <a:r>
                        <a:rPr lang="fr-CA" sz="800" b="1" noProof="0"/>
                        <a:t> le chèque est en sa procession</a:t>
                      </a:r>
                    </a:p>
                    <a:p>
                      <a:pPr marL="92075"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700" b="0" i="1" noProof="0"/>
                        <a:t>(en cas de présentation à l’encaissement des frais supplémentaires sont chargés)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noProof="0"/>
                        <a:t>Chèque signalé annulé à la banque </a:t>
                      </a:r>
                    </a:p>
                    <a:p>
                      <a:pPr marL="0" indent="0">
                        <a:buFont typeface="Arial" panose="020B0604020202020204" pitchFamily="34" charset="0"/>
                        <a:buNone/>
                      </a:pPr>
                      <a:endParaRPr lang="fr-CA" sz="800" noProof="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46530414"/>
                  </a:ext>
                </a:extLst>
              </a:tr>
              <a:tr h="701040">
                <a:tc vMerge="1">
                  <a:txBody>
                    <a:bodyPr/>
                    <a:lstStyle/>
                    <a:p>
                      <a:endParaRPr lang="fr-FR"/>
                    </a:p>
                  </a:txBody>
                  <a:tcPr>
                    <a:lnT w="6350" cap="flat" cmpd="sng" algn="ctr">
                      <a:solidFill>
                        <a:schemeClr val="tx1"/>
                      </a:solid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noProof="0"/>
                        <a:t>Demande  de contrepassation d’un DD, d’un DPA ou d’un virement</a:t>
                      </a:r>
                    </a:p>
                    <a:p>
                      <a:endParaRPr lang="fr-CA" sz="800" noProof="0"/>
                    </a:p>
                  </a:txBody>
                  <a:tcPr marL="84092" marR="84092"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endParaRPr lang="fr-FR"/>
                    </a:p>
                  </a:txBody>
                  <a:tcPr>
                    <a:lnL w="6350" cap="flat" cmpd="sng" algn="ctr">
                      <a:solidFill>
                        <a:schemeClr val="tx1"/>
                      </a:solidFill>
                      <a:prstDash val="solid"/>
                      <a:round/>
                      <a:headEnd type="none" w="med" len="med"/>
                      <a:tailEnd type="none" w="med" len="med"/>
                    </a:lnL>
                  </a:tcPr>
                </a:tc>
                <a:tc vMerge="1">
                  <a:txBody>
                    <a:bodyPr/>
                    <a:lstStyle/>
                    <a:p>
                      <a:endParaRPr lang="fr-FR"/>
                    </a:p>
                  </a:txBody>
                  <a:tcPr>
                    <a:lnT w="6350" cap="flat" cmpd="sng" algn="ctr">
                      <a:solidFill>
                        <a:schemeClr val="tx1"/>
                      </a:solidFill>
                      <a:prstDash val="solid"/>
                      <a:round/>
                      <a:headEnd type="none" w="med" len="med"/>
                      <a:tailEnd type="none" w="med" len="med"/>
                    </a:lnT>
                  </a:tcPr>
                </a:tc>
                <a:tc>
                  <a:txBody>
                    <a:bodyPr/>
                    <a:lstStyle/>
                    <a:p>
                      <a:pPr marL="92075" lvl="1" indent="0" algn="l" defTabSz="914400" rtl="0" eaLnBrk="1" latinLnBrk="0" hangingPunct="1">
                        <a:buFont typeface="Arial" panose="020B0604020202020204" pitchFamily="34" charset="0"/>
                        <a:buNone/>
                      </a:pPr>
                      <a:r>
                        <a:rPr lang="fr-CA" sz="800" noProof="0"/>
                        <a:t>Les partenaires  ou le CSP Bancaire, à la demande du partenaire, saisissent une demande de contre passation de DD, DPA ou virement après que celle-ci a été envoyé à la banque. </a:t>
                      </a:r>
                    </a:p>
                    <a:p>
                      <a:pPr marL="92075" lvl="1" indent="0" algn="l" defTabSz="914400" rtl="0" eaLnBrk="1" latinLnBrk="0" hangingPunct="1">
                        <a:buFont typeface="Arial" panose="020B0604020202020204" pitchFamily="34" charset="0"/>
                        <a:buNone/>
                      </a:pPr>
                      <a:r>
                        <a:rPr lang="fr-CA" sz="800" noProof="0"/>
                        <a:t>Le CSP Bancaire en fait le suivit a près de la banque</a:t>
                      </a:r>
                    </a:p>
                  </a:txBody>
                  <a:tcPr marL="84092" marR="84092"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lang="fr-CA" sz="800" noProof="0"/>
                        <a:t>Transaction contrepassée </a:t>
                      </a:r>
                    </a:p>
                    <a:p>
                      <a:pPr marL="171450" indent="-171450">
                        <a:buFont typeface="Arial" panose="020B0604020202020204" pitchFamily="34" charset="0"/>
                        <a:buChar char="•"/>
                      </a:pPr>
                      <a:r>
                        <a:rPr lang="fr-CA" sz="800" noProof="0"/>
                        <a:t>Ou raison d'impossibilité de contre passation transmise au partenaire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40356009"/>
                  </a:ext>
                </a:extLst>
              </a:tr>
              <a:tr h="506834">
                <a:tc vMerge="1">
                  <a:txBody>
                    <a:bodyPr/>
                    <a:lstStyle/>
                    <a:p>
                      <a:pPr algn="ctr"/>
                      <a:endParaRPr lang="fr-FR" sz="80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CA" sz="800" noProof="0"/>
                        <a:t>Périmer un chèque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solidFill>
                      <a:schemeClr val="bg1"/>
                    </a:solidFill>
                  </a:tcPr>
                </a:tc>
                <a:tc>
                  <a:txBody>
                    <a:bodyPr/>
                    <a:lstStyle/>
                    <a:p>
                      <a:r>
                        <a:rPr lang="fr-CA" sz="800" kern="1200" noProof="0">
                          <a:solidFill>
                            <a:schemeClr val="dk1"/>
                          </a:solidFill>
                          <a:latin typeface="+mn-lt"/>
                          <a:ea typeface="+mn-ea"/>
                          <a:cs typeface="+mn-cs"/>
                        </a:rPr>
                        <a:t>Chèque daté de plus de 180 j</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solidFill>
                      <a:schemeClr val="bg1"/>
                    </a:solidFill>
                  </a:tcPr>
                </a:tc>
                <a:tc>
                  <a:txBody>
                    <a:bodyPr/>
                    <a:lstStyle/>
                    <a:p>
                      <a:pPr marL="92075" lvl="1" indent="0" algn="l" defTabSz="914400" rtl="0" eaLnBrk="1" latinLnBrk="0" hangingPunct="1">
                        <a:buFont typeface="Arial" panose="020B0604020202020204" pitchFamily="34" charset="0"/>
                        <a:buNone/>
                      </a:pPr>
                      <a:r>
                        <a:rPr lang="fr-CA" sz="800" noProof="0"/>
                        <a:t>180 jours après la date du chèque (date inscrite sur le chèque) le chèque est considéré comme périmé et ne peu plus être encaissé.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800" noProof="0"/>
                        <a:t>Chèque bloqué à l'encaissement du côté de la banque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48077024"/>
                  </a:ext>
                </a:extLst>
              </a:tr>
            </a:tbl>
          </a:graphicData>
        </a:graphic>
      </p:graphicFrame>
      <p:sp>
        <p:nvSpPr>
          <p:cNvPr id="3" name="ZoneTexte 2">
            <a:extLst>
              <a:ext uri="{FF2B5EF4-FFF2-40B4-BE49-F238E27FC236}">
                <a16:creationId xmlns:a16="http://schemas.microsoft.com/office/drawing/2014/main" id="{5E574D3C-9099-E567-0DFC-9F19EAC41FF4}"/>
              </a:ext>
            </a:extLst>
          </p:cNvPr>
          <p:cNvSpPr txBox="1"/>
          <p:nvPr/>
        </p:nvSpPr>
        <p:spPr>
          <a:xfrm>
            <a:off x="356462" y="4843085"/>
            <a:ext cx="4572000" cy="276999"/>
          </a:xfrm>
          <a:prstGeom prst="rect">
            <a:avLst/>
          </a:prstGeom>
          <a:noFill/>
        </p:spPr>
        <p:txBody>
          <a:bodyPr wrap="square">
            <a:spAutoFit/>
          </a:bodyPr>
          <a:lstStyle/>
          <a:p>
            <a:r>
              <a:rPr lang="fr-CA" sz="1200" i="1" noProof="0"/>
              <a:t>* Unités d’affaires : Lignes d’affaire, secteurs corporatifs et filiales</a:t>
            </a:r>
          </a:p>
        </p:txBody>
      </p:sp>
    </p:spTree>
    <p:extLst>
      <p:ext uri="{BB962C8B-B14F-4D97-AF65-F5344CB8AC3E}">
        <p14:creationId xmlns:p14="http://schemas.microsoft.com/office/powerpoint/2010/main" val="180184074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4F502-D65C-9F84-92A7-0B51E161473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74848A1-53A8-F569-C2E2-F7F68BB119C4}"/>
              </a:ext>
            </a:extLst>
          </p:cNvPr>
          <p:cNvSpPr>
            <a:spLocks noGrp="1"/>
          </p:cNvSpPr>
          <p:nvPr>
            <p:ph type="title"/>
          </p:nvPr>
        </p:nvSpPr>
        <p:spPr>
          <a:xfrm>
            <a:off x="207818" y="1"/>
            <a:ext cx="8936181" cy="429490"/>
          </a:xfrm>
          <a:solidFill>
            <a:schemeClr val="tx1"/>
          </a:solidFill>
        </p:spPr>
        <p:txBody>
          <a:bodyPr vert="horz" lIns="91440" tIns="45720" rIns="91440" bIns="45720" rtlCol="0" anchor="ctr">
            <a:normAutofit/>
          </a:bodyPr>
          <a:lstStyle/>
          <a:p>
            <a:r>
              <a:rPr lang="fr-CA" sz="2400" b="1" noProof="0">
                <a:solidFill>
                  <a:schemeClr val="bg1"/>
                </a:solidFill>
              </a:rPr>
              <a:t>Cas d’utilisation affaires R2 &amp; R3</a:t>
            </a:r>
          </a:p>
        </p:txBody>
      </p:sp>
      <p:graphicFrame>
        <p:nvGraphicFramePr>
          <p:cNvPr id="4" name="Tableau 8">
            <a:extLst>
              <a:ext uri="{FF2B5EF4-FFF2-40B4-BE49-F238E27FC236}">
                <a16:creationId xmlns:a16="http://schemas.microsoft.com/office/drawing/2014/main" id="{180EE9B8-0D05-9586-C68C-EBC3A22AFC76}"/>
              </a:ext>
            </a:extLst>
          </p:cNvPr>
          <p:cNvGraphicFramePr>
            <a:graphicFrameLocks noGrp="1"/>
          </p:cNvGraphicFramePr>
          <p:nvPr>
            <p:ph idx="1"/>
            <p:extLst>
              <p:ext uri="{D42A27DB-BD31-4B8C-83A1-F6EECF244321}">
                <p14:modId xmlns:p14="http://schemas.microsoft.com/office/powerpoint/2010/main" val="1509245343"/>
              </p:ext>
            </p:extLst>
          </p:nvPr>
        </p:nvGraphicFramePr>
        <p:xfrm>
          <a:off x="269811" y="471524"/>
          <a:ext cx="8843192" cy="3754070"/>
        </p:xfrm>
        <a:graphic>
          <a:graphicData uri="http://schemas.openxmlformats.org/drawingml/2006/table">
            <a:tbl>
              <a:tblPr firstRow="1">
                <a:tableStyleId>{073A0DAA-6AF3-43AB-8588-CEC1D06C72B9}</a:tableStyleId>
              </a:tblPr>
              <a:tblGrid>
                <a:gridCol w="962304">
                  <a:extLst>
                    <a:ext uri="{9D8B030D-6E8A-4147-A177-3AD203B41FA5}">
                      <a16:colId xmlns:a16="http://schemas.microsoft.com/office/drawing/2014/main" val="3500930570"/>
                    </a:ext>
                  </a:extLst>
                </a:gridCol>
                <a:gridCol w="1239865">
                  <a:extLst>
                    <a:ext uri="{9D8B030D-6E8A-4147-A177-3AD203B41FA5}">
                      <a16:colId xmlns:a16="http://schemas.microsoft.com/office/drawing/2014/main" val="382091172"/>
                    </a:ext>
                  </a:extLst>
                </a:gridCol>
                <a:gridCol w="1387098">
                  <a:extLst>
                    <a:ext uri="{9D8B030D-6E8A-4147-A177-3AD203B41FA5}">
                      <a16:colId xmlns:a16="http://schemas.microsoft.com/office/drawing/2014/main" val="4174676584"/>
                    </a:ext>
                  </a:extLst>
                </a:gridCol>
                <a:gridCol w="1441342">
                  <a:extLst>
                    <a:ext uri="{9D8B030D-6E8A-4147-A177-3AD203B41FA5}">
                      <a16:colId xmlns:a16="http://schemas.microsoft.com/office/drawing/2014/main" val="311002029"/>
                    </a:ext>
                  </a:extLst>
                </a:gridCol>
                <a:gridCol w="2506339">
                  <a:extLst>
                    <a:ext uri="{9D8B030D-6E8A-4147-A177-3AD203B41FA5}">
                      <a16:colId xmlns:a16="http://schemas.microsoft.com/office/drawing/2014/main" val="1873745783"/>
                    </a:ext>
                  </a:extLst>
                </a:gridCol>
                <a:gridCol w="1306244">
                  <a:extLst>
                    <a:ext uri="{9D8B030D-6E8A-4147-A177-3AD203B41FA5}">
                      <a16:colId xmlns:a16="http://schemas.microsoft.com/office/drawing/2014/main" val="3393739696"/>
                    </a:ext>
                  </a:extLst>
                </a:gridCol>
              </a:tblGrid>
              <a:tr h="439256">
                <a:tc>
                  <a:txBody>
                    <a:bodyPr/>
                    <a:lstStyle/>
                    <a:p>
                      <a:pPr algn="ctr"/>
                      <a:r>
                        <a:rPr lang="fr-CA" sz="1000" noProof="0"/>
                        <a:t>Fonctions d’affaires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CA" sz="1000" noProof="0"/>
                        <a:t>Cas utilisation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Acteurs impliqués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Déclencheurs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Description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Résultat attendu</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955524767"/>
                  </a:ext>
                </a:extLst>
              </a:tr>
              <a:tr h="50683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Validation et conformité</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CA" sz="800" noProof="0"/>
                        <a:t>Valider une transaction ou un lot de transactions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Unités d’affaires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lang="fr-CA" sz="800" noProof="0"/>
                        <a:t>Interception d’une transaction non conforme par le système</a:t>
                      </a:r>
                    </a:p>
                    <a:p>
                      <a:pPr marL="171450" indent="-171450">
                        <a:buFont typeface="Arial" panose="020B0604020202020204" pitchFamily="34" charset="0"/>
                        <a:buChar char="•"/>
                      </a:pPr>
                      <a:r>
                        <a:rPr lang="fr-CA" sz="800" noProof="0"/>
                        <a:t>Retour de transaction non conforme par la banque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lang="fr-CA" sz="800" noProof="0"/>
                        <a:t>Les transactions non conformes, aux normes de validation 360  configurées dans la solution, sont envoyé en validation aux personnes prédéfinis.</a:t>
                      </a:r>
                    </a:p>
                    <a:p>
                      <a:pPr marL="171450" indent="-171450">
                        <a:buFont typeface="Arial" panose="020B0604020202020204" pitchFamily="34" charset="0"/>
                        <a:buChar char="•"/>
                      </a:pPr>
                      <a:r>
                        <a:rPr lang="fr-CA" sz="800" noProof="0"/>
                        <a:t>Les transactions retournées par la banque comme étant non conformes ou suspectées non conforme (ex : doublons) sont aussi retournées à l’émetteur de la transaction pour validation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Transaction :</a:t>
                      </a:r>
                    </a:p>
                    <a:p>
                      <a:pPr marL="271463" lvl="1"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Analysée </a:t>
                      </a:r>
                    </a:p>
                    <a:p>
                      <a:pPr marL="271463" lvl="1"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Acceptée</a:t>
                      </a:r>
                    </a:p>
                    <a:p>
                      <a:pPr marL="271463" lvl="1"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Refusée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37320525"/>
                  </a:ext>
                </a:extLst>
              </a:tr>
              <a:tr h="506834">
                <a:tc rowSpan="4">
                  <a:txBody>
                    <a:bodyPr/>
                    <a:lstStyle/>
                    <a:p>
                      <a:pPr algn="ctr"/>
                      <a:r>
                        <a:rPr lang="fr-CA" sz="800" noProof="0"/>
                        <a:t>Détection de Fraude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CA" sz="800" noProof="0"/>
                        <a:t>Détection de cas suspect de fraude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row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buFont typeface="Arial" panose="020B0604020202020204" pitchFamily="34" charset="0"/>
                        <a:buChar char="•"/>
                      </a:pPr>
                      <a:r>
                        <a:rPr lang="fr-CA" sz="800" noProof="0"/>
                        <a:t>Transaction initiée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fr-CA" sz="800" noProof="0"/>
                        <a:t>Détecter un cas suspect de fraude selon des règles préétablies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Transaction identifiée</a:t>
                      </a:r>
                    </a:p>
                    <a:p>
                      <a:pPr marL="85725"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Cas de fraude catégorisé</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51639710"/>
                  </a:ext>
                </a:extLst>
              </a:tr>
              <a:tr h="777146">
                <a:tc vMerge="1">
                  <a:txBody>
                    <a:bodyPr/>
                    <a:lstStyle/>
                    <a:p>
                      <a:pPr lvl="0"/>
                      <a:endParaRPr lang="fr-FR" sz="80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noProof="0"/>
                        <a:t>Pilotage des règles de détection de fraude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CA" sz="800" noProof="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800" noProof="0"/>
                        <a:t>Un nouveau type de fraude</a:t>
                      </a: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800" noProof="0"/>
                        <a:t>Une nouvelle vulnérabilité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l" defTabSz="914400" rtl="0" eaLnBrk="1" latinLnBrk="0" hangingPunct="1">
                        <a:buFont typeface="Arial" panose="020B0604020202020204" pitchFamily="34" charset="0"/>
                        <a:buNone/>
                      </a:pPr>
                      <a:r>
                        <a:rPr lang="fr-CA" sz="800" kern="1200" noProof="0">
                          <a:solidFill>
                            <a:schemeClr val="dk1"/>
                          </a:solidFill>
                          <a:latin typeface="+mn-lt"/>
                          <a:ea typeface="+mn-ea"/>
                          <a:cs typeface="+mn-cs"/>
                        </a:rPr>
                        <a:t>Mettre à jours les règles d'affaires  de détection de fraude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Règles d'affaire de détection mises à jour dans la solution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87336233"/>
                  </a:ext>
                </a:extLst>
              </a:tr>
              <a:tr h="506834">
                <a:tc vMerge="1">
                  <a:txBody>
                    <a:bodyPr/>
                    <a:lstStyle/>
                    <a:p>
                      <a:endParaRPr lang="fr-F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noProof="0"/>
                        <a:t>Notifier/informer d'un cas de suspicion de fraude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CA" sz="800" kern="1200" noProof="0">
                        <a:solidFill>
                          <a:schemeClr val="dk1"/>
                        </a:solidFill>
                        <a:latin typeface="+mn-lt"/>
                        <a:ea typeface="+mn-ea"/>
                        <a:cs typeface="+mn-cs"/>
                      </a:endParaRP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pPr>
                      <a:r>
                        <a:rPr lang="fr-CA" sz="800" noProof="0"/>
                        <a:t>Transaction suspectée frauduleuse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pPr>
                      <a:r>
                        <a:rPr lang="fr-CA" sz="800" noProof="0"/>
                        <a:t>Informé les personnes prédéfinies de la détection d’une transaction suspectée frauduleuse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Information transmise au(x) responsable(s)</a:t>
                      </a:r>
                    </a:p>
                    <a:p>
                      <a:pPr marL="85725"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La transaction n'est pas bloquée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4216558"/>
                  </a:ext>
                </a:extLst>
              </a:tr>
              <a:tr h="506834">
                <a:tc vMerge="1">
                  <a:txBody>
                    <a:bodyPr/>
                    <a:lstStyle/>
                    <a:p>
                      <a:endParaRPr lang="fr-F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noProof="0"/>
                        <a:t>Bloquer une transaction suspectée de fraude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CA" sz="800" kern="1200" noProof="0">
                        <a:solidFill>
                          <a:schemeClr val="dk1"/>
                        </a:solidFill>
                        <a:latin typeface="+mn-lt"/>
                        <a:ea typeface="+mn-ea"/>
                        <a:cs typeface="+mn-cs"/>
                      </a:endParaRP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pPr>
                      <a:r>
                        <a:rPr lang="fr-CA" sz="800" noProof="0"/>
                        <a:t>Détection d’une transaction suspecte à haute probabilité de fraude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pPr>
                      <a:r>
                        <a:rPr lang="fr-CA" sz="800" noProof="0"/>
                        <a:t>Bloquer une transaction lorsqu'elle respecte certaines conditions de cas de fraude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l" defTabSz="914400" rtl="0" eaLnBrk="1" latinLnBrk="0" hangingPunct="1">
                        <a:buFont typeface="Arial" panose="020B0604020202020204" pitchFamily="34" charset="0"/>
                        <a:buNone/>
                      </a:pPr>
                      <a:r>
                        <a:rPr lang="fr-CA" sz="800" kern="1200" noProof="0">
                          <a:solidFill>
                            <a:schemeClr val="dk1"/>
                          </a:solidFill>
                          <a:latin typeface="+mn-lt"/>
                          <a:ea typeface="+mn-ea"/>
                          <a:cs typeface="+mn-cs"/>
                        </a:rPr>
                        <a:t>Le paiement est bloqué en attente d'approbation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83394825"/>
                  </a:ext>
                </a:extLst>
              </a:tr>
            </a:tbl>
          </a:graphicData>
        </a:graphic>
      </p:graphicFrame>
      <p:sp>
        <p:nvSpPr>
          <p:cNvPr id="3" name="ZoneTexte 2">
            <a:extLst>
              <a:ext uri="{FF2B5EF4-FFF2-40B4-BE49-F238E27FC236}">
                <a16:creationId xmlns:a16="http://schemas.microsoft.com/office/drawing/2014/main" id="{45DF3918-26FC-534B-9E7B-A6FA49BD8392}"/>
              </a:ext>
            </a:extLst>
          </p:cNvPr>
          <p:cNvSpPr txBox="1"/>
          <p:nvPr/>
        </p:nvSpPr>
        <p:spPr>
          <a:xfrm>
            <a:off x="356462" y="4843085"/>
            <a:ext cx="4572000" cy="276999"/>
          </a:xfrm>
          <a:prstGeom prst="rect">
            <a:avLst/>
          </a:prstGeom>
          <a:noFill/>
        </p:spPr>
        <p:txBody>
          <a:bodyPr wrap="square">
            <a:spAutoFit/>
          </a:bodyPr>
          <a:lstStyle/>
          <a:p>
            <a:r>
              <a:rPr lang="fr-CA" sz="1200" i="1" noProof="0"/>
              <a:t>* Unités d’affaires : Lignes d’affaire, secteurs corporatifs et filiales</a:t>
            </a:r>
          </a:p>
        </p:txBody>
      </p:sp>
    </p:spTree>
    <p:extLst>
      <p:ext uri="{BB962C8B-B14F-4D97-AF65-F5344CB8AC3E}">
        <p14:creationId xmlns:p14="http://schemas.microsoft.com/office/powerpoint/2010/main" val="27257887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ED734-FD1A-CBFE-2069-01627F6EA5C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E336BF1-01D7-C769-8557-3E86097C0C51}"/>
              </a:ext>
            </a:extLst>
          </p:cNvPr>
          <p:cNvSpPr>
            <a:spLocks noGrp="1"/>
          </p:cNvSpPr>
          <p:nvPr>
            <p:ph type="title"/>
          </p:nvPr>
        </p:nvSpPr>
        <p:spPr>
          <a:xfrm>
            <a:off x="207818" y="1"/>
            <a:ext cx="8936181" cy="429490"/>
          </a:xfrm>
          <a:solidFill>
            <a:schemeClr val="tx1"/>
          </a:solidFill>
        </p:spPr>
        <p:txBody>
          <a:bodyPr vert="horz" lIns="91440" tIns="45720" rIns="91440" bIns="45720" rtlCol="0" anchor="ctr">
            <a:normAutofit/>
          </a:bodyPr>
          <a:lstStyle/>
          <a:p>
            <a:r>
              <a:rPr lang="fr-CA" sz="2400" b="1" noProof="0">
                <a:solidFill>
                  <a:schemeClr val="bg1"/>
                </a:solidFill>
              </a:rPr>
              <a:t>Cas d’utilisation affaires R2 &amp; R3</a:t>
            </a:r>
          </a:p>
        </p:txBody>
      </p:sp>
      <p:graphicFrame>
        <p:nvGraphicFramePr>
          <p:cNvPr id="4" name="Tableau 8">
            <a:extLst>
              <a:ext uri="{FF2B5EF4-FFF2-40B4-BE49-F238E27FC236}">
                <a16:creationId xmlns:a16="http://schemas.microsoft.com/office/drawing/2014/main" id="{67BFA9FB-9AAC-7256-EB0F-885EDA81ED7E}"/>
              </a:ext>
            </a:extLst>
          </p:cNvPr>
          <p:cNvGraphicFramePr>
            <a:graphicFrameLocks noGrp="1"/>
          </p:cNvGraphicFramePr>
          <p:nvPr>
            <p:ph idx="1"/>
            <p:extLst>
              <p:ext uri="{D42A27DB-BD31-4B8C-83A1-F6EECF244321}">
                <p14:modId xmlns:p14="http://schemas.microsoft.com/office/powerpoint/2010/main" val="3564074800"/>
              </p:ext>
            </p:extLst>
          </p:nvPr>
        </p:nvGraphicFramePr>
        <p:xfrm>
          <a:off x="269811" y="471524"/>
          <a:ext cx="8843192" cy="2424276"/>
        </p:xfrm>
        <a:graphic>
          <a:graphicData uri="http://schemas.openxmlformats.org/drawingml/2006/table">
            <a:tbl>
              <a:tblPr firstRow="1">
                <a:tableStyleId>{073A0DAA-6AF3-43AB-8588-CEC1D06C72B9}</a:tableStyleId>
              </a:tblPr>
              <a:tblGrid>
                <a:gridCol w="962304">
                  <a:extLst>
                    <a:ext uri="{9D8B030D-6E8A-4147-A177-3AD203B41FA5}">
                      <a16:colId xmlns:a16="http://schemas.microsoft.com/office/drawing/2014/main" val="3500930570"/>
                    </a:ext>
                  </a:extLst>
                </a:gridCol>
                <a:gridCol w="1239865">
                  <a:extLst>
                    <a:ext uri="{9D8B030D-6E8A-4147-A177-3AD203B41FA5}">
                      <a16:colId xmlns:a16="http://schemas.microsoft.com/office/drawing/2014/main" val="382091172"/>
                    </a:ext>
                  </a:extLst>
                </a:gridCol>
                <a:gridCol w="1549830">
                  <a:extLst>
                    <a:ext uri="{9D8B030D-6E8A-4147-A177-3AD203B41FA5}">
                      <a16:colId xmlns:a16="http://schemas.microsoft.com/office/drawing/2014/main" val="4174676584"/>
                    </a:ext>
                  </a:extLst>
                </a:gridCol>
                <a:gridCol w="1278610">
                  <a:extLst>
                    <a:ext uri="{9D8B030D-6E8A-4147-A177-3AD203B41FA5}">
                      <a16:colId xmlns:a16="http://schemas.microsoft.com/office/drawing/2014/main" val="311002029"/>
                    </a:ext>
                  </a:extLst>
                </a:gridCol>
                <a:gridCol w="2347994">
                  <a:extLst>
                    <a:ext uri="{9D8B030D-6E8A-4147-A177-3AD203B41FA5}">
                      <a16:colId xmlns:a16="http://schemas.microsoft.com/office/drawing/2014/main" val="1873745783"/>
                    </a:ext>
                  </a:extLst>
                </a:gridCol>
                <a:gridCol w="1464589">
                  <a:extLst>
                    <a:ext uri="{9D8B030D-6E8A-4147-A177-3AD203B41FA5}">
                      <a16:colId xmlns:a16="http://schemas.microsoft.com/office/drawing/2014/main" val="3393739696"/>
                    </a:ext>
                  </a:extLst>
                </a:gridCol>
              </a:tblGrid>
              <a:tr h="439256">
                <a:tc>
                  <a:txBody>
                    <a:bodyPr/>
                    <a:lstStyle/>
                    <a:p>
                      <a:pPr algn="ctr"/>
                      <a:r>
                        <a:rPr lang="fr-CA" sz="1000" noProof="0"/>
                        <a:t>Fonctions d’affaires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CA" sz="1000" noProof="0"/>
                        <a:t>Cas utilisation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Acteurs impliqués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Déclencheurs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Description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Résultat attendu</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955524767"/>
                  </a:ext>
                </a:extLst>
              </a:tr>
              <a:tr h="506834">
                <a:tc rowSpan="3">
                  <a:txBody>
                    <a:bodyPr/>
                    <a:lstStyle/>
                    <a:p>
                      <a:pPr algn="ctr"/>
                      <a:r>
                        <a:rPr lang="fr-CA" sz="800" noProof="0"/>
                        <a:t>Détection de Fraude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noProof="0"/>
                        <a:t>Escalade le cas de suspicion de fraude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Unités d’affaires *</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Institution financière</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Gestion des risques</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Lute blanchiment d’argent  (LBA)</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lang="fr-CA" sz="800" noProof="0"/>
                        <a:t>Paiement suspect à haute probabilité de fraude à faire valider</a:t>
                      </a:r>
                    </a:p>
                    <a:p>
                      <a:pPr marL="171450" indent="-171450">
                        <a:buFont typeface="Arial" panose="020B0604020202020204" pitchFamily="34" charset="0"/>
                        <a:buChar char="•"/>
                      </a:pPr>
                      <a:r>
                        <a:rPr lang="fr-CA" sz="800" noProof="0"/>
                        <a:t>Besoin de l’avis d’un expert</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fr-CA" sz="800" noProof="0"/>
                        <a:t>Envoyer la transaction  suspectée  de fraude pour validation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Cas de fraude transmis pour validation. </a:t>
                      </a:r>
                    </a:p>
                    <a:p>
                      <a:pPr marL="85725"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Cas suspect confirmé ou blanchi</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51639710"/>
                  </a:ext>
                </a:extLst>
              </a:tr>
              <a:tr h="777146">
                <a:tc vMerge="1">
                  <a:txBody>
                    <a:bodyPr/>
                    <a:lstStyle/>
                    <a:p>
                      <a:pPr lvl="0"/>
                      <a:endParaRPr lang="fr-FR" sz="80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noProof="0"/>
                        <a:t>Suivre de l'évolution des cas de fraude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noProof="0"/>
                        <a:t>Trimestriel</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l" defTabSz="914400" rtl="0" eaLnBrk="1" latinLnBrk="0" hangingPunct="1">
                        <a:buFont typeface="Arial" panose="020B0604020202020204" pitchFamily="34" charset="0"/>
                        <a:buNone/>
                      </a:pPr>
                      <a:r>
                        <a:rPr lang="fr-CA" sz="800" kern="1200" noProof="0">
                          <a:solidFill>
                            <a:schemeClr val="dk1"/>
                          </a:solidFill>
                          <a:latin typeface="+mn-lt"/>
                          <a:ea typeface="+mn-ea"/>
                          <a:cs typeface="+mn-cs"/>
                        </a:rPr>
                        <a:t>Analyser les cas de fraude dans optique d'amélioration continue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Suivi des cas de fraude réalisé </a:t>
                      </a:r>
                    </a:p>
                    <a:p>
                      <a:pPr marL="85725"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Plan d'action définit</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87336233"/>
                  </a:ext>
                </a:extLst>
              </a:tr>
              <a:tr h="506834">
                <a:tc vMerge="1">
                  <a:txBody>
                    <a:bodyPr/>
                    <a:lstStyle/>
                    <a:p>
                      <a:endParaRPr lang="fr-F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noProof="0"/>
                        <a:t>Produire les rapports nécessaires aux auditeurs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kern="1200" noProof="0">
                          <a:solidFill>
                            <a:schemeClr val="dk1"/>
                          </a:solidFill>
                          <a:latin typeface="+mn-lt"/>
                          <a:ea typeface="+mn-ea"/>
                          <a:cs typeface="+mn-cs"/>
                        </a:rPr>
                        <a:t>CSP Bancaire</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800" kern="1200" noProof="0">
                          <a:solidFill>
                            <a:schemeClr val="dk1"/>
                          </a:solidFill>
                          <a:latin typeface="+mn-lt"/>
                          <a:ea typeface="+mn-ea"/>
                          <a:cs typeface="+mn-cs"/>
                        </a:rPr>
                        <a:t>Gestion de risque</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800" kern="1200" noProof="0">
                          <a:solidFill>
                            <a:schemeClr val="dk1"/>
                          </a:solidFill>
                          <a:latin typeface="+mn-lt"/>
                          <a:ea typeface="+mn-ea"/>
                          <a:cs typeface="+mn-cs"/>
                        </a:rPr>
                        <a:t>Équipe de criminalité financière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lang="fr-CA" sz="800" noProof="0"/>
                        <a:t>Trimestriel</a:t>
                      </a:r>
                    </a:p>
                    <a:p>
                      <a:pPr marL="171450" indent="-171450">
                        <a:buFont typeface="Arial" panose="020B0604020202020204" pitchFamily="34" charset="0"/>
                        <a:buChar char="•"/>
                      </a:pPr>
                      <a:r>
                        <a:rPr lang="fr-CA" sz="800" noProof="0"/>
                        <a:t>Mensuel</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pPr>
                      <a:r>
                        <a:rPr lang="fr-CA" sz="800" noProof="0"/>
                        <a:t>Produire les rapports demander par les auditeurs internes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Rapport produit, sauvegardé et envoyés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4216558"/>
                  </a:ext>
                </a:extLst>
              </a:tr>
            </a:tbl>
          </a:graphicData>
        </a:graphic>
      </p:graphicFrame>
      <p:sp>
        <p:nvSpPr>
          <p:cNvPr id="3" name="ZoneTexte 2">
            <a:extLst>
              <a:ext uri="{FF2B5EF4-FFF2-40B4-BE49-F238E27FC236}">
                <a16:creationId xmlns:a16="http://schemas.microsoft.com/office/drawing/2014/main" id="{61165233-2B60-C18B-91B4-2C27749BCAC9}"/>
              </a:ext>
            </a:extLst>
          </p:cNvPr>
          <p:cNvSpPr txBox="1"/>
          <p:nvPr/>
        </p:nvSpPr>
        <p:spPr>
          <a:xfrm>
            <a:off x="356462" y="4843085"/>
            <a:ext cx="4572000" cy="276999"/>
          </a:xfrm>
          <a:prstGeom prst="rect">
            <a:avLst/>
          </a:prstGeom>
          <a:noFill/>
        </p:spPr>
        <p:txBody>
          <a:bodyPr wrap="square">
            <a:spAutoFit/>
          </a:bodyPr>
          <a:lstStyle/>
          <a:p>
            <a:r>
              <a:rPr lang="fr-CA" sz="1200" i="1" noProof="0"/>
              <a:t>* Unités d’affaires : Lignes d’affaire, secteurs corporatifs et filiales</a:t>
            </a:r>
          </a:p>
        </p:txBody>
      </p:sp>
    </p:spTree>
    <p:extLst>
      <p:ext uri="{BB962C8B-B14F-4D97-AF65-F5344CB8AC3E}">
        <p14:creationId xmlns:p14="http://schemas.microsoft.com/office/powerpoint/2010/main" val="223569639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Espace réservé du contenu 12">
            <a:extLst>
              <a:ext uri="{FF2B5EF4-FFF2-40B4-BE49-F238E27FC236}">
                <a16:creationId xmlns:a16="http://schemas.microsoft.com/office/drawing/2014/main" id="{152B70A0-E250-0C99-5670-689F3A2F0B67}"/>
              </a:ext>
            </a:extLst>
          </p:cNvPr>
          <p:cNvGraphicFramePr>
            <a:graphicFrameLocks noGrp="1"/>
          </p:cNvGraphicFramePr>
          <p:nvPr>
            <p:ph idx="1"/>
            <p:extLst>
              <p:ext uri="{D42A27DB-BD31-4B8C-83A1-F6EECF244321}">
                <p14:modId xmlns:p14="http://schemas.microsoft.com/office/powerpoint/2010/main" val="183923169"/>
              </p:ext>
            </p:extLst>
          </p:nvPr>
        </p:nvGraphicFramePr>
        <p:xfrm>
          <a:off x="460662" y="444924"/>
          <a:ext cx="8458200" cy="3987253"/>
        </p:xfrm>
        <a:graphic>
          <a:graphicData uri="http://schemas.openxmlformats.org/drawingml/2006/table">
            <a:tbl>
              <a:tblPr firstRow="1" bandRow="1">
                <a:tableStyleId>{073A0DAA-6AF3-43AB-8588-CEC1D06C72B9}</a:tableStyleId>
              </a:tblPr>
              <a:tblGrid>
                <a:gridCol w="2422023">
                  <a:extLst>
                    <a:ext uri="{9D8B030D-6E8A-4147-A177-3AD203B41FA5}">
                      <a16:colId xmlns:a16="http://schemas.microsoft.com/office/drawing/2014/main" val="1113003142"/>
                    </a:ext>
                  </a:extLst>
                </a:gridCol>
                <a:gridCol w="6036177">
                  <a:extLst>
                    <a:ext uri="{9D8B030D-6E8A-4147-A177-3AD203B41FA5}">
                      <a16:colId xmlns:a16="http://schemas.microsoft.com/office/drawing/2014/main" val="2908348383"/>
                    </a:ext>
                  </a:extLst>
                </a:gridCol>
              </a:tblGrid>
              <a:tr h="344893">
                <a:tc>
                  <a:txBody>
                    <a:bodyPr/>
                    <a:lstStyle/>
                    <a:p>
                      <a:r>
                        <a:rPr lang="fr-CA" sz="1000" noProof="0"/>
                        <a:t>Processus impactés</a:t>
                      </a:r>
                    </a:p>
                  </a:txBody>
                  <a:tcPr/>
                </a:tc>
                <a:tc>
                  <a:txBody>
                    <a:bodyPr/>
                    <a:lstStyle/>
                    <a:p>
                      <a:r>
                        <a:rPr lang="fr-CA" sz="1000" noProof="0"/>
                        <a:t>Impact affaires</a:t>
                      </a:r>
                    </a:p>
                  </a:txBody>
                  <a:tcPr/>
                </a:tc>
                <a:extLst>
                  <a:ext uri="{0D108BD9-81ED-4DB2-BD59-A6C34878D82A}">
                    <a16:rowId xmlns:a16="http://schemas.microsoft.com/office/drawing/2014/main" val="67016572"/>
                  </a:ext>
                </a:extLst>
              </a:tr>
              <a:tr h="344893">
                <a:tc>
                  <a:txBody>
                    <a:bodyPr/>
                    <a:lstStyle/>
                    <a:p>
                      <a:pPr marL="0" algn="l" defTabSz="914400" rtl="0" eaLnBrk="1" latinLnBrk="0" hangingPunct="1"/>
                      <a:r>
                        <a:rPr lang="fr-CA" sz="1100" b="1" kern="1200" noProof="0">
                          <a:solidFill>
                            <a:schemeClr val="dk1"/>
                          </a:solidFill>
                          <a:latin typeface="+mn-lt"/>
                          <a:ea typeface="+mn-ea"/>
                          <a:cs typeface="+mn-cs"/>
                        </a:rPr>
                        <a:t>Gestions des comptes bancaire</a:t>
                      </a:r>
                    </a:p>
                  </a:txBody>
                  <a:tcPr anchor="ctr"/>
                </a:tc>
                <a:tc>
                  <a:txBody>
                    <a:bodyPr/>
                    <a:lstStyle/>
                    <a:p>
                      <a:pPr marL="171450" indent="-171450" algn="l" defTabSz="914400" rtl="0" eaLnBrk="1" latinLnBrk="0" hangingPunct="1">
                        <a:buFont typeface="Arial" panose="020B0604020202020204" pitchFamily="34" charset="0"/>
                        <a:buChar char="•"/>
                      </a:pPr>
                      <a:r>
                        <a:rPr lang="fr-CA" sz="1100" kern="1200" noProof="0">
                          <a:solidFill>
                            <a:schemeClr val="dk1"/>
                          </a:solidFill>
                          <a:latin typeface="+mn-lt"/>
                          <a:ea typeface="+mn-ea"/>
                          <a:cs typeface="+mn-cs"/>
                        </a:rPr>
                        <a:t>Un rationnement du nombre de comptes bancaires</a:t>
                      </a:r>
                    </a:p>
                    <a:p>
                      <a:pPr marL="171450" indent="-171450" algn="l" defTabSz="914400" rtl="0" eaLnBrk="1" latinLnBrk="0" hangingPunct="1">
                        <a:buFont typeface="Arial" panose="020B0604020202020204" pitchFamily="34" charset="0"/>
                        <a:buChar char="•"/>
                      </a:pPr>
                      <a:r>
                        <a:rPr lang="fr-CA" sz="1100" kern="1200" noProof="0">
                          <a:solidFill>
                            <a:schemeClr val="dk1"/>
                          </a:solidFill>
                          <a:latin typeface="+mn-lt"/>
                          <a:ea typeface="+mn-ea"/>
                          <a:cs typeface="+mn-cs"/>
                        </a:rPr>
                        <a:t>Mise en place d’une stratégie autour de la structure bancaire ce qui pourrait impacter la façon dont nos partenaires peuvent demander l’ouverture de nouveaux comptes</a:t>
                      </a:r>
                    </a:p>
                  </a:txBody>
                  <a:tcPr anchor="ctr"/>
                </a:tc>
                <a:extLst>
                  <a:ext uri="{0D108BD9-81ED-4DB2-BD59-A6C34878D82A}">
                    <a16:rowId xmlns:a16="http://schemas.microsoft.com/office/drawing/2014/main" val="3906317984"/>
                  </a:ext>
                </a:extLst>
              </a:tr>
              <a:tr h="344893">
                <a:tc>
                  <a:txBody>
                    <a:bodyPr/>
                    <a:lstStyle/>
                    <a:p>
                      <a:pPr marL="0" algn="l" rtl="0" eaLnBrk="1" latinLnBrk="0" hangingPunct="1"/>
                      <a:r>
                        <a:rPr lang="fr-CA" sz="1100" b="1" kern="1200" noProof="0">
                          <a:solidFill>
                            <a:schemeClr val="dk1"/>
                          </a:solidFill>
                          <a:latin typeface="+mn-lt"/>
                          <a:ea typeface="+mn-ea"/>
                          <a:cs typeface="+mn-cs"/>
                        </a:rPr>
                        <a:t>Gestion des frais bancaire</a:t>
                      </a:r>
                      <a:endParaRPr lang="fr-CA" sz="2400" b="1" noProof="0"/>
                    </a:p>
                  </a:txBody>
                  <a:tcPr anchor="ctr"/>
                </a:tc>
                <a:tc>
                  <a:txBody>
                    <a:bodyPr/>
                    <a:lstStyle/>
                    <a:p>
                      <a:pPr marL="171450" indent="-171450" algn="l" defTabSz="914400" rtl="0" eaLnBrk="1" latinLnBrk="0" hangingPunct="1">
                        <a:buFont typeface="Arial" panose="020B0604020202020204" pitchFamily="34" charset="0"/>
                        <a:buChar char="•"/>
                      </a:pPr>
                      <a:r>
                        <a:rPr lang="fr-CA" sz="1100" kern="1200" noProof="0">
                          <a:solidFill>
                            <a:schemeClr val="dk1"/>
                          </a:solidFill>
                          <a:latin typeface="+mn-lt"/>
                          <a:ea typeface="+mn-ea"/>
                          <a:cs typeface="+mn-cs"/>
                        </a:rPr>
                        <a:t>Un monitoring plus structuré des frais bancaires : </a:t>
                      </a:r>
                    </a:p>
                    <a:p>
                      <a:pPr marL="628650" lvl="1" indent="-171450" algn="l" defTabSz="914400" rtl="0" eaLnBrk="1" latinLnBrk="0" hangingPunct="1">
                        <a:buFont typeface="Arial" panose="020B0604020202020204" pitchFamily="34" charset="0"/>
                        <a:buChar char="•"/>
                      </a:pPr>
                      <a:r>
                        <a:rPr lang="fr-CA" sz="1100" kern="1200" noProof="0">
                          <a:solidFill>
                            <a:schemeClr val="dk1"/>
                          </a:solidFill>
                          <a:latin typeface="+mn-lt"/>
                          <a:ea typeface="+mn-ea"/>
                          <a:cs typeface="+mn-cs"/>
                        </a:rPr>
                        <a:t>Monitorer les frais bancaires facturés Vs entente signé avec la banque</a:t>
                      </a:r>
                    </a:p>
                    <a:p>
                      <a:pPr marL="628650" lvl="1" indent="-171450" algn="l" defTabSz="914400" rtl="0" eaLnBrk="1" latinLnBrk="0" hangingPunct="1">
                        <a:buFont typeface="Arial" panose="020B0604020202020204" pitchFamily="34" charset="0"/>
                        <a:buChar char="•"/>
                      </a:pPr>
                      <a:r>
                        <a:rPr lang="fr-CA" sz="1100" kern="1200" noProof="0">
                          <a:solidFill>
                            <a:schemeClr val="dk1"/>
                          </a:solidFill>
                          <a:latin typeface="+mn-lt"/>
                          <a:ea typeface="+mn-ea"/>
                          <a:cs typeface="+mn-cs"/>
                        </a:rPr>
                        <a:t>Monitorer les écarts de frais bancaire entre les différentes banques</a:t>
                      </a:r>
                    </a:p>
                    <a:p>
                      <a:pPr marL="171450" lvl="0" indent="-171450" algn="l" defTabSz="914400" rtl="0" eaLnBrk="1" latinLnBrk="0" hangingPunct="1">
                        <a:buFont typeface="Arial" panose="020B0604020202020204" pitchFamily="34" charset="0"/>
                        <a:buChar char="•"/>
                      </a:pPr>
                      <a:r>
                        <a:rPr lang="fr-CA" sz="1100" kern="1200" noProof="0">
                          <a:solidFill>
                            <a:schemeClr val="dk1"/>
                          </a:solidFill>
                          <a:latin typeface="+mn-lt"/>
                          <a:ea typeface="+mn-ea"/>
                          <a:cs typeface="+mn-cs"/>
                        </a:rPr>
                        <a:t>Un outil facilitant pour la refacturation des frais à nos partenaire</a:t>
                      </a:r>
                    </a:p>
                  </a:txBody>
                  <a:tcPr anchor="ctr"/>
                </a:tc>
                <a:extLst>
                  <a:ext uri="{0D108BD9-81ED-4DB2-BD59-A6C34878D82A}">
                    <a16:rowId xmlns:a16="http://schemas.microsoft.com/office/drawing/2014/main" val="4224818805"/>
                  </a:ext>
                </a:extLst>
              </a:tr>
              <a:tr h="344893">
                <a:tc>
                  <a:txBody>
                    <a:bodyPr/>
                    <a:lstStyle/>
                    <a:p>
                      <a:pPr marL="0" algn="l" defTabSz="914400" rtl="0" eaLnBrk="1" latinLnBrk="0" hangingPunct="1"/>
                      <a:r>
                        <a:rPr lang="fr-CA" sz="1100" b="1" kern="1200" noProof="0">
                          <a:solidFill>
                            <a:schemeClr val="dk1"/>
                          </a:solidFill>
                          <a:latin typeface="+mn-lt"/>
                          <a:ea typeface="+mn-ea"/>
                          <a:cs typeface="+mn-cs"/>
                        </a:rPr>
                        <a:t>Paiement par chèques</a:t>
                      </a:r>
                    </a:p>
                  </a:txBody>
                  <a:tcPr anchor="ctr"/>
                </a:tc>
                <a:tc>
                  <a:txBody>
                    <a:bodyPr/>
                    <a:lstStyle/>
                    <a:p>
                      <a:pPr marL="171450" indent="-171450" algn="l" defTabSz="914400" rtl="0" eaLnBrk="1" latinLnBrk="0" hangingPunct="1">
                        <a:buFont typeface="Arial" panose="020B0604020202020204" pitchFamily="34" charset="0"/>
                        <a:buChar char="•"/>
                      </a:pPr>
                      <a:r>
                        <a:rPr lang="fr-CA" sz="1100" kern="1200" noProof="0">
                          <a:solidFill>
                            <a:schemeClr val="dk1"/>
                          </a:solidFill>
                          <a:latin typeface="+mn-lt"/>
                          <a:ea typeface="+mn-ea"/>
                          <a:cs typeface="+mn-cs"/>
                        </a:rPr>
                        <a:t>Les chèques ne seront plus manipulés par le CSP bancaires comme présentement, ils seront :</a:t>
                      </a:r>
                    </a:p>
                    <a:p>
                      <a:pPr marL="628650" lvl="1" indent="-171450" algn="l" defTabSz="914400" rtl="0" eaLnBrk="1" latinLnBrk="0" hangingPunct="1">
                        <a:buFont typeface="Arial" panose="020B0604020202020204" pitchFamily="34" charset="0"/>
                        <a:buChar char="•"/>
                      </a:pPr>
                      <a:r>
                        <a:rPr lang="fr-CA" sz="1100" kern="1200" noProof="0">
                          <a:solidFill>
                            <a:schemeClr val="dk1"/>
                          </a:solidFill>
                          <a:latin typeface="+mn-lt"/>
                          <a:ea typeface="+mn-ea"/>
                          <a:cs typeface="+mn-cs"/>
                        </a:rPr>
                        <a:t>Soit envoyés aux bénéficiaires</a:t>
                      </a:r>
                    </a:p>
                    <a:p>
                      <a:pPr marL="628650" lvl="1" indent="-171450" algn="l" defTabSz="914400" rtl="0" eaLnBrk="1" latinLnBrk="0" hangingPunct="1">
                        <a:buFont typeface="Arial" panose="020B0604020202020204" pitchFamily="34" charset="0"/>
                        <a:buChar char="•"/>
                      </a:pPr>
                      <a:r>
                        <a:rPr lang="fr-CA" sz="1100" kern="1200" noProof="0">
                          <a:solidFill>
                            <a:schemeClr val="dk1"/>
                          </a:solidFill>
                          <a:latin typeface="+mn-lt"/>
                          <a:ea typeface="+mn-ea"/>
                          <a:cs typeface="+mn-cs"/>
                        </a:rPr>
                        <a:t>Soit retourné chez l’unité d’affaire en passant par le service courrier IA</a:t>
                      </a:r>
                    </a:p>
                    <a:p>
                      <a:pPr marL="171450" indent="-171450" algn="l" defTabSz="914400" rtl="0" eaLnBrk="1" latinLnBrk="0" hangingPunct="1">
                        <a:buFont typeface="Arial" panose="020B0604020202020204" pitchFamily="34" charset="0"/>
                        <a:buChar char="•"/>
                      </a:pPr>
                      <a:r>
                        <a:rPr lang="fr-CA" sz="1100" kern="1200">
                          <a:solidFill>
                            <a:schemeClr val="dk1"/>
                          </a:solidFill>
                          <a:latin typeface="+mn-lt"/>
                          <a:ea typeface="+mn-ea"/>
                          <a:cs typeface="+mn-cs"/>
                        </a:rPr>
                        <a:t>Les annulations et/ou arrêts de paiement des chèques seront opérées dans Kyriba et non plus dans l’application Opérations Bancaires.</a:t>
                      </a:r>
                    </a:p>
                    <a:p>
                      <a:pPr marL="171450" indent="-171450" algn="l" defTabSz="914400" rtl="0" eaLnBrk="1" latinLnBrk="0" hangingPunct="1">
                        <a:buFont typeface="Arial" panose="020B0604020202020204" pitchFamily="34" charset="0"/>
                        <a:buChar char="•"/>
                      </a:pPr>
                      <a:r>
                        <a:rPr lang="fr-CA" sz="1100" kern="1200">
                          <a:solidFill>
                            <a:schemeClr val="dk1"/>
                          </a:solidFill>
                          <a:latin typeface="+mn-lt"/>
                          <a:ea typeface="+mn-ea"/>
                          <a:cs typeface="+mn-cs"/>
                        </a:rPr>
                        <a:t>Les images de chèques ne seront plus consultables par les partenaires.</a:t>
                      </a:r>
                    </a:p>
                    <a:p>
                      <a:pPr marL="171450" indent="-171450" algn="l" defTabSz="914400" rtl="0" eaLnBrk="1" latinLnBrk="0" hangingPunct="1">
                        <a:buFont typeface="Arial" panose="020B0604020202020204" pitchFamily="34" charset="0"/>
                        <a:buChar char="•"/>
                      </a:pPr>
                      <a:r>
                        <a:rPr lang="fr-CA" sz="1100" kern="1200">
                          <a:solidFill>
                            <a:schemeClr val="dk1"/>
                          </a:solidFill>
                          <a:latin typeface="+mn-lt"/>
                          <a:ea typeface="+mn-ea"/>
                          <a:cs typeface="+mn-cs"/>
                        </a:rPr>
                        <a:t>L’impression des chèques sera exécutée sans l’attente de la validation de la banque </a:t>
                      </a:r>
                    </a:p>
                  </a:txBody>
                  <a:tcPr anchor="ctr"/>
                </a:tc>
                <a:extLst>
                  <a:ext uri="{0D108BD9-81ED-4DB2-BD59-A6C34878D82A}">
                    <a16:rowId xmlns:a16="http://schemas.microsoft.com/office/drawing/2014/main" val="1999694627"/>
                  </a:ext>
                </a:extLst>
              </a:tr>
              <a:tr h="368516">
                <a:tc>
                  <a:txBody>
                    <a:bodyPr/>
                    <a:lstStyle/>
                    <a:p>
                      <a:pPr marL="0" algn="l" defTabSz="914400" rtl="0" eaLnBrk="1" latinLnBrk="0" hangingPunct="1"/>
                      <a:r>
                        <a:rPr lang="fr-CA" sz="1100" b="1" kern="1200" noProof="0">
                          <a:solidFill>
                            <a:schemeClr val="dk1"/>
                          </a:solidFill>
                          <a:latin typeface="+mn-lt"/>
                          <a:ea typeface="+mn-ea"/>
                          <a:cs typeface="+mn-cs"/>
                        </a:rPr>
                        <a:t>Saisie des paiements manuelles </a:t>
                      </a:r>
                    </a:p>
                  </a:txBody>
                  <a:tcPr anchor="ctr"/>
                </a:tc>
                <a:tc>
                  <a:txBody>
                    <a:bodyPr/>
                    <a:lstStyle/>
                    <a:p>
                      <a:pPr marL="0" algn="l" defTabSz="914400" rtl="0" eaLnBrk="1" latinLnBrk="0" hangingPunct="1"/>
                      <a:r>
                        <a:rPr lang="fr-CA" sz="1100" kern="1200" noProof="0">
                          <a:solidFill>
                            <a:schemeClr val="dk1"/>
                          </a:solidFill>
                          <a:latin typeface="+mn-lt"/>
                          <a:ea typeface="+mn-ea"/>
                          <a:cs typeface="+mn-cs"/>
                        </a:rPr>
                        <a:t>Les paiements manuels devront être tous saisis et approuvés dans l’outil Kyriba</a:t>
                      </a:r>
                    </a:p>
                    <a:p>
                      <a:pPr marL="171450" indent="-171450" algn="l" defTabSz="914400" rtl="0" eaLnBrk="1" latinLnBrk="0" hangingPunct="1">
                        <a:buFont typeface="Arial" panose="020B0604020202020204" pitchFamily="34" charset="0"/>
                        <a:buChar char="•"/>
                      </a:pPr>
                      <a:r>
                        <a:rPr lang="fr-CA" sz="1100" kern="1200" noProof="0">
                          <a:solidFill>
                            <a:schemeClr val="dk1"/>
                          </a:solidFill>
                          <a:latin typeface="+mn-lt"/>
                          <a:ea typeface="+mn-ea"/>
                          <a:cs typeface="+mn-cs"/>
                        </a:rPr>
                        <a:t>La plateforme opération sur les chèques sera décommissionné</a:t>
                      </a:r>
                    </a:p>
                    <a:p>
                      <a:pPr marL="171450" indent="-171450" algn="l" defTabSz="914400" rtl="0" eaLnBrk="1" latinLnBrk="0" hangingPunct="1">
                        <a:buFont typeface="Arial" panose="020B0604020202020204" pitchFamily="34" charset="0"/>
                        <a:buChar char="•"/>
                      </a:pPr>
                      <a:r>
                        <a:rPr lang="fr-CA" sz="1100" kern="1200" noProof="0">
                          <a:solidFill>
                            <a:schemeClr val="dk1"/>
                          </a:solidFill>
                          <a:latin typeface="+mn-lt"/>
                          <a:ea typeface="+mn-ea"/>
                          <a:cs typeface="+mn-cs"/>
                        </a:rPr>
                        <a:t>Les accès aux plateformes des institutions bancaire seront réduits</a:t>
                      </a:r>
                    </a:p>
                  </a:txBody>
                  <a:tcPr anchor="ctr"/>
                </a:tc>
                <a:extLst>
                  <a:ext uri="{0D108BD9-81ED-4DB2-BD59-A6C34878D82A}">
                    <a16:rowId xmlns:a16="http://schemas.microsoft.com/office/drawing/2014/main" val="1268558728"/>
                  </a:ext>
                </a:extLst>
              </a:tr>
              <a:tr h="368516">
                <a:tc>
                  <a:txBody>
                    <a:bodyPr/>
                    <a:lstStyle/>
                    <a:p>
                      <a:pPr marL="0" algn="l" defTabSz="914400" rtl="0" eaLnBrk="1" latinLnBrk="0" hangingPunct="1"/>
                      <a:r>
                        <a:rPr lang="fr-CA" sz="1100" b="1" kern="1200" noProof="0">
                          <a:solidFill>
                            <a:schemeClr val="dk1"/>
                          </a:solidFill>
                          <a:latin typeface="+mn-lt"/>
                          <a:ea typeface="+mn-ea"/>
                          <a:cs typeface="+mn-cs"/>
                        </a:rPr>
                        <a:t>Comptabilisation des Paiements </a:t>
                      </a:r>
                    </a:p>
                    <a:p>
                      <a:pPr marL="0" algn="l" defTabSz="914400" rtl="0" eaLnBrk="1" latinLnBrk="0" hangingPunct="1"/>
                      <a:r>
                        <a:rPr lang="fr-CA" sz="1100" b="1" kern="1200" noProof="0">
                          <a:solidFill>
                            <a:schemeClr val="dk1"/>
                          </a:solidFill>
                          <a:latin typeface="+mn-lt"/>
                          <a:ea typeface="+mn-ea"/>
                          <a:cs typeface="+mn-cs"/>
                        </a:rPr>
                        <a:t>DD, DPA et Virement</a:t>
                      </a:r>
                    </a:p>
                  </a:txBody>
                  <a:tcPr anchor="ctr"/>
                </a:tc>
                <a:tc>
                  <a:txBody>
                    <a:bodyPr/>
                    <a:lstStyle/>
                    <a:p>
                      <a:pPr marL="0" algn="l" defTabSz="914400" rtl="0" eaLnBrk="1" latinLnBrk="0" hangingPunct="1"/>
                      <a:r>
                        <a:rPr lang="fr-CA" sz="1100" kern="1200" noProof="0">
                          <a:solidFill>
                            <a:schemeClr val="dk1"/>
                          </a:solidFill>
                          <a:latin typeface="+mn-lt"/>
                          <a:ea typeface="+mn-ea"/>
                          <a:cs typeface="+mn-cs"/>
                        </a:rPr>
                        <a:t>Ces paiements et perceptions seront comptabilisés selon le retour de l’institution bancaire </a:t>
                      </a:r>
                    </a:p>
                  </a:txBody>
                  <a:tcPr anchor="ctr"/>
                </a:tc>
                <a:extLst>
                  <a:ext uri="{0D108BD9-81ED-4DB2-BD59-A6C34878D82A}">
                    <a16:rowId xmlns:a16="http://schemas.microsoft.com/office/drawing/2014/main" val="3814947073"/>
                  </a:ext>
                </a:extLst>
              </a:tr>
            </a:tbl>
          </a:graphicData>
        </a:graphic>
      </p:graphicFrame>
      <p:sp>
        <p:nvSpPr>
          <p:cNvPr id="3" name="Titre 1">
            <a:extLst>
              <a:ext uri="{FF2B5EF4-FFF2-40B4-BE49-F238E27FC236}">
                <a16:creationId xmlns:a16="http://schemas.microsoft.com/office/drawing/2014/main" id="{FD2307D1-BAE6-1F62-1068-A8D8C1D6C3DA}"/>
              </a:ext>
            </a:extLst>
          </p:cNvPr>
          <p:cNvSpPr txBox="1">
            <a:spLocks/>
          </p:cNvSpPr>
          <p:nvPr/>
        </p:nvSpPr>
        <p:spPr>
          <a:xfrm>
            <a:off x="235526" y="-5193"/>
            <a:ext cx="8908473" cy="379266"/>
          </a:xfrm>
          <a:prstGeom prst="rect">
            <a:avLst/>
          </a:prstGeom>
          <a:solidFill>
            <a:schemeClr val="tx1"/>
          </a:solidFill>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fr-CA" sz="2400" b="1">
                <a:solidFill>
                  <a:schemeClr val="bg1"/>
                </a:solidFill>
              </a:rPr>
              <a:t>Impacts affaires identifiés CFO &amp; principaux changements</a:t>
            </a:r>
          </a:p>
        </p:txBody>
      </p:sp>
    </p:spTree>
    <p:extLst>
      <p:ext uri="{BB962C8B-B14F-4D97-AF65-F5344CB8AC3E}">
        <p14:creationId xmlns:p14="http://schemas.microsoft.com/office/powerpoint/2010/main" val="2632470636"/>
      </p:ext>
    </p:extLst>
  </p:cSld>
  <p:clrMapOvr>
    <a:masterClrMapping/>
  </p:clrMapOvr>
  <p:extLst>
    <p:ext uri="{6950BFC3-D8DA-4A85-94F7-54DA5524770B}">
      <p188:commentRel xmlns:p188="http://schemas.microsoft.com/office/powerpoint/2018/8/main" r:id="rId3"/>
    </p:ext>
  </p:extLs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C99A0-DD51-B21D-378F-CDE8F07D2172}"/>
            </a:ext>
          </a:extLst>
        </p:cNvPr>
        <p:cNvGrpSpPr/>
        <p:nvPr/>
      </p:nvGrpSpPr>
      <p:grpSpPr>
        <a:xfrm>
          <a:off x="0" y="0"/>
          <a:ext cx="0" cy="0"/>
          <a:chOff x="0" y="0"/>
          <a:chExt cx="0" cy="0"/>
        </a:xfrm>
      </p:grpSpPr>
      <p:graphicFrame>
        <p:nvGraphicFramePr>
          <p:cNvPr id="6" name="Espace réservé du contenu 12">
            <a:extLst>
              <a:ext uri="{FF2B5EF4-FFF2-40B4-BE49-F238E27FC236}">
                <a16:creationId xmlns:a16="http://schemas.microsoft.com/office/drawing/2014/main" id="{CB2B7561-3644-F66F-4CB1-8EFBAAD3ABEE}"/>
              </a:ext>
            </a:extLst>
          </p:cNvPr>
          <p:cNvGraphicFramePr>
            <a:graphicFrameLocks noGrp="1"/>
          </p:cNvGraphicFramePr>
          <p:nvPr>
            <p:ph idx="1"/>
            <p:extLst>
              <p:ext uri="{D42A27DB-BD31-4B8C-83A1-F6EECF244321}">
                <p14:modId xmlns:p14="http://schemas.microsoft.com/office/powerpoint/2010/main" val="3542729267"/>
              </p:ext>
            </p:extLst>
          </p:nvPr>
        </p:nvGraphicFramePr>
        <p:xfrm>
          <a:off x="460662" y="444924"/>
          <a:ext cx="8458200" cy="4398733"/>
        </p:xfrm>
        <a:graphic>
          <a:graphicData uri="http://schemas.openxmlformats.org/drawingml/2006/table">
            <a:tbl>
              <a:tblPr firstRow="1" bandRow="1">
                <a:tableStyleId>{073A0DAA-6AF3-43AB-8588-CEC1D06C72B9}</a:tableStyleId>
              </a:tblPr>
              <a:tblGrid>
                <a:gridCol w="2259291">
                  <a:extLst>
                    <a:ext uri="{9D8B030D-6E8A-4147-A177-3AD203B41FA5}">
                      <a16:colId xmlns:a16="http://schemas.microsoft.com/office/drawing/2014/main" val="1113003142"/>
                    </a:ext>
                  </a:extLst>
                </a:gridCol>
                <a:gridCol w="6198909">
                  <a:extLst>
                    <a:ext uri="{9D8B030D-6E8A-4147-A177-3AD203B41FA5}">
                      <a16:colId xmlns:a16="http://schemas.microsoft.com/office/drawing/2014/main" val="2908348383"/>
                    </a:ext>
                  </a:extLst>
                </a:gridCol>
              </a:tblGrid>
              <a:tr h="344893">
                <a:tc>
                  <a:txBody>
                    <a:bodyPr/>
                    <a:lstStyle/>
                    <a:p>
                      <a:r>
                        <a:rPr lang="fr-CA" sz="1000" noProof="0"/>
                        <a:t>Processus impactés</a:t>
                      </a:r>
                    </a:p>
                  </a:txBody>
                  <a:tcPr/>
                </a:tc>
                <a:tc>
                  <a:txBody>
                    <a:bodyPr/>
                    <a:lstStyle/>
                    <a:p>
                      <a:r>
                        <a:rPr lang="fr-CA" sz="1000" noProof="0"/>
                        <a:t>Impact affaires</a:t>
                      </a:r>
                    </a:p>
                  </a:txBody>
                  <a:tcPr/>
                </a:tc>
                <a:extLst>
                  <a:ext uri="{0D108BD9-81ED-4DB2-BD59-A6C34878D82A}">
                    <a16:rowId xmlns:a16="http://schemas.microsoft.com/office/drawing/2014/main" val="67016572"/>
                  </a:ext>
                </a:extLst>
              </a:tr>
              <a:tr h="344893">
                <a:tc>
                  <a:txBody>
                    <a:bodyPr/>
                    <a:lstStyle/>
                    <a:p>
                      <a:pPr marL="0" algn="l" defTabSz="914400" rtl="0" eaLnBrk="1" latinLnBrk="0" hangingPunct="1"/>
                      <a:r>
                        <a:rPr lang="fr-CA" sz="1100" b="1" kern="1200" noProof="0">
                          <a:solidFill>
                            <a:schemeClr val="dk1"/>
                          </a:solidFill>
                          <a:latin typeface="+mn-lt"/>
                          <a:ea typeface="+mn-ea"/>
                          <a:cs typeface="+mn-cs"/>
                        </a:rPr>
                        <a:t>Comptabilisation des chèques</a:t>
                      </a:r>
                    </a:p>
                  </a:txBody>
                  <a:tcPr anchor="ctr"/>
                </a:tc>
                <a:tc>
                  <a:txBody>
                    <a:bodyPr/>
                    <a:lstStyle/>
                    <a:p>
                      <a:pPr marL="171450" indent="-171450" algn="l" defTabSz="914400" rtl="0" eaLnBrk="1" latinLnBrk="0" hangingPunct="1">
                        <a:buFont typeface="Arial" panose="020B0604020202020204" pitchFamily="34" charset="0"/>
                        <a:buChar char="•"/>
                      </a:pPr>
                      <a:r>
                        <a:rPr lang="fr-CA" sz="1100" kern="1200" noProof="0">
                          <a:solidFill>
                            <a:schemeClr val="dk1"/>
                          </a:solidFill>
                          <a:latin typeface="+mn-lt"/>
                          <a:ea typeface="+mn-ea"/>
                          <a:cs typeface="+mn-cs"/>
                        </a:rPr>
                        <a:t>Tous les chèques périmés seront renversés exclusivement selon une combinaison [ID bancaire/compte de renversement] fourni par le partenaire</a:t>
                      </a:r>
                    </a:p>
                    <a:p>
                      <a:pPr marL="171450" indent="-171450" algn="l" defTabSz="914400" rtl="0" eaLnBrk="1" latinLnBrk="0" hangingPunct="1">
                        <a:buFont typeface="Arial" panose="020B0604020202020204" pitchFamily="34" charset="0"/>
                        <a:buChar char="•"/>
                      </a:pPr>
                      <a:r>
                        <a:rPr lang="fr-CA" sz="1100" kern="1200" noProof="0">
                          <a:solidFill>
                            <a:schemeClr val="dk1"/>
                          </a:solidFill>
                          <a:latin typeface="+mn-lt"/>
                          <a:ea typeface="+mn-ea"/>
                          <a:cs typeface="+mn-cs"/>
                        </a:rPr>
                        <a:t>La comptabilisation des chèques annulé, arrêté ou périmé se faire automatiquement</a:t>
                      </a:r>
                    </a:p>
                  </a:txBody>
                  <a:tcPr anchor="ctr"/>
                </a:tc>
                <a:extLst>
                  <a:ext uri="{0D108BD9-81ED-4DB2-BD59-A6C34878D82A}">
                    <a16:rowId xmlns:a16="http://schemas.microsoft.com/office/drawing/2014/main" val="192523406"/>
                  </a:ext>
                </a:extLst>
              </a:tr>
              <a:tr h="344893">
                <a:tc>
                  <a:txBody>
                    <a:bodyPr/>
                    <a:lstStyle/>
                    <a:p>
                      <a:pPr marL="0" algn="l" rtl="0" eaLnBrk="1" latinLnBrk="0" hangingPunct="1"/>
                      <a:r>
                        <a:rPr lang="fr-CA" sz="1100" b="1" kern="1200" noProof="0">
                          <a:solidFill>
                            <a:schemeClr val="dk1"/>
                          </a:solidFill>
                          <a:latin typeface="+mn-lt"/>
                          <a:ea typeface="+mn-ea"/>
                          <a:cs typeface="+mn-cs"/>
                        </a:rPr>
                        <a:t>Conciliation bancaire</a:t>
                      </a:r>
                      <a:endParaRPr lang="fr-CA" sz="2400" b="1" noProof="0"/>
                    </a:p>
                  </a:txBody>
                  <a:tcPr anchor="ctr"/>
                </a:tc>
                <a:tc>
                  <a:txBody>
                    <a:bodyPr/>
                    <a:lstStyle/>
                    <a:p>
                      <a:pPr marL="171450" indent="-171450" algn="l" defTabSz="914400" rtl="0" eaLnBrk="1" latinLnBrk="0" hangingPunct="1">
                        <a:buFont typeface="Arial" panose="020B0604020202020204" pitchFamily="34" charset="0"/>
                        <a:buChar char="•"/>
                      </a:pPr>
                      <a:r>
                        <a:rPr lang="fr-CA" sz="1100" kern="1200" noProof="0">
                          <a:solidFill>
                            <a:schemeClr val="dk1"/>
                          </a:solidFill>
                          <a:latin typeface="+mn-lt"/>
                          <a:ea typeface="+mn-ea"/>
                          <a:cs typeface="+mn-cs"/>
                        </a:rPr>
                        <a:t>Améliorations des processus actuelles, Des amélioration Hors Kyriba mais impliquant des outils existant et nouveaux dans l’écosystème du CSP bancaire :</a:t>
                      </a:r>
                    </a:p>
                    <a:p>
                      <a:pPr marL="628650" lvl="1" indent="-171450" algn="l" defTabSz="914400" rtl="0" eaLnBrk="1" latinLnBrk="0" hangingPunct="1">
                        <a:buFont typeface="Arial" panose="020B0604020202020204" pitchFamily="34" charset="0"/>
                        <a:buChar char="•"/>
                      </a:pPr>
                      <a:r>
                        <a:rPr lang="fr-CA" sz="1100" kern="1200" noProof="0">
                          <a:solidFill>
                            <a:schemeClr val="dk1"/>
                          </a:solidFill>
                          <a:latin typeface="+mn-lt"/>
                          <a:ea typeface="+mn-ea"/>
                          <a:cs typeface="+mn-cs"/>
                        </a:rPr>
                        <a:t>Cash Management</a:t>
                      </a:r>
                    </a:p>
                    <a:p>
                      <a:pPr marL="628650" lvl="1" indent="-171450" algn="l" defTabSz="914400" rtl="0" eaLnBrk="1" latinLnBrk="0" hangingPunct="1">
                        <a:buFont typeface="Arial" panose="020B0604020202020204" pitchFamily="34" charset="0"/>
                        <a:buChar char="•"/>
                      </a:pPr>
                      <a:r>
                        <a:rPr lang="fr-CA" sz="1100" kern="1200" noProof="0">
                          <a:solidFill>
                            <a:schemeClr val="dk1"/>
                          </a:solidFill>
                          <a:latin typeface="+mn-lt"/>
                          <a:ea typeface="+mn-ea"/>
                          <a:cs typeface="+mn-cs"/>
                        </a:rPr>
                        <a:t>Sales Forces</a:t>
                      </a:r>
                    </a:p>
                    <a:p>
                      <a:pPr marL="628650" lvl="1" indent="-171450" algn="l" defTabSz="914400" rtl="0" eaLnBrk="1" latinLnBrk="0" hangingPunct="1">
                        <a:buFont typeface="Arial" panose="020B0604020202020204" pitchFamily="34" charset="0"/>
                        <a:buChar char="•"/>
                      </a:pPr>
                      <a:r>
                        <a:rPr lang="fr-CA" sz="1100" kern="1200" noProof="0">
                          <a:solidFill>
                            <a:schemeClr val="dk1"/>
                          </a:solidFill>
                          <a:latin typeface="+mn-lt"/>
                          <a:ea typeface="+mn-ea"/>
                          <a:cs typeface="+mn-cs"/>
                        </a:rPr>
                        <a:t>PBCS</a:t>
                      </a:r>
                    </a:p>
                    <a:p>
                      <a:pPr marL="171450" lvl="0" indent="-171450" algn="l" defTabSz="914400" rtl="0" eaLnBrk="1" latinLnBrk="0" hangingPunct="1">
                        <a:buFont typeface="Arial" panose="020B0604020202020204" pitchFamily="34" charset="0"/>
                        <a:buChar char="•"/>
                      </a:pPr>
                      <a:r>
                        <a:rPr lang="fr-CA" sz="1100" kern="1200" noProof="0">
                          <a:solidFill>
                            <a:schemeClr val="dk1"/>
                          </a:solidFill>
                          <a:latin typeface="+mn-lt"/>
                          <a:ea typeface="+mn-ea"/>
                          <a:cs typeface="+mn-cs"/>
                        </a:rPr>
                        <a:t>Pouvoir concilier les transactions au même niveau de granularité envoyé par la banque </a:t>
                      </a:r>
                    </a:p>
                    <a:p>
                      <a:pPr marL="171450" lvl="0" indent="-171450" algn="l" defTabSz="914400" rtl="0" eaLnBrk="1" latinLnBrk="0" hangingPunct="1">
                        <a:buFont typeface="Arial" panose="020B0604020202020204" pitchFamily="34" charset="0"/>
                        <a:buChar char="•"/>
                      </a:pPr>
                      <a:r>
                        <a:rPr lang="fr-CA" sz="1100" kern="1200" noProof="0">
                          <a:solidFill>
                            <a:schemeClr val="dk1"/>
                          </a:solidFill>
                          <a:latin typeface="+mn-lt"/>
                          <a:ea typeface="+mn-ea"/>
                          <a:cs typeface="+mn-cs"/>
                        </a:rPr>
                        <a:t>Des améliorations qui Inclus la conciliation bancaire en générale et non uniquement les transaction Kyriba (ex : compte transitoires) </a:t>
                      </a:r>
                    </a:p>
                    <a:p>
                      <a:pPr marL="171450" lvl="0" indent="-171450" algn="l" defTabSz="914400" rtl="0" eaLnBrk="1" latinLnBrk="0" hangingPunct="1">
                        <a:buFont typeface="Arial" panose="020B0604020202020204" pitchFamily="34" charset="0"/>
                        <a:buChar char="•"/>
                      </a:pPr>
                      <a:r>
                        <a:rPr lang="fr-CA" sz="1100" kern="1200" noProof="0">
                          <a:solidFill>
                            <a:schemeClr val="dk1"/>
                          </a:solidFill>
                          <a:latin typeface="+mn-lt"/>
                          <a:ea typeface="+mn-ea"/>
                          <a:cs typeface="+mn-cs"/>
                        </a:rPr>
                        <a:t>Suppression du relevé à 0 générer automatiquement et charger manuellement dans Oracle</a:t>
                      </a:r>
                    </a:p>
                  </a:txBody>
                  <a:tcPr anchor="ctr"/>
                </a:tc>
                <a:extLst>
                  <a:ext uri="{0D108BD9-81ED-4DB2-BD59-A6C34878D82A}">
                    <a16:rowId xmlns:a16="http://schemas.microsoft.com/office/drawing/2014/main" val="4200649479"/>
                  </a:ext>
                </a:extLst>
              </a:tr>
              <a:tr h="344893">
                <a:tc>
                  <a:txBody>
                    <a:bodyPr/>
                    <a:lstStyle/>
                    <a:p>
                      <a:pPr marL="0" algn="l" defTabSz="914400" rtl="0" eaLnBrk="1" latinLnBrk="0" hangingPunct="1"/>
                      <a:r>
                        <a:rPr lang="fr-CA" sz="1100" b="1" kern="1200" noProof="0">
                          <a:solidFill>
                            <a:schemeClr val="dk1"/>
                          </a:solidFill>
                          <a:latin typeface="+mn-lt"/>
                          <a:ea typeface="+mn-ea"/>
                          <a:cs typeface="+mn-cs"/>
                        </a:rPr>
                        <a:t>Repporting et KPI</a:t>
                      </a:r>
                    </a:p>
                  </a:txBody>
                  <a:tcPr anchor="ctr"/>
                </a:tc>
                <a:tc>
                  <a:txBody>
                    <a:bodyPr/>
                    <a:lstStyle/>
                    <a:p>
                      <a:pPr marL="171450" indent="-171450" algn="l" defTabSz="914400" rtl="0" eaLnBrk="1" latinLnBrk="0" hangingPunct="1">
                        <a:buFont typeface="Arial" panose="020B0604020202020204" pitchFamily="34" charset="0"/>
                        <a:buChar char="•"/>
                      </a:pPr>
                      <a:r>
                        <a:rPr lang="fr-CA" sz="1100" kern="1200" noProof="0">
                          <a:solidFill>
                            <a:schemeClr val="dk1"/>
                          </a:solidFill>
                          <a:latin typeface="+mn-lt"/>
                          <a:ea typeface="+mn-ea"/>
                          <a:cs typeface="+mn-cs"/>
                        </a:rPr>
                        <a:t>Mise en place de nouveaux processus de création de rapport et de KPI </a:t>
                      </a:r>
                    </a:p>
                    <a:p>
                      <a:pPr marL="628650" lvl="1" indent="-171450" algn="l" defTabSz="914400" rtl="0" eaLnBrk="1" latinLnBrk="0" hangingPunct="1">
                        <a:buFont typeface="Arial" panose="020B0604020202020204" pitchFamily="34" charset="0"/>
                        <a:buChar char="•"/>
                      </a:pPr>
                      <a:r>
                        <a:rPr lang="fr-CA" sz="1100" kern="1200" noProof="0">
                          <a:solidFill>
                            <a:schemeClr val="dk1"/>
                          </a:solidFill>
                          <a:latin typeface="+mn-lt"/>
                          <a:ea typeface="+mn-ea"/>
                          <a:cs typeface="+mn-cs"/>
                        </a:rPr>
                        <a:t>Pour les partenaires</a:t>
                      </a:r>
                    </a:p>
                    <a:p>
                      <a:pPr marL="628650" lvl="1" indent="-171450" algn="l" defTabSz="914400" rtl="0" eaLnBrk="1" latinLnBrk="0" hangingPunct="1">
                        <a:buFont typeface="Arial" panose="020B0604020202020204" pitchFamily="34" charset="0"/>
                        <a:buChar char="•"/>
                      </a:pPr>
                      <a:r>
                        <a:rPr lang="fr-CA" sz="1100" kern="1200" noProof="0">
                          <a:solidFill>
                            <a:schemeClr val="dk1"/>
                          </a:solidFill>
                          <a:latin typeface="+mn-lt"/>
                          <a:ea typeface="+mn-ea"/>
                          <a:cs typeface="+mn-cs"/>
                        </a:rPr>
                        <a:t>Pour audit</a:t>
                      </a:r>
                    </a:p>
                    <a:p>
                      <a:pPr marL="628650" lvl="1" indent="-171450" algn="l" defTabSz="914400" rtl="0" eaLnBrk="1" latinLnBrk="0" hangingPunct="1">
                        <a:buFont typeface="Arial" panose="020B0604020202020204" pitchFamily="34" charset="0"/>
                        <a:buChar char="•"/>
                      </a:pPr>
                      <a:r>
                        <a:rPr lang="fr-CA" sz="1100" kern="1200" noProof="0">
                          <a:solidFill>
                            <a:schemeClr val="dk1"/>
                          </a:solidFill>
                          <a:latin typeface="+mn-lt"/>
                          <a:ea typeface="+mn-ea"/>
                          <a:cs typeface="+mn-cs"/>
                        </a:rPr>
                        <a:t>Pour le CSP</a:t>
                      </a:r>
                    </a:p>
                    <a:p>
                      <a:pPr marL="171450" lvl="0" indent="-171450" algn="l" defTabSz="914400" rtl="0" eaLnBrk="1" latinLnBrk="0" hangingPunct="1">
                        <a:buFont typeface="Arial" panose="020B0604020202020204" pitchFamily="34" charset="0"/>
                        <a:buChar char="•"/>
                      </a:pPr>
                      <a:r>
                        <a:rPr lang="fr-CA" sz="1100" kern="1200" noProof="0">
                          <a:solidFill>
                            <a:schemeClr val="dk1"/>
                          </a:solidFill>
                          <a:latin typeface="+mn-lt"/>
                          <a:ea typeface="+mn-ea"/>
                          <a:cs typeface="+mn-cs"/>
                        </a:rPr>
                        <a:t>Modification de la façon de consulter les rapport et KPI  (ex : statut de paiement)</a:t>
                      </a:r>
                    </a:p>
                  </a:txBody>
                  <a:tcPr anchor="ctr"/>
                </a:tc>
                <a:extLst>
                  <a:ext uri="{0D108BD9-81ED-4DB2-BD59-A6C34878D82A}">
                    <a16:rowId xmlns:a16="http://schemas.microsoft.com/office/drawing/2014/main" val="1999694627"/>
                  </a:ext>
                </a:extLst>
              </a:tr>
              <a:tr h="368516">
                <a:tc>
                  <a:txBody>
                    <a:bodyPr/>
                    <a:lstStyle/>
                    <a:p>
                      <a:pPr marL="0" algn="l" defTabSz="914400" rtl="0" eaLnBrk="1" latinLnBrk="0" hangingPunct="1"/>
                      <a:r>
                        <a:rPr lang="fr-CA" sz="1100" b="1" kern="1200" noProof="0">
                          <a:solidFill>
                            <a:schemeClr val="dk1"/>
                          </a:solidFill>
                          <a:latin typeface="+mn-lt"/>
                          <a:ea typeface="+mn-ea"/>
                          <a:cs typeface="+mn-cs"/>
                        </a:rPr>
                        <a:t>Banques partenaires du CSP bancaire</a:t>
                      </a:r>
                    </a:p>
                  </a:txBody>
                  <a:tcPr anchor="ctr"/>
                </a:tc>
                <a:tc>
                  <a:txBody>
                    <a:bodyPr/>
                    <a:lstStyle/>
                    <a:p>
                      <a:pPr marL="171450" indent="-171450" algn="l" defTabSz="914400" rtl="0" eaLnBrk="1" latinLnBrk="0" hangingPunct="1">
                        <a:buFont typeface="Arial" panose="020B0604020202020204" pitchFamily="34" charset="0"/>
                        <a:buChar char="•"/>
                      </a:pPr>
                      <a:r>
                        <a:rPr lang="fr-CA" sz="1100" kern="1200" noProof="0">
                          <a:solidFill>
                            <a:schemeClr val="dk1"/>
                          </a:solidFill>
                          <a:latin typeface="+mn-lt"/>
                          <a:ea typeface="+mn-ea"/>
                          <a:cs typeface="+mn-cs"/>
                        </a:rPr>
                        <a:t>En plus de RBC, 2 autres banques seront connectées au hub de paiement et depuis lesquels des paiements manuels pourront être initiés :</a:t>
                      </a:r>
                    </a:p>
                    <a:p>
                      <a:pPr marL="628650" lvl="1" indent="-171450" algn="l" defTabSz="914400" rtl="0" eaLnBrk="1" latinLnBrk="0" hangingPunct="1">
                        <a:buFont typeface="Arial" panose="020B0604020202020204" pitchFamily="34" charset="0"/>
                        <a:buChar char="•"/>
                      </a:pPr>
                      <a:r>
                        <a:rPr lang="fr-CA" sz="1100" kern="1200" noProof="0">
                          <a:solidFill>
                            <a:schemeClr val="dk1"/>
                          </a:solidFill>
                          <a:latin typeface="+mn-lt"/>
                          <a:ea typeface="+mn-ea"/>
                          <a:cs typeface="+mn-cs"/>
                        </a:rPr>
                        <a:t>BMO</a:t>
                      </a:r>
                    </a:p>
                    <a:p>
                      <a:pPr marL="628650" lvl="1" indent="-171450" algn="l" defTabSz="914400" rtl="0" eaLnBrk="1" latinLnBrk="0" hangingPunct="1">
                        <a:buFont typeface="Arial" panose="020B0604020202020204" pitchFamily="34" charset="0"/>
                        <a:buChar char="•"/>
                      </a:pPr>
                      <a:r>
                        <a:rPr lang="fr-CA" sz="1100" kern="1200" noProof="0">
                          <a:solidFill>
                            <a:schemeClr val="dk1"/>
                          </a:solidFill>
                          <a:latin typeface="+mn-lt"/>
                          <a:ea typeface="+mn-ea"/>
                          <a:cs typeface="+mn-cs"/>
                        </a:rPr>
                        <a:t>CIBC</a:t>
                      </a:r>
                    </a:p>
                    <a:p>
                      <a:pPr marL="171450" indent="-171450" algn="l" defTabSz="914400" rtl="0" eaLnBrk="1" latinLnBrk="0" hangingPunct="1">
                        <a:buFont typeface="Arial" panose="020B0604020202020204" pitchFamily="34" charset="0"/>
                        <a:buChar char="•"/>
                      </a:pPr>
                      <a:r>
                        <a:rPr lang="fr-CA" sz="1100" kern="1200" noProof="0">
                          <a:solidFill>
                            <a:schemeClr val="dk1"/>
                          </a:solidFill>
                          <a:latin typeface="+mn-lt"/>
                          <a:ea typeface="+mn-ea"/>
                          <a:cs typeface="+mn-cs"/>
                        </a:rPr>
                        <a:t>Facilité d’intégrer d’autre moyen de paiement à ces 2 nouvelles banques dans le futur proche</a:t>
                      </a:r>
                    </a:p>
                  </a:txBody>
                  <a:tcPr anchor="ctr"/>
                </a:tc>
                <a:extLst>
                  <a:ext uri="{0D108BD9-81ED-4DB2-BD59-A6C34878D82A}">
                    <a16:rowId xmlns:a16="http://schemas.microsoft.com/office/drawing/2014/main" val="3814947073"/>
                  </a:ext>
                </a:extLst>
              </a:tr>
            </a:tbl>
          </a:graphicData>
        </a:graphic>
      </p:graphicFrame>
      <p:sp>
        <p:nvSpPr>
          <p:cNvPr id="3" name="Titre 1">
            <a:extLst>
              <a:ext uri="{FF2B5EF4-FFF2-40B4-BE49-F238E27FC236}">
                <a16:creationId xmlns:a16="http://schemas.microsoft.com/office/drawing/2014/main" id="{D3FEA424-DB5A-677D-BC92-11B994DD71CB}"/>
              </a:ext>
            </a:extLst>
          </p:cNvPr>
          <p:cNvSpPr txBox="1">
            <a:spLocks/>
          </p:cNvSpPr>
          <p:nvPr/>
        </p:nvSpPr>
        <p:spPr>
          <a:xfrm>
            <a:off x="235526" y="-5193"/>
            <a:ext cx="8908473" cy="379266"/>
          </a:xfrm>
          <a:prstGeom prst="rect">
            <a:avLst/>
          </a:prstGeom>
          <a:solidFill>
            <a:schemeClr val="tx1"/>
          </a:solidFill>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fr-CA" sz="2400" b="1">
                <a:solidFill>
                  <a:schemeClr val="bg1"/>
                </a:solidFill>
              </a:rPr>
              <a:t>Impacts affaires identifiés CFO &amp; principaux changements</a:t>
            </a:r>
          </a:p>
        </p:txBody>
      </p:sp>
    </p:spTree>
    <p:extLst>
      <p:ext uri="{BB962C8B-B14F-4D97-AF65-F5344CB8AC3E}">
        <p14:creationId xmlns:p14="http://schemas.microsoft.com/office/powerpoint/2010/main" val="3576115763"/>
      </p:ext>
    </p:extLst>
  </p:cSld>
  <p:clrMapOvr>
    <a:masterClrMapping/>
  </p:clrMapOvr>
  <p:extLst>
    <p:ext uri="{6950BFC3-D8DA-4A85-94F7-54DA5524770B}">
      <p188:commentRel xmlns:p188="http://schemas.microsoft.com/office/powerpoint/2018/8/main" r:id="rId3"/>
    </p:ext>
  </p:extLs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a:extLst>
              <a:ext uri="{FF2B5EF4-FFF2-40B4-BE49-F238E27FC236}">
                <a16:creationId xmlns:a16="http://schemas.microsoft.com/office/drawing/2014/main" id="{FCF760B8-B3F2-74B2-4D0E-D4B809E15088}"/>
              </a:ext>
            </a:extLst>
          </p:cNvPr>
          <p:cNvGraphicFramePr>
            <a:graphicFrameLocks noGrp="1"/>
          </p:cNvGraphicFramePr>
          <p:nvPr>
            <p:ph idx="1"/>
            <p:extLst>
              <p:ext uri="{D42A27DB-BD31-4B8C-83A1-F6EECF244321}">
                <p14:modId xmlns:p14="http://schemas.microsoft.com/office/powerpoint/2010/main" val="2049634050"/>
              </p:ext>
            </p:extLst>
          </p:nvPr>
        </p:nvGraphicFramePr>
        <p:xfrm>
          <a:off x="441702" y="666750"/>
          <a:ext cx="8598198" cy="3963921"/>
        </p:xfrm>
        <a:graphic>
          <a:graphicData uri="http://schemas.openxmlformats.org/drawingml/2006/table">
            <a:tbl>
              <a:tblPr firstRow="1" bandRow="1">
                <a:tableStyleId>{5C22544A-7EE6-4342-B048-85BDC9FD1C3A}</a:tableStyleId>
              </a:tblPr>
              <a:tblGrid>
                <a:gridCol w="1728061">
                  <a:extLst>
                    <a:ext uri="{9D8B030D-6E8A-4147-A177-3AD203B41FA5}">
                      <a16:colId xmlns:a16="http://schemas.microsoft.com/office/drawing/2014/main" val="1260345745"/>
                    </a:ext>
                  </a:extLst>
                </a:gridCol>
                <a:gridCol w="2316996">
                  <a:extLst>
                    <a:ext uri="{9D8B030D-6E8A-4147-A177-3AD203B41FA5}">
                      <a16:colId xmlns:a16="http://schemas.microsoft.com/office/drawing/2014/main" val="2225850083"/>
                    </a:ext>
                  </a:extLst>
                </a:gridCol>
                <a:gridCol w="2921431">
                  <a:extLst>
                    <a:ext uri="{9D8B030D-6E8A-4147-A177-3AD203B41FA5}">
                      <a16:colId xmlns:a16="http://schemas.microsoft.com/office/drawing/2014/main" val="695820505"/>
                    </a:ext>
                  </a:extLst>
                </a:gridCol>
                <a:gridCol w="1631710">
                  <a:extLst>
                    <a:ext uri="{9D8B030D-6E8A-4147-A177-3AD203B41FA5}">
                      <a16:colId xmlns:a16="http://schemas.microsoft.com/office/drawing/2014/main" val="2969115327"/>
                    </a:ext>
                  </a:extLst>
                </a:gridCol>
              </a:tblGrid>
              <a:tr h="607064">
                <a:tc>
                  <a:txBody>
                    <a:bodyPr/>
                    <a:lstStyle/>
                    <a:p>
                      <a:r>
                        <a:rPr lang="fr-CA" noProof="0"/>
                        <a:t>Processus</a:t>
                      </a:r>
                    </a:p>
                  </a:txBody>
                  <a:tcPr/>
                </a:tc>
                <a:tc>
                  <a:txBody>
                    <a:bodyPr/>
                    <a:lstStyle/>
                    <a:p>
                      <a:r>
                        <a:rPr lang="fr-CA" noProof="0"/>
                        <a:t>Description du risque inhérent</a:t>
                      </a:r>
                    </a:p>
                  </a:txBody>
                  <a:tcPr/>
                </a:tc>
                <a:tc>
                  <a:txBody>
                    <a:bodyPr/>
                    <a:lstStyle/>
                    <a:p>
                      <a:r>
                        <a:rPr lang="fr-CA" noProof="0"/>
                        <a:t>Contrôle - type</a:t>
                      </a:r>
                    </a:p>
                  </a:txBody>
                  <a:tcPr/>
                </a:tc>
                <a:tc>
                  <a:txBody>
                    <a:bodyPr/>
                    <a:lstStyle/>
                    <a:p>
                      <a:r>
                        <a:rPr lang="fr-CA" noProof="0"/>
                        <a:t>Risque résiduel</a:t>
                      </a:r>
                    </a:p>
                  </a:txBody>
                  <a:tcPr/>
                </a:tc>
                <a:extLst>
                  <a:ext uri="{0D108BD9-81ED-4DB2-BD59-A6C34878D82A}">
                    <a16:rowId xmlns:a16="http://schemas.microsoft.com/office/drawing/2014/main" val="4046475491"/>
                  </a:ext>
                </a:extLst>
              </a:tr>
              <a:tr h="457707">
                <a:tc rowSpan="2">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fr-CA" sz="1000" b="1" i="0" u="none" strike="noStrike" kern="1200" cap="none" spc="0" normalizeH="0" baseline="0" noProof="0">
                          <a:ln>
                            <a:noFill/>
                          </a:ln>
                          <a:solidFill>
                            <a:srgbClr val="003DA5"/>
                          </a:solidFill>
                          <a:effectLst/>
                          <a:uLnTx/>
                          <a:uFillTx/>
                          <a:latin typeface="Calibri" panose="020F0502020204030204" pitchFamily="34" charset="0"/>
                          <a:ea typeface="+mn-ea"/>
                          <a:cs typeface="+mn-cs"/>
                        </a:rPr>
                        <a:t>Administration et structure des comptes de banque​</a:t>
                      </a:r>
                      <a:endParaRPr kumimoji="0" lang="fr-CA" sz="1800" b="1" i="0" u="none" strike="noStrike" kern="1200" cap="none" spc="0" normalizeH="0" baseline="0" noProof="0">
                        <a:ln>
                          <a:noFill/>
                        </a:ln>
                        <a:solidFill>
                          <a:srgbClr val="003DA5"/>
                        </a:solidFill>
                        <a:effectLst/>
                        <a:uLnTx/>
                        <a:uFillTx/>
                        <a:latin typeface="+mn-lt"/>
                        <a:ea typeface="+mn-ea"/>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CA" sz="1000" b="0" i="0" u="none" strike="noStrike" kern="1200" cap="none" spc="0" normalizeH="0" baseline="0" noProof="0">
                          <a:ln>
                            <a:noFill/>
                          </a:ln>
                          <a:solidFill>
                            <a:srgbClr val="003DA5"/>
                          </a:solidFill>
                          <a:effectLst/>
                          <a:uLnTx/>
                          <a:uFillTx/>
                          <a:latin typeface="Calibri" panose="020F0502020204030204" pitchFamily="34" charset="0"/>
                          <a:ea typeface="+mn-ea"/>
                          <a:cs typeface="+mn-cs"/>
                        </a:rPr>
                        <a:t>Financier : Structure de compte complexe et non réduction des frais bancaires</a:t>
                      </a:r>
                    </a:p>
                  </a:txBody>
                  <a:tcPr/>
                </a:tc>
                <a:tc>
                  <a:txBody>
                    <a:bodyPr/>
                    <a:lstStyle/>
                    <a:p>
                      <a:r>
                        <a:rPr kumimoji="0" lang="fr-CA" sz="1000" b="0" i="0" u="none" strike="noStrike" kern="1200" cap="none" spc="0" normalizeH="0" baseline="0" noProof="0">
                          <a:ln>
                            <a:noFill/>
                          </a:ln>
                          <a:solidFill>
                            <a:srgbClr val="003DA5"/>
                          </a:solidFill>
                          <a:effectLst/>
                          <a:uLnTx/>
                          <a:uFillTx/>
                          <a:latin typeface="Calibri" panose="020F0502020204030204" pitchFamily="34" charset="0"/>
                          <a:ea typeface="+mn-ea"/>
                          <a:cs typeface="+mn-cs"/>
                        </a:rPr>
                        <a:t>Rapports et états financiers</a:t>
                      </a:r>
                      <a:endParaRPr lang="fr-CA" noProof="0"/>
                    </a:p>
                  </a:txBody>
                  <a:tcPr/>
                </a:tc>
                <a:tc rowSpan="2">
                  <a:txBody>
                    <a:bodyPr/>
                    <a:lstStyle/>
                    <a:p>
                      <a:pPr algn="ctr"/>
                      <a:r>
                        <a:rPr kumimoji="0" lang="fr-CA" sz="1000" b="0" i="0" u="none" strike="noStrike" kern="1200" cap="none" spc="0" normalizeH="0" baseline="0" noProof="0">
                          <a:ln>
                            <a:noFill/>
                          </a:ln>
                          <a:solidFill>
                            <a:srgbClr val="003DA5"/>
                          </a:solidFill>
                          <a:effectLst/>
                          <a:uLnTx/>
                          <a:uFillTx/>
                          <a:latin typeface="Calibri" panose="020F0502020204030204" pitchFamily="34" charset="0"/>
                          <a:ea typeface="+mn-ea"/>
                          <a:cs typeface="+mn-cs"/>
                        </a:rPr>
                        <a:t>Peu probable / Faible</a:t>
                      </a:r>
                    </a:p>
                  </a:txBody>
                  <a:tcPr anchor="ctr"/>
                </a:tc>
                <a:extLst>
                  <a:ext uri="{0D108BD9-81ED-4DB2-BD59-A6C34878D82A}">
                    <a16:rowId xmlns:a16="http://schemas.microsoft.com/office/drawing/2014/main" val="584613682"/>
                  </a:ext>
                </a:extLst>
              </a:tr>
              <a:tr h="457707">
                <a:tc vMerge="1">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endParaRPr kumimoji="0" lang="fr-CA" sz="1800" b="0" i="0" u="none" strike="noStrike" kern="1200" cap="none" spc="0" normalizeH="0" baseline="0" noProof="0">
                        <a:ln>
                          <a:noFill/>
                        </a:ln>
                        <a:solidFill>
                          <a:srgbClr val="003DA5"/>
                        </a:solidFill>
                        <a:effectLst/>
                        <a:uLnTx/>
                        <a:uFillTx/>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CA" sz="1000" b="0" i="0" u="none" strike="noStrike" kern="1200" cap="none" spc="0" normalizeH="0" baseline="0" noProof="0">
                          <a:ln>
                            <a:noFill/>
                          </a:ln>
                          <a:solidFill>
                            <a:srgbClr val="003DA5"/>
                          </a:solidFill>
                          <a:effectLst/>
                          <a:uLnTx/>
                          <a:uFillTx/>
                          <a:latin typeface="Calibri" panose="020F0502020204030204" pitchFamily="34" charset="0"/>
                          <a:ea typeface="+mn-ea"/>
                          <a:cs typeface="+mn-cs"/>
                        </a:rPr>
                        <a:t>Réglementaire : obligations des signataires (rapport annuel pour US)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CA" sz="1000" b="0" i="0" u="none" strike="noStrike" kern="1200" cap="none" spc="0" normalizeH="0" baseline="0" noProof="0">
                          <a:ln>
                            <a:noFill/>
                          </a:ln>
                          <a:solidFill>
                            <a:srgbClr val="003DA5"/>
                          </a:solidFill>
                          <a:effectLst/>
                          <a:uLnTx/>
                          <a:uFillTx/>
                          <a:latin typeface="Calibri" panose="020F0502020204030204" pitchFamily="34" charset="0"/>
                          <a:ea typeface="+mn-ea"/>
                          <a:cs typeface="+mn-cs"/>
                        </a:rPr>
                        <a:t>Processus de l’équipe du légal</a:t>
                      </a:r>
                    </a:p>
                  </a:txBody>
                  <a:tcPr/>
                </a:tc>
                <a:tc vMerge="1">
                  <a:txBody>
                    <a:bodyPr/>
                    <a:lstStyle/>
                    <a:p>
                      <a:endParaRPr kumimoji="0" lang="fr-CA" sz="1000" b="0" i="0" u="none" strike="noStrike" kern="1200" cap="none" spc="0" normalizeH="0" baseline="0" noProof="0">
                        <a:ln>
                          <a:noFill/>
                        </a:ln>
                        <a:solidFill>
                          <a:srgbClr val="003DA5"/>
                        </a:solidFill>
                        <a:effectLst/>
                        <a:uLnTx/>
                        <a:uFillTx/>
                        <a:latin typeface="Calibri" panose="020F0502020204030204" pitchFamily="34" charset="0"/>
                        <a:ea typeface="+mn-ea"/>
                        <a:cs typeface="+mn-cs"/>
                      </a:endParaRPr>
                    </a:p>
                  </a:txBody>
                  <a:tcPr/>
                </a:tc>
                <a:extLst>
                  <a:ext uri="{0D108BD9-81ED-4DB2-BD59-A6C34878D82A}">
                    <a16:rowId xmlns:a16="http://schemas.microsoft.com/office/drawing/2014/main" val="2966638279"/>
                  </a:ext>
                </a:extLst>
              </a:tr>
              <a:tr h="457707">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CA" sz="1000" b="1" i="0" u="none" strike="noStrike" kern="1200" cap="none" spc="0" normalizeH="0" baseline="0" noProof="0">
                          <a:ln>
                            <a:noFill/>
                          </a:ln>
                          <a:solidFill>
                            <a:srgbClr val="003DA5"/>
                          </a:solidFill>
                          <a:effectLst/>
                          <a:uLnTx/>
                          <a:uFillTx/>
                          <a:latin typeface="Calibri" panose="020F0502020204030204" pitchFamily="34" charset="0"/>
                          <a:ea typeface="+mn-ea"/>
                          <a:cs typeface="+mn-cs"/>
                        </a:rPr>
                        <a:t>Gestion des coordonnées bancaires des clients​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b="0" i="0" kern="1200">
                          <a:solidFill>
                            <a:srgbClr val="003DA5"/>
                          </a:solidFill>
                          <a:effectLst/>
                          <a:latin typeface="Calibri" panose="020F0502020204030204" pitchFamily="34" charset="0"/>
                          <a:ea typeface="+mn-ea"/>
                          <a:cs typeface="+mn-cs"/>
                        </a:rPr>
                        <a:t>Opérationnel : pas de détection automatique de fraude sur les coordonnées bancaires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b="0" i="0" kern="1200">
                          <a:solidFill>
                            <a:srgbClr val="003DA5"/>
                          </a:solidFill>
                          <a:effectLst/>
                          <a:latin typeface="Calibri" panose="020F0502020204030204" pitchFamily="34" charset="0"/>
                          <a:ea typeface="+mn-ea"/>
                          <a:cs typeface="+mn-cs"/>
                        </a:rPr>
                        <a:t>Contrôles réalisés par les LOB; </a:t>
                      </a:r>
                    </a:p>
                    <a:p>
                      <a:pPr marL="0" marR="0" lvl="0" indent="0" algn="l" defTabSz="914400" rtl="0" eaLnBrk="1" fontAlgn="auto" latinLnBrk="0" hangingPunct="1">
                        <a:lnSpc>
                          <a:spcPct val="100000"/>
                        </a:lnSpc>
                        <a:spcBef>
                          <a:spcPts val="0"/>
                        </a:spcBef>
                        <a:spcAft>
                          <a:spcPts val="0"/>
                        </a:spcAft>
                        <a:buClrTx/>
                        <a:buSzTx/>
                        <a:buFontTx/>
                        <a:buNone/>
                        <a:tabLst/>
                        <a:defRPr/>
                      </a:pPr>
                      <a:r>
                        <a:rPr lang="fr-CA" sz="1000" b="0" i="0" kern="1200">
                          <a:solidFill>
                            <a:srgbClr val="003DA5"/>
                          </a:solidFill>
                          <a:effectLst/>
                          <a:latin typeface="Calibri" panose="020F0502020204030204" pitchFamily="34" charset="0"/>
                          <a:ea typeface="+mn-ea"/>
                          <a:cs typeface="+mn-cs"/>
                        </a:rPr>
                        <a:t>Comparaison des institutions/transit vs fichier banque du Canada</a:t>
                      </a:r>
                    </a:p>
                    <a:p>
                      <a:pPr marL="0" marR="0" lvl="0" indent="0" algn="l" defTabSz="914400" rtl="0" eaLnBrk="1" fontAlgn="auto" latinLnBrk="0" hangingPunct="1">
                        <a:lnSpc>
                          <a:spcPct val="100000"/>
                        </a:lnSpc>
                        <a:spcBef>
                          <a:spcPts val="0"/>
                        </a:spcBef>
                        <a:spcAft>
                          <a:spcPts val="0"/>
                        </a:spcAft>
                        <a:buClrTx/>
                        <a:buSzTx/>
                        <a:buFontTx/>
                        <a:buNone/>
                        <a:tabLst/>
                        <a:defRPr/>
                      </a:pPr>
                      <a:r>
                        <a:rPr lang="fr-CA" sz="1000" b="0" i="0" kern="1200">
                          <a:solidFill>
                            <a:srgbClr val="003DA5"/>
                          </a:solidFill>
                          <a:effectLst/>
                          <a:latin typeface="Calibri" panose="020F0502020204030204" pitchFamily="34" charset="0"/>
                          <a:ea typeface="+mn-ea"/>
                          <a:cs typeface="+mn-cs"/>
                        </a:rPr>
                        <a:t>En attente de l’application de l’Open Banking au Canada</a:t>
                      </a:r>
                    </a:p>
                  </a:txBody>
                  <a:tcPr/>
                </a:tc>
                <a:tc>
                  <a:txBody>
                    <a:bodyPr/>
                    <a:lstStyle/>
                    <a:p>
                      <a:pPr algn="ctr"/>
                      <a:r>
                        <a:rPr kumimoji="0" lang="fr-CA" sz="1000" b="0" i="0" u="none" strike="noStrike" kern="1200" cap="none" spc="0" normalizeH="0" baseline="0" noProof="0">
                          <a:ln>
                            <a:noFill/>
                          </a:ln>
                          <a:solidFill>
                            <a:srgbClr val="003DA5"/>
                          </a:solidFill>
                          <a:effectLst/>
                          <a:uLnTx/>
                          <a:uFillTx/>
                          <a:latin typeface="Calibri" panose="020F0502020204030204" pitchFamily="34" charset="0"/>
                          <a:ea typeface="+mn-ea"/>
                          <a:cs typeface="+mn-cs"/>
                        </a:rPr>
                        <a:t>Rare / Modéré</a:t>
                      </a:r>
                    </a:p>
                  </a:txBody>
                  <a:tcPr anchor="ctr"/>
                </a:tc>
                <a:extLst>
                  <a:ext uri="{0D108BD9-81ED-4DB2-BD59-A6C34878D82A}">
                    <a16:rowId xmlns:a16="http://schemas.microsoft.com/office/drawing/2014/main" val="3601629315"/>
                  </a:ext>
                </a:extLst>
              </a:tr>
              <a:tr h="457707">
                <a:tc vMerge="1">
                  <a:txBody>
                    <a:bodyPr/>
                    <a:lstStyle/>
                    <a:p>
                      <a:endParaRPr kumimoji="0" lang="fr-CA" sz="1000" b="0" i="0" u="none" strike="noStrike" kern="1200" cap="none" spc="0" normalizeH="0" baseline="0" noProof="0">
                        <a:ln>
                          <a:noFill/>
                        </a:ln>
                        <a:solidFill>
                          <a:srgbClr val="003DA5"/>
                        </a:solidFill>
                        <a:effectLst/>
                        <a:uLnTx/>
                        <a:uFillTx/>
                        <a:latin typeface="Calibri" panose="020F0502020204030204" pitchFamily="34" charset="0"/>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b="0" i="0" kern="1200">
                          <a:solidFill>
                            <a:srgbClr val="003DA5"/>
                          </a:solidFill>
                          <a:effectLst/>
                          <a:latin typeface="Calibri" panose="020F0502020204030204" pitchFamily="34" charset="0"/>
                          <a:ea typeface="+mn-ea"/>
                          <a:cs typeface="+mn-cs"/>
                        </a:rPr>
                        <a:t>Réputationnel et sécurité : Informations clients importantes dans la solution cloud du fournisseur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b="0" i="0" kern="1200">
                          <a:solidFill>
                            <a:srgbClr val="003DA5"/>
                          </a:solidFill>
                          <a:effectLst/>
                          <a:latin typeface="Calibri" panose="020F0502020204030204" pitchFamily="34" charset="0"/>
                          <a:ea typeface="+mn-ea"/>
                          <a:cs typeface="+mn-cs"/>
                        </a:rPr>
                        <a:t>Conformité du fournisseur au SOC 2 </a:t>
                      </a:r>
                    </a:p>
                    <a:p>
                      <a:endParaRPr kumimoji="0" lang="fr-CA" sz="1000" b="0" i="0" u="none" strike="noStrike" kern="1200" cap="none" spc="0" normalizeH="0" baseline="0" noProof="0">
                        <a:ln>
                          <a:noFill/>
                        </a:ln>
                        <a:solidFill>
                          <a:srgbClr val="003DA5"/>
                        </a:solidFill>
                        <a:effectLst/>
                        <a:uLnTx/>
                        <a:uFillTx/>
                        <a:latin typeface="Calibri" panose="020F0502020204030204" pitchFamily="34" charset="0"/>
                        <a:ea typeface="+mn-ea"/>
                        <a:cs typeface="+mn-cs"/>
                      </a:endParaRPr>
                    </a:p>
                  </a:txBody>
                  <a:tcPr/>
                </a:tc>
                <a:tc>
                  <a:txBody>
                    <a:bodyPr/>
                    <a:lstStyle/>
                    <a:p>
                      <a:pPr algn="ctr"/>
                      <a:r>
                        <a:rPr kumimoji="0" lang="fr-CA" sz="1000" b="0" i="0" u="none" strike="noStrike" kern="1200" cap="none" spc="0" normalizeH="0" baseline="0" noProof="0">
                          <a:ln>
                            <a:noFill/>
                          </a:ln>
                          <a:solidFill>
                            <a:srgbClr val="003DA5"/>
                          </a:solidFill>
                          <a:effectLst/>
                          <a:uLnTx/>
                          <a:uFillTx/>
                          <a:latin typeface="Calibri" panose="020F0502020204030204" pitchFamily="34" charset="0"/>
                          <a:ea typeface="+mn-ea"/>
                          <a:cs typeface="+mn-cs"/>
                        </a:rPr>
                        <a:t>Peu probable / Élevé </a:t>
                      </a:r>
                    </a:p>
                  </a:txBody>
                  <a:tcPr anchor="ctr"/>
                </a:tc>
                <a:extLst>
                  <a:ext uri="{0D108BD9-81ED-4DB2-BD59-A6C34878D82A}">
                    <a16:rowId xmlns:a16="http://schemas.microsoft.com/office/drawing/2014/main" val="3909036468"/>
                  </a:ext>
                </a:extLst>
              </a:tr>
              <a:tr h="457707">
                <a:tc>
                  <a:txBody>
                    <a:bodyPr/>
                    <a:lstStyle/>
                    <a:p>
                      <a:r>
                        <a:rPr kumimoji="0" lang="fr-CA" sz="1000" b="0" i="0" u="none" strike="noStrike" kern="1200" cap="none" spc="0" normalizeH="0" baseline="0" noProof="0">
                          <a:ln>
                            <a:noFill/>
                          </a:ln>
                          <a:solidFill>
                            <a:srgbClr val="003DA5"/>
                          </a:solidFill>
                          <a:effectLst/>
                          <a:highlight>
                            <a:srgbClr val="FFFF00"/>
                          </a:highlight>
                          <a:uLnTx/>
                          <a:uFillTx/>
                          <a:latin typeface="Calibri" panose="020F0502020204030204" pitchFamily="34" charset="0"/>
                          <a:ea typeface="+mn-ea"/>
                          <a:cs typeface="+mn-cs"/>
                        </a:rPr>
                        <a:t>???</a:t>
                      </a:r>
                    </a:p>
                  </a:txBody>
                  <a:tcPr/>
                </a:tc>
                <a:tc>
                  <a:txBody>
                    <a:bodyPr/>
                    <a:lstStyle/>
                    <a:p>
                      <a:endParaRPr kumimoji="0" lang="fr-CA" sz="1000" b="0" i="0" u="none" strike="noStrike" kern="1200" cap="none" spc="0" normalizeH="0" baseline="0" noProof="0">
                        <a:ln>
                          <a:noFill/>
                        </a:ln>
                        <a:solidFill>
                          <a:srgbClr val="003DA5"/>
                        </a:solidFill>
                        <a:effectLst/>
                        <a:uLnTx/>
                        <a:uFillTx/>
                        <a:latin typeface="Calibri" panose="020F0502020204030204" pitchFamily="34" charset="0"/>
                        <a:ea typeface="+mn-ea"/>
                        <a:cs typeface="+mn-cs"/>
                      </a:endParaRPr>
                    </a:p>
                  </a:txBody>
                  <a:tcPr/>
                </a:tc>
                <a:tc>
                  <a:txBody>
                    <a:bodyPr/>
                    <a:lstStyle/>
                    <a:p>
                      <a:endParaRPr kumimoji="0" lang="fr-CA" sz="1000" b="0" i="0" u="none" strike="noStrike" kern="1200" cap="none" spc="0" normalizeH="0" baseline="0" noProof="0">
                        <a:ln>
                          <a:noFill/>
                        </a:ln>
                        <a:solidFill>
                          <a:srgbClr val="003DA5"/>
                        </a:solidFill>
                        <a:effectLst/>
                        <a:uLnTx/>
                        <a:uFillTx/>
                        <a:latin typeface="Calibri" panose="020F0502020204030204" pitchFamily="34" charset="0"/>
                        <a:ea typeface="+mn-ea"/>
                        <a:cs typeface="+mn-cs"/>
                      </a:endParaRPr>
                    </a:p>
                  </a:txBody>
                  <a:tcPr/>
                </a:tc>
                <a:tc>
                  <a:txBody>
                    <a:bodyPr/>
                    <a:lstStyle/>
                    <a:p>
                      <a:endParaRPr kumimoji="0" lang="fr-CA" sz="1000" b="0" i="0" u="none" strike="noStrike" kern="1200" cap="none" spc="0" normalizeH="0" baseline="0" noProof="0">
                        <a:ln>
                          <a:noFill/>
                        </a:ln>
                        <a:solidFill>
                          <a:srgbClr val="003DA5"/>
                        </a:solidFill>
                        <a:effectLst/>
                        <a:uLnTx/>
                        <a:uFillTx/>
                        <a:latin typeface="Calibri" panose="020F0502020204030204" pitchFamily="34" charset="0"/>
                        <a:ea typeface="+mn-ea"/>
                        <a:cs typeface="+mn-cs"/>
                      </a:endParaRPr>
                    </a:p>
                  </a:txBody>
                  <a:tcPr/>
                </a:tc>
                <a:extLst>
                  <a:ext uri="{0D108BD9-81ED-4DB2-BD59-A6C34878D82A}">
                    <a16:rowId xmlns:a16="http://schemas.microsoft.com/office/drawing/2014/main" val="2820265667"/>
                  </a:ext>
                </a:extLst>
              </a:tr>
              <a:tr h="457707">
                <a:tc>
                  <a:txBody>
                    <a:bodyPr/>
                    <a:lstStyle/>
                    <a:p>
                      <a:endParaRPr kumimoji="0" lang="fr-CA" sz="1000" b="0" i="0" u="none" strike="noStrike" kern="1200" cap="none" spc="0" normalizeH="0" baseline="0" noProof="0">
                        <a:ln>
                          <a:noFill/>
                        </a:ln>
                        <a:solidFill>
                          <a:srgbClr val="003DA5"/>
                        </a:solidFill>
                        <a:effectLst/>
                        <a:uLnTx/>
                        <a:uFillTx/>
                        <a:latin typeface="Calibri" panose="020F0502020204030204" pitchFamily="34" charset="0"/>
                        <a:ea typeface="+mn-ea"/>
                        <a:cs typeface="+mn-cs"/>
                      </a:endParaRPr>
                    </a:p>
                  </a:txBody>
                  <a:tcPr/>
                </a:tc>
                <a:tc>
                  <a:txBody>
                    <a:bodyPr/>
                    <a:lstStyle/>
                    <a:p>
                      <a:endParaRPr kumimoji="0" lang="fr-CA" sz="1000" b="0" i="0" u="none" strike="noStrike" kern="1200" cap="none" spc="0" normalizeH="0" baseline="0" noProof="0">
                        <a:ln>
                          <a:noFill/>
                        </a:ln>
                        <a:solidFill>
                          <a:srgbClr val="003DA5"/>
                        </a:solidFill>
                        <a:effectLst/>
                        <a:uLnTx/>
                        <a:uFillTx/>
                        <a:latin typeface="Calibri" panose="020F0502020204030204" pitchFamily="34" charset="0"/>
                        <a:ea typeface="+mn-ea"/>
                        <a:cs typeface="+mn-cs"/>
                      </a:endParaRPr>
                    </a:p>
                  </a:txBody>
                  <a:tcPr/>
                </a:tc>
                <a:tc>
                  <a:txBody>
                    <a:bodyPr/>
                    <a:lstStyle/>
                    <a:p>
                      <a:endParaRPr kumimoji="0" lang="fr-CA" sz="1000" b="0" i="0" u="none" strike="noStrike" kern="1200" cap="none" spc="0" normalizeH="0" baseline="0" noProof="0">
                        <a:ln>
                          <a:noFill/>
                        </a:ln>
                        <a:solidFill>
                          <a:srgbClr val="003DA5"/>
                        </a:solidFill>
                        <a:effectLst/>
                        <a:uLnTx/>
                        <a:uFillTx/>
                        <a:latin typeface="Calibri" panose="020F0502020204030204" pitchFamily="34" charset="0"/>
                        <a:ea typeface="+mn-ea"/>
                        <a:cs typeface="+mn-cs"/>
                      </a:endParaRPr>
                    </a:p>
                  </a:txBody>
                  <a:tcPr/>
                </a:tc>
                <a:tc>
                  <a:txBody>
                    <a:bodyPr/>
                    <a:lstStyle/>
                    <a:p>
                      <a:endParaRPr kumimoji="0" lang="fr-CA" sz="1000" b="0" i="0" u="none" strike="noStrike" kern="1200" cap="none" spc="0" normalizeH="0" baseline="0" noProof="0">
                        <a:ln>
                          <a:noFill/>
                        </a:ln>
                        <a:solidFill>
                          <a:srgbClr val="003DA5"/>
                        </a:solidFill>
                        <a:effectLst/>
                        <a:uLnTx/>
                        <a:uFillTx/>
                        <a:latin typeface="Calibri" panose="020F0502020204030204" pitchFamily="34" charset="0"/>
                        <a:ea typeface="+mn-ea"/>
                        <a:cs typeface="+mn-cs"/>
                      </a:endParaRPr>
                    </a:p>
                  </a:txBody>
                  <a:tcPr/>
                </a:tc>
                <a:extLst>
                  <a:ext uri="{0D108BD9-81ED-4DB2-BD59-A6C34878D82A}">
                    <a16:rowId xmlns:a16="http://schemas.microsoft.com/office/drawing/2014/main" val="2045118055"/>
                  </a:ext>
                </a:extLst>
              </a:tr>
            </a:tbl>
          </a:graphicData>
        </a:graphic>
      </p:graphicFrame>
      <p:sp>
        <p:nvSpPr>
          <p:cNvPr id="3" name="Titre 1">
            <a:extLst>
              <a:ext uri="{FF2B5EF4-FFF2-40B4-BE49-F238E27FC236}">
                <a16:creationId xmlns:a16="http://schemas.microsoft.com/office/drawing/2014/main" id="{D8BE021C-78E3-B3AC-591B-2E425A0DF008}"/>
              </a:ext>
            </a:extLst>
          </p:cNvPr>
          <p:cNvSpPr txBox="1">
            <a:spLocks/>
          </p:cNvSpPr>
          <p:nvPr/>
        </p:nvSpPr>
        <p:spPr>
          <a:xfrm>
            <a:off x="235526" y="-5193"/>
            <a:ext cx="8908473" cy="379266"/>
          </a:xfrm>
          <a:prstGeom prst="rect">
            <a:avLst/>
          </a:prstGeom>
          <a:solidFill>
            <a:schemeClr val="tx1"/>
          </a:solidFill>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fr-CA" sz="2400" b="1">
                <a:solidFill>
                  <a:schemeClr val="bg1"/>
                </a:solidFill>
              </a:rPr>
              <a:t>Principaux risques – processus cible</a:t>
            </a:r>
          </a:p>
        </p:txBody>
      </p:sp>
    </p:spTree>
    <p:extLst>
      <p:ext uri="{BB962C8B-B14F-4D97-AF65-F5344CB8AC3E}">
        <p14:creationId xmlns:p14="http://schemas.microsoft.com/office/powerpoint/2010/main" val="177508587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4259F77-E479-771C-CFFD-3A1BD3307FE3}"/>
              </a:ext>
            </a:extLst>
          </p:cNvPr>
          <p:cNvSpPr>
            <a:spLocks noGrp="1"/>
          </p:cNvSpPr>
          <p:nvPr>
            <p:ph type="title"/>
          </p:nvPr>
        </p:nvSpPr>
        <p:spPr>
          <a:xfrm>
            <a:off x="238836" y="1"/>
            <a:ext cx="8905164" cy="429904"/>
          </a:xfrm>
          <a:solidFill>
            <a:schemeClr val="tx1"/>
          </a:solidFill>
        </p:spPr>
        <p:txBody>
          <a:bodyPr vert="horz" lIns="91440" tIns="45720" rIns="91440" bIns="45720" rtlCol="0" anchor="ctr">
            <a:normAutofit/>
          </a:bodyPr>
          <a:lstStyle/>
          <a:p>
            <a:r>
              <a:rPr lang="fr-CA" sz="2400" b="1" noProof="0">
                <a:solidFill>
                  <a:schemeClr val="bg1"/>
                </a:solidFill>
              </a:rPr>
              <a:t>Impacts sur les données </a:t>
            </a:r>
          </a:p>
        </p:txBody>
      </p:sp>
      <p:graphicFrame>
        <p:nvGraphicFramePr>
          <p:cNvPr id="6" name="Espace réservé du contenu 12">
            <a:extLst>
              <a:ext uri="{FF2B5EF4-FFF2-40B4-BE49-F238E27FC236}">
                <a16:creationId xmlns:a16="http://schemas.microsoft.com/office/drawing/2014/main" id="{152B70A0-E250-0C99-5670-689F3A2F0B67}"/>
              </a:ext>
            </a:extLst>
          </p:cNvPr>
          <p:cNvGraphicFramePr>
            <a:graphicFrameLocks noGrp="1"/>
          </p:cNvGraphicFramePr>
          <p:nvPr>
            <p:ph idx="1"/>
            <p:extLst>
              <p:ext uri="{D42A27DB-BD31-4B8C-83A1-F6EECF244321}">
                <p14:modId xmlns:p14="http://schemas.microsoft.com/office/powerpoint/2010/main" val="1578730973"/>
              </p:ext>
            </p:extLst>
          </p:nvPr>
        </p:nvGraphicFramePr>
        <p:xfrm>
          <a:off x="426720" y="609600"/>
          <a:ext cx="8389621" cy="3931920"/>
        </p:xfrm>
        <a:graphic>
          <a:graphicData uri="http://schemas.openxmlformats.org/drawingml/2006/table">
            <a:tbl>
              <a:tblPr firstRow="1" bandRow="1">
                <a:tableStyleId>{073A0DAA-6AF3-43AB-8588-CEC1D06C72B9}</a:tableStyleId>
              </a:tblPr>
              <a:tblGrid>
                <a:gridCol w="1449076">
                  <a:extLst>
                    <a:ext uri="{9D8B030D-6E8A-4147-A177-3AD203B41FA5}">
                      <a16:colId xmlns:a16="http://schemas.microsoft.com/office/drawing/2014/main" val="1113003142"/>
                    </a:ext>
                  </a:extLst>
                </a:gridCol>
                <a:gridCol w="2040884">
                  <a:extLst>
                    <a:ext uri="{9D8B030D-6E8A-4147-A177-3AD203B41FA5}">
                      <a16:colId xmlns:a16="http://schemas.microsoft.com/office/drawing/2014/main" val="2908348383"/>
                    </a:ext>
                  </a:extLst>
                </a:gridCol>
                <a:gridCol w="1729740">
                  <a:extLst>
                    <a:ext uri="{9D8B030D-6E8A-4147-A177-3AD203B41FA5}">
                      <a16:colId xmlns:a16="http://schemas.microsoft.com/office/drawing/2014/main" val="3755015611"/>
                    </a:ext>
                  </a:extLst>
                </a:gridCol>
                <a:gridCol w="1905000">
                  <a:extLst>
                    <a:ext uri="{9D8B030D-6E8A-4147-A177-3AD203B41FA5}">
                      <a16:colId xmlns:a16="http://schemas.microsoft.com/office/drawing/2014/main" val="2323241918"/>
                    </a:ext>
                  </a:extLst>
                </a:gridCol>
                <a:gridCol w="1264921">
                  <a:extLst>
                    <a:ext uri="{9D8B030D-6E8A-4147-A177-3AD203B41FA5}">
                      <a16:colId xmlns:a16="http://schemas.microsoft.com/office/drawing/2014/main" val="3875048529"/>
                    </a:ext>
                  </a:extLst>
                </a:gridCol>
              </a:tblGrid>
              <a:tr h="461412">
                <a:tc>
                  <a:txBody>
                    <a:bodyPr/>
                    <a:lstStyle/>
                    <a:p>
                      <a:r>
                        <a:rPr lang="fr-CA" sz="1000" noProof="0"/>
                        <a:t>Objet d’information</a:t>
                      </a:r>
                    </a:p>
                  </a:txBody>
                  <a:tcPr/>
                </a:tc>
                <a:tc>
                  <a:txBody>
                    <a:bodyPr/>
                    <a:lstStyle/>
                    <a:p>
                      <a:r>
                        <a:rPr lang="fr-CA" sz="1000" noProof="0"/>
                        <a:t>Description</a:t>
                      </a:r>
                    </a:p>
                  </a:txBody>
                  <a:tcPr/>
                </a:tc>
                <a:tc>
                  <a:txBody>
                    <a:bodyPr/>
                    <a:lstStyle/>
                    <a:p>
                      <a:r>
                        <a:rPr lang="fr-CA" sz="1000" noProof="0"/>
                        <a:t>Utilisation</a:t>
                      </a:r>
                    </a:p>
                  </a:txBody>
                  <a:tcPr/>
                </a:tc>
                <a:tc>
                  <a:txBody>
                    <a:bodyPr/>
                    <a:lstStyle/>
                    <a:p>
                      <a:r>
                        <a:rPr lang="fr-CA" sz="1000" noProof="0"/>
                        <a:t>Niveau de sensibilité</a:t>
                      </a:r>
                    </a:p>
                  </a:txBody>
                  <a:tcPr/>
                </a:tc>
                <a:tc>
                  <a:txBody>
                    <a:bodyPr/>
                    <a:lstStyle/>
                    <a:p>
                      <a:r>
                        <a:rPr lang="fr-CA" sz="1000" noProof="0"/>
                        <a:t>Catégorie de donnée</a:t>
                      </a:r>
                    </a:p>
                  </a:txBody>
                  <a:tcPr/>
                </a:tc>
                <a:extLst>
                  <a:ext uri="{0D108BD9-81ED-4DB2-BD59-A6C34878D82A}">
                    <a16:rowId xmlns:a16="http://schemas.microsoft.com/office/drawing/2014/main" val="67016572"/>
                  </a:ext>
                </a:extLst>
              </a:tr>
              <a:tr h="496896">
                <a:tc>
                  <a:txBody>
                    <a:bodyPr/>
                    <a:lstStyle/>
                    <a:p>
                      <a:r>
                        <a:rPr lang="fr-CA" sz="800" b="1" noProof="0"/>
                        <a:t>Données des paiements manuels</a:t>
                      </a:r>
                    </a:p>
                  </a:txBody>
                  <a:tcPr anchor="ctr"/>
                </a:tc>
                <a:tc>
                  <a:txBody>
                    <a:bodyPr/>
                    <a:lstStyle/>
                    <a:p>
                      <a:r>
                        <a:rPr lang="fr-CA" sz="800" noProof="0"/>
                        <a:t>Montant, devise, coordonnées bancaires, nom prénom et banque du bénéficiaire</a:t>
                      </a:r>
                    </a:p>
                  </a:txBody>
                  <a:tcPr anchor="ctr"/>
                </a:tc>
                <a:tc>
                  <a:txBody>
                    <a:bodyPr/>
                    <a:lstStyle/>
                    <a:p>
                      <a:r>
                        <a:rPr lang="fr-CA" sz="800" noProof="0"/>
                        <a:t>Opérer les paiements.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kern="1200" noProof="0">
                          <a:solidFill>
                            <a:schemeClr val="dk1"/>
                          </a:solidFill>
                          <a:latin typeface="+mn-lt"/>
                          <a:ea typeface="+mn-ea"/>
                          <a:cs typeface="+mn-cs"/>
                        </a:rPr>
                        <a:t>Informations clients et bancaires existantes, très sensibles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100" b="1" kern="1200" noProof="0">
                          <a:solidFill>
                            <a:srgbClr val="FF0000"/>
                          </a:solidFill>
                          <a:latin typeface="+mn-lt"/>
                          <a:ea typeface="+mn-ea"/>
                          <a:cs typeface="+mn-cs"/>
                        </a:rPr>
                        <a:t>Restreint</a:t>
                      </a:r>
                    </a:p>
                  </a:txBody>
                  <a:tcPr anchor="ctr"/>
                </a:tc>
                <a:extLst>
                  <a:ext uri="{0D108BD9-81ED-4DB2-BD59-A6C34878D82A}">
                    <a16:rowId xmlns:a16="http://schemas.microsoft.com/office/drawing/2014/main" val="3814947073"/>
                  </a:ext>
                </a:extLst>
              </a:tr>
              <a:tr h="49301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b="1" noProof="0"/>
                        <a:t>Frais bancaire</a:t>
                      </a:r>
                    </a:p>
                  </a:txBody>
                  <a:tcPr anchor="ctr"/>
                </a:tc>
                <a:tc>
                  <a:txBody>
                    <a:bodyPr/>
                    <a:lstStyle/>
                    <a:p>
                      <a:r>
                        <a:rPr lang="fr-CA" sz="800" noProof="0"/>
                        <a:t>Frais payé, services souscris, frais par unité d’affaire</a:t>
                      </a:r>
                    </a:p>
                  </a:txBody>
                  <a:tcPr anchor="ctr"/>
                </a:tc>
                <a:tc>
                  <a:txBody>
                    <a:bodyPr/>
                    <a:lstStyle/>
                    <a:p>
                      <a:r>
                        <a:rPr lang="fr-CA" sz="800" noProof="0"/>
                        <a:t>Analyser et comparer les frais bancaires à des fin d’optimisation </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kern="1200" noProof="0">
                          <a:solidFill>
                            <a:schemeClr val="dk1"/>
                          </a:solidFill>
                          <a:latin typeface="+mn-lt"/>
                          <a:ea typeface="+mn-ea"/>
                          <a:cs typeface="+mn-cs"/>
                        </a:rPr>
                        <a:t>Informations bancaires, très sensibles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900" b="1" kern="1200">
                          <a:solidFill>
                            <a:srgbClr val="FFC000"/>
                          </a:solidFill>
                          <a:latin typeface="+mn-lt"/>
                          <a:ea typeface="+mn-ea"/>
                          <a:cs typeface="+mn-cs"/>
                        </a:rPr>
                        <a:t>Confidentiel</a:t>
                      </a:r>
                      <a:endParaRPr lang="fr-CA" sz="900" b="1" kern="1200" noProof="0">
                        <a:solidFill>
                          <a:srgbClr val="FFC000"/>
                        </a:solidFill>
                        <a:latin typeface="+mn-lt"/>
                        <a:ea typeface="+mn-ea"/>
                        <a:cs typeface="+mn-cs"/>
                      </a:endParaRPr>
                    </a:p>
                  </a:txBody>
                  <a:tcPr anchor="ctr"/>
                </a:tc>
                <a:extLst>
                  <a:ext uri="{0D108BD9-81ED-4DB2-BD59-A6C34878D82A}">
                    <a16:rowId xmlns:a16="http://schemas.microsoft.com/office/drawing/2014/main" val="1024983421"/>
                  </a:ext>
                </a:extLst>
              </a:tr>
              <a:tr h="49689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b="1" noProof="0"/>
                        <a:t>Information des comptes bancaires</a:t>
                      </a:r>
                    </a:p>
                  </a:txBody>
                  <a:tcPr anchor="ctr"/>
                </a:tc>
                <a:tc>
                  <a:txBody>
                    <a:bodyPr/>
                    <a:lstStyle/>
                    <a:p>
                      <a:r>
                        <a:rPr lang="fr-CA" sz="800" noProof="0"/>
                        <a:t>Liste des comptes bancaires, numéros des comptes, banques partenaires</a:t>
                      </a:r>
                    </a:p>
                  </a:txBody>
                  <a:tcPr anchor="ctr"/>
                </a:tc>
                <a:tc>
                  <a:txBody>
                    <a:bodyPr/>
                    <a:lstStyle/>
                    <a:p>
                      <a:r>
                        <a:rPr lang="fr-CA" sz="800" noProof="0"/>
                        <a:t>Centraliser l’inventaire et le monitoring de la structure de compte bancaire</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kern="1200" noProof="0">
                          <a:solidFill>
                            <a:schemeClr val="dk1"/>
                          </a:solidFill>
                          <a:latin typeface="+mn-lt"/>
                          <a:ea typeface="+mn-ea"/>
                          <a:cs typeface="+mn-cs"/>
                        </a:rPr>
                        <a:t>Informations bancaires existantes, très sensibles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100" b="1" kern="1200" noProof="0">
                          <a:solidFill>
                            <a:srgbClr val="FF0000"/>
                          </a:solidFill>
                          <a:latin typeface="+mn-lt"/>
                          <a:ea typeface="+mn-ea"/>
                          <a:cs typeface="+mn-cs"/>
                        </a:rPr>
                        <a:t>Restreint</a:t>
                      </a:r>
                    </a:p>
                  </a:txBody>
                  <a:tcPr anchor="ctr"/>
                </a:tc>
                <a:extLst>
                  <a:ext uri="{0D108BD9-81ED-4DB2-BD59-A6C34878D82A}">
                    <a16:rowId xmlns:a16="http://schemas.microsoft.com/office/drawing/2014/main" val="4058318460"/>
                  </a:ext>
                </a:extLst>
              </a:tr>
              <a:tr h="496896">
                <a:tc>
                  <a:txBody>
                    <a:bodyPr/>
                    <a:lstStyle/>
                    <a:p>
                      <a:r>
                        <a:rPr lang="fr-CA" sz="800" b="1" noProof="0"/>
                        <a:t>Signataires de chaque entité légale</a:t>
                      </a:r>
                    </a:p>
                  </a:txBody>
                  <a:tcPr anchor="ctr"/>
                </a:tc>
                <a:tc>
                  <a:txBody>
                    <a:bodyPr/>
                    <a:lstStyle/>
                    <a:p>
                      <a:r>
                        <a:rPr lang="fr-CA" sz="800" noProof="0"/>
                        <a:t>Nom, prénom et banque de la </a:t>
                      </a:r>
                    </a:p>
                  </a:txBody>
                  <a:tcPr anchor="ctr"/>
                </a:tc>
                <a:tc>
                  <a:txBody>
                    <a:bodyPr/>
                    <a:lstStyle/>
                    <a:p>
                      <a:r>
                        <a:rPr lang="fr-CA" sz="800" noProof="0"/>
                        <a:t>Utilisation de la donnée pour effectuer les opérations de mise à jour de la structure de compte   </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kern="1200" noProof="0">
                          <a:solidFill>
                            <a:schemeClr val="dk1"/>
                          </a:solidFill>
                          <a:latin typeface="+mn-lt"/>
                          <a:ea typeface="+mn-ea"/>
                          <a:cs typeface="+mn-cs"/>
                        </a:rPr>
                        <a:t>Informations clients et bancaires existantes, très sensibles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CA" sz="1100" b="1" i="0" u="none" strike="noStrike" kern="1200" cap="none" spc="0" normalizeH="0" baseline="0" noProof="0">
                          <a:ln>
                            <a:noFill/>
                          </a:ln>
                          <a:solidFill>
                            <a:srgbClr val="FF0000"/>
                          </a:solidFill>
                          <a:effectLst/>
                          <a:uLnTx/>
                          <a:uFillTx/>
                          <a:latin typeface="+mn-lt"/>
                          <a:ea typeface="+mn-ea"/>
                          <a:cs typeface="+mn-cs"/>
                        </a:rPr>
                        <a:t>Restreint</a:t>
                      </a:r>
                    </a:p>
                  </a:txBody>
                  <a:tcPr anchor="ctr"/>
                </a:tc>
                <a:extLst>
                  <a:ext uri="{0D108BD9-81ED-4DB2-BD59-A6C34878D82A}">
                    <a16:rowId xmlns:a16="http://schemas.microsoft.com/office/drawing/2014/main" val="1950932438"/>
                  </a:ext>
                </a:extLst>
              </a:tr>
              <a:tr h="496896">
                <a:tc>
                  <a:txBody>
                    <a:bodyPr/>
                    <a:lstStyle/>
                    <a:p>
                      <a:r>
                        <a:rPr lang="fr-CA" sz="800" b="1" noProof="0"/>
                        <a:t>Donnée de comptabilisation</a:t>
                      </a:r>
                    </a:p>
                  </a:txBody>
                  <a:tcPr anchor="ctr"/>
                </a:tc>
                <a:tc>
                  <a:txBody>
                    <a:bodyPr/>
                    <a:lstStyle/>
                    <a:p>
                      <a:r>
                        <a:rPr lang="fr-CA" sz="800" noProof="0"/>
                        <a:t>Comptes comptables et plan comptable (dans AHCS)</a:t>
                      </a:r>
                    </a:p>
                  </a:txBody>
                  <a:tcPr anchor="ctr"/>
                </a:tc>
                <a:tc>
                  <a:txBody>
                    <a:bodyPr/>
                    <a:lstStyle/>
                    <a:p>
                      <a:r>
                        <a:rPr lang="fr-CA" sz="800" noProof="0"/>
                        <a:t>Acheminer les transactions jusqu’au GL et à l’outil de conciliation</a:t>
                      </a:r>
                    </a:p>
                  </a:txBody>
                  <a:tcPr anchor="ctr"/>
                </a:tc>
                <a:tc>
                  <a:txBody>
                    <a:bodyPr/>
                    <a:lstStyle/>
                    <a:p>
                      <a:r>
                        <a:rPr lang="fr-CA" sz="800" noProof="0"/>
                        <a:t>Information sur charte comptable existantes, très sensibles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900" b="1" kern="1200">
                          <a:solidFill>
                            <a:srgbClr val="FFFF00"/>
                          </a:solidFill>
                          <a:latin typeface="+mn-lt"/>
                          <a:ea typeface="+mn-ea"/>
                          <a:cs typeface="+mn-cs"/>
                        </a:rPr>
                        <a:t>Interne</a:t>
                      </a:r>
                      <a:endParaRPr lang="fr-CA" sz="900" b="1" kern="1200" noProof="0">
                        <a:solidFill>
                          <a:srgbClr val="FFFF00"/>
                        </a:solidFill>
                        <a:latin typeface="+mn-lt"/>
                        <a:ea typeface="+mn-ea"/>
                        <a:cs typeface="+mn-cs"/>
                      </a:endParaRPr>
                    </a:p>
                  </a:txBody>
                  <a:tcPr anchor="ctr"/>
                </a:tc>
                <a:extLst>
                  <a:ext uri="{0D108BD9-81ED-4DB2-BD59-A6C34878D82A}">
                    <a16:rowId xmlns:a16="http://schemas.microsoft.com/office/drawing/2014/main" val="986607217"/>
                  </a:ext>
                </a:extLst>
              </a:tr>
              <a:tr h="493014">
                <a:tc>
                  <a:txBody>
                    <a:bodyPr/>
                    <a:lstStyle/>
                    <a:p>
                      <a:r>
                        <a:rPr lang="fr-FR" sz="800" b="1"/>
                        <a:t>Devise et taux de change</a:t>
                      </a:r>
                      <a:endParaRPr lang="fr-FR" sz="800"/>
                    </a:p>
                  </a:txBody>
                  <a:tcPr anchor="ctr"/>
                </a:tc>
                <a:tc>
                  <a:txBody>
                    <a:bodyPr/>
                    <a:lstStyle/>
                    <a:p>
                      <a:r>
                        <a:rPr lang="fr-FR" sz="800"/>
                        <a:t>Devise du prêt et taux appliqué pour conversion.</a:t>
                      </a:r>
                    </a:p>
                  </a:txBody>
                  <a:tcPr anchor="ctr"/>
                </a:tc>
                <a:tc>
                  <a:txBody>
                    <a:bodyPr/>
                    <a:lstStyle/>
                    <a:p>
                      <a:r>
                        <a:rPr lang="fr-CA" sz="800" noProof="0"/>
                        <a:t>Opérer des paiements internationaux</a:t>
                      </a:r>
                    </a:p>
                  </a:txBody>
                  <a:tcPr anchor="ctr"/>
                </a:tc>
                <a:tc>
                  <a:txBody>
                    <a:bodyPr/>
                    <a:lstStyle/>
                    <a:p>
                      <a:r>
                        <a:rPr lang="fr-CA" sz="800" noProof="0"/>
                        <a:t>Information publique</a:t>
                      </a:r>
                    </a:p>
                  </a:txBody>
                  <a:tcPr anchor="ctr"/>
                </a:tc>
                <a:tc>
                  <a:txBody>
                    <a:bodyPr/>
                    <a:lstStyle/>
                    <a:p>
                      <a:r>
                        <a:rPr lang="fr-CA" sz="800" noProof="0">
                          <a:solidFill>
                            <a:srgbClr val="00B050"/>
                          </a:solidFill>
                        </a:rPr>
                        <a:t>Publique</a:t>
                      </a:r>
                    </a:p>
                  </a:txBody>
                  <a:tcPr anchor="ctr"/>
                </a:tc>
                <a:extLst>
                  <a:ext uri="{0D108BD9-81ED-4DB2-BD59-A6C34878D82A}">
                    <a16:rowId xmlns:a16="http://schemas.microsoft.com/office/drawing/2014/main" val="1298012585"/>
                  </a:ext>
                </a:extLst>
              </a:tr>
              <a:tr h="496896">
                <a:tc>
                  <a:txBody>
                    <a:bodyPr/>
                    <a:lstStyle/>
                    <a:p>
                      <a:r>
                        <a:rPr lang="fr-CA" sz="800" b="1" noProof="0"/>
                        <a:t>Documents justificatifs d’approbation d’un paiement</a:t>
                      </a:r>
                    </a:p>
                  </a:txBody>
                  <a:tcPr anchor="ctr"/>
                </a:tc>
                <a:tc>
                  <a:txBody>
                    <a:bodyPr/>
                    <a:lstStyle/>
                    <a:p>
                      <a:r>
                        <a:rPr lang="fr-CA" sz="800" noProof="0"/>
                        <a:t>Nom et prénom de l’approbateur, signature, objet et montant du paiement</a:t>
                      </a:r>
                    </a:p>
                  </a:txBody>
                  <a:tcPr anchor="ctr"/>
                </a:tc>
                <a:tc>
                  <a:txBody>
                    <a:bodyPr/>
                    <a:lstStyle/>
                    <a:p>
                      <a:r>
                        <a:rPr lang="fr-CA" sz="800" noProof="0"/>
                        <a:t>Traçabilité de l’approbation du paiement</a:t>
                      </a:r>
                    </a:p>
                  </a:txBody>
                  <a:tcPr anchor="ctr"/>
                </a:tc>
                <a:tc>
                  <a:txBody>
                    <a:bodyPr/>
                    <a:lstStyle/>
                    <a:p>
                      <a:r>
                        <a:rPr lang="fr-CA" sz="800" noProof="0"/>
                        <a:t>Information interne, très sensible</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100" b="1" kern="1200" noProof="0">
                          <a:solidFill>
                            <a:srgbClr val="FF0000"/>
                          </a:solidFill>
                          <a:latin typeface="+mn-lt"/>
                          <a:ea typeface="+mn-ea"/>
                          <a:cs typeface="+mn-cs"/>
                        </a:rPr>
                        <a:t>Restreint</a:t>
                      </a:r>
                    </a:p>
                  </a:txBody>
                  <a:tcPr anchor="ctr"/>
                </a:tc>
                <a:extLst>
                  <a:ext uri="{0D108BD9-81ED-4DB2-BD59-A6C34878D82A}">
                    <a16:rowId xmlns:a16="http://schemas.microsoft.com/office/drawing/2014/main" val="2778776949"/>
                  </a:ext>
                </a:extLst>
              </a:tr>
            </a:tbl>
          </a:graphicData>
        </a:graphic>
      </p:graphicFrame>
    </p:spTree>
    <p:extLst>
      <p:ext uri="{BB962C8B-B14F-4D97-AF65-F5344CB8AC3E}">
        <p14:creationId xmlns:p14="http://schemas.microsoft.com/office/powerpoint/2010/main" val="270518987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81EB99A-EDAC-B047-45C2-D391B5DC4BD1}"/>
              </a:ext>
            </a:extLst>
          </p:cNvPr>
          <p:cNvSpPr>
            <a:spLocks noGrp="1"/>
          </p:cNvSpPr>
          <p:nvPr>
            <p:ph type="title"/>
          </p:nvPr>
        </p:nvSpPr>
        <p:spPr>
          <a:xfrm>
            <a:off x="235528" y="0"/>
            <a:ext cx="8963890" cy="413905"/>
          </a:xfrm>
          <a:solidFill>
            <a:schemeClr val="tx1"/>
          </a:solidFill>
        </p:spPr>
        <p:txBody>
          <a:bodyPr vert="horz" lIns="91440" tIns="45720" rIns="91440" bIns="45720" rtlCol="0" anchor="ctr">
            <a:normAutofit fontScale="90000"/>
          </a:bodyPr>
          <a:lstStyle/>
          <a:p>
            <a:r>
              <a:rPr lang="fr-CA" sz="2400" b="1" noProof="0">
                <a:solidFill>
                  <a:schemeClr val="bg1"/>
                </a:solidFill>
              </a:rPr>
              <a:t>Projets impactés et impacts inter-projets</a:t>
            </a:r>
          </a:p>
        </p:txBody>
      </p:sp>
      <p:graphicFrame>
        <p:nvGraphicFramePr>
          <p:cNvPr id="4" name="Espace réservé du contenu 3">
            <a:extLst>
              <a:ext uri="{FF2B5EF4-FFF2-40B4-BE49-F238E27FC236}">
                <a16:creationId xmlns:a16="http://schemas.microsoft.com/office/drawing/2014/main" id="{4366B80C-2C99-24A6-1A54-863D2EFA9A23}"/>
              </a:ext>
            </a:extLst>
          </p:cNvPr>
          <p:cNvGraphicFramePr>
            <a:graphicFrameLocks noGrp="1"/>
          </p:cNvGraphicFramePr>
          <p:nvPr>
            <p:ph idx="1"/>
            <p:extLst>
              <p:ext uri="{D42A27DB-BD31-4B8C-83A1-F6EECF244321}">
                <p14:modId xmlns:p14="http://schemas.microsoft.com/office/powerpoint/2010/main" val="2882300823"/>
              </p:ext>
            </p:extLst>
          </p:nvPr>
        </p:nvGraphicFramePr>
        <p:xfrm>
          <a:off x="703870" y="560888"/>
          <a:ext cx="8027205" cy="4150360"/>
        </p:xfrm>
        <a:graphic>
          <a:graphicData uri="http://schemas.openxmlformats.org/drawingml/2006/table">
            <a:tbl>
              <a:tblPr firstRow="1" bandRow="1">
                <a:tableStyleId>{5C22544A-7EE6-4342-B048-85BDC9FD1C3A}</a:tableStyleId>
              </a:tblPr>
              <a:tblGrid>
                <a:gridCol w="2625213">
                  <a:extLst>
                    <a:ext uri="{9D8B030D-6E8A-4147-A177-3AD203B41FA5}">
                      <a16:colId xmlns:a16="http://schemas.microsoft.com/office/drawing/2014/main" val="159395630"/>
                    </a:ext>
                  </a:extLst>
                </a:gridCol>
                <a:gridCol w="5401992">
                  <a:extLst>
                    <a:ext uri="{9D8B030D-6E8A-4147-A177-3AD203B41FA5}">
                      <a16:colId xmlns:a16="http://schemas.microsoft.com/office/drawing/2014/main" val="2026282877"/>
                    </a:ext>
                  </a:extLst>
                </a:gridCol>
              </a:tblGrid>
              <a:tr h="370840">
                <a:tc>
                  <a:txBody>
                    <a:bodyPr/>
                    <a:lstStyle/>
                    <a:p>
                      <a:r>
                        <a:rPr lang="fr-CA" noProof="0"/>
                        <a:t>Nom du projet</a:t>
                      </a:r>
                    </a:p>
                  </a:txBody>
                  <a:tcPr/>
                </a:tc>
                <a:tc>
                  <a:txBody>
                    <a:bodyPr/>
                    <a:lstStyle/>
                    <a:p>
                      <a:r>
                        <a:rPr lang="fr-CA" noProof="0"/>
                        <a:t>Impacts</a:t>
                      </a:r>
                    </a:p>
                  </a:txBody>
                  <a:tcPr/>
                </a:tc>
                <a:extLst>
                  <a:ext uri="{0D108BD9-81ED-4DB2-BD59-A6C34878D82A}">
                    <a16:rowId xmlns:a16="http://schemas.microsoft.com/office/drawing/2014/main" val="1671210442"/>
                  </a:ext>
                </a:extLst>
              </a:tr>
              <a:tr h="370840">
                <a:tc>
                  <a:txBody>
                    <a:bodyPr/>
                    <a:lstStyle/>
                    <a:p>
                      <a:r>
                        <a:rPr lang="fr-CA" noProof="0"/>
                        <a:t>Modernia (VI)</a:t>
                      </a:r>
                    </a:p>
                  </a:txBody>
                  <a:tcPr/>
                </a:tc>
                <a:tc>
                  <a:txBody>
                    <a:bodyPr/>
                    <a:lstStyle/>
                    <a:p>
                      <a:pPr marL="177800" indent="-177800">
                        <a:buFont typeface="Arial" panose="020B0604020202020204" pitchFamily="34" charset="0"/>
                        <a:buChar char="•"/>
                      </a:pPr>
                      <a:r>
                        <a:rPr lang="fr-CA" sz="1400" noProof="0"/>
                        <a:t>Retrait des coordonnées bancaires clients du Hub de paiement et transféré pour leur outil : Banking Info</a:t>
                      </a:r>
                    </a:p>
                    <a:p>
                      <a:pPr marL="177800" indent="-177800">
                        <a:buFont typeface="Arial" panose="020B0604020202020204" pitchFamily="34" charset="0"/>
                        <a:buChar char="•"/>
                      </a:pPr>
                      <a:r>
                        <a:rPr lang="fr-CA" sz="1400"/>
                        <a:t>Volume de transactions plus important estimé fin 2026 à environ +20k/mois</a:t>
                      </a:r>
                    </a:p>
                    <a:p>
                      <a:pPr marL="177800" indent="-177800">
                        <a:buFont typeface="Arial" panose="020B0604020202020204" pitchFamily="34" charset="0"/>
                        <a:buChar char="•"/>
                      </a:pPr>
                      <a:r>
                        <a:rPr lang="fr-CA" sz="1400" noProof="0"/>
                        <a:t>Gestion impérative des chèques périmes non renversés de plus de 272 jours</a:t>
                      </a:r>
                    </a:p>
                  </a:txBody>
                  <a:tcPr/>
                </a:tc>
                <a:extLst>
                  <a:ext uri="{0D108BD9-81ED-4DB2-BD59-A6C34878D82A}">
                    <a16:rowId xmlns:a16="http://schemas.microsoft.com/office/drawing/2014/main" val="3027624274"/>
                  </a:ext>
                </a:extLst>
              </a:tr>
              <a:tr h="370840">
                <a:tc>
                  <a:txBody>
                    <a:bodyPr/>
                    <a:lstStyle/>
                    <a:p>
                      <a:r>
                        <a:rPr lang="fr-CA" noProof="0"/>
                        <a:t>Finance +</a:t>
                      </a:r>
                    </a:p>
                  </a:txBody>
                  <a:tcPr/>
                </a:tc>
                <a:tc>
                  <a:txBody>
                    <a:bodyPr/>
                    <a:lstStyle/>
                    <a:p>
                      <a:pPr marL="177800" indent="-177800">
                        <a:buFont typeface="Arial" panose="020B0604020202020204" pitchFamily="34" charset="0"/>
                        <a:buChar char="•"/>
                      </a:pPr>
                      <a:r>
                        <a:rPr lang="fr-CA" sz="1400" kern="1200" noProof="0">
                          <a:solidFill>
                            <a:schemeClr val="dk1"/>
                          </a:solidFill>
                          <a:latin typeface="+mn-lt"/>
                          <a:ea typeface="+mn-ea"/>
                          <a:cs typeface="+mn-cs"/>
                        </a:rPr>
                        <a:t>Une révision du flux de données, des processus et des rôles et responsabilité des principaux acteurs de la CFO </a:t>
                      </a:r>
                    </a:p>
                  </a:txBody>
                  <a:tcPr/>
                </a:tc>
                <a:extLst>
                  <a:ext uri="{0D108BD9-81ED-4DB2-BD59-A6C34878D82A}">
                    <a16:rowId xmlns:a16="http://schemas.microsoft.com/office/drawing/2014/main" val="150545623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800" i="0" u="none" noProof="0"/>
                        <a:t>Recette d’intégration CFO de nouvelles filiales  </a:t>
                      </a:r>
                      <a:endParaRPr lang="fr-CA" sz="2000" noProof="0"/>
                    </a:p>
                  </a:txBody>
                  <a:tcPr/>
                </a:tc>
                <a:tc>
                  <a:txBody>
                    <a:bodyPr/>
                    <a:lstStyle/>
                    <a:p>
                      <a:pPr marL="177800" indent="-177800">
                        <a:buFont typeface="Arial" panose="020B0604020202020204" pitchFamily="34" charset="0"/>
                        <a:buChar char="•"/>
                      </a:pPr>
                      <a:r>
                        <a:rPr lang="fr-CA" sz="1400" kern="1200" noProof="0">
                          <a:solidFill>
                            <a:schemeClr val="dk1"/>
                          </a:solidFill>
                          <a:latin typeface="+mn-lt"/>
                          <a:ea typeface="+mn-ea"/>
                          <a:cs typeface="+mn-cs"/>
                        </a:rPr>
                        <a:t>Établir une recette la plus standardisé possible pour les futures intégrations CFO des nouvelles filiales</a:t>
                      </a:r>
                    </a:p>
                  </a:txBody>
                  <a:tcPr/>
                </a:tc>
                <a:extLst>
                  <a:ext uri="{0D108BD9-81ED-4DB2-BD59-A6C34878D82A}">
                    <a16:rowId xmlns:a16="http://schemas.microsoft.com/office/drawing/2014/main" val="74138797"/>
                  </a:ext>
                </a:extLst>
              </a:tr>
              <a:tr h="370840">
                <a:tc>
                  <a:txBody>
                    <a:bodyPr/>
                    <a:lstStyle/>
                    <a:p>
                      <a:r>
                        <a:rPr lang="fr-CA" noProof="0"/>
                        <a:t>Retrait en ligne (AC)</a:t>
                      </a:r>
                    </a:p>
                  </a:txBody>
                  <a:tcPr/>
                </a:tc>
                <a:tc>
                  <a:txBody>
                    <a:bodyPr/>
                    <a:lstStyle/>
                    <a:p>
                      <a:pPr marL="177800" indent="-177800">
                        <a:buFont typeface="Arial" panose="020B0604020202020204" pitchFamily="34" charset="0"/>
                        <a:buChar char="•"/>
                      </a:pPr>
                      <a:r>
                        <a:rPr lang="fr-CA" sz="1400" kern="1200" noProof="0">
                          <a:solidFill>
                            <a:schemeClr val="dk1"/>
                          </a:solidFill>
                          <a:latin typeface="+mn-lt"/>
                          <a:ea typeface="+mn-ea"/>
                          <a:cs typeface="+mn-cs"/>
                        </a:rPr>
                        <a:t>Ils confient le stockage des coordonnées bancaire de leurs bénéficiaires au Hub de paiement (faible volume) dans la même période que notre migration technologique.</a:t>
                      </a:r>
                    </a:p>
                  </a:txBody>
                  <a:tcPr/>
                </a:tc>
                <a:extLst>
                  <a:ext uri="{0D108BD9-81ED-4DB2-BD59-A6C34878D82A}">
                    <a16:rowId xmlns:a16="http://schemas.microsoft.com/office/drawing/2014/main" val="4182205044"/>
                  </a:ext>
                </a:extLst>
              </a:tr>
              <a:tr h="370840">
                <a:tc>
                  <a:txBody>
                    <a:bodyPr/>
                    <a:lstStyle/>
                    <a:p>
                      <a:r>
                        <a:rPr lang="fr-CA" noProof="0"/>
                        <a:t>Dealers Services</a:t>
                      </a:r>
                    </a:p>
                  </a:txBody>
                  <a:tcPr/>
                </a:tc>
                <a:tc>
                  <a:txBody>
                    <a:bodyPr/>
                    <a:lstStyle/>
                    <a:p>
                      <a:pPr marL="177800" indent="-177800">
                        <a:buFont typeface="Arial" panose="020B0604020202020204" pitchFamily="34" charset="0"/>
                        <a:buChar char="•"/>
                      </a:pPr>
                      <a:r>
                        <a:rPr lang="fr-CA" sz="1400" kern="1200" noProof="0">
                          <a:solidFill>
                            <a:schemeClr val="dk1"/>
                          </a:solidFill>
                          <a:latin typeface="+mn-lt"/>
                          <a:ea typeface="+mn-ea"/>
                          <a:cs typeface="+mn-cs"/>
                        </a:rPr>
                        <a:t>Souhaite migrer une grande majorité de leur paiement par chèque en dépôt direct pondant la migration de technologie</a:t>
                      </a:r>
                    </a:p>
                  </a:txBody>
                  <a:tcPr/>
                </a:tc>
                <a:extLst>
                  <a:ext uri="{0D108BD9-81ED-4DB2-BD59-A6C34878D82A}">
                    <a16:rowId xmlns:a16="http://schemas.microsoft.com/office/drawing/2014/main" val="4163421652"/>
                  </a:ext>
                </a:extLst>
              </a:tr>
            </a:tbl>
          </a:graphicData>
        </a:graphic>
      </p:graphicFrame>
    </p:spTree>
    <p:extLst>
      <p:ext uri="{BB962C8B-B14F-4D97-AF65-F5344CB8AC3E}">
        <p14:creationId xmlns:p14="http://schemas.microsoft.com/office/powerpoint/2010/main" val="4167178033"/>
      </p:ext>
    </p:extLst>
  </p:cSld>
  <p:clrMapOvr>
    <a:masterClrMapping/>
  </p:clrMapOvr>
  <p:extLst>
    <p:ext uri="{6950BFC3-D8DA-4A85-94F7-54DA5524770B}">
      <p188:commentRel xmlns:p188="http://schemas.microsoft.com/office/powerpoint/2018/8/main" r:id="rId3"/>
    </p:ext>
  </p:extLs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D4322-CBB1-1D15-4539-681AF326734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D32AAF5-BC49-FE66-98A3-41710AC4C36C}"/>
              </a:ext>
            </a:extLst>
          </p:cNvPr>
          <p:cNvSpPr>
            <a:spLocks noGrp="1"/>
          </p:cNvSpPr>
          <p:nvPr>
            <p:ph type="title"/>
          </p:nvPr>
        </p:nvSpPr>
        <p:spPr>
          <a:xfrm>
            <a:off x="229116" y="1"/>
            <a:ext cx="8914884" cy="429904"/>
          </a:xfrm>
          <a:solidFill>
            <a:schemeClr val="tx1"/>
          </a:solidFill>
        </p:spPr>
        <p:txBody>
          <a:bodyPr vert="horz" lIns="91440" tIns="45720" rIns="91440" bIns="45720" rtlCol="0" anchor="ctr">
            <a:normAutofit/>
          </a:bodyPr>
          <a:lstStyle/>
          <a:p>
            <a:r>
              <a:rPr lang="fr-CA" sz="2400" b="1">
                <a:solidFill>
                  <a:schemeClr val="bg1"/>
                </a:solidFill>
              </a:rPr>
              <a:t>Architecture d’affaires cible</a:t>
            </a:r>
          </a:p>
        </p:txBody>
      </p:sp>
      <p:sp>
        <p:nvSpPr>
          <p:cNvPr id="5" name="ZoneTexte 4">
            <a:extLst>
              <a:ext uri="{FF2B5EF4-FFF2-40B4-BE49-F238E27FC236}">
                <a16:creationId xmlns:a16="http://schemas.microsoft.com/office/drawing/2014/main" id="{218FB7A0-0560-335A-0B7B-F3C79145DF9B}"/>
              </a:ext>
            </a:extLst>
          </p:cNvPr>
          <p:cNvSpPr txBox="1"/>
          <p:nvPr/>
        </p:nvSpPr>
        <p:spPr>
          <a:xfrm>
            <a:off x="7050594" y="1655868"/>
            <a:ext cx="1959587" cy="338554"/>
          </a:xfrm>
          <a:prstGeom prst="rect">
            <a:avLst/>
          </a:prstGeom>
          <a:noFill/>
        </p:spPr>
        <p:txBody>
          <a:bodyPr wrap="square" rtlCol="0">
            <a:spAutoFit/>
          </a:bodyPr>
          <a:lstStyle/>
          <a:p>
            <a:pPr marL="0" marR="0" lvl="0" indent="0" algn="l" defTabSz="914286" rtl="0" eaLnBrk="1" fontAlgn="auto" latinLnBrk="0" hangingPunct="1">
              <a:lnSpc>
                <a:spcPct val="100000"/>
              </a:lnSpc>
              <a:spcBef>
                <a:spcPts val="0"/>
              </a:spcBef>
              <a:spcAft>
                <a:spcPts val="0"/>
              </a:spcAft>
              <a:buClrTx/>
              <a:buSzTx/>
              <a:buFontTx/>
              <a:buNone/>
              <a:tabLst/>
              <a:defRPr/>
            </a:pPr>
            <a:r>
              <a:rPr kumimoji="0" lang="fr-CA" sz="1600" b="0" i="0" u="none" strike="noStrike" kern="1200" cap="none" spc="0" normalizeH="0" baseline="0" noProof="0">
                <a:ln>
                  <a:noFill/>
                </a:ln>
                <a:solidFill>
                  <a:srgbClr val="003DA5"/>
                </a:solidFill>
                <a:effectLst/>
                <a:uLnTx/>
                <a:uFillTx/>
                <a:latin typeface="Calibri" panose="020F0502020204030204"/>
                <a:ea typeface="+mn-ea"/>
                <a:cs typeface="+mn-cs"/>
              </a:rPr>
              <a:t>Lien vers le </a:t>
            </a:r>
            <a:r>
              <a:rPr kumimoji="0" lang="fr-CA" sz="1600" b="0" i="0" u="none" strike="noStrike" kern="1200" cap="none" spc="0" normalizeH="0" baseline="0" noProof="0" err="1">
                <a:ln>
                  <a:noFill/>
                </a:ln>
                <a:solidFill>
                  <a:srgbClr val="003DA5"/>
                </a:solidFill>
                <a:effectLst/>
                <a:uLnTx/>
                <a:uFillTx/>
                <a:latin typeface="Calibri" panose="020F0502020204030204"/>
                <a:ea typeface="+mn-ea"/>
                <a:cs typeface="+mn-cs"/>
              </a:rPr>
              <a:t>visio</a:t>
            </a:r>
            <a:r>
              <a:rPr kumimoji="0" lang="fr-CA" sz="1600" b="0" i="0" u="none" strike="noStrike" kern="1200" cap="none" spc="0" normalizeH="0" baseline="0" noProof="0">
                <a:ln>
                  <a:noFill/>
                </a:ln>
                <a:solidFill>
                  <a:srgbClr val="003DA5"/>
                </a:solidFill>
                <a:effectLst/>
                <a:uLnTx/>
                <a:uFillTx/>
                <a:latin typeface="Calibri" panose="020F0502020204030204"/>
                <a:ea typeface="+mn-ea"/>
                <a:cs typeface="+mn-cs"/>
              </a:rPr>
              <a:t> :</a:t>
            </a:r>
          </a:p>
        </p:txBody>
      </p:sp>
      <p:sp>
        <p:nvSpPr>
          <p:cNvPr id="9" name="Rectangle 4">
            <a:extLst>
              <a:ext uri="{FF2B5EF4-FFF2-40B4-BE49-F238E27FC236}">
                <a16:creationId xmlns:a16="http://schemas.microsoft.com/office/drawing/2014/main" id="{75F81FCB-7CE1-0924-BDDA-812432C9F7EC}"/>
              </a:ext>
            </a:extLst>
          </p:cNvPr>
          <p:cNvSpPr>
            <a:spLocks noChangeArrowheads="1"/>
          </p:cNvSpPr>
          <p:nvPr/>
        </p:nvSpPr>
        <p:spPr bwMode="auto">
          <a:xfrm>
            <a:off x="6881248" y="1994422"/>
            <a:ext cx="2128934"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100" b="0" i="0" u="none" strike="noStrike" cap="none" normalizeH="0" baseline="0">
                <a:ln>
                  <a:noFill/>
                </a:ln>
                <a:solidFill>
                  <a:schemeClr val="tx1"/>
                </a:solidFill>
                <a:effectLst/>
                <a:latin typeface="Arial" panose="020B0604020202020204" pitchFamily="34" charset="0"/>
                <a:hlinkClick r:id="rId3"/>
              </a:rPr>
              <a:t>125_Vues intégrées Processus Systèmes </a:t>
            </a:r>
            <a:r>
              <a:rPr kumimoji="0" lang="fr-FR" altLang="fr-FR" sz="1100" b="0" i="0" u="none" strike="noStrike" cap="none" normalizeH="0" baseline="0" err="1">
                <a:ln>
                  <a:noFill/>
                </a:ln>
                <a:solidFill>
                  <a:schemeClr val="tx1"/>
                </a:solidFill>
                <a:effectLst/>
                <a:latin typeface="Arial" panose="020B0604020202020204" pitchFamily="34" charset="0"/>
                <a:hlinkClick r:id="rId3"/>
              </a:rPr>
              <a:t>Bancaire.vsdx</a:t>
            </a:r>
            <a:endParaRPr kumimoji="0" lang="fr-FR" altLang="fr-FR" sz="1100" b="0" i="0" u="none" strike="noStrike" cap="none" normalizeH="0" baseline="0">
              <a:ln>
                <a:noFill/>
              </a:ln>
              <a:solidFill>
                <a:schemeClr val="tx1"/>
              </a:solidFill>
              <a:effectLst/>
              <a:latin typeface="Arial" panose="020B0604020202020204" pitchFamily="34" charset="0"/>
            </a:endParaRPr>
          </a:p>
        </p:txBody>
      </p:sp>
      <p:pic>
        <p:nvPicPr>
          <p:cNvPr id="11" name="Image 10">
            <a:extLst>
              <a:ext uri="{FF2B5EF4-FFF2-40B4-BE49-F238E27FC236}">
                <a16:creationId xmlns:a16="http://schemas.microsoft.com/office/drawing/2014/main" id="{C17846F7-3BAE-9D27-85A9-80E65FE5DCAA}"/>
              </a:ext>
            </a:extLst>
          </p:cNvPr>
          <p:cNvPicPr>
            <a:picLocks noChangeAspect="1"/>
          </p:cNvPicPr>
          <p:nvPr/>
        </p:nvPicPr>
        <p:blipFill>
          <a:blip r:embed="rId4"/>
          <a:stretch>
            <a:fillRect/>
          </a:stretch>
        </p:blipFill>
        <p:spPr>
          <a:xfrm>
            <a:off x="384629" y="449897"/>
            <a:ext cx="6270311" cy="4693602"/>
          </a:xfrm>
          <a:prstGeom prst="rect">
            <a:avLst/>
          </a:prstGeom>
        </p:spPr>
      </p:pic>
    </p:spTree>
    <p:extLst>
      <p:ext uri="{BB962C8B-B14F-4D97-AF65-F5344CB8AC3E}">
        <p14:creationId xmlns:p14="http://schemas.microsoft.com/office/powerpoint/2010/main" val="416582250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a:extLst>
              <a:ext uri="{FF2B5EF4-FFF2-40B4-BE49-F238E27FC236}">
                <a16:creationId xmlns:a16="http://schemas.microsoft.com/office/drawing/2014/main" id="{0600D51C-A3CA-3036-1A38-0B7753C7EDF3}"/>
              </a:ext>
            </a:extLst>
          </p:cNvPr>
          <p:cNvGraphicFramePr>
            <a:graphicFrameLocks noGrp="1"/>
          </p:cNvGraphicFramePr>
          <p:nvPr>
            <p:ph idx="1"/>
            <p:extLst>
              <p:ext uri="{D42A27DB-BD31-4B8C-83A1-F6EECF244321}">
                <p14:modId xmlns:p14="http://schemas.microsoft.com/office/powerpoint/2010/main" val="448385901"/>
              </p:ext>
            </p:extLst>
          </p:nvPr>
        </p:nvGraphicFramePr>
        <p:xfrm>
          <a:off x="455613" y="627031"/>
          <a:ext cx="8527022" cy="394271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re 1">
            <a:extLst>
              <a:ext uri="{FF2B5EF4-FFF2-40B4-BE49-F238E27FC236}">
                <a16:creationId xmlns:a16="http://schemas.microsoft.com/office/drawing/2014/main" id="{371CE872-E4B4-C572-CBAE-24681E7149CE}"/>
              </a:ext>
            </a:extLst>
          </p:cNvPr>
          <p:cNvSpPr txBox="1">
            <a:spLocks/>
          </p:cNvSpPr>
          <p:nvPr/>
        </p:nvSpPr>
        <p:spPr>
          <a:xfrm>
            <a:off x="235528" y="0"/>
            <a:ext cx="8963890" cy="413905"/>
          </a:xfrm>
          <a:prstGeom prst="rect">
            <a:avLst/>
          </a:prstGeom>
          <a:solidFill>
            <a:schemeClr val="tx1"/>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fr-CA" sz="2400" b="1">
                <a:solidFill>
                  <a:schemeClr val="bg1"/>
                </a:solidFill>
              </a:rPr>
              <a:t>Parties prenantes</a:t>
            </a:r>
          </a:p>
        </p:txBody>
      </p:sp>
      <p:sp>
        <p:nvSpPr>
          <p:cNvPr id="5" name="ZoneTexte 4">
            <a:extLst>
              <a:ext uri="{FF2B5EF4-FFF2-40B4-BE49-F238E27FC236}">
                <a16:creationId xmlns:a16="http://schemas.microsoft.com/office/drawing/2014/main" id="{1D8679AC-1FC6-D291-73CA-D00D091DC27F}"/>
              </a:ext>
            </a:extLst>
          </p:cNvPr>
          <p:cNvSpPr txBox="1"/>
          <p:nvPr/>
        </p:nvSpPr>
        <p:spPr>
          <a:xfrm>
            <a:off x="354522" y="4774168"/>
            <a:ext cx="7216399" cy="276999"/>
          </a:xfrm>
          <a:prstGeom prst="rect">
            <a:avLst/>
          </a:prstGeom>
          <a:noFill/>
        </p:spPr>
        <p:txBody>
          <a:bodyPr wrap="square">
            <a:spAutoFit/>
          </a:bodyPr>
          <a:lstStyle/>
          <a:p>
            <a:pPr lvl="0"/>
            <a:r>
              <a:rPr lang="fr-CA" sz="1200"/>
              <a:t>* Unités d’Affaires : Lignes d’affaires, secteurs et Filiales </a:t>
            </a:r>
            <a:endParaRPr lang="fr-FR" sz="1200"/>
          </a:p>
        </p:txBody>
      </p:sp>
    </p:spTree>
    <p:extLst>
      <p:ext uri="{BB962C8B-B14F-4D97-AF65-F5344CB8AC3E}">
        <p14:creationId xmlns:p14="http://schemas.microsoft.com/office/powerpoint/2010/main" val="258207598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60DEE1-32A2-B6B9-44D7-0092EA4CFE4C}"/>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DD980DBD-F5F1-E9AC-27D3-E688AD1D4B41}"/>
              </a:ext>
            </a:extLst>
          </p:cNvPr>
          <p:cNvSpPr txBox="1"/>
          <p:nvPr/>
        </p:nvSpPr>
        <p:spPr>
          <a:xfrm>
            <a:off x="7640515" y="433752"/>
            <a:ext cx="1468317" cy="1923604"/>
          </a:xfrm>
          <a:prstGeom prst="rect">
            <a:avLst/>
          </a:prstGeom>
          <a:noFill/>
          <a:ln w="6350">
            <a:solidFill>
              <a:schemeClr val="tx1"/>
            </a:solidFill>
          </a:ln>
        </p:spPr>
        <p:txBody>
          <a:bodyPr wrap="square" rtlCol="0">
            <a:spAutoFit/>
          </a:bodyPr>
          <a:lstStyle/>
          <a:p>
            <a:pPr algn="ctr"/>
            <a:r>
              <a:rPr lang="fr-FR" sz="1100" u="sng"/>
              <a:t>Objectif</a:t>
            </a:r>
          </a:p>
          <a:p>
            <a:pPr algn="ctr"/>
            <a:r>
              <a:rPr lang="fr-FR" sz="900">
                <a:solidFill>
                  <a:srgbClr val="262626"/>
                </a:solidFill>
              </a:rPr>
              <a:t>À la demande du partenaire, le CSP s’assure de la conformité de la demande avec les lignes directrices et procède à l’ouverture du compte</a:t>
            </a:r>
          </a:p>
          <a:p>
            <a:pPr algn="ctr"/>
            <a:endParaRPr lang="fr-FR" sz="200"/>
          </a:p>
          <a:p>
            <a:pPr marL="0" marR="0" lvl="0" indent="0" algn="ctr" defTabSz="914286" rtl="0" eaLnBrk="1" fontAlgn="auto" latinLnBrk="0" hangingPunct="1">
              <a:lnSpc>
                <a:spcPct val="100000"/>
              </a:lnSpc>
              <a:spcBef>
                <a:spcPts val="0"/>
              </a:spcBef>
              <a:spcAft>
                <a:spcPts val="0"/>
              </a:spcAft>
              <a:buClrTx/>
              <a:buSzTx/>
              <a:buFontTx/>
              <a:buNone/>
              <a:tabLst/>
              <a:defRPr/>
            </a:pPr>
            <a:r>
              <a:rPr kumimoji="0" lang="fr-FR" sz="1100" b="0" i="0" u="sng" strike="noStrike" kern="1200" cap="none" spc="0" normalizeH="0" baseline="0" noProof="0">
                <a:ln>
                  <a:noFill/>
                </a:ln>
                <a:solidFill>
                  <a:srgbClr val="003DA5"/>
                </a:solidFill>
                <a:effectLst/>
                <a:uLnTx/>
                <a:uFillTx/>
                <a:latin typeface="Calibri" panose="020F0502020204030204"/>
                <a:ea typeface="+mn-ea"/>
                <a:cs typeface="+mn-cs"/>
              </a:rPr>
              <a:t>Contenue</a:t>
            </a:r>
          </a:p>
          <a:p>
            <a:pPr marL="0" marR="0" lvl="0" indent="0" algn="ctr" defTabSz="914286" rtl="0" eaLnBrk="1" fontAlgn="auto" latinLnBrk="0" hangingPunct="1">
              <a:lnSpc>
                <a:spcPct val="100000"/>
              </a:lnSpc>
              <a:spcBef>
                <a:spcPts val="0"/>
              </a:spcBef>
              <a:spcAft>
                <a:spcPts val="0"/>
              </a:spcAft>
              <a:buClrTx/>
              <a:buSzTx/>
              <a:buFontTx/>
              <a:buNone/>
              <a:tabLst/>
              <a:defRPr/>
            </a:pPr>
            <a:r>
              <a:rPr lang="fr-FR" sz="900">
                <a:solidFill>
                  <a:srgbClr val="262626"/>
                </a:solidFill>
              </a:rPr>
              <a:t>Validation de la demande </a:t>
            </a:r>
          </a:p>
          <a:p>
            <a:pPr marL="0" marR="0" lvl="0" indent="0" algn="ctr" defTabSz="914286" rtl="0" eaLnBrk="1" fontAlgn="auto" latinLnBrk="0" hangingPunct="1">
              <a:lnSpc>
                <a:spcPct val="100000"/>
              </a:lnSpc>
              <a:spcBef>
                <a:spcPts val="0"/>
              </a:spcBef>
              <a:spcAft>
                <a:spcPts val="0"/>
              </a:spcAft>
              <a:buClrTx/>
              <a:buSzTx/>
              <a:buFontTx/>
              <a:buNone/>
              <a:tabLst/>
              <a:defRPr/>
            </a:pPr>
            <a:r>
              <a:rPr lang="fr-FR" sz="900">
                <a:solidFill>
                  <a:srgbClr val="262626"/>
                </a:solidFill>
              </a:rPr>
              <a:t>Ouverture du compte</a:t>
            </a:r>
          </a:p>
          <a:p>
            <a:pPr marL="0" marR="0" lvl="0" indent="0" algn="ctr" defTabSz="914286" rtl="0" eaLnBrk="1" fontAlgn="auto" latinLnBrk="0" hangingPunct="1">
              <a:lnSpc>
                <a:spcPct val="100000"/>
              </a:lnSpc>
              <a:spcBef>
                <a:spcPts val="0"/>
              </a:spcBef>
              <a:spcAft>
                <a:spcPts val="0"/>
              </a:spcAft>
              <a:buClrTx/>
              <a:buSzTx/>
              <a:buFontTx/>
              <a:buNone/>
              <a:tabLst/>
              <a:defRPr/>
            </a:pPr>
            <a:endParaRPr lang="fr-FR" sz="300"/>
          </a:p>
          <a:p>
            <a:pPr lvl="0" algn="ctr">
              <a:defRPr/>
            </a:pPr>
            <a:r>
              <a:rPr lang="fr-FR" sz="1100" u="sng">
                <a:solidFill>
                  <a:srgbClr val="003DA5"/>
                </a:solidFill>
              </a:rPr>
              <a:t>Acteurs</a:t>
            </a:r>
          </a:p>
          <a:p>
            <a:pPr lvl="0" algn="ctr">
              <a:defRPr/>
            </a:pPr>
            <a:r>
              <a:rPr lang="fr-FR" sz="900">
                <a:solidFill>
                  <a:srgbClr val="262626"/>
                </a:solidFill>
              </a:rPr>
              <a:t>CSP Bancaire</a:t>
            </a:r>
          </a:p>
        </p:txBody>
      </p:sp>
      <p:sp>
        <p:nvSpPr>
          <p:cNvPr id="2" name="Titre 1">
            <a:extLst>
              <a:ext uri="{FF2B5EF4-FFF2-40B4-BE49-F238E27FC236}">
                <a16:creationId xmlns:a16="http://schemas.microsoft.com/office/drawing/2014/main" id="{D7C36295-1288-1FE7-5306-302A8C723425}"/>
              </a:ext>
            </a:extLst>
          </p:cNvPr>
          <p:cNvSpPr>
            <a:spLocks noGrp="1"/>
          </p:cNvSpPr>
          <p:nvPr>
            <p:ph type="title"/>
          </p:nvPr>
        </p:nvSpPr>
        <p:spPr>
          <a:xfrm>
            <a:off x="193964" y="0"/>
            <a:ext cx="8950036" cy="381000"/>
          </a:xfrm>
          <a:solidFill>
            <a:schemeClr val="tx1"/>
          </a:solidFill>
        </p:spPr>
        <p:txBody>
          <a:bodyPr vert="horz" lIns="91440" tIns="45720" rIns="91440" bIns="45720" rtlCol="0" anchor="ctr">
            <a:noAutofit/>
          </a:bodyPr>
          <a:lstStyle/>
          <a:p>
            <a:r>
              <a:rPr lang="fr-CA" sz="2000" b="1">
                <a:solidFill>
                  <a:schemeClr val="bg1"/>
                </a:solidFill>
              </a:rPr>
              <a:t>Cycle de vie de la gestion des comptes bancaire</a:t>
            </a:r>
            <a:endParaRPr lang="fr-CA" sz="1600" b="1">
              <a:solidFill>
                <a:schemeClr val="bg1"/>
              </a:solidFill>
            </a:endParaRPr>
          </a:p>
        </p:txBody>
      </p:sp>
      <p:graphicFrame>
        <p:nvGraphicFramePr>
          <p:cNvPr id="3" name="Diagramme 2">
            <a:extLst>
              <a:ext uri="{FF2B5EF4-FFF2-40B4-BE49-F238E27FC236}">
                <a16:creationId xmlns:a16="http://schemas.microsoft.com/office/drawing/2014/main" id="{31EC3A40-A6C2-22C5-A648-6358A27B5876}"/>
              </a:ext>
            </a:extLst>
          </p:cNvPr>
          <p:cNvGraphicFramePr/>
          <p:nvPr>
            <p:extLst>
              <p:ext uri="{D42A27DB-BD31-4B8C-83A1-F6EECF244321}">
                <p14:modId xmlns:p14="http://schemas.microsoft.com/office/powerpoint/2010/main" val="2368907042"/>
              </p:ext>
            </p:extLst>
          </p:nvPr>
        </p:nvGraphicFramePr>
        <p:xfrm>
          <a:off x="403247" y="522164"/>
          <a:ext cx="8037368" cy="45246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ZoneTexte 3">
            <a:extLst>
              <a:ext uri="{FF2B5EF4-FFF2-40B4-BE49-F238E27FC236}">
                <a16:creationId xmlns:a16="http://schemas.microsoft.com/office/drawing/2014/main" id="{908043CC-BA6D-1BA0-1296-87A3297003DC}"/>
              </a:ext>
            </a:extLst>
          </p:cNvPr>
          <p:cNvSpPr txBox="1"/>
          <p:nvPr/>
        </p:nvSpPr>
        <p:spPr>
          <a:xfrm>
            <a:off x="668216" y="433752"/>
            <a:ext cx="2188688" cy="1015663"/>
          </a:xfrm>
          <a:prstGeom prst="rect">
            <a:avLst/>
          </a:prstGeom>
          <a:noFill/>
          <a:ln w="6350">
            <a:solidFill>
              <a:schemeClr val="tx1"/>
            </a:solidFill>
          </a:ln>
        </p:spPr>
        <p:txBody>
          <a:bodyPr wrap="square" rtlCol="0">
            <a:spAutoFit/>
          </a:bodyPr>
          <a:lstStyle/>
          <a:p>
            <a:pPr algn="ctr"/>
            <a:r>
              <a:rPr lang="fr-FR" sz="1100" u="sng"/>
              <a:t>Objectif :</a:t>
            </a:r>
          </a:p>
          <a:p>
            <a:pPr algn="ctr"/>
            <a:r>
              <a:rPr lang="fr-FR" sz="900">
                <a:solidFill>
                  <a:srgbClr val="262626"/>
                </a:solidFill>
              </a:rPr>
              <a:t>Définir les lignes directrices de création de comptes bancaires par institution bancaire et par service</a:t>
            </a:r>
          </a:p>
          <a:p>
            <a:pPr algn="ctr"/>
            <a:endParaRPr lang="fr-FR" sz="200"/>
          </a:p>
          <a:p>
            <a:pPr marL="0" marR="0" lvl="0" indent="0" algn="ctr" defTabSz="914286" rtl="0" eaLnBrk="1" fontAlgn="auto" latinLnBrk="0" hangingPunct="1">
              <a:lnSpc>
                <a:spcPct val="100000"/>
              </a:lnSpc>
              <a:spcBef>
                <a:spcPts val="0"/>
              </a:spcBef>
              <a:spcAft>
                <a:spcPts val="0"/>
              </a:spcAft>
              <a:buClrTx/>
              <a:buSzTx/>
              <a:buFontTx/>
              <a:buNone/>
              <a:tabLst/>
              <a:defRPr/>
            </a:pPr>
            <a:r>
              <a:rPr kumimoji="0" lang="fr-FR" sz="1100" b="0" i="0" u="sng" strike="noStrike" kern="1200" cap="none" spc="0" normalizeH="0" baseline="0" noProof="0">
                <a:ln>
                  <a:noFill/>
                </a:ln>
                <a:solidFill>
                  <a:srgbClr val="003DA5"/>
                </a:solidFill>
                <a:effectLst/>
                <a:uLnTx/>
                <a:uFillTx/>
                <a:latin typeface="Calibri" panose="020F0502020204030204"/>
                <a:ea typeface="+mn-ea"/>
                <a:cs typeface="+mn-cs"/>
              </a:rPr>
              <a:t>Acteurs :</a:t>
            </a:r>
          </a:p>
          <a:p>
            <a:pPr marL="0" marR="0" lvl="0" indent="0" algn="ctr" defTabSz="914286" rtl="0" eaLnBrk="1" fontAlgn="auto" latinLnBrk="0" hangingPunct="1">
              <a:lnSpc>
                <a:spcPct val="100000"/>
              </a:lnSpc>
              <a:spcBef>
                <a:spcPts val="0"/>
              </a:spcBef>
              <a:spcAft>
                <a:spcPts val="0"/>
              </a:spcAft>
              <a:buClrTx/>
              <a:buSzTx/>
              <a:buFontTx/>
              <a:buNone/>
              <a:tabLst/>
              <a:defRPr/>
            </a:pPr>
            <a:r>
              <a:rPr lang="fr-FR" sz="900">
                <a:solidFill>
                  <a:srgbClr val="262626"/>
                </a:solidFill>
              </a:rPr>
              <a:t>Trésorerie corporative et CSP Bancaire</a:t>
            </a:r>
          </a:p>
        </p:txBody>
      </p:sp>
      <p:sp>
        <p:nvSpPr>
          <p:cNvPr id="7" name="ZoneTexte 6">
            <a:extLst>
              <a:ext uri="{FF2B5EF4-FFF2-40B4-BE49-F238E27FC236}">
                <a16:creationId xmlns:a16="http://schemas.microsoft.com/office/drawing/2014/main" id="{ED96C63E-469F-6798-0F33-FC233DF53458}"/>
              </a:ext>
            </a:extLst>
          </p:cNvPr>
          <p:cNvSpPr txBox="1"/>
          <p:nvPr/>
        </p:nvSpPr>
        <p:spPr>
          <a:xfrm>
            <a:off x="280157" y="3158653"/>
            <a:ext cx="1495889" cy="1923604"/>
          </a:xfrm>
          <a:prstGeom prst="rect">
            <a:avLst/>
          </a:prstGeom>
          <a:noFill/>
          <a:ln w="6350">
            <a:solidFill>
              <a:schemeClr val="tx1"/>
            </a:solidFill>
          </a:ln>
        </p:spPr>
        <p:txBody>
          <a:bodyPr wrap="square" rtlCol="0">
            <a:spAutoFit/>
          </a:bodyPr>
          <a:lstStyle/>
          <a:p>
            <a:pPr marL="0" marR="0" lvl="0" indent="0" algn="ctr" defTabSz="914286" rtl="0" eaLnBrk="1" fontAlgn="auto" latinLnBrk="0" hangingPunct="1">
              <a:lnSpc>
                <a:spcPct val="100000"/>
              </a:lnSpc>
              <a:spcBef>
                <a:spcPts val="0"/>
              </a:spcBef>
              <a:spcAft>
                <a:spcPts val="0"/>
              </a:spcAft>
              <a:buClrTx/>
              <a:buSzTx/>
              <a:buFontTx/>
              <a:buNone/>
              <a:tabLst/>
              <a:defRPr/>
            </a:pPr>
            <a:r>
              <a:rPr kumimoji="0" lang="fr-FR" sz="1100" b="0" i="0" u="sng" strike="noStrike" kern="1200" cap="none" spc="0" normalizeH="0" baseline="0" noProof="0">
                <a:ln>
                  <a:noFill/>
                </a:ln>
                <a:solidFill>
                  <a:srgbClr val="003DA5"/>
                </a:solidFill>
                <a:effectLst/>
                <a:uLnTx/>
                <a:uFillTx/>
                <a:latin typeface="Calibri" panose="020F0502020204030204"/>
                <a:ea typeface="+mn-ea"/>
                <a:cs typeface="+mn-cs"/>
              </a:rPr>
              <a:t>Objectif</a:t>
            </a:r>
          </a:p>
          <a:p>
            <a:pPr marL="0" marR="0" lvl="0" indent="0" algn="ctr" defTabSz="914286"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262626"/>
                </a:solidFill>
                <a:effectLst/>
                <a:uLnTx/>
                <a:uFillTx/>
                <a:latin typeface="Calibri" panose="020F0502020204030204"/>
                <a:ea typeface="+mn-ea"/>
                <a:cs typeface="+mn-cs"/>
              </a:rPr>
              <a:t>Réviser la structure bancaire de façon annuelle ou lors des évènement</a:t>
            </a:r>
            <a:r>
              <a:rPr lang="fr-FR" sz="900">
                <a:solidFill>
                  <a:srgbClr val="262626"/>
                </a:solidFill>
                <a:latin typeface="Calibri" panose="020F0502020204030204"/>
              </a:rPr>
              <a:t>s impactant la structure bancaire</a:t>
            </a:r>
            <a:endParaRPr kumimoji="0" lang="fr-FR" sz="900" b="0" i="0" u="none" strike="noStrike" kern="1200" cap="none" spc="0" normalizeH="0" baseline="0" noProof="0">
              <a:ln>
                <a:noFill/>
              </a:ln>
              <a:solidFill>
                <a:srgbClr val="262626"/>
              </a:solidFill>
              <a:effectLst/>
              <a:uLnTx/>
              <a:uFillTx/>
              <a:latin typeface="Calibri" panose="020F0502020204030204"/>
              <a:ea typeface="+mn-ea"/>
              <a:cs typeface="+mn-cs"/>
            </a:endParaRPr>
          </a:p>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fr-FR" sz="200" b="0" i="0" u="none" strike="noStrike" kern="1200" cap="none" spc="0" normalizeH="0" baseline="0" noProof="0">
              <a:ln>
                <a:noFill/>
              </a:ln>
              <a:solidFill>
                <a:srgbClr val="003DA5"/>
              </a:solidFill>
              <a:effectLst/>
              <a:uLnTx/>
              <a:uFillTx/>
              <a:latin typeface="Calibri" panose="020F0502020204030204"/>
              <a:ea typeface="+mn-ea"/>
              <a:cs typeface="+mn-cs"/>
            </a:endParaRPr>
          </a:p>
          <a:p>
            <a:pPr marL="0" marR="0" lvl="0" indent="0" algn="ctr" defTabSz="914286" rtl="0" eaLnBrk="1" fontAlgn="auto" latinLnBrk="0" hangingPunct="1">
              <a:lnSpc>
                <a:spcPct val="100000"/>
              </a:lnSpc>
              <a:spcBef>
                <a:spcPts val="0"/>
              </a:spcBef>
              <a:spcAft>
                <a:spcPts val="0"/>
              </a:spcAft>
              <a:buClrTx/>
              <a:buSzTx/>
              <a:buFontTx/>
              <a:buNone/>
              <a:tabLst/>
              <a:defRPr/>
            </a:pPr>
            <a:r>
              <a:rPr kumimoji="0" lang="fr-FR" sz="1100" b="0" i="0" u="sng" strike="noStrike" kern="1200" cap="none" spc="0" normalizeH="0" baseline="0" noProof="0">
                <a:ln>
                  <a:noFill/>
                </a:ln>
                <a:solidFill>
                  <a:srgbClr val="003DA5"/>
                </a:solidFill>
                <a:effectLst/>
                <a:uLnTx/>
                <a:uFillTx/>
                <a:latin typeface="Calibri" panose="020F0502020204030204"/>
                <a:ea typeface="+mn-ea"/>
                <a:cs typeface="+mn-cs"/>
              </a:rPr>
              <a:t>Contenue</a:t>
            </a:r>
          </a:p>
          <a:p>
            <a:pPr marL="0" marR="0" lvl="0" indent="0" algn="ctr" defTabSz="914286"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262626"/>
                </a:solidFill>
                <a:effectLst/>
                <a:uLnTx/>
                <a:uFillTx/>
                <a:latin typeface="Calibri" panose="020F0502020204030204"/>
                <a:ea typeface="+mn-ea"/>
                <a:cs typeface="+mn-cs"/>
              </a:rPr>
              <a:t>Révision de la structure bancaire </a:t>
            </a:r>
          </a:p>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fr-FR" sz="300" b="0" i="0" u="none" strike="noStrike" kern="1200" cap="none" spc="0" normalizeH="0" baseline="0" noProof="0">
              <a:ln>
                <a:noFill/>
              </a:ln>
              <a:solidFill>
                <a:srgbClr val="003DA5"/>
              </a:solidFill>
              <a:effectLst/>
              <a:uLnTx/>
              <a:uFillTx/>
              <a:latin typeface="Calibri" panose="020F0502020204030204"/>
              <a:ea typeface="+mn-ea"/>
              <a:cs typeface="+mn-cs"/>
            </a:endParaRPr>
          </a:p>
          <a:p>
            <a:pPr marL="0" marR="0" lvl="0" indent="0" algn="ctr" defTabSz="914286" rtl="0" eaLnBrk="1" fontAlgn="auto" latinLnBrk="0" hangingPunct="1">
              <a:lnSpc>
                <a:spcPct val="100000"/>
              </a:lnSpc>
              <a:spcBef>
                <a:spcPts val="0"/>
              </a:spcBef>
              <a:spcAft>
                <a:spcPts val="0"/>
              </a:spcAft>
              <a:buClrTx/>
              <a:buSzTx/>
              <a:buFontTx/>
              <a:buNone/>
              <a:tabLst/>
              <a:defRPr/>
            </a:pPr>
            <a:r>
              <a:rPr kumimoji="0" lang="fr-FR" sz="1100" b="0" i="0" u="sng" strike="noStrike" kern="1200" cap="none" spc="0" normalizeH="0" baseline="0" noProof="0">
                <a:ln>
                  <a:noFill/>
                </a:ln>
                <a:solidFill>
                  <a:srgbClr val="003DA5"/>
                </a:solidFill>
                <a:effectLst/>
                <a:uLnTx/>
                <a:uFillTx/>
                <a:latin typeface="Calibri" panose="020F0502020204030204"/>
                <a:ea typeface="+mn-ea"/>
                <a:cs typeface="+mn-cs"/>
              </a:rPr>
              <a:t>Acteurs</a:t>
            </a:r>
          </a:p>
          <a:p>
            <a:pPr lvl="0" algn="ctr">
              <a:defRPr/>
            </a:pPr>
            <a:r>
              <a:rPr lang="fr-FR" sz="900">
                <a:solidFill>
                  <a:srgbClr val="262626"/>
                </a:solidFill>
              </a:rPr>
              <a:t>Trésorerie corporative et CSP Bancaire</a:t>
            </a:r>
          </a:p>
        </p:txBody>
      </p:sp>
      <p:sp>
        <p:nvSpPr>
          <p:cNvPr id="8" name="ZoneTexte 7">
            <a:extLst>
              <a:ext uri="{FF2B5EF4-FFF2-40B4-BE49-F238E27FC236}">
                <a16:creationId xmlns:a16="http://schemas.microsoft.com/office/drawing/2014/main" id="{6880D45C-4EB1-2B74-6EC1-82B48A7DA503}"/>
              </a:ext>
            </a:extLst>
          </p:cNvPr>
          <p:cNvSpPr txBox="1"/>
          <p:nvPr/>
        </p:nvSpPr>
        <p:spPr>
          <a:xfrm>
            <a:off x="6690946" y="3448581"/>
            <a:ext cx="2417886" cy="1646605"/>
          </a:xfrm>
          <a:prstGeom prst="rect">
            <a:avLst/>
          </a:prstGeom>
          <a:noFill/>
          <a:ln w="6350">
            <a:solidFill>
              <a:schemeClr val="tx1"/>
            </a:solidFill>
          </a:ln>
        </p:spPr>
        <p:txBody>
          <a:bodyPr wrap="square" rtlCol="0">
            <a:spAutoFit/>
          </a:bodyPr>
          <a:lstStyle/>
          <a:p>
            <a:pPr marL="0" marR="0" lvl="0" indent="0" algn="ctr" defTabSz="914286" rtl="0" eaLnBrk="1" fontAlgn="auto" latinLnBrk="0" hangingPunct="1">
              <a:lnSpc>
                <a:spcPct val="100000"/>
              </a:lnSpc>
              <a:spcBef>
                <a:spcPts val="0"/>
              </a:spcBef>
              <a:spcAft>
                <a:spcPts val="0"/>
              </a:spcAft>
              <a:buClrTx/>
              <a:buSzTx/>
              <a:buFontTx/>
              <a:buNone/>
              <a:tabLst/>
              <a:defRPr/>
            </a:pPr>
            <a:r>
              <a:rPr kumimoji="0" lang="fr-FR" sz="1100" b="0" i="0" u="sng" strike="noStrike" kern="1200" cap="none" spc="0" normalizeH="0" baseline="0" noProof="0">
                <a:ln>
                  <a:noFill/>
                </a:ln>
                <a:solidFill>
                  <a:srgbClr val="003DA5"/>
                </a:solidFill>
                <a:effectLst/>
                <a:uLnTx/>
                <a:uFillTx/>
                <a:latin typeface="Calibri" panose="020F0502020204030204"/>
                <a:ea typeface="+mn-ea"/>
                <a:cs typeface="+mn-cs"/>
              </a:rPr>
              <a:t>Objectif</a:t>
            </a:r>
          </a:p>
          <a:p>
            <a:pPr marL="0" marR="0" lvl="0" indent="0" algn="ctr" defTabSz="914286"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262626"/>
                </a:solidFill>
                <a:effectLst/>
                <a:uLnTx/>
                <a:uFillTx/>
                <a:latin typeface="Calibri" panose="020F0502020204030204"/>
                <a:ea typeface="+mn-ea"/>
                <a:cs typeface="+mn-cs"/>
              </a:rPr>
              <a:t>Opérer le cycle de vie d’un compte bancaire</a:t>
            </a:r>
          </a:p>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fr-FR" sz="200" b="0" i="0" u="none" strike="noStrike" kern="1200" cap="none" spc="0" normalizeH="0" baseline="0" noProof="0">
              <a:ln>
                <a:noFill/>
              </a:ln>
              <a:solidFill>
                <a:srgbClr val="003DA5"/>
              </a:solidFill>
              <a:effectLst/>
              <a:uLnTx/>
              <a:uFillTx/>
              <a:latin typeface="Calibri" panose="020F0502020204030204"/>
              <a:ea typeface="+mn-ea"/>
              <a:cs typeface="+mn-cs"/>
            </a:endParaRPr>
          </a:p>
          <a:p>
            <a:pPr marL="0" marR="0" lvl="0" indent="0" algn="ctr" defTabSz="914286" rtl="0" eaLnBrk="1" fontAlgn="auto" latinLnBrk="0" hangingPunct="1">
              <a:lnSpc>
                <a:spcPct val="100000"/>
              </a:lnSpc>
              <a:spcBef>
                <a:spcPts val="0"/>
              </a:spcBef>
              <a:spcAft>
                <a:spcPts val="0"/>
              </a:spcAft>
              <a:buClrTx/>
              <a:buSzTx/>
              <a:buFontTx/>
              <a:buNone/>
              <a:tabLst/>
              <a:defRPr/>
            </a:pPr>
            <a:r>
              <a:rPr kumimoji="0" lang="fr-FR" sz="1100" b="0" i="0" u="sng" strike="noStrike" kern="1200" cap="none" spc="0" normalizeH="0" baseline="0" noProof="0">
                <a:ln>
                  <a:noFill/>
                </a:ln>
                <a:solidFill>
                  <a:srgbClr val="003DA5"/>
                </a:solidFill>
                <a:effectLst/>
                <a:uLnTx/>
                <a:uFillTx/>
                <a:latin typeface="Calibri" panose="020F0502020204030204"/>
                <a:ea typeface="+mn-ea"/>
                <a:cs typeface="+mn-cs"/>
              </a:rPr>
              <a:t>Contenue</a:t>
            </a:r>
          </a:p>
          <a:p>
            <a:pPr marL="0" marR="0" lvl="0" indent="0" algn="ctr" defTabSz="914286"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262626"/>
                </a:solidFill>
                <a:effectLst/>
                <a:uLnTx/>
                <a:uFillTx/>
                <a:latin typeface="Calibri" panose="020F0502020204030204"/>
                <a:ea typeface="+mn-ea"/>
                <a:cs typeface="+mn-cs"/>
              </a:rPr>
              <a:t>Modifier un compte bancaire</a:t>
            </a:r>
          </a:p>
          <a:p>
            <a:pPr marL="0" marR="0" lvl="0" indent="0" algn="ctr" defTabSz="914286" rtl="0" eaLnBrk="1" fontAlgn="auto" latinLnBrk="0" hangingPunct="1">
              <a:lnSpc>
                <a:spcPct val="100000"/>
              </a:lnSpc>
              <a:spcBef>
                <a:spcPts val="0"/>
              </a:spcBef>
              <a:spcAft>
                <a:spcPts val="0"/>
              </a:spcAft>
              <a:buClrTx/>
              <a:buSzTx/>
              <a:buFontTx/>
              <a:buNone/>
              <a:tabLst/>
              <a:defRPr/>
            </a:pPr>
            <a:r>
              <a:rPr lang="fr-FR" sz="900">
                <a:solidFill>
                  <a:srgbClr val="262626"/>
                </a:solidFill>
                <a:latin typeface="Calibri" panose="020F0502020204030204"/>
              </a:rPr>
              <a:t>Souscrire ou fermer un service bancaire</a:t>
            </a:r>
          </a:p>
          <a:p>
            <a:pPr marL="0" marR="0" lvl="0" indent="0" algn="ctr" defTabSz="914286" rtl="0" eaLnBrk="1" fontAlgn="auto" latinLnBrk="0" hangingPunct="1">
              <a:lnSpc>
                <a:spcPct val="100000"/>
              </a:lnSpc>
              <a:spcBef>
                <a:spcPts val="0"/>
              </a:spcBef>
              <a:spcAft>
                <a:spcPts val="0"/>
              </a:spcAft>
              <a:buClrTx/>
              <a:buSzTx/>
              <a:buFontTx/>
              <a:buNone/>
              <a:tabLst/>
              <a:defRPr/>
            </a:pPr>
            <a:r>
              <a:rPr lang="fr-FR" sz="900">
                <a:solidFill>
                  <a:srgbClr val="262626"/>
                </a:solidFill>
                <a:latin typeface="Calibri" panose="020F0502020204030204"/>
              </a:rPr>
              <a:t>Échanger avec les banques</a:t>
            </a:r>
          </a:p>
          <a:p>
            <a:pPr marL="0" marR="0" lvl="0" indent="0" algn="ctr" defTabSz="914286"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262626"/>
                </a:solidFill>
                <a:effectLst/>
                <a:uLnTx/>
                <a:uFillTx/>
                <a:latin typeface="Calibri" panose="020F0502020204030204"/>
                <a:ea typeface="+mn-ea"/>
                <a:cs typeface="+mn-cs"/>
              </a:rPr>
              <a:t>Gestion des signataires</a:t>
            </a:r>
          </a:p>
          <a:p>
            <a:pPr marL="0" marR="0" lvl="0" indent="0" algn="ctr" defTabSz="914286" rtl="0" eaLnBrk="1" fontAlgn="auto" latinLnBrk="0" hangingPunct="1">
              <a:lnSpc>
                <a:spcPct val="100000"/>
              </a:lnSpc>
              <a:spcBef>
                <a:spcPts val="0"/>
              </a:spcBef>
              <a:spcAft>
                <a:spcPts val="0"/>
              </a:spcAft>
              <a:buClrTx/>
              <a:buSzTx/>
              <a:buFontTx/>
              <a:buNone/>
              <a:tabLst/>
              <a:defRPr/>
            </a:pPr>
            <a:r>
              <a:rPr lang="fr-FR" sz="900">
                <a:solidFill>
                  <a:srgbClr val="262626"/>
                </a:solidFill>
                <a:latin typeface="Calibri" panose="020F0502020204030204"/>
              </a:rPr>
              <a:t>Gestion des plateformes bancaire</a:t>
            </a:r>
            <a:endParaRPr kumimoji="0" lang="fr-FR" sz="900" b="0" i="0" u="none" strike="noStrike" kern="1200" cap="none" spc="0" normalizeH="0" baseline="0" noProof="0">
              <a:ln>
                <a:noFill/>
              </a:ln>
              <a:solidFill>
                <a:srgbClr val="262626"/>
              </a:solidFill>
              <a:effectLst/>
              <a:uLnTx/>
              <a:uFillTx/>
              <a:latin typeface="Calibri" panose="020F0502020204030204"/>
              <a:ea typeface="+mn-ea"/>
              <a:cs typeface="+mn-cs"/>
            </a:endParaRPr>
          </a:p>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fr-FR" sz="300" b="0" i="0" u="none" strike="noStrike" kern="1200" cap="none" spc="0" normalizeH="0" baseline="0" noProof="0">
              <a:ln>
                <a:noFill/>
              </a:ln>
              <a:solidFill>
                <a:srgbClr val="003DA5"/>
              </a:solidFill>
              <a:effectLst/>
              <a:uLnTx/>
              <a:uFillTx/>
              <a:latin typeface="Calibri" panose="020F0502020204030204"/>
              <a:ea typeface="+mn-ea"/>
              <a:cs typeface="+mn-cs"/>
            </a:endParaRPr>
          </a:p>
          <a:p>
            <a:pPr marL="0" marR="0" lvl="0" indent="0" algn="ctr" defTabSz="914286" rtl="0" eaLnBrk="1" fontAlgn="auto" latinLnBrk="0" hangingPunct="1">
              <a:lnSpc>
                <a:spcPct val="100000"/>
              </a:lnSpc>
              <a:spcBef>
                <a:spcPts val="0"/>
              </a:spcBef>
              <a:spcAft>
                <a:spcPts val="0"/>
              </a:spcAft>
              <a:buClrTx/>
              <a:buSzTx/>
              <a:buFontTx/>
              <a:buNone/>
              <a:tabLst/>
              <a:defRPr/>
            </a:pPr>
            <a:r>
              <a:rPr kumimoji="0" lang="fr-FR" sz="1100" b="0" i="0" u="sng" strike="noStrike" kern="1200" cap="none" spc="0" normalizeH="0" baseline="0" noProof="0">
                <a:ln>
                  <a:noFill/>
                </a:ln>
                <a:solidFill>
                  <a:srgbClr val="003DA5"/>
                </a:solidFill>
                <a:effectLst/>
                <a:uLnTx/>
                <a:uFillTx/>
                <a:latin typeface="Calibri" panose="020F0502020204030204"/>
                <a:ea typeface="+mn-ea"/>
                <a:cs typeface="+mn-cs"/>
              </a:rPr>
              <a:t>Acteurs</a:t>
            </a:r>
          </a:p>
          <a:p>
            <a:pPr marL="0" marR="0" lvl="0" indent="0" algn="ctr" defTabSz="914286"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262626"/>
                </a:solidFill>
                <a:effectLst/>
                <a:uLnTx/>
                <a:uFillTx/>
                <a:latin typeface="Calibri" panose="020F0502020204030204"/>
                <a:ea typeface="+mn-ea"/>
                <a:cs typeface="+mn-cs"/>
              </a:rPr>
              <a:t>CSP Bancaire</a:t>
            </a:r>
          </a:p>
        </p:txBody>
      </p:sp>
      <p:cxnSp>
        <p:nvCxnSpPr>
          <p:cNvPr id="9" name="Connecteur droit 8">
            <a:extLst>
              <a:ext uri="{FF2B5EF4-FFF2-40B4-BE49-F238E27FC236}">
                <a16:creationId xmlns:a16="http://schemas.microsoft.com/office/drawing/2014/main" id="{9C165A80-03CC-66A3-76E0-2F21ADACA77E}"/>
              </a:ext>
            </a:extLst>
          </p:cNvPr>
          <p:cNvCxnSpPr>
            <a:cxnSpLocks/>
            <a:stCxn id="7" idx="3"/>
          </p:cNvCxnSpPr>
          <p:nvPr/>
        </p:nvCxnSpPr>
        <p:spPr>
          <a:xfrm flipV="1">
            <a:off x="1776046" y="3991708"/>
            <a:ext cx="193431" cy="128747"/>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Connecteur droit 11">
            <a:extLst>
              <a:ext uri="{FF2B5EF4-FFF2-40B4-BE49-F238E27FC236}">
                <a16:creationId xmlns:a16="http://schemas.microsoft.com/office/drawing/2014/main" id="{630905A2-413C-9EAF-0F0E-B9C060383F7D}"/>
              </a:ext>
            </a:extLst>
          </p:cNvPr>
          <p:cNvCxnSpPr>
            <a:cxnSpLocks/>
            <a:endCxn id="4" idx="3"/>
          </p:cNvCxnSpPr>
          <p:nvPr/>
        </p:nvCxnSpPr>
        <p:spPr>
          <a:xfrm flipH="1" flipV="1">
            <a:off x="2856904" y="941584"/>
            <a:ext cx="756734" cy="13987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Connecteur droit 16">
            <a:extLst>
              <a:ext uri="{FF2B5EF4-FFF2-40B4-BE49-F238E27FC236}">
                <a16:creationId xmlns:a16="http://schemas.microsoft.com/office/drawing/2014/main" id="{9D2550F9-65D8-DD41-F3BD-128C83126698}"/>
              </a:ext>
            </a:extLst>
          </p:cNvPr>
          <p:cNvCxnSpPr>
            <a:cxnSpLocks/>
          </p:cNvCxnSpPr>
          <p:nvPr/>
        </p:nvCxnSpPr>
        <p:spPr>
          <a:xfrm flipV="1">
            <a:off x="6690946" y="1318846"/>
            <a:ext cx="949569" cy="413239"/>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Connecteur droit 20">
            <a:extLst>
              <a:ext uri="{FF2B5EF4-FFF2-40B4-BE49-F238E27FC236}">
                <a16:creationId xmlns:a16="http://schemas.microsoft.com/office/drawing/2014/main" id="{4C704D53-0AD8-2D72-FE37-870DF1E9F4EC}"/>
              </a:ext>
            </a:extLst>
          </p:cNvPr>
          <p:cNvCxnSpPr>
            <a:cxnSpLocks/>
            <a:endCxn id="8" idx="1"/>
          </p:cNvCxnSpPr>
          <p:nvPr/>
        </p:nvCxnSpPr>
        <p:spPr>
          <a:xfrm>
            <a:off x="6444762" y="4202634"/>
            <a:ext cx="246184" cy="11221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814553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D7E42-6EFA-E3FD-4BA4-4EBCCB49025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0F047F2-5A2F-859F-3262-361E4CFB06D9}"/>
              </a:ext>
            </a:extLst>
          </p:cNvPr>
          <p:cNvSpPr>
            <a:spLocks noGrp="1"/>
          </p:cNvSpPr>
          <p:nvPr>
            <p:ph type="title"/>
          </p:nvPr>
        </p:nvSpPr>
        <p:spPr>
          <a:xfrm>
            <a:off x="193964" y="0"/>
            <a:ext cx="8950036" cy="381000"/>
          </a:xfrm>
          <a:solidFill>
            <a:schemeClr val="tx1"/>
          </a:solidFill>
        </p:spPr>
        <p:txBody>
          <a:bodyPr vert="horz" lIns="91440" tIns="45720" rIns="91440" bIns="45720" rtlCol="0" anchor="ctr">
            <a:noAutofit/>
          </a:bodyPr>
          <a:lstStyle/>
          <a:p>
            <a:r>
              <a:rPr lang="fr-CA" sz="2000" b="1">
                <a:solidFill>
                  <a:schemeClr val="bg1"/>
                </a:solidFill>
              </a:rPr>
              <a:t>Cycle de vie de la gestion des frais bancaires</a:t>
            </a:r>
            <a:endParaRPr lang="fr-CA" sz="1600" b="1">
              <a:solidFill>
                <a:schemeClr val="bg1"/>
              </a:solidFill>
            </a:endParaRPr>
          </a:p>
        </p:txBody>
      </p:sp>
      <p:graphicFrame>
        <p:nvGraphicFramePr>
          <p:cNvPr id="6" name="Diagramme 5">
            <a:extLst>
              <a:ext uri="{FF2B5EF4-FFF2-40B4-BE49-F238E27FC236}">
                <a16:creationId xmlns:a16="http://schemas.microsoft.com/office/drawing/2014/main" id="{4B30F723-09F9-590F-EDF7-B460EC6C5D40}"/>
              </a:ext>
            </a:extLst>
          </p:cNvPr>
          <p:cNvGraphicFramePr/>
          <p:nvPr>
            <p:extLst>
              <p:ext uri="{D42A27DB-BD31-4B8C-83A1-F6EECF244321}">
                <p14:modId xmlns:p14="http://schemas.microsoft.com/office/powerpoint/2010/main" val="298454108"/>
              </p:ext>
            </p:extLst>
          </p:nvPr>
        </p:nvGraphicFramePr>
        <p:xfrm>
          <a:off x="869837" y="457198"/>
          <a:ext cx="7193307" cy="345537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ZoneTexte 6">
            <a:extLst>
              <a:ext uri="{FF2B5EF4-FFF2-40B4-BE49-F238E27FC236}">
                <a16:creationId xmlns:a16="http://schemas.microsoft.com/office/drawing/2014/main" id="{9C4DB5DB-2559-A9E3-8BC5-0B67F40E4FAB}"/>
              </a:ext>
            </a:extLst>
          </p:cNvPr>
          <p:cNvSpPr txBox="1"/>
          <p:nvPr/>
        </p:nvSpPr>
        <p:spPr>
          <a:xfrm>
            <a:off x="6163408" y="381000"/>
            <a:ext cx="2277207" cy="1231106"/>
          </a:xfrm>
          <a:prstGeom prst="rect">
            <a:avLst/>
          </a:prstGeom>
          <a:noFill/>
          <a:ln w="6350">
            <a:solidFill>
              <a:schemeClr val="tx1"/>
            </a:solidFill>
          </a:ln>
        </p:spPr>
        <p:txBody>
          <a:bodyPr wrap="square" rtlCol="0">
            <a:spAutoFit/>
          </a:bodyPr>
          <a:lstStyle/>
          <a:p>
            <a:pPr algn="ctr"/>
            <a:r>
              <a:rPr lang="fr-FR" sz="1100" u="sng"/>
              <a:t>Objectif</a:t>
            </a:r>
          </a:p>
          <a:p>
            <a:pPr algn="ctr"/>
            <a:r>
              <a:rPr lang="fr-FR" sz="900">
                <a:solidFill>
                  <a:srgbClr val="262626"/>
                </a:solidFill>
              </a:rPr>
              <a:t>Définir les lignes directive des frais bancaires pour la prochaine année</a:t>
            </a:r>
          </a:p>
          <a:p>
            <a:pPr algn="ctr"/>
            <a:endParaRPr lang="fr-FR" sz="200"/>
          </a:p>
          <a:p>
            <a:pPr marL="0" marR="0" lvl="0" indent="0" algn="ctr" defTabSz="914286" rtl="0" eaLnBrk="1" fontAlgn="auto" latinLnBrk="0" hangingPunct="1">
              <a:lnSpc>
                <a:spcPct val="100000"/>
              </a:lnSpc>
              <a:spcBef>
                <a:spcPts val="0"/>
              </a:spcBef>
              <a:spcAft>
                <a:spcPts val="0"/>
              </a:spcAft>
              <a:buClrTx/>
              <a:buSzTx/>
              <a:buFontTx/>
              <a:buNone/>
              <a:tabLst/>
              <a:defRPr/>
            </a:pPr>
            <a:r>
              <a:rPr kumimoji="0" lang="fr-FR" sz="1100" b="0" i="0" u="sng" strike="noStrike" kern="1200" cap="none" spc="0" normalizeH="0" baseline="0" noProof="0">
                <a:ln>
                  <a:noFill/>
                </a:ln>
                <a:solidFill>
                  <a:srgbClr val="003DA5"/>
                </a:solidFill>
                <a:effectLst/>
                <a:uLnTx/>
                <a:uFillTx/>
                <a:latin typeface="Calibri" panose="020F0502020204030204"/>
                <a:ea typeface="+mn-ea"/>
                <a:cs typeface="+mn-cs"/>
              </a:rPr>
              <a:t>Contenue</a:t>
            </a:r>
          </a:p>
          <a:p>
            <a:pPr marL="0" marR="0" lvl="0" indent="0" algn="ctr" defTabSz="914286" rtl="0" eaLnBrk="1" fontAlgn="auto" latinLnBrk="0" hangingPunct="1">
              <a:lnSpc>
                <a:spcPct val="100000"/>
              </a:lnSpc>
              <a:spcBef>
                <a:spcPts val="0"/>
              </a:spcBef>
              <a:spcAft>
                <a:spcPts val="0"/>
              </a:spcAft>
              <a:buClrTx/>
              <a:buSzTx/>
              <a:buFontTx/>
              <a:buNone/>
              <a:tabLst/>
              <a:defRPr/>
            </a:pPr>
            <a:r>
              <a:rPr lang="fr-FR" sz="900">
                <a:solidFill>
                  <a:srgbClr val="262626"/>
                </a:solidFill>
              </a:rPr>
              <a:t>Révision de la stratégie de frais bancaire</a:t>
            </a:r>
          </a:p>
          <a:p>
            <a:pPr marL="0" marR="0" lvl="0" indent="0" algn="ctr" defTabSz="914286" rtl="0" eaLnBrk="1" fontAlgn="auto" latinLnBrk="0" hangingPunct="1">
              <a:lnSpc>
                <a:spcPct val="100000"/>
              </a:lnSpc>
              <a:spcBef>
                <a:spcPts val="0"/>
              </a:spcBef>
              <a:spcAft>
                <a:spcPts val="0"/>
              </a:spcAft>
              <a:buClrTx/>
              <a:buSzTx/>
              <a:buFontTx/>
              <a:buNone/>
              <a:tabLst/>
              <a:defRPr/>
            </a:pPr>
            <a:endParaRPr lang="fr-FR" sz="300"/>
          </a:p>
          <a:p>
            <a:pPr lvl="0" algn="ctr">
              <a:defRPr/>
            </a:pPr>
            <a:r>
              <a:rPr lang="fr-FR" sz="1100" u="sng">
                <a:solidFill>
                  <a:srgbClr val="003DA5"/>
                </a:solidFill>
              </a:rPr>
              <a:t>Acteurs</a:t>
            </a:r>
          </a:p>
          <a:p>
            <a:pPr lvl="0" algn="ctr">
              <a:defRPr/>
            </a:pPr>
            <a:r>
              <a:rPr lang="fr-FR" sz="900">
                <a:solidFill>
                  <a:srgbClr val="262626"/>
                </a:solidFill>
              </a:rPr>
              <a:t>Trésorerie corporative, CSP Bancaire</a:t>
            </a:r>
          </a:p>
        </p:txBody>
      </p:sp>
      <p:sp>
        <p:nvSpPr>
          <p:cNvPr id="8" name="ZoneTexte 7">
            <a:extLst>
              <a:ext uri="{FF2B5EF4-FFF2-40B4-BE49-F238E27FC236}">
                <a16:creationId xmlns:a16="http://schemas.microsoft.com/office/drawing/2014/main" id="{5CA184C8-E547-1EE5-EF36-52E4B9AF92E2}"/>
              </a:ext>
            </a:extLst>
          </p:cNvPr>
          <p:cNvSpPr txBox="1"/>
          <p:nvPr/>
        </p:nvSpPr>
        <p:spPr>
          <a:xfrm>
            <a:off x="6954715" y="2957722"/>
            <a:ext cx="2145325" cy="2062103"/>
          </a:xfrm>
          <a:prstGeom prst="rect">
            <a:avLst/>
          </a:prstGeom>
          <a:noFill/>
          <a:ln w="6350">
            <a:solidFill>
              <a:schemeClr val="tx1"/>
            </a:solidFill>
          </a:ln>
        </p:spPr>
        <p:txBody>
          <a:bodyPr wrap="square" rtlCol="0">
            <a:spAutoFit/>
          </a:bodyPr>
          <a:lstStyle/>
          <a:p>
            <a:pPr algn="ctr"/>
            <a:r>
              <a:rPr lang="fr-FR" sz="1100" u="sng"/>
              <a:t>Objectif</a:t>
            </a:r>
          </a:p>
          <a:p>
            <a:pPr algn="ctr"/>
            <a:r>
              <a:rPr lang="fr-FR" sz="900">
                <a:solidFill>
                  <a:srgbClr val="262626"/>
                </a:solidFill>
              </a:rPr>
              <a:t>Analyser et superviser l’évolution des frais bancaire </a:t>
            </a:r>
          </a:p>
          <a:p>
            <a:pPr algn="ctr"/>
            <a:r>
              <a:rPr lang="fr-FR" sz="900">
                <a:solidFill>
                  <a:srgbClr val="262626"/>
                </a:solidFill>
              </a:rPr>
              <a:t>S’assurer de l’application des ententes bancaires</a:t>
            </a:r>
          </a:p>
          <a:p>
            <a:pPr algn="ctr"/>
            <a:r>
              <a:rPr lang="fr-FR" sz="900">
                <a:solidFill>
                  <a:srgbClr val="262626"/>
                </a:solidFill>
              </a:rPr>
              <a:t> S’assurer que tous les partenaires profitent des tarifs corporatifs</a:t>
            </a:r>
          </a:p>
          <a:p>
            <a:pPr algn="ctr"/>
            <a:endParaRPr lang="fr-FR" sz="200"/>
          </a:p>
          <a:p>
            <a:pPr marL="0" marR="0" lvl="0" indent="0" algn="ctr" defTabSz="914286" rtl="0" eaLnBrk="1" fontAlgn="auto" latinLnBrk="0" hangingPunct="1">
              <a:lnSpc>
                <a:spcPct val="100000"/>
              </a:lnSpc>
              <a:spcBef>
                <a:spcPts val="0"/>
              </a:spcBef>
              <a:spcAft>
                <a:spcPts val="0"/>
              </a:spcAft>
              <a:buClrTx/>
              <a:buSzTx/>
              <a:buFontTx/>
              <a:buNone/>
              <a:tabLst/>
              <a:defRPr/>
            </a:pPr>
            <a:r>
              <a:rPr kumimoji="0" lang="fr-FR" sz="1100" b="0" i="0" u="sng" strike="noStrike" kern="1200" cap="none" spc="0" normalizeH="0" baseline="0" noProof="0">
                <a:ln>
                  <a:noFill/>
                </a:ln>
                <a:solidFill>
                  <a:srgbClr val="003DA5"/>
                </a:solidFill>
                <a:effectLst/>
                <a:uLnTx/>
                <a:uFillTx/>
                <a:latin typeface="Calibri" panose="020F0502020204030204"/>
                <a:ea typeface="+mn-ea"/>
                <a:cs typeface="+mn-cs"/>
              </a:rPr>
              <a:t>Contenue</a:t>
            </a:r>
          </a:p>
          <a:p>
            <a:pPr marL="0" marR="0" lvl="0" indent="0" algn="ctr" defTabSz="914286" rtl="0" eaLnBrk="1" fontAlgn="auto" latinLnBrk="0" hangingPunct="1">
              <a:lnSpc>
                <a:spcPct val="100000"/>
              </a:lnSpc>
              <a:spcBef>
                <a:spcPts val="0"/>
              </a:spcBef>
              <a:spcAft>
                <a:spcPts val="0"/>
              </a:spcAft>
              <a:buClrTx/>
              <a:buSzTx/>
              <a:buFontTx/>
              <a:buNone/>
              <a:tabLst/>
              <a:defRPr/>
            </a:pPr>
            <a:r>
              <a:rPr lang="fr-FR" sz="900">
                <a:solidFill>
                  <a:srgbClr val="262626"/>
                </a:solidFill>
              </a:rPr>
              <a:t>Analyser les frais facturés</a:t>
            </a:r>
          </a:p>
          <a:p>
            <a:pPr marL="0" marR="0" lvl="0" indent="0" algn="ctr" defTabSz="914286" rtl="0" eaLnBrk="1" fontAlgn="auto" latinLnBrk="0" hangingPunct="1">
              <a:lnSpc>
                <a:spcPct val="100000"/>
              </a:lnSpc>
              <a:spcBef>
                <a:spcPts val="0"/>
              </a:spcBef>
              <a:spcAft>
                <a:spcPts val="0"/>
              </a:spcAft>
              <a:buClrTx/>
              <a:buSzTx/>
              <a:buFontTx/>
              <a:buNone/>
              <a:tabLst/>
              <a:defRPr/>
            </a:pPr>
            <a:r>
              <a:rPr lang="fr-FR" sz="900">
                <a:solidFill>
                  <a:srgbClr val="262626"/>
                </a:solidFill>
              </a:rPr>
              <a:t>Analyse comparatif inter-banque</a:t>
            </a:r>
          </a:p>
          <a:p>
            <a:pPr marL="0" marR="0" lvl="0" indent="0" algn="ctr" defTabSz="914286" rtl="0" eaLnBrk="1" fontAlgn="auto" latinLnBrk="0" hangingPunct="1">
              <a:lnSpc>
                <a:spcPct val="100000"/>
              </a:lnSpc>
              <a:spcBef>
                <a:spcPts val="0"/>
              </a:spcBef>
              <a:spcAft>
                <a:spcPts val="0"/>
              </a:spcAft>
              <a:buClrTx/>
              <a:buSzTx/>
              <a:buFontTx/>
              <a:buNone/>
              <a:tabLst/>
              <a:defRPr/>
            </a:pPr>
            <a:r>
              <a:rPr lang="fr-FR" sz="900">
                <a:solidFill>
                  <a:srgbClr val="262626"/>
                </a:solidFill>
              </a:rPr>
              <a:t>Analyse de l’évolution des frais</a:t>
            </a:r>
          </a:p>
          <a:p>
            <a:pPr marL="0" marR="0" lvl="0" indent="0" algn="ctr" defTabSz="914286" rtl="0" eaLnBrk="1" fontAlgn="auto" latinLnBrk="0" hangingPunct="1">
              <a:lnSpc>
                <a:spcPct val="100000"/>
              </a:lnSpc>
              <a:spcBef>
                <a:spcPts val="0"/>
              </a:spcBef>
              <a:spcAft>
                <a:spcPts val="0"/>
              </a:spcAft>
              <a:buClrTx/>
              <a:buSzTx/>
              <a:buFontTx/>
              <a:buNone/>
              <a:tabLst/>
              <a:defRPr/>
            </a:pPr>
            <a:endParaRPr lang="fr-FR" sz="300"/>
          </a:p>
          <a:p>
            <a:pPr lvl="0" algn="ctr">
              <a:defRPr/>
            </a:pPr>
            <a:r>
              <a:rPr lang="fr-FR" sz="1100" u="sng">
                <a:solidFill>
                  <a:srgbClr val="003DA5"/>
                </a:solidFill>
              </a:rPr>
              <a:t>Acteurs</a:t>
            </a:r>
          </a:p>
          <a:p>
            <a:pPr lvl="0" algn="ctr">
              <a:defRPr/>
            </a:pPr>
            <a:r>
              <a:rPr lang="fr-FR" sz="900">
                <a:solidFill>
                  <a:srgbClr val="262626"/>
                </a:solidFill>
              </a:rPr>
              <a:t>Trésorerie corporative, CSP Bancaire</a:t>
            </a:r>
          </a:p>
        </p:txBody>
      </p:sp>
      <p:sp>
        <p:nvSpPr>
          <p:cNvPr id="9" name="ZoneTexte 8">
            <a:extLst>
              <a:ext uri="{FF2B5EF4-FFF2-40B4-BE49-F238E27FC236}">
                <a16:creationId xmlns:a16="http://schemas.microsoft.com/office/drawing/2014/main" id="{21EE74F8-1F96-C76E-B5CC-CAA43B0D1A34}"/>
              </a:ext>
            </a:extLst>
          </p:cNvPr>
          <p:cNvSpPr txBox="1"/>
          <p:nvPr/>
        </p:nvSpPr>
        <p:spPr>
          <a:xfrm>
            <a:off x="284286" y="407621"/>
            <a:ext cx="1799491" cy="1646605"/>
          </a:xfrm>
          <a:prstGeom prst="rect">
            <a:avLst/>
          </a:prstGeom>
          <a:noFill/>
          <a:ln w="6350">
            <a:solidFill>
              <a:schemeClr val="tx1"/>
            </a:solidFill>
          </a:ln>
        </p:spPr>
        <p:txBody>
          <a:bodyPr wrap="square" rtlCol="0">
            <a:spAutoFit/>
          </a:bodyPr>
          <a:lstStyle/>
          <a:p>
            <a:pPr algn="ctr"/>
            <a:r>
              <a:rPr lang="fr-FR" sz="1100" u="sng"/>
              <a:t>Objectif</a:t>
            </a:r>
          </a:p>
          <a:p>
            <a:pPr algn="ctr"/>
            <a:r>
              <a:rPr lang="fr-FR" sz="900">
                <a:solidFill>
                  <a:srgbClr val="262626"/>
                </a:solidFill>
              </a:rPr>
              <a:t>S’assurer d’avoir toujours les meilleures ententes corporatives avec les fournisseurs bancaires</a:t>
            </a:r>
          </a:p>
          <a:p>
            <a:pPr algn="ctr"/>
            <a:endParaRPr lang="fr-FR" sz="200"/>
          </a:p>
          <a:p>
            <a:pPr marL="0" marR="0" lvl="0" indent="0" algn="ctr" defTabSz="914286" rtl="0" eaLnBrk="1" fontAlgn="auto" latinLnBrk="0" hangingPunct="1">
              <a:lnSpc>
                <a:spcPct val="100000"/>
              </a:lnSpc>
              <a:spcBef>
                <a:spcPts val="0"/>
              </a:spcBef>
              <a:spcAft>
                <a:spcPts val="0"/>
              </a:spcAft>
              <a:buClrTx/>
              <a:buSzTx/>
              <a:buFontTx/>
              <a:buNone/>
              <a:tabLst/>
              <a:defRPr/>
            </a:pPr>
            <a:r>
              <a:rPr kumimoji="0" lang="fr-FR" sz="1100" b="0" i="0" u="sng" strike="noStrike" kern="1200" cap="none" spc="0" normalizeH="0" baseline="0" noProof="0">
                <a:ln>
                  <a:noFill/>
                </a:ln>
                <a:solidFill>
                  <a:srgbClr val="003DA5"/>
                </a:solidFill>
                <a:effectLst/>
                <a:uLnTx/>
                <a:uFillTx/>
                <a:latin typeface="Calibri" panose="020F0502020204030204"/>
                <a:ea typeface="+mn-ea"/>
                <a:cs typeface="+mn-cs"/>
              </a:rPr>
              <a:t>Contenue</a:t>
            </a:r>
          </a:p>
          <a:p>
            <a:pPr marL="0" marR="0" lvl="0" indent="0" algn="ctr" defTabSz="914286" rtl="0" eaLnBrk="1" fontAlgn="auto" latinLnBrk="0" hangingPunct="1">
              <a:lnSpc>
                <a:spcPct val="100000"/>
              </a:lnSpc>
              <a:spcBef>
                <a:spcPts val="0"/>
              </a:spcBef>
              <a:spcAft>
                <a:spcPts val="0"/>
              </a:spcAft>
              <a:buClrTx/>
              <a:buSzTx/>
              <a:buFontTx/>
              <a:buNone/>
              <a:tabLst/>
              <a:defRPr/>
            </a:pPr>
            <a:r>
              <a:rPr lang="fr-FR" sz="900">
                <a:solidFill>
                  <a:srgbClr val="262626"/>
                </a:solidFill>
              </a:rPr>
              <a:t>Analyser les frais facturés</a:t>
            </a:r>
          </a:p>
          <a:p>
            <a:pPr marL="0" marR="0" lvl="0" indent="0" algn="ctr" defTabSz="914286" rtl="0" eaLnBrk="1" fontAlgn="auto" latinLnBrk="0" hangingPunct="1">
              <a:lnSpc>
                <a:spcPct val="100000"/>
              </a:lnSpc>
              <a:spcBef>
                <a:spcPts val="0"/>
              </a:spcBef>
              <a:spcAft>
                <a:spcPts val="0"/>
              </a:spcAft>
              <a:buClrTx/>
              <a:buSzTx/>
              <a:buFontTx/>
              <a:buNone/>
              <a:tabLst/>
              <a:defRPr/>
            </a:pPr>
            <a:r>
              <a:rPr lang="fr-FR" sz="900">
                <a:solidFill>
                  <a:srgbClr val="262626"/>
                </a:solidFill>
              </a:rPr>
              <a:t>Analyse comparatif inter-banque</a:t>
            </a:r>
          </a:p>
          <a:p>
            <a:pPr marL="0" marR="0" lvl="0" indent="0" algn="ctr" defTabSz="914286" rtl="0" eaLnBrk="1" fontAlgn="auto" latinLnBrk="0" hangingPunct="1">
              <a:lnSpc>
                <a:spcPct val="100000"/>
              </a:lnSpc>
              <a:spcBef>
                <a:spcPts val="0"/>
              </a:spcBef>
              <a:spcAft>
                <a:spcPts val="0"/>
              </a:spcAft>
              <a:buClrTx/>
              <a:buSzTx/>
              <a:buFontTx/>
              <a:buNone/>
              <a:tabLst/>
              <a:defRPr/>
            </a:pPr>
            <a:r>
              <a:rPr lang="fr-FR" sz="900">
                <a:solidFill>
                  <a:srgbClr val="262626"/>
                </a:solidFill>
              </a:rPr>
              <a:t>Analyse de l’évolution des frais</a:t>
            </a:r>
          </a:p>
          <a:p>
            <a:pPr marL="0" marR="0" lvl="0" indent="0" algn="ctr" defTabSz="914286" rtl="0" eaLnBrk="1" fontAlgn="auto" latinLnBrk="0" hangingPunct="1">
              <a:lnSpc>
                <a:spcPct val="100000"/>
              </a:lnSpc>
              <a:spcBef>
                <a:spcPts val="0"/>
              </a:spcBef>
              <a:spcAft>
                <a:spcPts val="0"/>
              </a:spcAft>
              <a:buClrTx/>
              <a:buSzTx/>
              <a:buFontTx/>
              <a:buNone/>
              <a:tabLst/>
              <a:defRPr/>
            </a:pPr>
            <a:endParaRPr lang="fr-FR" sz="300"/>
          </a:p>
          <a:p>
            <a:pPr lvl="0" algn="ctr">
              <a:defRPr/>
            </a:pPr>
            <a:r>
              <a:rPr lang="fr-FR" sz="1100" u="sng">
                <a:solidFill>
                  <a:srgbClr val="003DA5"/>
                </a:solidFill>
              </a:rPr>
              <a:t>Acteurs</a:t>
            </a:r>
          </a:p>
          <a:p>
            <a:pPr lvl="0" algn="ctr">
              <a:defRPr/>
            </a:pPr>
            <a:r>
              <a:rPr lang="fr-FR" sz="900">
                <a:solidFill>
                  <a:srgbClr val="262626"/>
                </a:solidFill>
              </a:rPr>
              <a:t>Trésorerie corporative</a:t>
            </a:r>
          </a:p>
        </p:txBody>
      </p:sp>
      <p:cxnSp>
        <p:nvCxnSpPr>
          <p:cNvPr id="11" name="Connecteur droit 10">
            <a:extLst>
              <a:ext uri="{FF2B5EF4-FFF2-40B4-BE49-F238E27FC236}">
                <a16:creationId xmlns:a16="http://schemas.microsoft.com/office/drawing/2014/main" id="{FE8454FF-F797-1E8C-3DB5-DEC902280C2A}"/>
              </a:ext>
            </a:extLst>
          </p:cNvPr>
          <p:cNvCxnSpPr>
            <a:cxnSpLocks/>
            <a:stCxn id="9" idx="2"/>
          </p:cNvCxnSpPr>
          <p:nvPr/>
        </p:nvCxnSpPr>
        <p:spPr>
          <a:xfrm>
            <a:off x="1184032" y="2054226"/>
            <a:ext cx="899745" cy="631204"/>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Connecteur droit 12">
            <a:extLst>
              <a:ext uri="{FF2B5EF4-FFF2-40B4-BE49-F238E27FC236}">
                <a16:creationId xmlns:a16="http://schemas.microsoft.com/office/drawing/2014/main" id="{DFEB2FC9-B0E1-2A7C-EEDE-190A204406F4}"/>
              </a:ext>
            </a:extLst>
          </p:cNvPr>
          <p:cNvCxnSpPr>
            <a:cxnSpLocks/>
            <a:endCxn id="7" idx="1"/>
          </p:cNvCxnSpPr>
          <p:nvPr/>
        </p:nvCxnSpPr>
        <p:spPr>
          <a:xfrm>
            <a:off x="5249008" y="881762"/>
            <a:ext cx="914400" cy="114791"/>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Connecteur droit 15">
            <a:extLst>
              <a:ext uri="{FF2B5EF4-FFF2-40B4-BE49-F238E27FC236}">
                <a16:creationId xmlns:a16="http://schemas.microsoft.com/office/drawing/2014/main" id="{AD134957-E4C0-6A48-AE7E-6CDA270BC409}"/>
              </a:ext>
            </a:extLst>
          </p:cNvPr>
          <p:cNvCxnSpPr>
            <a:cxnSpLocks/>
          </p:cNvCxnSpPr>
          <p:nvPr/>
        </p:nvCxnSpPr>
        <p:spPr>
          <a:xfrm>
            <a:off x="6022731" y="3912576"/>
            <a:ext cx="931984" cy="372959"/>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442073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895DB-B886-065E-E1BC-4D529BB5894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2760CA8-8BC3-9E3E-30A3-5B38C0749DD7}"/>
              </a:ext>
            </a:extLst>
          </p:cNvPr>
          <p:cNvSpPr>
            <a:spLocks noGrp="1"/>
          </p:cNvSpPr>
          <p:nvPr>
            <p:ph type="title"/>
          </p:nvPr>
        </p:nvSpPr>
        <p:spPr>
          <a:xfrm>
            <a:off x="193964" y="0"/>
            <a:ext cx="8950036" cy="381000"/>
          </a:xfrm>
          <a:solidFill>
            <a:schemeClr val="tx1"/>
          </a:solidFill>
        </p:spPr>
        <p:txBody>
          <a:bodyPr vert="horz" lIns="91440" tIns="45720" rIns="91440" bIns="45720" rtlCol="0" anchor="ctr">
            <a:noAutofit/>
          </a:bodyPr>
          <a:lstStyle/>
          <a:p>
            <a:r>
              <a:rPr lang="fr-CA" sz="2000" b="1">
                <a:solidFill>
                  <a:schemeClr val="bg1"/>
                </a:solidFill>
              </a:rPr>
              <a:t>Cycle de vie de la gestion des paiements</a:t>
            </a:r>
            <a:r>
              <a:rPr lang="fr-CA" sz="1400" b="1">
                <a:solidFill>
                  <a:schemeClr val="bg1"/>
                </a:solidFill>
              </a:rPr>
              <a:t>*</a:t>
            </a:r>
            <a:endParaRPr lang="fr-CA" sz="1600" b="1">
              <a:solidFill>
                <a:schemeClr val="bg1"/>
              </a:solidFill>
            </a:endParaRPr>
          </a:p>
        </p:txBody>
      </p:sp>
      <p:graphicFrame>
        <p:nvGraphicFramePr>
          <p:cNvPr id="4" name="Diagramme 3">
            <a:extLst>
              <a:ext uri="{FF2B5EF4-FFF2-40B4-BE49-F238E27FC236}">
                <a16:creationId xmlns:a16="http://schemas.microsoft.com/office/drawing/2014/main" id="{02F9C801-62B0-2866-C620-53187992D8D9}"/>
              </a:ext>
            </a:extLst>
          </p:cNvPr>
          <p:cNvGraphicFramePr/>
          <p:nvPr>
            <p:extLst>
              <p:ext uri="{D42A27DB-BD31-4B8C-83A1-F6EECF244321}">
                <p14:modId xmlns:p14="http://schemas.microsoft.com/office/powerpoint/2010/main" val="2989551997"/>
              </p:ext>
            </p:extLst>
          </p:nvPr>
        </p:nvGraphicFramePr>
        <p:xfrm>
          <a:off x="334108" y="457198"/>
          <a:ext cx="8220807" cy="43082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ZoneTexte 5">
            <a:extLst>
              <a:ext uri="{FF2B5EF4-FFF2-40B4-BE49-F238E27FC236}">
                <a16:creationId xmlns:a16="http://schemas.microsoft.com/office/drawing/2014/main" id="{43B2084B-3562-61EA-28DF-9B38B3800A50}"/>
              </a:ext>
            </a:extLst>
          </p:cNvPr>
          <p:cNvSpPr txBox="1"/>
          <p:nvPr/>
        </p:nvSpPr>
        <p:spPr>
          <a:xfrm>
            <a:off x="237397" y="4879726"/>
            <a:ext cx="3534504" cy="261610"/>
          </a:xfrm>
          <a:prstGeom prst="rect">
            <a:avLst/>
          </a:prstGeom>
          <a:noFill/>
        </p:spPr>
        <p:txBody>
          <a:bodyPr wrap="square">
            <a:spAutoFit/>
          </a:bodyPr>
          <a:lstStyle/>
          <a:p>
            <a:pPr lvl="0"/>
            <a:r>
              <a:rPr lang="fr-FR" sz="1100">
                <a:solidFill>
                  <a:srgbClr val="262626"/>
                </a:solidFill>
              </a:rPr>
              <a:t>* Paiement et Perception par DD, DPA, virement et chèque</a:t>
            </a:r>
            <a:endParaRPr lang="fr-FR" sz="1100"/>
          </a:p>
        </p:txBody>
      </p:sp>
      <p:sp>
        <p:nvSpPr>
          <p:cNvPr id="7" name="ZoneTexte 6">
            <a:extLst>
              <a:ext uri="{FF2B5EF4-FFF2-40B4-BE49-F238E27FC236}">
                <a16:creationId xmlns:a16="http://schemas.microsoft.com/office/drawing/2014/main" id="{228F0907-4853-DD51-4CD8-729EA9DE63C6}"/>
              </a:ext>
            </a:extLst>
          </p:cNvPr>
          <p:cNvSpPr txBox="1"/>
          <p:nvPr/>
        </p:nvSpPr>
        <p:spPr>
          <a:xfrm>
            <a:off x="3490546" y="1634478"/>
            <a:ext cx="2373923" cy="1646605"/>
          </a:xfrm>
          <a:prstGeom prst="rect">
            <a:avLst/>
          </a:prstGeom>
          <a:noFill/>
          <a:ln w="6350">
            <a:solidFill>
              <a:schemeClr val="tx1"/>
            </a:solidFill>
          </a:ln>
        </p:spPr>
        <p:txBody>
          <a:bodyPr wrap="square" rtlCol="0">
            <a:spAutoFit/>
          </a:bodyPr>
          <a:lstStyle/>
          <a:p>
            <a:pPr algn="ctr"/>
            <a:r>
              <a:rPr lang="fr-FR" sz="1100" u="sng"/>
              <a:t>Objectif</a:t>
            </a:r>
          </a:p>
          <a:p>
            <a:pPr algn="ctr"/>
            <a:r>
              <a:rPr lang="fr-FR" sz="900">
                <a:solidFill>
                  <a:srgbClr val="262626"/>
                </a:solidFill>
              </a:rPr>
              <a:t>Le partenaire émet un paiement* de façon manuelle ou automatisé, à l’unité ou en lot</a:t>
            </a:r>
          </a:p>
          <a:p>
            <a:pPr algn="ctr"/>
            <a:endParaRPr lang="fr-FR" sz="200"/>
          </a:p>
          <a:p>
            <a:pPr marL="0" marR="0" lvl="0" indent="0" algn="ctr" defTabSz="914286" rtl="0" eaLnBrk="1" fontAlgn="auto" latinLnBrk="0" hangingPunct="1">
              <a:lnSpc>
                <a:spcPct val="100000"/>
              </a:lnSpc>
              <a:spcBef>
                <a:spcPts val="0"/>
              </a:spcBef>
              <a:spcAft>
                <a:spcPts val="0"/>
              </a:spcAft>
              <a:buClrTx/>
              <a:buSzTx/>
              <a:buFontTx/>
              <a:buNone/>
              <a:tabLst/>
              <a:defRPr/>
            </a:pPr>
            <a:r>
              <a:rPr kumimoji="0" lang="fr-FR" sz="1100" b="0" i="0" u="sng" strike="noStrike" kern="1200" cap="none" spc="0" normalizeH="0" baseline="0" noProof="0">
                <a:ln>
                  <a:noFill/>
                </a:ln>
                <a:solidFill>
                  <a:srgbClr val="003DA5"/>
                </a:solidFill>
                <a:effectLst/>
                <a:uLnTx/>
                <a:uFillTx/>
                <a:latin typeface="Calibri" panose="020F0502020204030204"/>
                <a:ea typeface="+mn-ea"/>
                <a:cs typeface="+mn-cs"/>
              </a:rPr>
              <a:t>Contenue</a:t>
            </a:r>
          </a:p>
          <a:p>
            <a:pPr marL="0" marR="0" lvl="0" indent="0" algn="ctr" defTabSz="914286" rtl="0" eaLnBrk="1" fontAlgn="auto" latinLnBrk="0" hangingPunct="1">
              <a:lnSpc>
                <a:spcPct val="100000"/>
              </a:lnSpc>
              <a:spcBef>
                <a:spcPts val="0"/>
              </a:spcBef>
              <a:spcAft>
                <a:spcPts val="0"/>
              </a:spcAft>
              <a:buClrTx/>
              <a:buSzTx/>
              <a:buFontTx/>
              <a:buNone/>
              <a:tabLst/>
              <a:defRPr/>
            </a:pPr>
            <a:r>
              <a:rPr lang="fr-FR" sz="900">
                <a:solidFill>
                  <a:srgbClr val="262626"/>
                </a:solidFill>
              </a:rPr>
              <a:t>Les processus de : </a:t>
            </a:r>
          </a:p>
          <a:p>
            <a:pPr marL="0" marR="0" lvl="0" indent="0" algn="ctr" defTabSz="914286" rtl="0" eaLnBrk="1" fontAlgn="auto" latinLnBrk="0" hangingPunct="1">
              <a:lnSpc>
                <a:spcPct val="100000"/>
              </a:lnSpc>
              <a:spcBef>
                <a:spcPts val="0"/>
              </a:spcBef>
              <a:spcAft>
                <a:spcPts val="0"/>
              </a:spcAft>
              <a:buClrTx/>
              <a:buSzTx/>
              <a:buFontTx/>
              <a:buNone/>
              <a:tabLst/>
              <a:defRPr/>
            </a:pPr>
            <a:r>
              <a:rPr lang="fr-FR" sz="900">
                <a:solidFill>
                  <a:srgbClr val="262626"/>
                </a:solidFill>
              </a:rPr>
              <a:t>Paiement DD et chèques, manuels et automatiques, Virement manuel </a:t>
            </a:r>
          </a:p>
          <a:p>
            <a:pPr marL="0" marR="0" lvl="0" indent="0" algn="ctr" defTabSz="914286" rtl="0" eaLnBrk="1" fontAlgn="auto" latinLnBrk="0" hangingPunct="1">
              <a:lnSpc>
                <a:spcPct val="100000"/>
              </a:lnSpc>
              <a:spcBef>
                <a:spcPts val="0"/>
              </a:spcBef>
              <a:spcAft>
                <a:spcPts val="0"/>
              </a:spcAft>
              <a:buClrTx/>
              <a:buSzTx/>
              <a:buFontTx/>
              <a:buNone/>
              <a:tabLst/>
              <a:defRPr/>
            </a:pPr>
            <a:r>
              <a:rPr lang="fr-FR" sz="900">
                <a:solidFill>
                  <a:srgbClr val="262626"/>
                </a:solidFill>
              </a:rPr>
              <a:t>Perceptions DPA automatique et manuel </a:t>
            </a:r>
          </a:p>
          <a:p>
            <a:pPr marL="0" marR="0" lvl="0" indent="0" algn="ctr" defTabSz="914286" rtl="0" eaLnBrk="1" fontAlgn="auto" latinLnBrk="0" hangingPunct="1">
              <a:lnSpc>
                <a:spcPct val="100000"/>
              </a:lnSpc>
              <a:spcBef>
                <a:spcPts val="0"/>
              </a:spcBef>
              <a:spcAft>
                <a:spcPts val="0"/>
              </a:spcAft>
              <a:buClrTx/>
              <a:buSzTx/>
              <a:buFontTx/>
              <a:buNone/>
              <a:tabLst/>
              <a:defRPr/>
            </a:pPr>
            <a:endParaRPr lang="fr-FR" sz="300"/>
          </a:p>
          <a:p>
            <a:pPr lvl="0" algn="ctr">
              <a:defRPr/>
            </a:pPr>
            <a:r>
              <a:rPr lang="fr-FR" sz="1100" u="sng">
                <a:solidFill>
                  <a:srgbClr val="003DA5"/>
                </a:solidFill>
              </a:rPr>
              <a:t>Acteurs</a:t>
            </a:r>
          </a:p>
          <a:p>
            <a:pPr lvl="0" algn="ctr">
              <a:defRPr/>
            </a:pPr>
            <a:r>
              <a:rPr lang="fr-FR" sz="900">
                <a:solidFill>
                  <a:srgbClr val="262626"/>
                </a:solidFill>
              </a:rPr>
              <a:t>Unités d’affaires</a:t>
            </a:r>
          </a:p>
        </p:txBody>
      </p:sp>
      <p:cxnSp>
        <p:nvCxnSpPr>
          <p:cNvPr id="8" name="Connecteur droit 7">
            <a:extLst>
              <a:ext uri="{FF2B5EF4-FFF2-40B4-BE49-F238E27FC236}">
                <a16:creationId xmlns:a16="http://schemas.microsoft.com/office/drawing/2014/main" id="{BFCFE3FF-9DC1-7705-03F2-20351AAC44D1}"/>
              </a:ext>
            </a:extLst>
          </p:cNvPr>
          <p:cNvCxnSpPr>
            <a:cxnSpLocks/>
          </p:cNvCxnSpPr>
          <p:nvPr/>
        </p:nvCxnSpPr>
        <p:spPr>
          <a:xfrm>
            <a:off x="4501662" y="1362808"/>
            <a:ext cx="140676" cy="271670"/>
          </a:xfrm>
          <a:prstGeom prst="line">
            <a:avLst/>
          </a:prstGeom>
        </p:spPr>
        <p:style>
          <a:lnRef idx="1">
            <a:schemeClr val="accent1"/>
          </a:lnRef>
          <a:fillRef idx="0">
            <a:schemeClr val="accent1"/>
          </a:fillRef>
          <a:effectRef idx="0">
            <a:schemeClr val="accent1"/>
          </a:effectRef>
          <a:fontRef idx="minor">
            <a:schemeClr val="tx1"/>
          </a:fontRef>
        </p:style>
      </p:cxnSp>
      <p:sp>
        <p:nvSpPr>
          <p:cNvPr id="14" name="ZoneTexte 13">
            <a:extLst>
              <a:ext uri="{FF2B5EF4-FFF2-40B4-BE49-F238E27FC236}">
                <a16:creationId xmlns:a16="http://schemas.microsoft.com/office/drawing/2014/main" id="{A77C0C70-EDD3-2C5A-0C89-CC9063FD2E70}"/>
              </a:ext>
            </a:extLst>
          </p:cNvPr>
          <p:cNvSpPr txBox="1"/>
          <p:nvPr/>
        </p:nvSpPr>
        <p:spPr>
          <a:xfrm>
            <a:off x="7473461" y="413238"/>
            <a:ext cx="1635366" cy="1785104"/>
          </a:xfrm>
          <a:prstGeom prst="rect">
            <a:avLst/>
          </a:prstGeom>
          <a:noFill/>
          <a:ln w="6350">
            <a:solidFill>
              <a:schemeClr val="tx1"/>
            </a:solidFill>
          </a:ln>
        </p:spPr>
        <p:txBody>
          <a:bodyPr wrap="square" rtlCol="0">
            <a:spAutoFit/>
          </a:bodyPr>
          <a:lstStyle/>
          <a:p>
            <a:pPr algn="ctr"/>
            <a:r>
              <a:rPr lang="fr-FR" sz="1100" u="sng"/>
              <a:t>Objectif</a:t>
            </a:r>
          </a:p>
          <a:p>
            <a:pPr algn="ctr"/>
            <a:r>
              <a:rPr lang="fr-FR" sz="900">
                <a:solidFill>
                  <a:srgbClr val="262626"/>
                </a:solidFill>
              </a:rPr>
              <a:t>Valider la légitimité affaire ainsi que la conformité bancaire des paiements*</a:t>
            </a:r>
          </a:p>
          <a:p>
            <a:pPr algn="ctr"/>
            <a:endParaRPr lang="fr-FR" sz="200"/>
          </a:p>
          <a:p>
            <a:pPr marL="0" marR="0" lvl="0" indent="0" algn="ctr" defTabSz="914286" rtl="0" eaLnBrk="1" fontAlgn="auto" latinLnBrk="0" hangingPunct="1">
              <a:lnSpc>
                <a:spcPct val="100000"/>
              </a:lnSpc>
              <a:spcBef>
                <a:spcPts val="0"/>
              </a:spcBef>
              <a:spcAft>
                <a:spcPts val="0"/>
              </a:spcAft>
              <a:buClrTx/>
              <a:buSzTx/>
              <a:buFontTx/>
              <a:buNone/>
              <a:tabLst/>
              <a:defRPr/>
            </a:pPr>
            <a:r>
              <a:rPr kumimoji="0" lang="fr-FR" sz="1100" b="0" i="0" u="sng" strike="noStrike" kern="1200" cap="none" spc="0" normalizeH="0" baseline="0" noProof="0">
                <a:ln>
                  <a:noFill/>
                </a:ln>
                <a:solidFill>
                  <a:srgbClr val="003DA5"/>
                </a:solidFill>
                <a:effectLst/>
                <a:uLnTx/>
                <a:uFillTx/>
                <a:latin typeface="Calibri" panose="020F0502020204030204"/>
                <a:ea typeface="+mn-ea"/>
                <a:cs typeface="+mn-cs"/>
              </a:rPr>
              <a:t>Contenue</a:t>
            </a:r>
          </a:p>
          <a:p>
            <a:pPr marL="0" marR="0" lvl="0" indent="0" algn="ctr" defTabSz="914286" rtl="0" eaLnBrk="1" fontAlgn="auto" latinLnBrk="0" hangingPunct="1">
              <a:lnSpc>
                <a:spcPct val="100000"/>
              </a:lnSpc>
              <a:spcBef>
                <a:spcPts val="0"/>
              </a:spcBef>
              <a:spcAft>
                <a:spcPts val="0"/>
              </a:spcAft>
              <a:buClrTx/>
              <a:buSzTx/>
              <a:buFontTx/>
              <a:buNone/>
              <a:tabLst/>
              <a:defRPr/>
            </a:pPr>
            <a:r>
              <a:rPr lang="fr-FR" sz="900">
                <a:solidFill>
                  <a:srgbClr val="262626"/>
                </a:solidFill>
              </a:rPr>
              <a:t>Workflow d’approbation de paiement* manuels</a:t>
            </a:r>
          </a:p>
          <a:p>
            <a:pPr marL="0" marR="0" lvl="0" indent="0" algn="ctr" defTabSz="914286" rtl="0" eaLnBrk="1" fontAlgn="auto" latinLnBrk="0" hangingPunct="1">
              <a:lnSpc>
                <a:spcPct val="100000"/>
              </a:lnSpc>
              <a:spcBef>
                <a:spcPts val="0"/>
              </a:spcBef>
              <a:spcAft>
                <a:spcPts val="0"/>
              </a:spcAft>
              <a:buClrTx/>
              <a:buSzTx/>
              <a:buFontTx/>
              <a:buNone/>
              <a:tabLst/>
              <a:defRPr/>
            </a:pPr>
            <a:r>
              <a:rPr lang="fr-FR" sz="900">
                <a:solidFill>
                  <a:srgbClr val="262626"/>
                </a:solidFill>
              </a:rPr>
              <a:t>Workflow de validation 360</a:t>
            </a:r>
          </a:p>
          <a:p>
            <a:pPr marL="0" marR="0" lvl="0" indent="0" algn="ctr" defTabSz="914286" rtl="0" eaLnBrk="1" fontAlgn="auto" latinLnBrk="0" hangingPunct="1">
              <a:lnSpc>
                <a:spcPct val="100000"/>
              </a:lnSpc>
              <a:spcBef>
                <a:spcPts val="0"/>
              </a:spcBef>
              <a:spcAft>
                <a:spcPts val="0"/>
              </a:spcAft>
              <a:buClrTx/>
              <a:buSzTx/>
              <a:buFontTx/>
              <a:buNone/>
              <a:tabLst/>
              <a:defRPr/>
            </a:pPr>
            <a:endParaRPr lang="fr-FR" sz="300"/>
          </a:p>
          <a:p>
            <a:pPr lvl="0" algn="ctr">
              <a:defRPr/>
            </a:pPr>
            <a:r>
              <a:rPr lang="fr-FR" sz="1100" u="sng">
                <a:solidFill>
                  <a:srgbClr val="003DA5"/>
                </a:solidFill>
              </a:rPr>
              <a:t>Acteurs</a:t>
            </a:r>
          </a:p>
          <a:p>
            <a:pPr lvl="0" algn="ctr">
              <a:defRPr/>
            </a:pPr>
            <a:r>
              <a:rPr lang="fr-FR" sz="900">
                <a:solidFill>
                  <a:srgbClr val="262626"/>
                </a:solidFill>
              </a:rPr>
              <a:t>Unités d’affaires, CSP Bancaire, Équipe Système</a:t>
            </a:r>
          </a:p>
        </p:txBody>
      </p:sp>
      <p:cxnSp>
        <p:nvCxnSpPr>
          <p:cNvPr id="17" name="Connecteur droit 16">
            <a:extLst>
              <a:ext uri="{FF2B5EF4-FFF2-40B4-BE49-F238E27FC236}">
                <a16:creationId xmlns:a16="http://schemas.microsoft.com/office/drawing/2014/main" id="{9EA00465-BAC0-77B8-8B68-B96F93B68020}"/>
              </a:ext>
            </a:extLst>
          </p:cNvPr>
          <p:cNvCxnSpPr>
            <a:cxnSpLocks/>
            <a:stCxn id="14" idx="1"/>
          </p:cNvCxnSpPr>
          <p:nvPr/>
        </p:nvCxnSpPr>
        <p:spPr>
          <a:xfrm flipH="1">
            <a:off x="6717323" y="1305790"/>
            <a:ext cx="756138" cy="391125"/>
          </a:xfrm>
          <a:prstGeom prst="line">
            <a:avLst/>
          </a:prstGeom>
        </p:spPr>
        <p:style>
          <a:lnRef idx="1">
            <a:schemeClr val="accent1"/>
          </a:lnRef>
          <a:fillRef idx="0">
            <a:schemeClr val="accent1"/>
          </a:fillRef>
          <a:effectRef idx="0">
            <a:schemeClr val="accent1"/>
          </a:effectRef>
          <a:fontRef idx="minor">
            <a:schemeClr val="tx1"/>
          </a:fontRef>
        </p:style>
      </p:cxnSp>
      <p:sp>
        <p:nvSpPr>
          <p:cNvPr id="24" name="ZoneTexte 23">
            <a:extLst>
              <a:ext uri="{FF2B5EF4-FFF2-40B4-BE49-F238E27FC236}">
                <a16:creationId xmlns:a16="http://schemas.microsoft.com/office/drawing/2014/main" id="{7CA707AE-8C59-2AB3-4D87-78875C2EF1A5}"/>
              </a:ext>
            </a:extLst>
          </p:cNvPr>
          <p:cNvSpPr txBox="1"/>
          <p:nvPr/>
        </p:nvSpPr>
        <p:spPr>
          <a:xfrm>
            <a:off x="7473461" y="3281083"/>
            <a:ext cx="1635366" cy="1646605"/>
          </a:xfrm>
          <a:prstGeom prst="rect">
            <a:avLst/>
          </a:prstGeom>
          <a:noFill/>
          <a:ln w="6350">
            <a:solidFill>
              <a:schemeClr val="tx1"/>
            </a:solidFill>
          </a:ln>
        </p:spPr>
        <p:txBody>
          <a:bodyPr wrap="square" rtlCol="0">
            <a:spAutoFit/>
          </a:bodyPr>
          <a:lstStyle/>
          <a:p>
            <a:pPr algn="ctr"/>
            <a:r>
              <a:rPr lang="fr-FR" sz="1100" u="sng"/>
              <a:t>Objectif</a:t>
            </a:r>
          </a:p>
          <a:p>
            <a:pPr algn="ctr"/>
            <a:r>
              <a:rPr lang="fr-FR" sz="900">
                <a:solidFill>
                  <a:srgbClr val="262626"/>
                </a:solidFill>
              </a:rPr>
              <a:t>Transmettre le paiement* à la banque et gérer son exécution ou son rejet</a:t>
            </a:r>
          </a:p>
          <a:p>
            <a:pPr algn="ctr"/>
            <a:endParaRPr lang="fr-FR" sz="200"/>
          </a:p>
          <a:p>
            <a:pPr marL="0" marR="0" lvl="0" indent="0" algn="ctr" defTabSz="914286" rtl="0" eaLnBrk="1" fontAlgn="auto" latinLnBrk="0" hangingPunct="1">
              <a:lnSpc>
                <a:spcPct val="100000"/>
              </a:lnSpc>
              <a:spcBef>
                <a:spcPts val="0"/>
              </a:spcBef>
              <a:spcAft>
                <a:spcPts val="0"/>
              </a:spcAft>
              <a:buClrTx/>
              <a:buSzTx/>
              <a:buFontTx/>
              <a:buNone/>
              <a:tabLst/>
              <a:defRPr/>
            </a:pPr>
            <a:r>
              <a:rPr kumimoji="0" lang="fr-FR" sz="1100" b="0" i="0" u="sng" strike="noStrike" kern="1200" cap="none" spc="0" normalizeH="0" baseline="0" noProof="0">
                <a:ln>
                  <a:noFill/>
                </a:ln>
                <a:solidFill>
                  <a:srgbClr val="003DA5"/>
                </a:solidFill>
                <a:effectLst/>
                <a:uLnTx/>
                <a:uFillTx/>
                <a:latin typeface="Calibri" panose="020F0502020204030204"/>
                <a:ea typeface="+mn-ea"/>
                <a:cs typeface="+mn-cs"/>
              </a:rPr>
              <a:t>Contenue</a:t>
            </a:r>
          </a:p>
          <a:p>
            <a:pPr marL="0" marR="0" lvl="0" indent="0" algn="ctr" defTabSz="914286" rtl="0" eaLnBrk="1" fontAlgn="auto" latinLnBrk="0" hangingPunct="1">
              <a:lnSpc>
                <a:spcPct val="100000"/>
              </a:lnSpc>
              <a:spcBef>
                <a:spcPts val="0"/>
              </a:spcBef>
              <a:spcAft>
                <a:spcPts val="0"/>
              </a:spcAft>
              <a:buClrTx/>
              <a:buSzTx/>
              <a:buFontTx/>
              <a:buNone/>
              <a:tabLst/>
              <a:defRPr/>
            </a:pPr>
            <a:r>
              <a:rPr lang="fr-FR" sz="900">
                <a:solidFill>
                  <a:srgbClr val="262626"/>
                </a:solidFill>
              </a:rPr>
              <a:t>Envoie du paiement*</a:t>
            </a:r>
          </a:p>
          <a:p>
            <a:pPr marL="0" marR="0" lvl="0" indent="0" algn="ctr" defTabSz="914286" rtl="0" eaLnBrk="1" fontAlgn="auto" latinLnBrk="0" hangingPunct="1">
              <a:lnSpc>
                <a:spcPct val="100000"/>
              </a:lnSpc>
              <a:spcBef>
                <a:spcPts val="0"/>
              </a:spcBef>
              <a:spcAft>
                <a:spcPts val="0"/>
              </a:spcAft>
              <a:buClrTx/>
              <a:buSzTx/>
              <a:buFontTx/>
              <a:buNone/>
              <a:tabLst/>
              <a:defRPr/>
            </a:pPr>
            <a:r>
              <a:rPr lang="fr-FR" sz="900">
                <a:solidFill>
                  <a:srgbClr val="262626"/>
                </a:solidFill>
              </a:rPr>
              <a:t>Gérer les rejets</a:t>
            </a:r>
          </a:p>
          <a:p>
            <a:pPr marL="0" marR="0" lvl="0" indent="0" algn="ctr" defTabSz="914286" rtl="0" eaLnBrk="1" fontAlgn="auto" latinLnBrk="0" hangingPunct="1">
              <a:lnSpc>
                <a:spcPct val="100000"/>
              </a:lnSpc>
              <a:spcBef>
                <a:spcPts val="0"/>
              </a:spcBef>
              <a:spcAft>
                <a:spcPts val="0"/>
              </a:spcAft>
              <a:buClrTx/>
              <a:buSzTx/>
              <a:buFontTx/>
              <a:buNone/>
              <a:tabLst/>
              <a:defRPr/>
            </a:pPr>
            <a:r>
              <a:rPr lang="fr-FR" sz="900">
                <a:solidFill>
                  <a:srgbClr val="262626"/>
                </a:solidFill>
              </a:rPr>
              <a:t>Gérer l’encaissement</a:t>
            </a:r>
          </a:p>
          <a:p>
            <a:pPr marL="0" marR="0" lvl="0" indent="0" algn="ctr" defTabSz="914286" rtl="0" eaLnBrk="1" fontAlgn="auto" latinLnBrk="0" hangingPunct="1">
              <a:lnSpc>
                <a:spcPct val="100000"/>
              </a:lnSpc>
              <a:spcBef>
                <a:spcPts val="0"/>
              </a:spcBef>
              <a:spcAft>
                <a:spcPts val="0"/>
              </a:spcAft>
              <a:buClrTx/>
              <a:buSzTx/>
              <a:buFontTx/>
              <a:buNone/>
              <a:tabLst/>
              <a:defRPr/>
            </a:pPr>
            <a:endParaRPr lang="fr-FR" sz="300"/>
          </a:p>
          <a:p>
            <a:pPr lvl="0" algn="ctr">
              <a:defRPr/>
            </a:pPr>
            <a:r>
              <a:rPr lang="fr-FR" sz="1100" u="sng">
                <a:solidFill>
                  <a:srgbClr val="003DA5"/>
                </a:solidFill>
              </a:rPr>
              <a:t>Acteurs</a:t>
            </a:r>
          </a:p>
          <a:p>
            <a:pPr lvl="0" algn="ctr">
              <a:defRPr/>
            </a:pPr>
            <a:r>
              <a:rPr lang="fr-FR" sz="900">
                <a:solidFill>
                  <a:srgbClr val="262626"/>
                </a:solidFill>
              </a:rPr>
              <a:t>Unités d’affaires, CSP Bancaire, </a:t>
            </a:r>
          </a:p>
        </p:txBody>
      </p:sp>
      <p:cxnSp>
        <p:nvCxnSpPr>
          <p:cNvPr id="25" name="Connecteur droit 24">
            <a:extLst>
              <a:ext uri="{FF2B5EF4-FFF2-40B4-BE49-F238E27FC236}">
                <a16:creationId xmlns:a16="http://schemas.microsoft.com/office/drawing/2014/main" id="{1C22BC6D-7167-1E5E-BBD8-285CB217DC3F}"/>
              </a:ext>
            </a:extLst>
          </p:cNvPr>
          <p:cNvCxnSpPr>
            <a:cxnSpLocks/>
            <a:stCxn id="24" idx="1"/>
          </p:cNvCxnSpPr>
          <p:nvPr/>
        </p:nvCxnSpPr>
        <p:spPr>
          <a:xfrm flipH="1">
            <a:off x="6814038" y="4104386"/>
            <a:ext cx="659423" cy="69249"/>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Connecteur droit 27">
            <a:extLst>
              <a:ext uri="{FF2B5EF4-FFF2-40B4-BE49-F238E27FC236}">
                <a16:creationId xmlns:a16="http://schemas.microsoft.com/office/drawing/2014/main" id="{6ACDA5CC-EDD2-DD4B-105C-6ED946FE3653}"/>
              </a:ext>
            </a:extLst>
          </p:cNvPr>
          <p:cNvCxnSpPr>
            <a:cxnSpLocks/>
            <a:endCxn id="29" idx="3"/>
          </p:cNvCxnSpPr>
          <p:nvPr/>
        </p:nvCxnSpPr>
        <p:spPr>
          <a:xfrm flipH="1" flipV="1">
            <a:off x="1793631" y="4018328"/>
            <a:ext cx="281351" cy="155307"/>
          </a:xfrm>
          <a:prstGeom prst="line">
            <a:avLst/>
          </a:prstGeom>
        </p:spPr>
        <p:style>
          <a:lnRef idx="1">
            <a:schemeClr val="accent1"/>
          </a:lnRef>
          <a:fillRef idx="0">
            <a:schemeClr val="accent1"/>
          </a:fillRef>
          <a:effectRef idx="0">
            <a:schemeClr val="accent1"/>
          </a:effectRef>
          <a:fontRef idx="minor">
            <a:schemeClr val="tx1"/>
          </a:fontRef>
        </p:style>
      </p:cxnSp>
      <p:sp>
        <p:nvSpPr>
          <p:cNvPr id="29" name="ZoneTexte 28">
            <a:extLst>
              <a:ext uri="{FF2B5EF4-FFF2-40B4-BE49-F238E27FC236}">
                <a16:creationId xmlns:a16="http://schemas.microsoft.com/office/drawing/2014/main" id="{09DD1933-3201-852C-0881-BC2C732A2906}"/>
              </a:ext>
            </a:extLst>
          </p:cNvPr>
          <p:cNvSpPr txBox="1"/>
          <p:nvPr/>
        </p:nvSpPr>
        <p:spPr>
          <a:xfrm>
            <a:off x="246188" y="3195025"/>
            <a:ext cx="1547443" cy="1646605"/>
          </a:xfrm>
          <a:prstGeom prst="rect">
            <a:avLst/>
          </a:prstGeom>
          <a:noFill/>
          <a:ln w="6350">
            <a:solidFill>
              <a:schemeClr val="tx1"/>
            </a:solidFill>
          </a:ln>
        </p:spPr>
        <p:txBody>
          <a:bodyPr wrap="square" rtlCol="0">
            <a:spAutoFit/>
          </a:bodyPr>
          <a:lstStyle/>
          <a:p>
            <a:pPr algn="ctr"/>
            <a:r>
              <a:rPr lang="fr-FR" sz="1100" u="sng"/>
              <a:t>Objectif</a:t>
            </a:r>
          </a:p>
          <a:p>
            <a:pPr algn="ctr"/>
            <a:r>
              <a:rPr lang="fr-FR" sz="900">
                <a:solidFill>
                  <a:srgbClr val="262626"/>
                </a:solidFill>
              </a:rPr>
              <a:t>Comptabiliser le paiement au GL</a:t>
            </a:r>
          </a:p>
          <a:p>
            <a:pPr algn="ctr"/>
            <a:endParaRPr lang="fr-FR" sz="200"/>
          </a:p>
          <a:p>
            <a:pPr marL="0" marR="0" lvl="0" indent="0" algn="ctr" defTabSz="914286" rtl="0" eaLnBrk="1" fontAlgn="auto" latinLnBrk="0" hangingPunct="1">
              <a:lnSpc>
                <a:spcPct val="100000"/>
              </a:lnSpc>
              <a:spcBef>
                <a:spcPts val="0"/>
              </a:spcBef>
              <a:spcAft>
                <a:spcPts val="0"/>
              </a:spcAft>
              <a:buClrTx/>
              <a:buSzTx/>
              <a:buFontTx/>
              <a:buNone/>
              <a:tabLst/>
              <a:defRPr/>
            </a:pPr>
            <a:r>
              <a:rPr kumimoji="0" lang="fr-FR" sz="1100" b="0" i="0" u="sng" strike="noStrike" kern="1200" cap="none" spc="0" normalizeH="0" baseline="0" noProof="0">
                <a:ln>
                  <a:noFill/>
                </a:ln>
                <a:solidFill>
                  <a:srgbClr val="003DA5"/>
                </a:solidFill>
                <a:effectLst/>
                <a:uLnTx/>
                <a:uFillTx/>
                <a:latin typeface="Calibri" panose="020F0502020204030204"/>
                <a:ea typeface="+mn-ea"/>
                <a:cs typeface="+mn-cs"/>
              </a:rPr>
              <a:t>Contenue</a:t>
            </a:r>
          </a:p>
          <a:p>
            <a:pPr marL="0" marR="0" lvl="0" indent="0" algn="ctr" defTabSz="914286" rtl="0" eaLnBrk="1" fontAlgn="auto" latinLnBrk="0" hangingPunct="1">
              <a:lnSpc>
                <a:spcPct val="100000"/>
              </a:lnSpc>
              <a:spcBef>
                <a:spcPts val="0"/>
              </a:spcBef>
              <a:spcAft>
                <a:spcPts val="0"/>
              </a:spcAft>
              <a:buClrTx/>
              <a:buSzTx/>
              <a:buFontTx/>
              <a:buNone/>
              <a:tabLst/>
              <a:defRPr/>
            </a:pPr>
            <a:r>
              <a:rPr lang="fr-FR" sz="900">
                <a:solidFill>
                  <a:srgbClr val="262626"/>
                </a:solidFill>
              </a:rPr>
              <a:t>Comptabiliser le paiement*</a:t>
            </a:r>
          </a:p>
          <a:p>
            <a:pPr marL="0" marR="0" lvl="0" indent="0" algn="ctr" defTabSz="914286" rtl="0" eaLnBrk="1" fontAlgn="auto" latinLnBrk="0" hangingPunct="1">
              <a:lnSpc>
                <a:spcPct val="100000"/>
              </a:lnSpc>
              <a:spcBef>
                <a:spcPts val="0"/>
              </a:spcBef>
              <a:spcAft>
                <a:spcPts val="0"/>
              </a:spcAft>
              <a:buClrTx/>
              <a:buSzTx/>
              <a:buFontTx/>
              <a:buNone/>
              <a:tabLst/>
              <a:defRPr/>
            </a:pPr>
            <a:r>
              <a:rPr lang="fr-FR" sz="900">
                <a:solidFill>
                  <a:srgbClr val="262626"/>
                </a:solidFill>
              </a:rPr>
              <a:t>Renverser comptablement un paiement </a:t>
            </a:r>
          </a:p>
          <a:p>
            <a:pPr marL="0" marR="0" lvl="0" indent="0" algn="ctr" defTabSz="914286" rtl="0" eaLnBrk="1" fontAlgn="auto" latinLnBrk="0" hangingPunct="1">
              <a:lnSpc>
                <a:spcPct val="100000"/>
              </a:lnSpc>
              <a:spcBef>
                <a:spcPts val="0"/>
              </a:spcBef>
              <a:spcAft>
                <a:spcPts val="0"/>
              </a:spcAft>
              <a:buClrTx/>
              <a:buSzTx/>
              <a:buFontTx/>
              <a:buNone/>
              <a:tabLst/>
              <a:defRPr/>
            </a:pPr>
            <a:endParaRPr lang="fr-FR" sz="300"/>
          </a:p>
          <a:p>
            <a:pPr lvl="0" algn="ctr">
              <a:defRPr/>
            </a:pPr>
            <a:r>
              <a:rPr lang="fr-FR" sz="1100" u="sng">
                <a:solidFill>
                  <a:srgbClr val="003DA5"/>
                </a:solidFill>
              </a:rPr>
              <a:t>Acteurs</a:t>
            </a:r>
          </a:p>
          <a:p>
            <a:pPr lvl="0" algn="ctr">
              <a:defRPr/>
            </a:pPr>
            <a:r>
              <a:rPr lang="fr-FR" sz="900">
                <a:solidFill>
                  <a:srgbClr val="262626"/>
                </a:solidFill>
              </a:rPr>
              <a:t>CSP Bancaire, Équipe Système </a:t>
            </a:r>
          </a:p>
        </p:txBody>
      </p:sp>
      <p:cxnSp>
        <p:nvCxnSpPr>
          <p:cNvPr id="30" name="Connecteur droit 29">
            <a:extLst>
              <a:ext uri="{FF2B5EF4-FFF2-40B4-BE49-F238E27FC236}">
                <a16:creationId xmlns:a16="http://schemas.microsoft.com/office/drawing/2014/main" id="{249B4A5B-AD92-B84B-4997-270AD043B30C}"/>
              </a:ext>
            </a:extLst>
          </p:cNvPr>
          <p:cNvCxnSpPr>
            <a:cxnSpLocks/>
            <a:endCxn id="31" idx="3"/>
          </p:cNvCxnSpPr>
          <p:nvPr/>
        </p:nvCxnSpPr>
        <p:spPr>
          <a:xfrm flipH="1" flipV="1">
            <a:off x="1951892" y="1303617"/>
            <a:ext cx="650631" cy="391125"/>
          </a:xfrm>
          <a:prstGeom prst="line">
            <a:avLst/>
          </a:prstGeom>
        </p:spPr>
        <p:style>
          <a:lnRef idx="1">
            <a:schemeClr val="accent1"/>
          </a:lnRef>
          <a:fillRef idx="0">
            <a:schemeClr val="accent1"/>
          </a:fillRef>
          <a:effectRef idx="0">
            <a:schemeClr val="accent1"/>
          </a:effectRef>
          <a:fontRef idx="minor">
            <a:schemeClr val="tx1"/>
          </a:fontRef>
        </p:style>
      </p:cxnSp>
      <p:sp>
        <p:nvSpPr>
          <p:cNvPr id="31" name="ZoneTexte 30">
            <a:extLst>
              <a:ext uri="{FF2B5EF4-FFF2-40B4-BE49-F238E27FC236}">
                <a16:creationId xmlns:a16="http://schemas.microsoft.com/office/drawing/2014/main" id="{63B97636-BA19-BB67-2F46-4D791CF8E616}"/>
              </a:ext>
            </a:extLst>
          </p:cNvPr>
          <p:cNvSpPr txBox="1"/>
          <p:nvPr/>
        </p:nvSpPr>
        <p:spPr>
          <a:xfrm>
            <a:off x="246188" y="411065"/>
            <a:ext cx="1705704" cy="1785104"/>
          </a:xfrm>
          <a:prstGeom prst="rect">
            <a:avLst/>
          </a:prstGeom>
          <a:noFill/>
          <a:ln w="6350">
            <a:solidFill>
              <a:schemeClr val="tx1"/>
            </a:solidFill>
          </a:ln>
        </p:spPr>
        <p:txBody>
          <a:bodyPr wrap="square" rtlCol="0">
            <a:spAutoFit/>
          </a:bodyPr>
          <a:lstStyle/>
          <a:p>
            <a:pPr algn="ctr"/>
            <a:r>
              <a:rPr lang="fr-FR" sz="1100" u="sng"/>
              <a:t>Objectif</a:t>
            </a:r>
          </a:p>
          <a:p>
            <a:pPr algn="ctr"/>
            <a:r>
              <a:rPr lang="fr-FR" sz="900">
                <a:solidFill>
                  <a:srgbClr val="262626"/>
                </a:solidFill>
              </a:rPr>
              <a:t>Concilier les écritures bancaires et comptables </a:t>
            </a:r>
          </a:p>
          <a:p>
            <a:pPr algn="ctr"/>
            <a:endParaRPr lang="fr-FR" sz="200"/>
          </a:p>
          <a:p>
            <a:pPr marL="0" marR="0" lvl="0" indent="0" algn="ctr" defTabSz="914286" rtl="0" eaLnBrk="1" fontAlgn="auto" latinLnBrk="0" hangingPunct="1">
              <a:lnSpc>
                <a:spcPct val="100000"/>
              </a:lnSpc>
              <a:spcBef>
                <a:spcPts val="0"/>
              </a:spcBef>
              <a:spcAft>
                <a:spcPts val="0"/>
              </a:spcAft>
              <a:buClrTx/>
              <a:buSzTx/>
              <a:buFontTx/>
              <a:buNone/>
              <a:tabLst/>
              <a:defRPr/>
            </a:pPr>
            <a:r>
              <a:rPr kumimoji="0" lang="fr-FR" sz="1100" b="0" i="0" u="sng" strike="noStrike" kern="1200" cap="none" spc="0" normalizeH="0" baseline="0" noProof="0">
                <a:ln>
                  <a:noFill/>
                </a:ln>
                <a:solidFill>
                  <a:srgbClr val="003DA5"/>
                </a:solidFill>
                <a:effectLst/>
                <a:uLnTx/>
                <a:uFillTx/>
                <a:latin typeface="Calibri" panose="020F0502020204030204"/>
                <a:ea typeface="+mn-ea"/>
                <a:cs typeface="+mn-cs"/>
              </a:rPr>
              <a:t>Contenue</a:t>
            </a:r>
          </a:p>
          <a:p>
            <a:pPr marL="0" marR="0" lvl="0" indent="0" algn="ctr" defTabSz="914286" rtl="0" eaLnBrk="1" fontAlgn="auto" latinLnBrk="0" hangingPunct="1">
              <a:lnSpc>
                <a:spcPct val="100000"/>
              </a:lnSpc>
              <a:spcBef>
                <a:spcPts val="0"/>
              </a:spcBef>
              <a:spcAft>
                <a:spcPts val="0"/>
              </a:spcAft>
              <a:buClrTx/>
              <a:buSzTx/>
              <a:buFontTx/>
              <a:buNone/>
              <a:tabLst/>
              <a:defRPr/>
            </a:pPr>
            <a:r>
              <a:rPr lang="fr-FR" sz="900">
                <a:solidFill>
                  <a:srgbClr val="262626"/>
                </a:solidFill>
              </a:rPr>
              <a:t>Conciliation bancaire</a:t>
            </a:r>
          </a:p>
          <a:p>
            <a:pPr marL="0" marR="0" lvl="0" indent="0" algn="ctr" defTabSz="914286" rtl="0" eaLnBrk="1" fontAlgn="auto" latinLnBrk="0" hangingPunct="1">
              <a:lnSpc>
                <a:spcPct val="100000"/>
              </a:lnSpc>
              <a:spcBef>
                <a:spcPts val="0"/>
              </a:spcBef>
              <a:spcAft>
                <a:spcPts val="0"/>
              </a:spcAft>
              <a:buClrTx/>
              <a:buSzTx/>
              <a:buFontTx/>
              <a:buNone/>
              <a:tabLst/>
              <a:defRPr/>
            </a:pPr>
            <a:r>
              <a:rPr lang="fr-FR" sz="900">
                <a:solidFill>
                  <a:srgbClr val="262626"/>
                </a:solidFill>
              </a:rPr>
              <a:t>Conciliation comptable</a:t>
            </a:r>
          </a:p>
          <a:p>
            <a:pPr marL="0" marR="0" lvl="0" indent="0" algn="ctr" defTabSz="914286" rtl="0" eaLnBrk="1" fontAlgn="auto" latinLnBrk="0" hangingPunct="1">
              <a:lnSpc>
                <a:spcPct val="100000"/>
              </a:lnSpc>
              <a:spcBef>
                <a:spcPts val="0"/>
              </a:spcBef>
              <a:spcAft>
                <a:spcPts val="0"/>
              </a:spcAft>
              <a:buClrTx/>
              <a:buSzTx/>
              <a:buFontTx/>
              <a:buNone/>
              <a:tabLst/>
              <a:defRPr/>
            </a:pPr>
            <a:r>
              <a:rPr lang="fr-FR" sz="900">
                <a:solidFill>
                  <a:srgbClr val="262626"/>
                </a:solidFill>
              </a:rPr>
              <a:t>Exercice mensuel de suivit de la conciliation</a:t>
            </a:r>
          </a:p>
          <a:p>
            <a:pPr marL="0" marR="0" lvl="0" indent="0" algn="ctr" defTabSz="914286" rtl="0" eaLnBrk="1" fontAlgn="auto" latinLnBrk="0" hangingPunct="1">
              <a:lnSpc>
                <a:spcPct val="100000"/>
              </a:lnSpc>
              <a:spcBef>
                <a:spcPts val="0"/>
              </a:spcBef>
              <a:spcAft>
                <a:spcPts val="0"/>
              </a:spcAft>
              <a:buClrTx/>
              <a:buSzTx/>
              <a:buFontTx/>
              <a:buNone/>
              <a:tabLst/>
              <a:defRPr/>
            </a:pPr>
            <a:r>
              <a:rPr lang="fr-FR" sz="900">
                <a:solidFill>
                  <a:srgbClr val="262626"/>
                </a:solidFill>
              </a:rPr>
              <a:t>Sauvegarde des suivit pour audit</a:t>
            </a:r>
          </a:p>
          <a:p>
            <a:pPr marL="0" marR="0" lvl="0" indent="0" algn="ctr" defTabSz="914286" rtl="0" eaLnBrk="1" fontAlgn="auto" latinLnBrk="0" hangingPunct="1">
              <a:lnSpc>
                <a:spcPct val="100000"/>
              </a:lnSpc>
              <a:spcBef>
                <a:spcPts val="0"/>
              </a:spcBef>
              <a:spcAft>
                <a:spcPts val="0"/>
              </a:spcAft>
              <a:buClrTx/>
              <a:buSzTx/>
              <a:buFontTx/>
              <a:buNone/>
              <a:tabLst/>
              <a:defRPr/>
            </a:pPr>
            <a:endParaRPr lang="fr-FR" sz="300"/>
          </a:p>
          <a:p>
            <a:pPr lvl="0" algn="ctr">
              <a:defRPr/>
            </a:pPr>
            <a:r>
              <a:rPr lang="fr-FR" sz="1100" u="sng">
                <a:solidFill>
                  <a:srgbClr val="003DA5"/>
                </a:solidFill>
              </a:rPr>
              <a:t>Acteurs</a:t>
            </a:r>
          </a:p>
          <a:p>
            <a:pPr lvl="0" algn="ctr">
              <a:defRPr/>
            </a:pPr>
            <a:r>
              <a:rPr lang="fr-FR" sz="900">
                <a:solidFill>
                  <a:srgbClr val="262626"/>
                </a:solidFill>
              </a:rPr>
              <a:t>CSP Bancaire </a:t>
            </a:r>
          </a:p>
        </p:txBody>
      </p:sp>
    </p:spTree>
    <p:extLst>
      <p:ext uri="{BB962C8B-B14F-4D97-AF65-F5344CB8AC3E}">
        <p14:creationId xmlns:p14="http://schemas.microsoft.com/office/powerpoint/2010/main" val="344874848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6F35B-7485-A6D5-6D25-D93A05743B6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C38941B-53F9-A433-8E02-40D9DFD83065}"/>
              </a:ext>
            </a:extLst>
          </p:cNvPr>
          <p:cNvSpPr>
            <a:spLocks noGrp="1"/>
          </p:cNvSpPr>
          <p:nvPr>
            <p:ph type="title"/>
          </p:nvPr>
        </p:nvSpPr>
        <p:spPr>
          <a:xfrm>
            <a:off x="193964" y="0"/>
            <a:ext cx="8950036" cy="381000"/>
          </a:xfrm>
          <a:solidFill>
            <a:schemeClr val="tx1"/>
          </a:solidFill>
        </p:spPr>
        <p:txBody>
          <a:bodyPr vert="horz" lIns="91440" tIns="45720" rIns="91440" bIns="45720" rtlCol="0" anchor="ctr">
            <a:noAutofit/>
          </a:bodyPr>
          <a:lstStyle/>
          <a:p>
            <a:r>
              <a:rPr lang="fr-CA" sz="2000" b="1">
                <a:solidFill>
                  <a:schemeClr val="bg1"/>
                </a:solidFill>
              </a:rPr>
              <a:t>Cycle de vie de la gestion de la conciliation bancaire</a:t>
            </a:r>
            <a:endParaRPr lang="fr-CA" sz="1600" b="1">
              <a:solidFill>
                <a:schemeClr val="bg1"/>
              </a:solidFill>
            </a:endParaRPr>
          </a:p>
        </p:txBody>
      </p:sp>
      <p:graphicFrame>
        <p:nvGraphicFramePr>
          <p:cNvPr id="3" name="Diagramme 2">
            <a:extLst>
              <a:ext uri="{FF2B5EF4-FFF2-40B4-BE49-F238E27FC236}">
                <a16:creationId xmlns:a16="http://schemas.microsoft.com/office/drawing/2014/main" id="{718DC00A-8BD9-B206-9DB0-DF514C1853C7}"/>
              </a:ext>
            </a:extLst>
          </p:cNvPr>
          <p:cNvGraphicFramePr/>
          <p:nvPr>
            <p:extLst>
              <p:ext uri="{D42A27DB-BD31-4B8C-83A1-F6EECF244321}">
                <p14:modId xmlns:p14="http://schemas.microsoft.com/office/powerpoint/2010/main" val="564129642"/>
              </p:ext>
            </p:extLst>
          </p:nvPr>
        </p:nvGraphicFramePr>
        <p:xfrm>
          <a:off x="869837" y="457198"/>
          <a:ext cx="8107109" cy="46863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ZoneTexte 3">
            <a:extLst>
              <a:ext uri="{FF2B5EF4-FFF2-40B4-BE49-F238E27FC236}">
                <a16:creationId xmlns:a16="http://schemas.microsoft.com/office/drawing/2014/main" id="{E4025567-90B6-DE3B-9B4C-C2A1F53C95B2}"/>
              </a:ext>
            </a:extLst>
          </p:cNvPr>
          <p:cNvSpPr txBox="1"/>
          <p:nvPr/>
        </p:nvSpPr>
        <p:spPr>
          <a:xfrm>
            <a:off x="6462342" y="430822"/>
            <a:ext cx="1811215" cy="1508105"/>
          </a:xfrm>
          <a:prstGeom prst="rect">
            <a:avLst/>
          </a:prstGeom>
          <a:noFill/>
          <a:ln w="6350">
            <a:solidFill>
              <a:schemeClr val="tx1"/>
            </a:solidFill>
          </a:ln>
        </p:spPr>
        <p:txBody>
          <a:bodyPr wrap="square" rtlCol="0">
            <a:spAutoFit/>
          </a:bodyPr>
          <a:lstStyle/>
          <a:p>
            <a:pPr algn="ctr"/>
            <a:r>
              <a:rPr lang="fr-FR" sz="1100" u="sng"/>
              <a:t>Objectif</a:t>
            </a:r>
          </a:p>
          <a:p>
            <a:pPr algn="ctr"/>
            <a:r>
              <a:rPr lang="fr-FR" sz="900">
                <a:solidFill>
                  <a:srgbClr val="262626"/>
                </a:solidFill>
              </a:rPr>
              <a:t>Recevoir toutes les données nécessaires à la conciliation</a:t>
            </a:r>
          </a:p>
          <a:p>
            <a:pPr algn="ctr"/>
            <a:endParaRPr lang="fr-FR" sz="200"/>
          </a:p>
          <a:p>
            <a:pPr marL="0" marR="0" lvl="0" indent="0" algn="ctr" defTabSz="914286" rtl="0" eaLnBrk="1" fontAlgn="auto" latinLnBrk="0" hangingPunct="1">
              <a:lnSpc>
                <a:spcPct val="100000"/>
              </a:lnSpc>
              <a:spcBef>
                <a:spcPts val="0"/>
              </a:spcBef>
              <a:spcAft>
                <a:spcPts val="0"/>
              </a:spcAft>
              <a:buClrTx/>
              <a:buSzTx/>
              <a:buFontTx/>
              <a:buNone/>
              <a:tabLst/>
              <a:defRPr/>
            </a:pPr>
            <a:r>
              <a:rPr kumimoji="0" lang="fr-FR" sz="1100" b="0" i="0" u="sng" strike="noStrike" kern="1200" cap="none" spc="0" normalizeH="0" baseline="0" noProof="0">
                <a:ln>
                  <a:noFill/>
                </a:ln>
                <a:solidFill>
                  <a:srgbClr val="003DA5"/>
                </a:solidFill>
                <a:effectLst/>
                <a:uLnTx/>
                <a:uFillTx/>
                <a:latin typeface="Calibri" panose="020F0502020204030204"/>
                <a:ea typeface="+mn-ea"/>
                <a:cs typeface="+mn-cs"/>
              </a:rPr>
              <a:t>Contenue</a:t>
            </a:r>
          </a:p>
          <a:p>
            <a:pPr marL="0" marR="0" lvl="0" indent="0" algn="ctr" defTabSz="914286" rtl="0" eaLnBrk="1" fontAlgn="auto" latinLnBrk="0" hangingPunct="1">
              <a:lnSpc>
                <a:spcPct val="100000"/>
              </a:lnSpc>
              <a:spcBef>
                <a:spcPts val="0"/>
              </a:spcBef>
              <a:spcAft>
                <a:spcPts val="0"/>
              </a:spcAft>
              <a:buClrTx/>
              <a:buSzTx/>
              <a:buFontTx/>
              <a:buNone/>
              <a:tabLst/>
              <a:defRPr/>
            </a:pPr>
            <a:r>
              <a:rPr lang="fr-FR" sz="900">
                <a:solidFill>
                  <a:srgbClr val="262626"/>
                </a:solidFill>
              </a:rPr>
              <a:t>Réception des données bancaires</a:t>
            </a:r>
          </a:p>
          <a:p>
            <a:pPr marL="0" marR="0" lvl="0" indent="0" algn="ctr" defTabSz="914286" rtl="0" eaLnBrk="1" fontAlgn="auto" latinLnBrk="0" hangingPunct="1">
              <a:lnSpc>
                <a:spcPct val="100000"/>
              </a:lnSpc>
              <a:spcBef>
                <a:spcPts val="0"/>
              </a:spcBef>
              <a:spcAft>
                <a:spcPts val="0"/>
              </a:spcAft>
              <a:buClrTx/>
              <a:buSzTx/>
              <a:buFontTx/>
              <a:buNone/>
              <a:tabLst/>
              <a:defRPr/>
            </a:pPr>
            <a:r>
              <a:rPr lang="fr-FR" sz="900">
                <a:solidFill>
                  <a:srgbClr val="262626"/>
                </a:solidFill>
              </a:rPr>
              <a:t>Transmission des écritures au GL</a:t>
            </a:r>
          </a:p>
          <a:p>
            <a:pPr marL="0" marR="0" lvl="0" indent="0" algn="ctr" defTabSz="914286" rtl="0" eaLnBrk="1" fontAlgn="auto" latinLnBrk="0" hangingPunct="1">
              <a:lnSpc>
                <a:spcPct val="100000"/>
              </a:lnSpc>
              <a:spcBef>
                <a:spcPts val="0"/>
              </a:spcBef>
              <a:spcAft>
                <a:spcPts val="0"/>
              </a:spcAft>
              <a:buClrTx/>
              <a:buSzTx/>
              <a:buFontTx/>
              <a:buNone/>
              <a:tabLst/>
              <a:defRPr/>
            </a:pPr>
            <a:endParaRPr lang="fr-FR" sz="300"/>
          </a:p>
          <a:p>
            <a:pPr lvl="0" algn="ctr">
              <a:defRPr/>
            </a:pPr>
            <a:r>
              <a:rPr lang="fr-FR" sz="1100" u="sng">
                <a:solidFill>
                  <a:srgbClr val="003DA5"/>
                </a:solidFill>
              </a:rPr>
              <a:t>Acteurs</a:t>
            </a:r>
          </a:p>
          <a:p>
            <a:pPr lvl="0" algn="ctr">
              <a:defRPr/>
            </a:pPr>
            <a:r>
              <a:rPr lang="fr-FR" sz="900">
                <a:solidFill>
                  <a:srgbClr val="262626"/>
                </a:solidFill>
              </a:rPr>
              <a:t>Unités d’affaires, CSP Bancaire, Équipe Système </a:t>
            </a:r>
          </a:p>
        </p:txBody>
      </p:sp>
      <p:cxnSp>
        <p:nvCxnSpPr>
          <p:cNvPr id="5" name="Connecteur droit 4">
            <a:extLst>
              <a:ext uri="{FF2B5EF4-FFF2-40B4-BE49-F238E27FC236}">
                <a16:creationId xmlns:a16="http://schemas.microsoft.com/office/drawing/2014/main" id="{7945507C-EF25-1F27-33D3-EECA62C7D542}"/>
              </a:ext>
            </a:extLst>
          </p:cNvPr>
          <p:cNvCxnSpPr>
            <a:cxnSpLocks/>
            <a:stCxn id="4" idx="1"/>
          </p:cNvCxnSpPr>
          <p:nvPr/>
        </p:nvCxnSpPr>
        <p:spPr>
          <a:xfrm flipH="1" flipV="1">
            <a:off x="5416062" y="879231"/>
            <a:ext cx="1046280" cy="305644"/>
          </a:xfrm>
          <a:prstGeom prst="line">
            <a:avLst/>
          </a:prstGeom>
        </p:spPr>
        <p:style>
          <a:lnRef idx="1">
            <a:schemeClr val="accent1"/>
          </a:lnRef>
          <a:fillRef idx="0">
            <a:schemeClr val="accent1"/>
          </a:fillRef>
          <a:effectRef idx="0">
            <a:schemeClr val="accent1"/>
          </a:effectRef>
          <a:fontRef idx="minor">
            <a:schemeClr val="tx1"/>
          </a:fontRef>
        </p:style>
      </p:cxnSp>
      <p:sp>
        <p:nvSpPr>
          <p:cNvPr id="8" name="ZoneTexte 7">
            <a:extLst>
              <a:ext uri="{FF2B5EF4-FFF2-40B4-BE49-F238E27FC236}">
                <a16:creationId xmlns:a16="http://schemas.microsoft.com/office/drawing/2014/main" id="{EE1D5749-5E52-C9C7-6886-1CD01BFC3EA6}"/>
              </a:ext>
            </a:extLst>
          </p:cNvPr>
          <p:cNvSpPr txBox="1"/>
          <p:nvPr/>
        </p:nvSpPr>
        <p:spPr>
          <a:xfrm>
            <a:off x="7148147" y="3660530"/>
            <a:ext cx="1960684" cy="1338828"/>
          </a:xfrm>
          <a:prstGeom prst="rect">
            <a:avLst/>
          </a:prstGeom>
          <a:noFill/>
          <a:ln w="6350">
            <a:solidFill>
              <a:schemeClr val="tx1"/>
            </a:solidFill>
          </a:ln>
        </p:spPr>
        <p:txBody>
          <a:bodyPr wrap="square" rtlCol="0">
            <a:spAutoFit/>
          </a:bodyPr>
          <a:lstStyle/>
          <a:p>
            <a:pPr algn="ctr"/>
            <a:r>
              <a:rPr lang="fr-FR" sz="1100" u="sng"/>
              <a:t>Objectif</a:t>
            </a:r>
          </a:p>
          <a:p>
            <a:pPr algn="ctr"/>
            <a:r>
              <a:rPr lang="fr-FR" sz="900">
                <a:solidFill>
                  <a:srgbClr val="262626"/>
                </a:solidFill>
              </a:rPr>
              <a:t>Concilier les écritures bancaires avec les écritures comptables GL</a:t>
            </a:r>
            <a:endParaRPr lang="fr-FR" sz="100"/>
          </a:p>
          <a:p>
            <a:pPr lvl="0" algn="ctr">
              <a:defRPr/>
            </a:pPr>
            <a:r>
              <a:rPr lang="fr-FR" sz="1100" u="sng">
                <a:solidFill>
                  <a:srgbClr val="003DA5"/>
                </a:solidFill>
              </a:rPr>
              <a:t>Contenue</a:t>
            </a:r>
          </a:p>
          <a:p>
            <a:pPr algn="ctr"/>
            <a:r>
              <a:rPr lang="fr-FR" sz="900">
                <a:solidFill>
                  <a:srgbClr val="262626"/>
                </a:solidFill>
              </a:rPr>
              <a:t>Conciliation bancaire</a:t>
            </a:r>
          </a:p>
          <a:p>
            <a:pPr algn="ctr"/>
            <a:r>
              <a:rPr lang="fr-FR" sz="900">
                <a:solidFill>
                  <a:srgbClr val="262626"/>
                </a:solidFill>
              </a:rPr>
              <a:t>Suivit des transactions non conciliées</a:t>
            </a:r>
          </a:p>
          <a:p>
            <a:pPr marL="0" marR="0" lvl="0" indent="0" algn="ctr" defTabSz="914286" rtl="0" eaLnBrk="1" fontAlgn="auto" latinLnBrk="0" hangingPunct="1">
              <a:lnSpc>
                <a:spcPct val="100000"/>
              </a:lnSpc>
              <a:spcBef>
                <a:spcPts val="0"/>
              </a:spcBef>
              <a:spcAft>
                <a:spcPts val="0"/>
              </a:spcAft>
              <a:buClrTx/>
              <a:buSzTx/>
              <a:buFontTx/>
              <a:buNone/>
              <a:tabLst/>
              <a:defRPr/>
            </a:pPr>
            <a:endParaRPr lang="fr-FR" sz="300"/>
          </a:p>
          <a:p>
            <a:pPr lvl="0" algn="ctr">
              <a:defRPr/>
            </a:pPr>
            <a:r>
              <a:rPr lang="fr-FR" sz="1100" u="sng">
                <a:solidFill>
                  <a:srgbClr val="003DA5"/>
                </a:solidFill>
              </a:rPr>
              <a:t>Acteurs</a:t>
            </a:r>
          </a:p>
          <a:p>
            <a:pPr lvl="0" algn="ctr">
              <a:defRPr/>
            </a:pPr>
            <a:r>
              <a:rPr lang="fr-FR" sz="900">
                <a:solidFill>
                  <a:srgbClr val="262626"/>
                </a:solidFill>
              </a:rPr>
              <a:t>CSP Bancaire</a:t>
            </a:r>
          </a:p>
        </p:txBody>
      </p:sp>
      <p:cxnSp>
        <p:nvCxnSpPr>
          <p:cNvPr id="9" name="Connecteur droit 8">
            <a:extLst>
              <a:ext uri="{FF2B5EF4-FFF2-40B4-BE49-F238E27FC236}">
                <a16:creationId xmlns:a16="http://schemas.microsoft.com/office/drawing/2014/main" id="{4CAC03F3-D9D8-7165-B830-940340CE6E0C}"/>
              </a:ext>
            </a:extLst>
          </p:cNvPr>
          <p:cNvCxnSpPr>
            <a:cxnSpLocks/>
            <a:stCxn id="8" idx="0"/>
          </p:cNvCxnSpPr>
          <p:nvPr/>
        </p:nvCxnSpPr>
        <p:spPr>
          <a:xfrm flipH="1" flipV="1">
            <a:off x="7332785" y="2998177"/>
            <a:ext cx="795704" cy="662353"/>
          </a:xfrm>
          <a:prstGeom prst="line">
            <a:avLst/>
          </a:prstGeom>
        </p:spPr>
        <p:style>
          <a:lnRef idx="1">
            <a:schemeClr val="accent1"/>
          </a:lnRef>
          <a:fillRef idx="0">
            <a:schemeClr val="accent1"/>
          </a:fillRef>
          <a:effectRef idx="0">
            <a:schemeClr val="accent1"/>
          </a:effectRef>
          <a:fontRef idx="minor">
            <a:schemeClr val="tx1"/>
          </a:fontRef>
        </p:style>
      </p:cxnSp>
      <p:sp>
        <p:nvSpPr>
          <p:cNvPr id="16" name="ZoneTexte 15">
            <a:extLst>
              <a:ext uri="{FF2B5EF4-FFF2-40B4-BE49-F238E27FC236}">
                <a16:creationId xmlns:a16="http://schemas.microsoft.com/office/drawing/2014/main" id="{A88BFA5F-316E-4621-A1CD-204363DFDB30}"/>
              </a:ext>
            </a:extLst>
          </p:cNvPr>
          <p:cNvSpPr txBox="1"/>
          <p:nvPr/>
        </p:nvSpPr>
        <p:spPr>
          <a:xfrm>
            <a:off x="653562" y="4006359"/>
            <a:ext cx="1811215" cy="892552"/>
          </a:xfrm>
          <a:prstGeom prst="rect">
            <a:avLst/>
          </a:prstGeom>
          <a:noFill/>
          <a:ln w="6350">
            <a:solidFill>
              <a:schemeClr val="tx1"/>
            </a:solidFill>
          </a:ln>
        </p:spPr>
        <p:txBody>
          <a:bodyPr wrap="square" rtlCol="0">
            <a:spAutoFit/>
          </a:bodyPr>
          <a:lstStyle/>
          <a:p>
            <a:pPr algn="ctr"/>
            <a:r>
              <a:rPr lang="fr-FR" sz="1100" u="sng"/>
              <a:t>Objectif</a:t>
            </a:r>
          </a:p>
          <a:p>
            <a:pPr algn="ctr"/>
            <a:r>
              <a:rPr lang="fr-FR" sz="900">
                <a:solidFill>
                  <a:srgbClr val="262626"/>
                </a:solidFill>
              </a:rPr>
              <a:t>Concilier les écritures GL avec les systèmes de mission</a:t>
            </a:r>
          </a:p>
          <a:p>
            <a:pPr marL="0" marR="0" lvl="0" indent="0" algn="ctr" defTabSz="914286" rtl="0" eaLnBrk="1" fontAlgn="auto" latinLnBrk="0" hangingPunct="1">
              <a:lnSpc>
                <a:spcPct val="100000"/>
              </a:lnSpc>
              <a:spcBef>
                <a:spcPts val="0"/>
              </a:spcBef>
              <a:spcAft>
                <a:spcPts val="0"/>
              </a:spcAft>
              <a:buClrTx/>
              <a:buSzTx/>
              <a:buFontTx/>
              <a:buNone/>
              <a:tabLst/>
              <a:defRPr/>
            </a:pPr>
            <a:endParaRPr lang="fr-FR" sz="300"/>
          </a:p>
          <a:p>
            <a:pPr lvl="0" algn="ctr">
              <a:defRPr/>
            </a:pPr>
            <a:r>
              <a:rPr lang="fr-FR" sz="1100" u="sng">
                <a:solidFill>
                  <a:srgbClr val="003DA5"/>
                </a:solidFill>
              </a:rPr>
              <a:t>Acteurs</a:t>
            </a:r>
          </a:p>
          <a:p>
            <a:pPr lvl="0" algn="ctr">
              <a:defRPr/>
            </a:pPr>
            <a:r>
              <a:rPr lang="fr-FR" sz="900">
                <a:solidFill>
                  <a:srgbClr val="262626"/>
                </a:solidFill>
              </a:rPr>
              <a:t>Unités d’affaires</a:t>
            </a:r>
          </a:p>
        </p:txBody>
      </p:sp>
      <p:cxnSp>
        <p:nvCxnSpPr>
          <p:cNvPr id="17" name="Connecteur droit 16">
            <a:extLst>
              <a:ext uri="{FF2B5EF4-FFF2-40B4-BE49-F238E27FC236}">
                <a16:creationId xmlns:a16="http://schemas.microsoft.com/office/drawing/2014/main" id="{32078582-EA34-CC9E-BDCB-B4B4E52EDD5D}"/>
              </a:ext>
            </a:extLst>
          </p:cNvPr>
          <p:cNvCxnSpPr>
            <a:cxnSpLocks/>
            <a:stCxn id="16" idx="3"/>
          </p:cNvCxnSpPr>
          <p:nvPr/>
        </p:nvCxnSpPr>
        <p:spPr>
          <a:xfrm flipV="1">
            <a:off x="2464777" y="4448908"/>
            <a:ext cx="1359877" cy="3727"/>
          </a:xfrm>
          <a:prstGeom prst="line">
            <a:avLst/>
          </a:prstGeom>
        </p:spPr>
        <p:style>
          <a:lnRef idx="1">
            <a:schemeClr val="accent1"/>
          </a:lnRef>
          <a:fillRef idx="0">
            <a:schemeClr val="accent1"/>
          </a:fillRef>
          <a:effectRef idx="0">
            <a:schemeClr val="accent1"/>
          </a:effectRef>
          <a:fontRef idx="minor">
            <a:schemeClr val="tx1"/>
          </a:fontRef>
        </p:style>
      </p:cxnSp>
      <p:sp>
        <p:nvSpPr>
          <p:cNvPr id="23" name="ZoneTexte 22">
            <a:extLst>
              <a:ext uri="{FF2B5EF4-FFF2-40B4-BE49-F238E27FC236}">
                <a16:creationId xmlns:a16="http://schemas.microsoft.com/office/drawing/2014/main" id="{648E0A1D-4A79-B875-1EBB-9F1443993A05}"/>
              </a:ext>
            </a:extLst>
          </p:cNvPr>
          <p:cNvSpPr txBox="1"/>
          <p:nvPr/>
        </p:nvSpPr>
        <p:spPr>
          <a:xfrm>
            <a:off x="269329" y="703474"/>
            <a:ext cx="1811215" cy="1031051"/>
          </a:xfrm>
          <a:prstGeom prst="rect">
            <a:avLst/>
          </a:prstGeom>
          <a:noFill/>
          <a:ln w="6350">
            <a:solidFill>
              <a:schemeClr val="tx1"/>
            </a:solidFill>
          </a:ln>
        </p:spPr>
        <p:txBody>
          <a:bodyPr wrap="square" rtlCol="0">
            <a:spAutoFit/>
          </a:bodyPr>
          <a:lstStyle/>
          <a:p>
            <a:pPr algn="ctr"/>
            <a:r>
              <a:rPr lang="fr-FR" sz="1100" u="sng"/>
              <a:t>Objectif</a:t>
            </a:r>
          </a:p>
          <a:p>
            <a:pPr algn="ctr"/>
            <a:r>
              <a:rPr lang="fr-FR" sz="900">
                <a:solidFill>
                  <a:srgbClr val="262626"/>
                </a:solidFill>
              </a:rPr>
              <a:t>Exposer, documenter, centraliser et sauvegarder les écarts de conciliation </a:t>
            </a:r>
          </a:p>
          <a:p>
            <a:pPr marL="0" marR="0" lvl="0" indent="0" algn="ctr" defTabSz="914286" rtl="0" eaLnBrk="1" fontAlgn="auto" latinLnBrk="0" hangingPunct="1">
              <a:lnSpc>
                <a:spcPct val="100000"/>
              </a:lnSpc>
              <a:spcBef>
                <a:spcPts val="0"/>
              </a:spcBef>
              <a:spcAft>
                <a:spcPts val="0"/>
              </a:spcAft>
              <a:buClrTx/>
              <a:buSzTx/>
              <a:buFontTx/>
              <a:buNone/>
              <a:tabLst/>
              <a:defRPr/>
            </a:pPr>
            <a:endParaRPr lang="fr-FR" sz="300"/>
          </a:p>
          <a:p>
            <a:pPr lvl="0" algn="ctr">
              <a:defRPr/>
            </a:pPr>
            <a:r>
              <a:rPr lang="fr-FR" sz="1100" u="sng">
                <a:solidFill>
                  <a:srgbClr val="003DA5"/>
                </a:solidFill>
              </a:rPr>
              <a:t>Acteurs</a:t>
            </a:r>
          </a:p>
          <a:p>
            <a:pPr lvl="0" algn="ctr">
              <a:defRPr/>
            </a:pPr>
            <a:r>
              <a:rPr lang="fr-FR" sz="900">
                <a:solidFill>
                  <a:srgbClr val="262626"/>
                </a:solidFill>
              </a:rPr>
              <a:t>CSP Bancaire</a:t>
            </a:r>
          </a:p>
        </p:txBody>
      </p:sp>
      <p:cxnSp>
        <p:nvCxnSpPr>
          <p:cNvPr id="24" name="Connecteur droit 23">
            <a:extLst>
              <a:ext uri="{FF2B5EF4-FFF2-40B4-BE49-F238E27FC236}">
                <a16:creationId xmlns:a16="http://schemas.microsoft.com/office/drawing/2014/main" id="{5C22D7C7-7EF3-3DBE-2DDC-223C52E8C963}"/>
              </a:ext>
            </a:extLst>
          </p:cNvPr>
          <p:cNvCxnSpPr>
            <a:cxnSpLocks/>
            <a:stCxn id="23" idx="2"/>
          </p:cNvCxnSpPr>
          <p:nvPr/>
        </p:nvCxnSpPr>
        <p:spPr>
          <a:xfrm>
            <a:off x="1174937" y="1734525"/>
            <a:ext cx="689032" cy="918309"/>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434172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B29A0-DD58-6CC9-EA12-4E1D402109A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54D2672-411B-3692-1A60-FD93962D3A06}"/>
              </a:ext>
            </a:extLst>
          </p:cNvPr>
          <p:cNvSpPr>
            <a:spLocks noGrp="1"/>
          </p:cNvSpPr>
          <p:nvPr>
            <p:ph type="title"/>
          </p:nvPr>
        </p:nvSpPr>
        <p:spPr>
          <a:xfrm>
            <a:off x="193964" y="0"/>
            <a:ext cx="8950036" cy="381000"/>
          </a:xfrm>
          <a:solidFill>
            <a:schemeClr val="tx1"/>
          </a:solidFill>
        </p:spPr>
        <p:txBody>
          <a:bodyPr vert="horz" lIns="91440" tIns="45720" rIns="91440" bIns="45720" rtlCol="0" anchor="ctr">
            <a:noAutofit/>
          </a:bodyPr>
          <a:lstStyle/>
          <a:p>
            <a:r>
              <a:rPr lang="fr-CA" sz="2000" b="1">
                <a:solidFill>
                  <a:schemeClr val="bg1"/>
                </a:solidFill>
              </a:rPr>
              <a:t>Cycle de vie de la gestion de la Fraude et des anomalies</a:t>
            </a:r>
            <a:endParaRPr lang="fr-CA" sz="1600" b="1">
              <a:solidFill>
                <a:schemeClr val="bg1"/>
              </a:solidFill>
            </a:endParaRPr>
          </a:p>
        </p:txBody>
      </p:sp>
      <p:graphicFrame>
        <p:nvGraphicFramePr>
          <p:cNvPr id="3" name="Diagramme 2">
            <a:extLst>
              <a:ext uri="{FF2B5EF4-FFF2-40B4-BE49-F238E27FC236}">
                <a16:creationId xmlns:a16="http://schemas.microsoft.com/office/drawing/2014/main" id="{5771533E-1EFF-89E2-7FB6-2270A1ECA957}"/>
              </a:ext>
            </a:extLst>
          </p:cNvPr>
          <p:cNvGraphicFramePr/>
          <p:nvPr>
            <p:extLst>
              <p:ext uri="{D42A27DB-BD31-4B8C-83A1-F6EECF244321}">
                <p14:modId xmlns:p14="http://schemas.microsoft.com/office/powerpoint/2010/main" val="3712696691"/>
              </p:ext>
            </p:extLst>
          </p:nvPr>
        </p:nvGraphicFramePr>
        <p:xfrm>
          <a:off x="869837" y="474786"/>
          <a:ext cx="7957640" cy="46071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ZoneTexte 3">
            <a:extLst>
              <a:ext uri="{FF2B5EF4-FFF2-40B4-BE49-F238E27FC236}">
                <a16:creationId xmlns:a16="http://schemas.microsoft.com/office/drawing/2014/main" id="{97799206-FB46-95C7-E574-A334E6A9FB2E}"/>
              </a:ext>
            </a:extLst>
          </p:cNvPr>
          <p:cNvSpPr txBox="1"/>
          <p:nvPr/>
        </p:nvSpPr>
        <p:spPr>
          <a:xfrm>
            <a:off x="7138821" y="474786"/>
            <a:ext cx="1811215" cy="1308050"/>
          </a:xfrm>
          <a:prstGeom prst="rect">
            <a:avLst/>
          </a:prstGeom>
          <a:noFill/>
          <a:ln w="6350">
            <a:solidFill>
              <a:schemeClr val="tx1"/>
            </a:solidFill>
          </a:ln>
        </p:spPr>
        <p:txBody>
          <a:bodyPr wrap="square" rtlCol="0">
            <a:spAutoFit/>
          </a:bodyPr>
          <a:lstStyle/>
          <a:p>
            <a:pPr algn="ctr"/>
            <a:r>
              <a:rPr lang="fr-FR" sz="1100" u="sng"/>
              <a:t>Objectif</a:t>
            </a:r>
          </a:p>
          <a:p>
            <a:pPr algn="ctr"/>
            <a:r>
              <a:rPr lang="fr-FR" sz="900">
                <a:solidFill>
                  <a:srgbClr val="262626"/>
                </a:solidFill>
              </a:rPr>
              <a:t>Avoir des lignes directives en cohérence avec la stratégie de détection de fraude IA</a:t>
            </a:r>
            <a:endParaRPr lang="fr-FR" sz="200"/>
          </a:p>
          <a:p>
            <a:pPr marL="0" marR="0" lvl="0" indent="0" algn="ctr" defTabSz="914286" rtl="0" eaLnBrk="1" fontAlgn="auto" latinLnBrk="0" hangingPunct="1">
              <a:lnSpc>
                <a:spcPct val="100000"/>
              </a:lnSpc>
              <a:spcBef>
                <a:spcPts val="0"/>
              </a:spcBef>
              <a:spcAft>
                <a:spcPts val="0"/>
              </a:spcAft>
              <a:buClrTx/>
              <a:buSzTx/>
              <a:buFontTx/>
              <a:buNone/>
              <a:tabLst/>
              <a:defRPr/>
            </a:pPr>
            <a:endParaRPr lang="fr-FR" sz="300"/>
          </a:p>
          <a:p>
            <a:pPr lvl="0" algn="ctr">
              <a:defRPr/>
            </a:pPr>
            <a:r>
              <a:rPr lang="fr-FR" sz="1100" u="sng">
                <a:solidFill>
                  <a:srgbClr val="003DA5"/>
                </a:solidFill>
              </a:rPr>
              <a:t>Acteurs</a:t>
            </a:r>
          </a:p>
          <a:p>
            <a:pPr lvl="0" algn="ctr">
              <a:defRPr/>
            </a:pPr>
            <a:r>
              <a:rPr lang="fr-FR" sz="900">
                <a:solidFill>
                  <a:srgbClr val="262626"/>
                </a:solidFill>
              </a:rPr>
              <a:t>CSP Bancaire, Équipe Système</a:t>
            </a:r>
          </a:p>
          <a:p>
            <a:pPr lvl="0" algn="ctr">
              <a:defRPr/>
            </a:pPr>
            <a:r>
              <a:rPr lang="fr-FR" sz="900">
                <a:solidFill>
                  <a:srgbClr val="262626"/>
                </a:solidFill>
              </a:rPr>
              <a:t> Lute blanchiment d’argent (LBA) </a:t>
            </a:r>
          </a:p>
          <a:p>
            <a:pPr lvl="0" algn="ctr">
              <a:defRPr/>
            </a:pPr>
            <a:r>
              <a:rPr lang="fr-FR" sz="900">
                <a:solidFill>
                  <a:srgbClr val="262626"/>
                </a:solidFill>
              </a:rPr>
              <a:t>Gestion des risques</a:t>
            </a:r>
          </a:p>
        </p:txBody>
      </p:sp>
      <p:cxnSp>
        <p:nvCxnSpPr>
          <p:cNvPr id="5" name="Connecteur droit 4">
            <a:extLst>
              <a:ext uri="{FF2B5EF4-FFF2-40B4-BE49-F238E27FC236}">
                <a16:creationId xmlns:a16="http://schemas.microsoft.com/office/drawing/2014/main" id="{A5620320-7C70-15C2-8073-5BE1E179BDF7}"/>
              </a:ext>
            </a:extLst>
          </p:cNvPr>
          <p:cNvCxnSpPr>
            <a:cxnSpLocks/>
            <a:stCxn id="4" idx="1"/>
          </p:cNvCxnSpPr>
          <p:nvPr/>
        </p:nvCxnSpPr>
        <p:spPr>
          <a:xfrm flipH="1" flipV="1">
            <a:off x="5671038" y="967154"/>
            <a:ext cx="1467783" cy="161657"/>
          </a:xfrm>
          <a:prstGeom prst="line">
            <a:avLst/>
          </a:prstGeom>
        </p:spPr>
        <p:style>
          <a:lnRef idx="1">
            <a:schemeClr val="accent1"/>
          </a:lnRef>
          <a:fillRef idx="0">
            <a:schemeClr val="accent1"/>
          </a:fillRef>
          <a:effectRef idx="0">
            <a:schemeClr val="accent1"/>
          </a:effectRef>
          <a:fontRef idx="minor">
            <a:schemeClr val="tx1"/>
          </a:fontRef>
        </p:style>
      </p:cxnSp>
      <p:sp>
        <p:nvSpPr>
          <p:cNvPr id="7" name="ZoneTexte 6">
            <a:extLst>
              <a:ext uri="{FF2B5EF4-FFF2-40B4-BE49-F238E27FC236}">
                <a16:creationId xmlns:a16="http://schemas.microsoft.com/office/drawing/2014/main" id="{3B5C48B1-7C39-CAB9-B21A-B9E04A4E21E9}"/>
              </a:ext>
            </a:extLst>
          </p:cNvPr>
          <p:cNvSpPr txBox="1"/>
          <p:nvPr/>
        </p:nvSpPr>
        <p:spPr>
          <a:xfrm>
            <a:off x="7249257" y="3598986"/>
            <a:ext cx="1811215" cy="1031051"/>
          </a:xfrm>
          <a:prstGeom prst="rect">
            <a:avLst/>
          </a:prstGeom>
          <a:noFill/>
          <a:ln w="6350">
            <a:solidFill>
              <a:schemeClr val="tx1"/>
            </a:solidFill>
          </a:ln>
        </p:spPr>
        <p:txBody>
          <a:bodyPr wrap="square" rtlCol="0">
            <a:spAutoFit/>
          </a:bodyPr>
          <a:lstStyle/>
          <a:p>
            <a:pPr algn="ctr"/>
            <a:r>
              <a:rPr lang="fr-FR" sz="1100" u="sng"/>
              <a:t>Objectif</a:t>
            </a:r>
          </a:p>
          <a:p>
            <a:pPr algn="ctr"/>
            <a:r>
              <a:rPr lang="fr-FR" sz="900">
                <a:solidFill>
                  <a:srgbClr val="262626"/>
                </a:solidFill>
              </a:rPr>
              <a:t>Avoir de règle de détection de fraude à jours dans </a:t>
            </a:r>
            <a:r>
              <a:rPr lang="fr-FR" sz="900" err="1">
                <a:solidFill>
                  <a:srgbClr val="262626"/>
                </a:solidFill>
              </a:rPr>
              <a:t>kiryba</a:t>
            </a:r>
            <a:r>
              <a:rPr lang="fr-FR" sz="900">
                <a:solidFill>
                  <a:srgbClr val="262626"/>
                </a:solidFill>
              </a:rPr>
              <a:t>, en fonction de la stratégie établie</a:t>
            </a:r>
            <a:endParaRPr lang="fr-FR" sz="200"/>
          </a:p>
          <a:p>
            <a:pPr marL="0" marR="0" lvl="0" indent="0" algn="ctr" defTabSz="914286" rtl="0" eaLnBrk="1" fontAlgn="auto" latinLnBrk="0" hangingPunct="1">
              <a:lnSpc>
                <a:spcPct val="100000"/>
              </a:lnSpc>
              <a:spcBef>
                <a:spcPts val="0"/>
              </a:spcBef>
              <a:spcAft>
                <a:spcPts val="0"/>
              </a:spcAft>
              <a:buClrTx/>
              <a:buSzTx/>
              <a:buFontTx/>
              <a:buNone/>
              <a:tabLst/>
              <a:defRPr/>
            </a:pPr>
            <a:endParaRPr lang="fr-FR" sz="300"/>
          </a:p>
          <a:p>
            <a:pPr lvl="0" algn="ctr">
              <a:defRPr/>
            </a:pPr>
            <a:r>
              <a:rPr lang="fr-FR" sz="1100" u="sng">
                <a:solidFill>
                  <a:srgbClr val="003DA5"/>
                </a:solidFill>
              </a:rPr>
              <a:t>Acteurs</a:t>
            </a:r>
          </a:p>
          <a:p>
            <a:pPr lvl="0" algn="ctr">
              <a:defRPr/>
            </a:pPr>
            <a:r>
              <a:rPr lang="fr-FR" sz="900">
                <a:solidFill>
                  <a:srgbClr val="262626"/>
                </a:solidFill>
              </a:rPr>
              <a:t>CSP Bancaire, Équipe Système</a:t>
            </a:r>
          </a:p>
        </p:txBody>
      </p:sp>
      <p:cxnSp>
        <p:nvCxnSpPr>
          <p:cNvPr id="8" name="Connecteur droit 7">
            <a:extLst>
              <a:ext uri="{FF2B5EF4-FFF2-40B4-BE49-F238E27FC236}">
                <a16:creationId xmlns:a16="http://schemas.microsoft.com/office/drawing/2014/main" id="{A6A0C9A3-D743-C0CB-0D5F-D04ECA9C415F}"/>
              </a:ext>
            </a:extLst>
          </p:cNvPr>
          <p:cNvCxnSpPr>
            <a:cxnSpLocks/>
            <a:stCxn id="7" idx="1"/>
          </p:cNvCxnSpPr>
          <p:nvPr/>
        </p:nvCxnSpPr>
        <p:spPr>
          <a:xfrm flipH="1" flipV="1">
            <a:off x="6585438" y="3360665"/>
            <a:ext cx="663819" cy="753847"/>
          </a:xfrm>
          <a:prstGeom prst="line">
            <a:avLst/>
          </a:prstGeom>
        </p:spPr>
        <p:style>
          <a:lnRef idx="1">
            <a:schemeClr val="accent1"/>
          </a:lnRef>
          <a:fillRef idx="0">
            <a:schemeClr val="accent1"/>
          </a:fillRef>
          <a:effectRef idx="0">
            <a:schemeClr val="accent1"/>
          </a:effectRef>
          <a:fontRef idx="minor">
            <a:schemeClr val="tx1"/>
          </a:fontRef>
        </p:style>
      </p:cxnSp>
      <p:sp>
        <p:nvSpPr>
          <p:cNvPr id="11" name="ZoneTexte 10">
            <a:extLst>
              <a:ext uri="{FF2B5EF4-FFF2-40B4-BE49-F238E27FC236}">
                <a16:creationId xmlns:a16="http://schemas.microsoft.com/office/drawing/2014/main" id="{F95331F9-FBBD-EC2E-F211-3526BE549344}"/>
              </a:ext>
            </a:extLst>
          </p:cNvPr>
          <p:cNvSpPr txBox="1"/>
          <p:nvPr/>
        </p:nvSpPr>
        <p:spPr>
          <a:xfrm>
            <a:off x="678905" y="3837307"/>
            <a:ext cx="1811215" cy="1169551"/>
          </a:xfrm>
          <a:prstGeom prst="rect">
            <a:avLst/>
          </a:prstGeom>
          <a:noFill/>
          <a:ln w="6350">
            <a:solidFill>
              <a:schemeClr val="tx1"/>
            </a:solidFill>
          </a:ln>
        </p:spPr>
        <p:txBody>
          <a:bodyPr wrap="square" rtlCol="0">
            <a:spAutoFit/>
          </a:bodyPr>
          <a:lstStyle/>
          <a:p>
            <a:pPr algn="ctr"/>
            <a:r>
              <a:rPr lang="fr-FR" sz="1100" u="sng"/>
              <a:t>Objectif</a:t>
            </a:r>
          </a:p>
          <a:p>
            <a:pPr algn="ctr"/>
            <a:r>
              <a:rPr lang="fr-FR" sz="900">
                <a:solidFill>
                  <a:srgbClr val="262626"/>
                </a:solidFill>
              </a:rPr>
              <a:t>Détecter, analyser, traiter et escalader les cas de fraudes</a:t>
            </a:r>
            <a:endParaRPr lang="fr-FR" sz="200"/>
          </a:p>
          <a:p>
            <a:pPr marL="0" marR="0" lvl="0" indent="0" algn="ctr" defTabSz="914286" rtl="0" eaLnBrk="1" fontAlgn="auto" latinLnBrk="0" hangingPunct="1">
              <a:lnSpc>
                <a:spcPct val="100000"/>
              </a:lnSpc>
              <a:spcBef>
                <a:spcPts val="0"/>
              </a:spcBef>
              <a:spcAft>
                <a:spcPts val="0"/>
              </a:spcAft>
              <a:buClrTx/>
              <a:buSzTx/>
              <a:buFontTx/>
              <a:buNone/>
              <a:tabLst/>
              <a:defRPr/>
            </a:pPr>
            <a:endParaRPr lang="fr-FR" sz="300"/>
          </a:p>
          <a:p>
            <a:pPr lvl="0" algn="ctr">
              <a:defRPr/>
            </a:pPr>
            <a:r>
              <a:rPr lang="fr-FR" sz="1100" u="sng">
                <a:solidFill>
                  <a:srgbClr val="003DA5"/>
                </a:solidFill>
              </a:rPr>
              <a:t>Acteurs</a:t>
            </a:r>
          </a:p>
          <a:p>
            <a:pPr lvl="0" algn="ctr">
              <a:defRPr/>
            </a:pPr>
            <a:r>
              <a:rPr lang="fr-FR" sz="900">
                <a:solidFill>
                  <a:srgbClr val="262626"/>
                </a:solidFill>
              </a:rPr>
              <a:t>CSP Bancaire</a:t>
            </a:r>
          </a:p>
          <a:p>
            <a:pPr lvl="0" algn="ctr">
              <a:defRPr/>
            </a:pPr>
            <a:r>
              <a:rPr lang="fr-FR" sz="900">
                <a:solidFill>
                  <a:srgbClr val="262626"/>
                </a:solidFill>
              </a:rPr>
              <a:t>Lute blanchiment d’argent (LBA) </a:t>
            </a:r>
          </a:p>
          <a:p>
            <a:pPr lvl="0" algn="ctr">
              <a:defRPr/>
            </a:pPr>
            <a:r>
              <a:rPr lang="fr-FR" sz="900">
                <a:solidFill>
                  <a:srgbClr val="262626"/>
                </a:solidFill>
              </a:rPr>
              <a:t>Gestion des risques</a:t>
            </a:r>
          </a:p>
        </p:txBody>
      </p:sp>
      <p:cxnSp>
        <p:nvCxnSpPr>
          <p:cNvPr id="12" name="Connecteur droit 11">
            <a:extLst>
              <a:ext uri="{FF2B5EF4-FFF2-40B4-BE49-F238E27FC236}">
                <a16:creationId xmlns:a16="http://schemas.microsoft.com/office/drawing/2014/main" id="{5CC935B4-6850-D45C-C585-85204C67D480}"/>
              </a:ext>
            </a:extLst>
          </p:cNvPr>
          <p:cNvCxnSpPr>
            <a:cxnSpLocks/>
          </p:cNvCxnSpPr>
          <p:nvPr/>
        </p:nvCxnSpPr>
        <p:spPr>
          <a:xfrm>
            <a:off x="2488223" y="4369777"/>
            <a:ext cx="975946" cy="167054"/>
          </a:xfrm>
          <a:prstGeom prst="line">
            <a:avLst/>
          </a:prstGeom>
        </p:spPr>
        <p:style>
          <a:lnRef idx="1">
            <a:schemeClr val="accent1"/>
          </a:lnRef>
          <a:fillRef idx="0">
            <a:schemeClr val="accent1"/>
          </a:fillRef>
          <a:effectRef idx="0">
            <a:schemeClr val="accent1"/>
          </a:effectRef>
          <a:fontRef idx="minor">
            <a:schemeClr val="tx1"/>
          </a:fontRef>
        </p:style>
      </p:cxnSp>
      <p:sp>
        <p:nvSpPr>
          <p:cNvPr id="16" name="ZoneTexte 15">
            <a:extLst>
              <a:ext uri="{FF2B5EF4-FFF2-40B4-BE49-F238E27FC236}">
                <a16:creationId xmlns:a16="http://schemas.microsoft.com/office/drawing/2014/main" id="{F437F5C3-7FD4-84BC-EBD4-183CD2D76AB9}"/>
              </a:ext>
            </a:extLst>
          </p:cNvPr>
          <p:cNvSpPr txBox="1"/>
          <p:nvPr/>
        </p:nvSpPr>
        <p:spPr>
          <a:xfrm>
            <a:off x="298938" y="401720"/>
            <a:ext cx="1811215" cy="1031051"/>
          </a:xfrm>
          <a:prstGeom prst="rect">
            <a:avLst/>
          </a:prstGeom>
          <a:noFill/>
          <a:ln w="6350">
            <a:solidFill>
              <a:schemeClr val="tx1"/>
            </a:solidFill>
          </a:ln>
        </p:spPr>
        <p:txBody>
          <a:bodyPr wrap="square" rtlCol="0">
            <a:spAutoFit/>
          </a:bodyPr>
          <a:lstStyle/>
          <a:p>
            <a:pPr algn="ctr"/>
            <a:r>
              <a:rPr lang="fr-FR" sz="1100" u="sng"/>
              <a:t>Objectif</a:t>
            </a:r>
          </a:p>
          <a:p>
            <a:pPr algn="ctr"/>
            <a:r>
              <a:rPr lang="fr-FR" sz="900">
                <a:solidFill>
                  <a:srgbClr val="262626"/>
                </a:solidFill>
              </a:rPr>
              <a:t>Analyser périodiquement les tendances d’évolution des cas de fraudes détecté</a:t>
            </a:r>
            <a:endParaRPr lang="fr-FR" sz="200"/>
          </a:p>
          <a:p>
            <a:pPr marL="0" marR="0" lvl="0" indent="0" algn="ctr" defTabSz="914286" rtl="0" eaLnBrk="1" fontAlgn="auto" latinLnBrk="0" hangingPunct="1">
              <a:lnSpc>
                <a:spcPct val="100000"/>
              </a:lnSpc>
              <a:spcBef>
                <a:spcPts val="0"/>
              </a:spcBef>
              <a:spcAft>
                <a:spcPts val="0"/>
              </a:spcAft>
              <a:buClrTx/>
              <a:buSzTx/>
              <a:buFontTx/>
              <a:buNone/>
              <a:tabLst/>
              <a:defRPr/>
            </a:pPr>
            <a:endParaRPr lang="fr-FR" sz="300"/>
          </a:p>
          <a:p>
            <a:pPr lvl="0" algn="ctr">
              <a:defRPr/>
            </a:pPr>
            <a:r>
              <a:rPr lang="fr-FR" sz="1100" u="sng">
                <a:solidFill>
                  <a:srgbClr val="003DA5"/>
                </a:solidFill>
              </a:rPr>
              <a:t>Acteurs</a:t>
            </a:r>
          </a:p>
          <a:p>
            <a:pPr lvl="0" algn="ctr">
              <a:defRPr/>
            </a:pPr>
            <a:r>
              <a:rPr lang="fr-FR" sz="900">
                <a:solidFill>
                  <a:srgbClr val="262626"/>
                </a:solidFill>
              </a:rPr>
              <a:t>CSP Bancaire</a:t>
            </a:r>
          </a:p>
        </p:txBody>
      </p:sp>
      <p:cxnSp>
        <p:nvCxnSpPr>
          <p:cNvPr id="17" name="Connecteur droit 16">
            <a:extLst>
              <a:ext uri="{FF2B5EF4-FFF2-40B4-BE49-F238E27FC236}">
                <a16:creationId xmlns:a16="http://schemas.microsoft.com/office/drawing/2014/main" id="{C8176675-2C8D-CEDA-82CC-B441DC9BDC91}"/>
              </a:ext>
            </a:extLst>
          </p:cNvPr>
          <p:cNvCxnSpPr>
            <a:cxnSpLocks/>
            <a:stCxn id="16" idx="2"/>
          </p:cNvCxnSpPr>
          <p:nvPr/>
        </p:nvCxnSpPr>
        <p:spPr>
          <a:xfrm>
            <a:off x="1204546" y="1432771"/>
            <a:ext cx="800633" cy="75651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331352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C89C8-DECE-36DA-A3AB-7B9F6852370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3BA19D5-E18D-BA08-A3C1-61D923D5939F}"/>
              </a:ext>
            </a:extLst>
          </p:cNvPr>
          <p:cNvSpPr>
            <a:spLocks noGrp="1"/>
          </p:cNvSpPr>
          <p:nvPr>
            <p:ph type="title"/>
          </p:nvPr>
        </p:nvSpPr>
        <p:spPr>
          <a:xfrm>
            <a:off x="214745" y="-407"/>
            <a:ext cx="8929255" cy="315602"/>
          </a:xfrm>
          <a:solidFill>
            <a:schemeClr val="tx1"/>
          </a:solidFill>
        </p:spPr>
        <p:txBody>
          <a:bodyPr vert="horz" lIns="91440" tIns="45720" rIns="91440" bIns="45720" rtlCol="0" anchor="ctr">
            <a:normAutofit fontScale="90000"/>
          </a:bodyPr>
          <a:lstStyle/>
          <a:p>
            <a:r>
              <a:rPr lang="fr-CA" sz="2400" b="1">
                <a:solidFill>
                  <a:schemeClr val="bg1"/>
                </a:solidFill>
              </a:rPr>
              <a:t>Plan de déploiement - haut niveau du projet</a:t>
            </a:r>
          </a:p>
        </p:txBody>
      </p:sp>
      <p:graphicFrame>
        <p:nvGraphicFramePr>
          <p:cNvPr id="7" name="Espace réservé du contenu 3">
            <a:extLst>
              <a:ext uri="{FF2B5EF4-FFF2-40B4-BE49-F238E27FC236}">
                <a16:creationId xmlns:a16="http://schemas.microsoft.com/office/drawing/2014/main" id="{DDB9F469-5A86-8102-FAE1-A2CFB9B41C18}"/>
              </a:ext>
            </a:extLst>
          </p:cNvPr>
          <p:cNvGraphicFramePr>
            <a:graphicFrameLocks noGrp="1"/>
          </p:cNvGraphicFramePr>
          <p:nvPr>
            <p:ph idx="1"/>
            <p:extLst>
              <p:ext uri="{D42A27DB-BD31-4B8C-83A1-F6EECF244321}">
                <p14:modId xmlns:p14="http://schemas.microsoft.com/office/powerpoint/2010/main" val="1378668878"/>
              </p:ext>
            </p:extLst>
          </p:nvPr>
        </p:nvGraphicFramePr>
        <p:xfrm>
          <a:off x="444401" y="836451"/>
          <a:ext cx="8451567" cy="2570480"/>
        </p:xfrm>
        <a:graphic>
          <a:graphicData uri="http://schemas.openxmlformats.org/drawingml/2006/table">
            <a:tbl>
              <a:tblPr firstRow="1" bandRow="1">
                <a:tableStyleId>{5C22544A-7EE6-4342-B048-85BDC9FD1C3A}</a:tableStyleId>
              </a:tblPr>
              <a:tblGrid>
                <a:gridCol w="2202126">
                  <a:extLst>
                    <a:ext uri="{9D8B030D-6E8A-4147-A177-3AD203B41FA5}">
                      <a16:colId xmlns:a16="http://schemas.microsoft.com/office/drawing/2014/main" val="1421044919"/>
                    </a:ext>
                  </a:extLst>
                </a:gridCol>
                <a:gridCol w="499629">
                  <a:extLst>
                    <a:ext uri="{9D8B030D-6E8A-4147-A177-3AD203B41FA5}">
                      <a16:colId xmlns:a16="http://schemas.microsoft.com/office/drawing/2014/main" val="2654580765"/>
                    </a:ext>
                  </a:extLst>
                </a:gridCol>
                <a:gridCol w="441702">
                  <a:extLst>
                    <a:ext uri="{9D8B030D-6E8A-4147-A177-3AD203B41FA5}">
                      <a16:colId xmlns:a16="http://schemas.microsoft.com/office/drawing/2014/main" val="2631649093"/>
                    </a:ext>
                  </a:extLst>
                </a:gridCol>
                <a:gridCol w="472698">
                  <a:extLst>
                    <a:ext uri="{9D8B030D-6E8A-4147-A177-3AD203B41FA5}">
                      <a16:colId xmlns:a16="http://schemas.microsoft.com/office/drawing/2014/main" val="407676009"/>
                    </a:ext>
                  </a:extLst>
                </a:gridCol>
                <a:gridCol w="534691">
                  <a:extLst>
                    <a:ext uri="{9D8B030D-6E8A-4147-A177-3AD203B41FA5}">
                      <a16:colId xmlns:a16="http://schemas.microsoft.com/office/drawing/2014/main" val="1397426381"/>
                    </a:ext>
                  </a:extLst>
                </a:gridCol>
                <a:gridCol w="588936">
                  <a:extLst>
                    <a:ext uri="{9D8B030D-6E8A-4147-A177-3AD203B41FA5}">
                      <a16:colId xmlns:a16="http://schemas.microsoft.com/office/drawing/2014/main" val="413659274"/>
                    </a:ext>
                  </a:extLst>
                </a:gridCol>
                <a:gridCol w="557939">
                  <a:extLst>
                    <a:ext uri="{9D8B030D-6E8A-4147-A177-3AD203B41FA5}">
                      <a16:colId xmlns:a16="http://schemas.microsoft.com/office/drawing/2014/main" val="3028205767"/>
                    </a:ext>
                  </a:extLst>
                </a:gridCol>
                <a:gridCol w="472698">
                  <a:extLst>
                    <a:ext uri="{9D8B030D-6E8A-4147-A177-3AD203B41FA5}">
                      <a16:colId xmlns:a16="http://schemas.microsoft.com/office/drawing/2014/main" val="3271692464"/>
                    </a:ext>
                  </a:extLst>
                </a:gridCol>
                <a:gridCol w="534692">
                  <a:extLst>
                    <a:ext uri="{9D8B030D-6E8A-4147-A177-3AD203B41FA5}">
                      <a16:colId xmlns:a16="http://schemas.microsoft.com/office/drawing/2014/main" val="4242407166"/>
                    </a:ext>
                  </a:extLst>
                </a:gridCol>
                <a:gridCol w="550190">
                  <a:extLst>
                    <a:ext uri="{9D8B030D-6E8A-4147-A177-3AD203B41FA5}">
                      <a16:colId xmlns:a16="http://schemas.microsoft.com/office/drawing/2014/main" val="31151654"/>
                    </a:ext>
                  </a:extLst>
                </a:gridCol>
                <a:gridCol w="488196">
                  <a:extLst>
                    <a:ext uri="{9D8B030D-6E8A-4147-A177-3AD203B41FA5}">
                      <a16:colId xmlns:a16="http://schemas.microsoft.com/office/drawing/2014/main" val="2581902641"/>
                    </a:ext>
                  </a:extLst>
                </a:gridCol>
                <a:gridCol w="1108070">
                  <a:extLst>
                    <a:ext uri="{9D8B030D-6E8A-4147-A177-3AD203B41FA5}">
                      <a16:colId xmlns:a16="http://schemas.microsoft.com/office/drawing/2014/main" val="2403428011"/>
                    </a:ext>
                  </a:extLst>
                </a:gridCol>
              </a:tblGrid>
              <a:tr h="370840">
                <a:tc>
                  <a:txBody>
                    <a:bodyPr/>
                    <a:lstStyle/>
                    <a:p>
                      <a:r>
                        <a:rPr lang="fr-CA"/>
                        <a:t>Activités</a:t>
                      </a:r>
                    </a:p>
                  </a:txBody>
                  <a:tcPr/>
                </a:tc>
                <a:tc>
                  <a:txBody>
                    <a:bodyPr/>
                    <a:lstStyle/>
                    <a:p>
                      <a:r>
                        <a:rPr lang="fr-CA"/>
                        <a:t>10</a:t>
                      </a:r>
                    </a:p>
                  </a:txBody>
                  <a:tcPr/>
                </a:tc>
                <a:tc>
                  <a:txBody>
                    <a:bodyPr/>
                    <a:lstStyle/>
                    <a:p>
                      <a:r>
                        <a:rPr lang="fr-CA"/>
                        <a:t>11</a:t>
                      </a:r>
                    </a:p>
                  </a:txBody>
                  <a:tcPr/>
                </a:tc>
                <a:tc>
                  <a:txBody>
                    <a:bodyPr/>
                    <a:lstStyle/>
                    <a:p>
                      <a:r>
                        <a:rPr lang="fr-CA"/>
                        <a:t>12</a:t>
                      </a:r>
                    </a:p>
                  </a:txBody>
                  <a:tcPr/>
                </a:tc>
                <a:tc>
                  <a:txBody>
                    <a:bodyPr/>
                    <a:lstStyle/>
                    <a:p>
                      <a:r>
                        <a:rPr lang="fr-CA"/>
                        <a:t>01</a:t>
                      </a:r>
                    </a:p>
                  </a:txBody>
                  <a:tcPr/>
                </a:tc>
                <a:tc>
                  <a:txBody>
                    <a:bodyPr/>
                    <a:lstStyle/>
                    <a:p>
                      <a:r>
                        <a:rPr lang="fr-CA"/>
                        <a:t>02</a:t>
                      </a:r>
                    </a:p>
                  </a:txBody>
                  <a:tcPr/>
                </a:tc>
                <a:tc>
                  <a:txBody>
                    <a:bodyPr/>
                    <a:lstStyle/>
                    <a:p>
                      <a:r>
                        <a:rPr lang="fr-CA"/>
                        <a:t>03</a:t>
                      </a:r>
                    </a:p>
                  </a:txBody>
                  <a:tcPr/>
                </a:tc>
                <a:tc>
                  <a:txBody>
                    <a:bodyPr/>
                    <a:lstStyle/>
                    <a:p>
                      <a:r>
                        <a:rPr lang="fr-CA"/>
                        <a:t>04</a:t>
                      </a:r>
                    </a:p>
                  </a:txBody>
                  <a:tcPr/>
                </a:tc>
                <a:tc>
                  <a:txBody>
                    <a:bodyPr/>
                    <a:lstStyle/>
                    <a:p>
                      <a:r>
                        <a:rPr lang="fr-CA"/>
                        <a:t>05</a:t>
                      </a:r>
                    </a:p>
                  </a:txBody>
                  <a:tcPr/>
                </a:tc>
                <a:tc>
                  <a:txBody>
                    <a:bodyPr/>
                    <a:lstStyle/>
                    <a:p>
                      <a:r>
                        <a:rPr lang="fr-CA"/>
                        <a:t>06</a:t>
                      </a:r>
                    </a:p>
                  </a:txBody>
                  <a:tcPr/>
                </a:tc>
                <a:tc>
                  <a:txBody>
                    <a:bodyPr/>
                    <a:lstStyle/>
                    <a:p>
                      <a:r>
                        <a:rPr lang="fr-CA"/>
                        <a:t>07</a:t>
                      </a:r>
                    </a:p>
                  </a:txBody>
                  <a:tcPr/>
                </a:tc>
                <a:tc>
                  <a:txBody>
                    <a:bodyPr/>
                    <a:lstStyle/>
                    <a:p>
                      <a:r>
                        <a:rPr lang="fr-CA"/>
                        <a:t>8+</a:t>
                      </a:r>
                    </a:p>
                  </a:txBody>
                  <a:tcPr/>
                </a:tc>
                <a:extLst>
                  <a:ext uri="{0D108BD9-81ED-4DB2-BD59-A6C34878D82A}">
                    <a16:rowId xmlns:a16="http://schemas.microsoft.com/office/drawing/2014/main" val="2382199452"/>
                  </a:ext>
                </a:extLst>
              </a:tr>
              <a:tr h="370840">
                <a:tc>
                  <a:txBody>
                    <a:bodyPr/>
                    <a:lstStyle/>
                    <a:p>
                      <a:r>
                        <a:rPr lang="fr-CA" sz="1200"/>
                        <a:t>R1 – Analyse des frais bancaire et gestion des comptes bancaire</a:t>
                      </a:r>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extLst>
                  <a:ext uri="{0D108BD9-81ED-4DB2-BD59-A6C34878D82A}">
                    <a16:rowId xmlns:a16="http://schemas.microsoft.com/office/drawing/2014/main" val="1144704712"/>
                  </a:ext>
                </a:extLst>
              </a:tr>
              <a:tr h="370840">
                <a:tc>
                  <a:txBody>
                    <a:bodyPr/>
                    <a:lstStyle/>
                    <a:p>
                      <a:r>
                        <a:rPr lang="fr-CA" sz="1200"/>
                        <a:t>R2 - DD/DPA</a:t>
                      </a:r>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extLst>
                  <a:ext uri="{0D108BD9-81ED-4DB2-BD59-A6C34878D82A}">
                    <a16:rowId xmlns:a16="http://schemas.microsoft.com/office/drawing/2014/main" val="3002814875"/>
                  </a:ext>
                </a:extLst>
              </a:tr>
              <a:tr h="370840">
                <a:tc>
                  <a:txBody>
                    <a:bodyPr/>
                    <a:lstStyle/>
                    <a:p>
                      <a:r>
                        <a:rPr lang="fr-CA" sz="1200"/>
                        <a:t>R3a – Chèques manuels &amp; automatiques</a:t>
                      </a:r>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extLst>
                  <a:ext uri="{0D108BD9-81ED-4DB2-BD59-A6C34878D82A}">
                    <a16:rowId xmlns:a16="http://schemas.microsoft.com/office/drawing/2014/main" val="2377477419"/>
                  </a:ext>
                </a:extLst>
              </a:tr>
              <a:tr h="370840">
                <a:tc>
                  <a:txBody>
                    <a:bodyPr/>
                    <a:lstStyle/>
                    <a:p>
                      <a:r>
                        <a:rPr lang="fr-CA" sz="1200"/>
                        <a:t>R3b - DD/DPA/Wire manuels &amp; Approbation &amp; Fraude passive</a:t>
                      </a:r>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extLst>
                  <a:ext uri="{0D108BD9-81ED-4DB2-BD59-A6C34878D82A}">
                    <a16:rowId xmlns:a16="http://schemas.microsoft.com/office/drawing/2014/main" val="825489755"/>
                  </a:ext>
                </a:extLst>
              </a:tr>
              <a:tr h="370840">
                <a:tc>
                  <a:txBody>
                    <a:bodyPr/>
                    <a:lstStyle/>
                    <a:p>
                      <a:r>
                        <a:rPr lang="fr-CA" sz="1200"/>
                        <a:t>R4 – Fraude active / Optimisation / Offre service CSP</a:t>
                      </a:r>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extLst>
                  <a:ext uri="{0D108BD9-81ED-4DB2-BD59-A6C34878D82A}">
                    <a16:rowId xmlns:a16="http://schemas.microsoft.com/office/drawing/2014/main" val="839428498"/>
                  </a:ext>
                </a:extLst>
              </a:tr>
            </a:tbl>
          </a:graphicData>
        </a:graphic>
      </p:graphicFrame>
      <p:sp>
        <p:nvSpPr>
          <p:cNvPr id="8" name="Rectangle 7">
            <a:extLst>
              <a:ext uri="{FF2B5EF4-FFF2-40B4-BE49-F238E27FC236}">
                <a16:creationId xmlns:a16="http://schemas.microsoft.com/office/drawing/2014/main" id="{DD1D45BF-1D44-B237-0494-E5DD13ED0B71}"/>
              </a:ext>
            </a:extLst>
          </p:cNvPr>
          <p:cNvSpPr/>
          <p:nvPr/>
        </p:nvSpPr>
        <p:spPr>
          <a:xfrm>
            <a:off x="4467277" y="1315448"/>
            <a:ext cx="1259347" cy="2070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800"/>
              <a:t>Intégration/tests</a:t>
            </a:r>
            <a:r>
              <a:rPr lang="fr-CA" sz="800" baseline="30000"/>
              <a:t>2</a:t>
            </a:r>
          </a:p>
        </p:txBody>
      </p:sp>
      <p:sp>
        <p:nvSpPr>
          <p:cNvPr id="9" name="Rectangle 8">
            <a:extLst>
              <a:ext uri="{FF2B5EF4-FFF2-40B4-BE49-F238E27FC236}">
                <a16:creationId xmlns:a16="http://schemas.microsoft.com/office/drawing/2014/main" id="{F1DA5632-2D71-C637-737A-3198E442E41B}"/>
              </a:ext>
            </a:extLst>
          </p:cNvPr>
          <p:cNvSpPr/>
          <p:nvPr/>
        </p:nvSpPr>
        <p:spPr>
          <a:xfrm>
            <a:off x="4467277" y="1746241"/>
            <a:ext cx="1907868" cy="2070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800"/>
              <a:t>Intégration/tests</a:t>
            </a:r>
          </a:p>
        </p:txBody>
      </p:sp>
      <p:sp>
        <p:nvSpPr>
          <p:cNvPr id="10" name="Rectangle 9">
            <a:extLst>
              <a:ext uri="{FF2B5EF4-FFF2-40B4-BE49-F238E27FC236}">
                <a16:creationId xmlns:a16="http://schemas.microsoft.com/office/drawing/2014/main" id="{C1F52D2D-5168-4F6F-E3CE-C59C82B91A65}"/>
              </a:ext>
            </a:extLst>
          </p:cNvPr>
          <p:cNvSpPr/>
          <p:nvPr/>
        </p:nvSpPr>
        <p:spPr>
          <a:xfrm>
            <a:off x="4718594" y="2181095"/>
            <a:ext cx="2836830" cy="2070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800"/>
              <a:t>Intégration/tests</a:t>
            </a:r>
          </a:p>
        </p:txBody>
      </p:sp>
      <p:sp>
        <p:nvSpPr>
          <p:cNvPr id="11" name="Diamond 6">
            <a:extLst>
              <a:ext uri="{FF2B5EF4-FFF2-40B4-BE49-F238E27FC236}">
                <a16:creationId xmlns:a16="http://schemas.microsoft.com/office/drawing/2014/main" id="{0F5968AA-9B48-E341-90B1-A07872CB825C}"/>
              </a:ext>
            </a:extLst>
          </p:cNvPr>
          <p:cNvSpPr/>
          <p:nvPr/>
        </p:nvSpPr>
        <p:spPr>
          <a:xfrm>
            <a:off x="5784186" y="1329523"/>
            <a:ext cx="124569" cy="192959"/>
          </a:xfrm>
          <a:prstGeom prst="diamond">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fr-CA"/>
          </a:p>
        </p:txBody>
      </p:sp>
      <p:sp>
        <p:nvSpPr>
          <p:cNvPr id="12" name="Diamond 7">
            <a:extLst>
              <a:ext uri="{FF2B5EF4-FFF2-40B4-BE49-F238E27FC236}">
                <a16:creationId xmlns:a16="http://schemas.microsoft.com/office/drawing/2014/main" id="{F1A96CCF-2457-45B4-2DFD-46EBD922B357}"/>
              </a:ext>
            </a:extLst>
          </p:cNvPr>
          <p:cNvSpPr/>
          <p:nvPr/>
        </p:nvSpPr>
        <p:spPr>
          <a:xfrm>
            <a:off x="6499968" y="1746241"/>
            <a:ext cx="124569" cy="192959"/>
          </a:xfrm>
          <a:prstGeom prst="diamond">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fr-CA"/>
          </a:p>
        </p:txBody>
      </p:sp>
      <p:sp>
        <p:nvSpPr>
          <p:cNvPr id="13" name="Diamond 8">
            <a:extLst>
              <a:ext uri="{FF2B5EF4-FFF2-40B4-BE49-F238E27FC236}">
                <a16:creationId xmlns:a16="http://schemas.microsoft.com/office/drawing/2014/main" id="{21A1BE29-4BAB-6A28-1F37-3EAE143C5C76}"/>
              </a:ext>
            </a:extLst>
          </p:cNvPr>
          <p:cNvSpPr/>
          <p:nvPr/>
        </p:nvSpPr>
        <p:spPr>
          <a:xfrm>
            <a:off x="7691428" y="2165227"/>
            <a:ext cx="130391" cy="192959"/>
          </a:xfrm>
          <a:prstGeom prst="diamond">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fr-CA"/>
          </a:p>
        </p:txBody>
      </p:sp>
      <p:sp>
        <p:nvSpPr>
          <p:cNvPr id="14" name="Rectangle 13">
            <a:extLst>
              <a:ext uri="{FF2B5EF4-FFF2-40B4-BE49-F238E27FC236}">
                <a16:creationId xmlns:a16="http://schemas.microsoft.com/office/drawing/2014/main" id="{34140A46-1065-981D-2A24-275179651106}"/>
              </a:ext>
            </a:extLst>
          </p:cNvPr>
          <p:cNvSpPr/>
          <p:nvPr/>
        </p:nvSpPr>
        <p:spPr>
          <a:xfrm>
            <a:off x="3942705" y="3076307"/>
            <a:ext cx="4783344" cy="2070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800"/>
              <a:t>Travaux non débutés </a:t>
            </a:r>
          </a:p>
        </p:txBody>
      </p:sp>
      <p:sp>
        <p:nvSpPr>
          <p:cNvPr id="15" name="Rectangle 14">
            <a:extLst>
              <a:ext uri="{FF2B5EF4-FFF2-40B4-BE49-F238E27FC236}">
                <a16:creationId xmlns:a16="http://schemas.microsoft.com/office/drawing/2014/main" id="{20BC639E-1806-7759-30D0-8595680A5B6F}"/>
              </a:ext>
            </a:extLst>
          </p:cNvPr>
          <p:cNvSpPr/>
          <p:nvPr/>
        </p:nvSpPr>
        <p:spPr>
          <a:xfrm>
            <a:off x="2719350" y="1315448"/>
            <a:ext cx="1123310" cy="2070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800"/>
              <a:t>Architecture/Requis</a:t>
            </a:r>
          </a:p>
        </p:txBody>
      </p:sp>
      <p:sp>
        <p:nvSpPr>
          <p:cNvPr id="16" name="Rectangle 15">
            <a:extLst>
              <a:ext uri="{FF2B5EF4-FFF2-40B4-BE49-F238E27FC236}">
                <a16:creationId xmlns:a16="http://schemas.microsoft.com/office/drawing/2014/main" id="{CD4E6E1B-8353-F8BF-4D43-1A3E6E64F636}"/>
              </a:ext>
            </a:extLst>
          </p:cNvPr>
          <p:cNvSpPr/>
          <p:nvPr/>
        </p:nvSpPr>
        <p:spPr>
          <a:xfrm>
            <a:off x="2719350" y="1746241"/>
            <a:ext cx="1123310" cy="2070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800"/>
              <a:t>Architecture/Requis</a:t>
            </a:r>
          </a:p>
        </p:txBody>
      </p:sp>
      <p:sp>
        <p:nvSpPr>
          <p:cNvPr id="17" name="Rectangle 16">
            <a:extLst>
              <a:ext uri="{FF2B5EF4-FFF2-40B4-BE49-F238E27FC236}">
                <a16:creationId xmlns:a16="http://schemas.microsoft.com/office/drawing/2014/main" id="{07C5B193-8EFD-081D-982E-9A04D044A8B9}"/>
              </a:ext>
            </a:extLst>
          </p:cNvPr>
          <p:cNvSpPr/>
          <p:nvPr/>
        </p:nvSpPr>
        <p:spPr>
          <a:xfrm>
            <a:off x="3913391" y="1315448"/>
            <a:ext cx="446431" cy="2070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800"/>
              <a:t>DF</a:t>
            </a:r>
            <a:r>
              <a:rPr lang="fr-CA" sz="800" baseline="30000"/>
              <a:t>1</a:t>
            </a:r>
          </a:p>
        </p:txBody>
      </p:sp>
      <p:sp>
        <p:nvSpPr>
          <p:cNvPr id="18" name="Rectangle 17">
            <a:extLst>
              <a:ext uri="{FF2B5EF4-FFF2-40B4-BE49-F238E27FC236}">
                <a16:creationId xmlns:a16="http://schemas.microsoft.com/office/drawing/2014/main" id="{AB313E6C-AB10-7CCD-D097-B048B60C6B1D}"/>
              </a:ext>
            </a:extLst>
          </p:cNvPr>
          <p:cNvSpPr/>
          <p:nvPr/>
        </p:nvSpPr>
        <p:spPr>
          <a:xfrm>
            <a:off x="3931753" y="1750993"/>
            <a:ext cx="446431" cy="2070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800"/>
              <a:t>DF</a:t>
            </a:r>
          </a:p>
        </p:txBody>
      </p:sp>
      <p:sp>
        <p:nvSpPr>
          <p:cNvPr id="19" name="Rectangle 18">
            <a:extLst>
              <a:ext uri="{FF2B5EF4-FFF2-40B4-BE49-F238E27FC236}">
                <a16:creationId xmlns:a16="http://schemas.microsoft.com/office/drawing/2014/main" id="{D909398C-5D08-5583-6B94-A5D358B91FE1}"/>
              </a:ext>
            </a:extLst>
          </p:cNvPr>
          <p:cNvSpPr/>
          <p:nvPr/>
        </p:nvSpPr>
        <p:spPr>
          <a:xfrm>
            <a:off x="4220863" y="2181095"/>
            <a:ext cx="467296" cy="2070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800"/>
              <a:t>DF</a:t>
            </a:r>
          </a:p>
        </p:txBody>
      </p:sp>
      <p:sp>
        <p:nvSpPr>
          <p:cNvPr id="20" name="Arrow: Down 20">
            <a:extLst>
              <a:ext uri="{FF2B5EF4-FFF2-40B4-BE49-F238E27FC236}">
                <a16:creationId xmlns:a16="http://schemas.microsoft.com/office/drawing/2014/main" id="{58433E14-F672-8160-040F-29C3944898DA}"/>
              </a:ext>
            </a:extLst>
          </p:cNvPr>
          <p:cNvSpPr/>
          <p:nvPr/>
        </p:nvSpPr>
        <p:spPr>
          <a:xfrm>
            <a:off x="2504375" y="591995"/>
            <a:ext cx="886147" cy="240866"/>
          </a:xfrm>
          <a:prstGeom prst="downArrow">
            <a:avLst>
              <a:gd name="adj1" fmla="val 50000"/>
              <a:gd name="adj2" fmla="val 5222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800"/>
              <a:t>Oct.</a:t>
            </a:r>
          </a:p>
        </p:txBody>
      </p:sp>
      <p:sp>
        <p:nvSpPr>
          <p:cNvPr id="21" name="Rectangle 20">
            <a:extLst>
              <a:ext uri="{FF2B5EF4-FFF2-40B4-BE49-F238E27FC236}">
                <a16:creationId xmlns:a16="http://schemas.microsoft.com/office/drawing/2014/main" id="{1B89E22A-9D3B-F09A-8161-3B10D1C0FA3A}"/>
              </a:ext>
            </a:extLst>
          </p:cNvPr>
          <p:cNvSpPr/>
          <p:nvPr/>
        </p:nvSpPr>
        <p:spPr>
          <a:xfrm>
            <a:off x="3076731" y="2181095"/>
            <a:ext cx="1123310" cy="2070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800"/>
              <a:t>Architecture/Requis</a:t>
            </a:r>
          </a:p>
        </p:txBody>
      </p:sp>
      <p:sp>
        <p:nvSpPr>
          <p:cNvPr id="22" name="TextBox 19">
            <a:extLst>
              <a:ext uri="{FF2B5EF4-FFF2-40B4-BE49-F238E27FC236}">
                <a16:creationId xmlns:a16="http://schemas.microsoft.com/office/drawing/2014/main" id="{078974E2-1FA5-F4EB-F534-7E86720A84B4}"/>
              </a:ext>
            </a:extLst>
          </p:cNvPr>
          <p:cNvSpPr txBox="1"/>
          <p:nvPr/>
        </p:nvSpPr>
        <p:spPr>
          <a:xfrm>
            <a:off x="347711" y="4335676"/>
            <a:ext cx="8367386" cy="400110"/>
          </a:xfrm>
          <a:prstGeom prst="rect">
            <a:avLst/>
          </a:prstGeom>
          <a:noFill/>
        </p:spPr>
        <p:txBody>
          <a:bodyPr wrap="square" rtlCol="0">
            <a:spAutoFit/>
          </a:bodyPr>
          <a:lstStyle/>
          <a:p>
            <a:r>
              <a:rPr lang="fr-CA" sz="1000"/>
              <a:t>1) DF :  Dossier fonctionnel, établi avec l’intégrateur</a:t>
            </a:r>
          </a:p>
          <a:p>
            <a:r>
              <a:rPr lang="fr-CA" sz="1000"/>
              <a:t>2) Basé sur le plan du SOW initial de l’intégrateur, qui comprenais un DF en 1 mois et une intégration/test en 3 mois</a:t>
            </a:r>
          </a:p>
        </p:txBody>
      </p:sp>
      <p:sp>
        <p:nvSpPr>
          <p:cNvPr id="3" name="Rectangle 2">
            <a:extLst>
              <a:ext uri="{FF2B5EF4-FFF2-40B4-BE49-F238E27FC236}">
                <a16:creationId xmlns:a16="http://schemas.microsoft.com/office/drawing/2014/main" id="{2B170D68-C18F-D0FB-A90D-68402BB1B47F}"/>
              </a:ext>
            </a:extLst>
          </p:cNvPr>
          <p:cNvSpPr/>
          <p:nvPr/>
        </p:nvSpPr>
        <p:spPr>
          <a:xfrm>
            <a:off x="4723825" y="2619629"/>
            <a:ext cx="2335654" cy="2070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800"/>
              <a:t>Intégration/tests</a:t>
            </a:r>
          </a:p>
        </p:txBody>
      </p:sp>
      <p:sp>
        <p:nvSpPr>
          <p:cNvPr id="4" name="Diamond 8">
            <a:extLst>
              <a:ext uri="{FF2B5EF4-FFF2-40B4-BE49-F238E27FC236}">
                <a16:creationId xmlns:a16="http://schemas.microsoft.com/office/drawing/2014/main" id="{0F8471C4-4062-ADAA-3460-47029F9B19E8}"/>
              </a:ext>
            </a:extLst>
          </p:cNvPr>
          <p:cNvSpPr/>
          <p:nvPr/>
        </p:nvSpPr>
        <p:spPr>
          <a:xfrm>
            <a:off x="7691427" y="2626666"/>
            <a:ext cx="130391" cy="192959"/>
          </a:xfrm>
          <a:prstGeom prst="diamond">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fr-CA"/>
          </a:p>
        </p:txBody>
      </p:sp>
      <p:sp>
        <p:nvSpPr>
          <p:cNvPr id="5" name="Rectangle 4">
            <a:extLst>
              <a:ext uri="{FF2B5EF4-FFF2-40B4-BE49-F238E27FC236}">
                <a16:creationId xmlns:a16="http://schemas.microsoft.com/office/drawing/2014/main" id="{3AD06CD0-EDAC-0072-D61B-C159A78BB1D0}"/>
              </a:ext>
            </a:extLst>
          </p:cNvPr>
          <p:cNvSpPr/>
          <p:nvPr/>
        </p:nvSpPr>
        <p:spPr>
          <a:xfrm>
            <a:off x="4228285" y="2622661"/>
            <a:ext cx="467296" cy="2070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800"/>
              <a:t>DF</a:t>
            </a:r>
          </a:p>
        </p:txBody>
      </p:sp>
      <p:sp>
        <p:nvSpPr>
          <p:cNvPr id="6" name="Rectangle 5">
            <a:extLst>
              <a:ext uri="{FF2B5EF4-FFF2-40B4-BE49-F238E27FC236}">
                <a16:creationId xmlns:a16="http://schemas.microsoft.com/office/drawing/2014/main" id="{5DFB0221-7019-825C-0D40-58EF8B9FA61E}"/>
              </a:ext>
            </a:extLst>
          </p:cNvPr>
          <p:cNvSpPr/>
          <p:nvPr/>
        </p:nvSpPr>
        <p:spPr>
          <a:xfrm>
            <a:off x="3076731" y="2619629"/>
            <a:ext cx="1123310" cy="2070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800"/>
              <a:t>Architecture/Requis</a:t>
            </a:r>
          </a:p>
        </p:txBody>
      </p:sp>
    </p:spTree>
    <p:extLst>
      <p:ext uri="{BB962C8B-B14F-4D97-AF65-F5344CB8AC3E}">
        <p14:creationId xmlns:p14="http://schemas.microsoft.com/office/powerpoint/2010/main" val="408871598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88EC6F1-80E7-208E-80C0-E4CBEFF0AECD}"/>
              </a:ext>
            </a:extLst>
          </p:cNvPr>
          <p:cNvSpPr>
            <a:spLocks noGrp="1"/>
          </p:cNvSpPr>
          <p:nvPr>
            <p:ph type="title"/>
          </p:nvPr>
        </p:nvSpPr>
        <p:spPr>
          <a:xfrm>
            <a:off x="214745" y="-407"/>
            <a:ext cx="8929255" cy="315602"/>
          </a:xfrm>
          <a:solidFill>
            <a:schemeClr val="tx1"/>
          </a:solidFill>
        </p:spPr>
        <p:txBody>
          <a:bodyPr vert="horz" lIns="91440" tIns="45720" rIns="91440" bIns="45720" rtlCol="0" anchor="ctr">
            <a:normAutofit fontScale="90000"/>
          </a:bodyPr>
          <a:lstStyle/>
          <a:p>
            <a:r>
              <a:rPr lang="fr-CA" sz="2400" b="1">
                <a:solidFill>
                  <a:schemeClr val="bg1"/>
                </a:solidFill>
              </a:rPr>
              <a:t>Plan de déploiement - Roadmap des activités </a:t>
            </a:r>
          </a:p>
        </p:txBody>
      </p:sp>
      <p:graphicFrame>
        <p:nvGraphicFramePr>
          <p:cNvPr id="13" name="Espace réservé du contenu 3">
            <a:extLst>
              <a:ext uri="{FF2B5EF4-FFF2-40B4-BE49-F238E27FC236}">
                <a16:creationId xmlns:a16="http://schemas.microsoft.com/office/drawing/2014/main" id="{E74122F4-3A52-2DE5-34DE-B96A3DC3852C}"/>
              </a:ext>
            </a:extLst>
          </p:cNvPr>
          <p:cNvGraphicFramePr>
            <a:graphicFrameLocks noGrp="1"/>
          </p:cNvGraphicFramePr>
          <p:nvPr>
            <p:ph idx="1"/>
            <p:extLst>
              <p:ext uri="{D42A27DB-BD31-4B8C-83A1-F6EECF244321}">
                <p14:modId xmlns:p14="http://schemas.microsoft.com/office/powerpoint/2010/main" val="2526255465"/>
              </p:ext>
            </p:extLst>
          </p:nvPr>
        </p:nvGraphicFramePr>
        <p:xfrm>
          <a:off x="262128" y="336157"/>
          <a:ext cx="8765636" cy="5394960"/>
        </p:xfrm>
        <a:graphic>
          <a:graphicData uri="http://schemas.openxmlformats.org/drawingml/2006/table">
            <a:tbl>
              <a:tblPr firstRow="1" bandRow="1">
                <a:tableStyleId>{5C22544A-7EE6-4342-B048-85BDC9FD1C3A}</a:tableStyleId>
              </a:tblPr>
              <a:tblGrid>
                <a:gridCol w="3262721">
                  <a:extLst>
                    <a:ext uri="{9D8B030D-6E8A-4147-A177-3AD203B41FA5}">
                      <a16:colId xmlns:a16="http://schemas.microsoft.com/office/drawing/2014/main" val="1421044919"/>
                    </a:ext>
                  </a:extLst>
                </a:gridCol>
                <a:gridCol w="944472">
                  <a:extLst>
                    <a:ext uri="{9D8B030D-6E8A-4147-A177-3AD203B41FA5}">
                      <a16:colId xmlns:a16="http://schemas.microsoft.com/office/drawing/2014/main" val="2654580765"/>
                    </a:ext>
                  </a:extLst>
                </a:gridCol>
                <a:gridCol w="835194">
                  <a:extLst>
                    <a:ext uri="{9D8B030D-6E8A-4147-A177-3AD203B41FA5}">
                      <a16:colId xmlns:a16="http://schemas.microsoft.com/office/drawing/2014/main" val="1397426381"/>
                    </a:ext>
                  </a:extLst>
                </a:gridCol>
                <a:gridCol w="811777">
                  <a:extLst>
                    <a:ext uri="{9D8B030D-6E8A-4147-A177-3AD203B41FA5}">
                      <a16:colId xmlns:a16="http://schemas.microsoft.com/office/drawing/2014/main" val="413659274"/>
                    </a:ext>
                  </a:extLst>
                </a:gridCol>
                <a:gridCol w="858611">
                  <a:extLst>
                    <a:ext uri="{9D8B030D-6E8A-4147-A177-3AD203B41FA5}">
                      <a16:colId xmlns:a16="http://schemas.microsoft.com/office/drawing/2014/main" val="3028205767"/>
                    </a:ext>
                  </a:extLst>
                </a:gridCol>
                <a:gridCol w="757138">
                  <a:extLst>
                    <a:ext uri="{9D8B030D-6E8A-4147-A177-3AD203B41FA5}">
                      <a16:colId xmlns:a16="http://schemas.microsoft.com/office/drawing/2014/main" val="3271692464"/>
                    </a:ext>
                  </a:extLst>
                </a:gridCol>
                <a:gridCol w="803972">
                  <a:extLst>
                    <a:ext uri="{9D8B030D-6E8A-4147-A177-3AD203B41FA5}">
                      <a16:colId xmlns:a16="http://schemas.microsoft.com/office/drawing/2014/main" val="4242407166"/>
                    </a:ext>
                  </a:extLst>
                </a:gridCol>
                <a:gridCol w="491751">
                  <a:extLst>
                    <a:ext uri="{9D8B030D-6E8A-4147-A177-3AD203B41FA5}">
                      <a16:colId xmlns:a16="http://schemas.microsoft.com/office/drawing/2014/main" val="31151654"/>
                    </a:ext>
                  </a:extLst>
                </a:gridCol>
              </a:tblGrid>
              <a:tr h="251325">
                <a:tc>
                  <a:txBody>
                    <a:bodyPr/>
                    <a:lstStyle/>
                    <a:p>
                      <a:pPr algn="ctr"/>
                      <a:r>
                        <a:rPr lang="fr-CA" sz="1200" noProof="0"/>
                        <a:t>Activités</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A" sz="1100" b="1" i="0" u="none" strike="noStrike" kern="1200" cap="none" spc="0" normalizeH="0" baseline="0" noProof="0">
                          <a:ln>
                            <a:noFill/>
                          </a:ln>
                          <a:solidFill>
                            <a:srgbClr val="FFFFFF"/>
                          </a:solidFill>
                          <a:effectLst/>
                          <a:uLnTx/>
                          <a:uFillTx/>
                          <a:latin typeface="+mn-lt"/>
                          <a:ea typeface="+mn-ea"/>
                          <a:cs typeface="+mn-cs"/>
                        </a:rPr>
                        <a:t>Q1-2026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A" sz="1100" b="1" i="0" u="none" strike="noStrike" kern="1200" cap="none" spc="0" normalizeH="0" baseline="0" noProof="0">
                          <a:ln>
                            <a:noFill/>
                          </a:ln>
                          <a:solidFill>
                            <a:srgbClr val="FFFFFF"/>
                          </a:solidFill>
                          <a:effectLst/>
                          <a:uLnTx/>
                          <a:uFillTx/>
                          <a:latin typeface="+mn-lt"/>
                          <a:ea typeface="+mn-ea"/>
                          <a:cs typeface="+mn-cs"/>
                        </a:rPr>
                        <a:t>Q2-2026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A" sz="1100" b="1" i="0" u="none" strike="noStrike" kern="1200" cap="none" spc="0" normalizeH="0" baseline="0" noProof="0">
                          <a:ln>
                            <a:noFill/>
                          </a:ln>
                          <a:solidFill>
                            <a:srgbClr val="FFFFFF"/>
                          </a:solidFill>
                          <a:effectLst/>
                          <a:uLnTx/>
                          <a:uFillTx/>
                          <a:latin typeface="+mn-lt"/>
                          <a:ea typeface="+mn-ea"/>
                          <a:cs typeface="+mn-cs"/>
                        </a:rPr>
                        <a:t>Q3-2026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A" sz="1100" b="1" i="0" u="none" strike="noStrike" kern="1200" cap="none" spc="0" normalizeH="0" baseline="0" noProof="0">
                          <a:ln>
                            <a:noFill/>
                          </a:ln>
                          <a:solidFill>
                            <a:srgbClr val="FFFFFF"/>
                          </a:solidFill>
                          <a:effectLst/>
                          <a:uLnTx/>
                          <a:uFillTx/>
                          <a:latin typeface="+mn-lt"/>
                          <a:ea typeface="+mn-ea"/>
                          <a:cs typeface="+mn-cs"/>
                        </a:rPr>
                        <a:t>Q4-2026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A" sz="1100" b="1" i="0" u="none" strike="noStrike" kern="1200" cap="none" spc="0" normalizeH="0" baseline="0" noProof="0">
                          <a:ln>
                            <a:noFill/>
                          </a:ln>
                          <a:solidFill>
                            <a:srgbClr val="FFFFFF"/>
                          </a:solidFill>
                          <a:effectLst/>
                          <a:uLnTx/>
                          <a:uFillTx/>
                          <a:latin typeface="+mn-lt"/>
                          <a:ea typeface="+mn-ea"/>
                          <a:cs typeface="+mn-cs"/>
                        </a:rPr>
                        <a:t>Q1-2027</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A" sz="1100" b="1" i="0" u="none" strike="noStrike" kern="1200" cap="none" spc="0" normalizeH="0" baseline="0" noProof="0">
                          <a:ln>
                            <a:noFill/>
                          </a:ln>
                          <a:solidFill>
                            <a:srgbClr val="FFFFFF"/>
                          </a:solidFill>
                          <a:effectLst/>
                          <a:uLnTx/>
                          <a:uFillTx/>
                          <a:latin typeface="+mn-lt"/>
                          <a:ea typeface="+mn-ea"/>
                          <a:cs typeface="+mn-cs"/>
                        </a:rPr>
                        <a:t>Q2-2027</a:t>
                      </a:r>
                    </a:p>
                  </a:txBody>
                  <a:tcPr anchor="ctr"/>
                </a:tc>
                <a:tc>
                  <a:txBody>
                    <a:bodyPr/>
                    <a:lstStyle/>
                    <a:p>
                      <a:pPr algn="ctr"/>
                      <a:r>
                        <a:rPr lang="fr-CA" sz="1200" noProof="0"/>
                        <a:t>++</a:t>
                      </a:r>
                    </a:p>
                  </a:txBody>
                  <a:tcPr anchor="ctr"/>
                </a:tc>
                <a:extLst>
                  <a:ext uri="{0D108BD9-81ED-4DB2-BD59-A6C34878D82A}">
                    <a16:rowId xmlns:a16="http://schemas.microsoft.com/office/drawing/2014/main" val="2382199452"/>
                  </a:ext>
                </a:extLst>
              </a:tr>
              <a:tr h="0">
                <a:tc>
                  <a:txBody>
                    <a:bodyPr/>
                    <a:lstStyle/>
                    <a:p>
                      <a:r>
                        <a:rPr lang="fr-CA" sz="800" kern="1200" noProof="0">
                          <a:solidFill>
                            <a:schemeClr val="dk1"/>
                          </a:solidFill>
                          <a:latin typeface="+mn-lt"/>
                          <a:ea typeface="+mn-ea"/>
                          <a:cs typeface="+mn-cs"/>
                        </a:rPr>
                        <a:t>R1 – </a:t>
                      </a:r>
                      <a:r>
                        <a:rPr lang="fr-CA" sz="800" kern="1200">
                          <a:solidFill>
                            <a:schemeClr val="dk1"/>
                          </a:solidFill>
                          <a:effectLst/>
                          <a:latin typeface="+mn-lt"/>
                          <a:ea typeface="+mn-ea"/>
                          <a:cs typeface="+mn-cs"/>
                        </a:rPr>
                        <a:t>Configuration Modules BAM et BFA (Huron) + Test IA</a:t>
                      </a:r>
                      <a:endParaRPr lang="fr-CA" sz="800" kern="1200" noProof="0">
                        <a:solidFill>
                          <a:schemeClr val="dk1"/>
                        </a:solidFill>
                        <a:latin typeface="+mn-lt"/>
                        <a:ea typeface="+mn-ea"/>
                        <a:cs typeface="+mn-cs"/>
                      </a:endParaRPr>
                    </a:p>
                  </a:txBody>
                  <a:tcPr anchor="ct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extLst>
                  <a:ext uri="{0D108BD9-81ED-4DB2-BD59-A6C34878D82A}">
                    <a16:rowId xmlns:a16="http://schemas.microsoft.com/office/drawing/2014/main" val="1144704712"/>
                  </a:ext>
                </a:extLst>
              </a:tr>
              <a:tr h="0">
                <a:tc>
                  <a:txBody>
                    <a:bodyPr/>
                    <a:lstStyle/>
                    <a:p>
                      <a:r>
                        <a:rPr lang="fr-CA" sz="800" kern="1200" noProof="0">
                          <a:solidFill>
                            <a:schemeClr val="dk1"/>
                          </a:solidFill>
                          <a:latin typeface="+mn-lt"/>
                          <a:ea typeface="+mn-ea"/>
                          <a:cs typeface="+mn-cs"/>
                        </a:rPr>
                        <a:t>R1 –  </a:t>
                      </a:r>
                      <a:r>
                        <a:rPr lang="fr-CA" sz="800"/>
                        <a:t>Cartographier les processus d’affaires impliquant l’utilisation de l’outil</a:t>
                      </a:r>
                      <a:endParaRPr lang="fr-CA" sz="800" kern="1200" noProof="0">
                        <a:solidFill>
                          <a:schemeClr val="dk1"/>
                        </a:solidFill>
                        <a:latin typeface="+mn-lt"/>
                        <a:ea typeface="+mn-ea"/>
                        <a:cs typeface="+mn-cs"/>
                      </a:endParaRPr>
                    </a:p>
                  </a:txBody>
                  <a:tcPr anchor="ct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extLst>
                  <a:ext uri="{0D108BD9-81ED-4DB2-BD59-A6C34878D82A}">
                    <a16:rowId xmlns:a16="http://schemas.microsoft.com/office/drawing/2014/main" val="3002814875"/>
                  </a:ext>
                </a:extLst>
              </a:tr>
              <a:tr h="187919">
                <a:tc>
                  <a:txBody>
                    <a:bodyPr/>
                    <a:lstStyle/>
                    <a:p>
                      <a:r>
                        <a:rPr lang="fr-CA" sz="800" kern="1200" noProof="0">
                          <a:solidFill>
                            <a:schemeClr val="dk1"/>
                          </a:solidFill>
                          <a:latin typeface="+mn-lt"/>
                          <a:ea typeface="+mn-ea"/>
                          <a:cs typeface="+mn-cs"/>
                        </a:rPr>
                        <a:t>R1 –  </a:t>
                      </a:r>
                      <a:r>
                        <a:rPr lang="fr-CA" sz="800"/>
                        <a:t>Monitoring, </a:t>
                      </a:r>
                      <a:r>
                        <a:rPr lang="fr-CA" sz="800" err="1"/>
                        <a:t>Reporting</a:t>
                      </a:r>
                      <a:r>
                        <a:rPr lang="fr-CA" sz="800"/>
                        <a:t> &amp; KPIs</a:t>
                      </a:r>
                      <a:endParaRPr lang="fr-CA" sz="800" kern="1200" noProof="0">
                        <a:solidFill>
                          <a:schemeClr val="dk1"/>
                        </a:solidFill>
                        <a:latin typeface="+mn-lt"/>
                        <a:ea typeface="+mn-ea"/>
                        <a:cs typeface="+mn-cs"/>
                      </a:endParaRPr>
                    </a:p>
                  </a:txBody>
                  <a:tcPr anchor="ct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extLst>
                  <a:ext uri="{0D108BD9-81ED-4DB2-BD59-A6C34878D82A}">
                    <a16:rowId xmlns:a16="http://schemas.microsoft.com/office/drawing/2014/main" val="1587824546"/>
                  </a:ext>
                </a:extLst>
              </a:tr>
              <a:tr h="335100">
                <a:tc>
                  <a:txBody>
                    <a:bodyPr/>
                    <a:lstStyle/>
                    <a:p>
                      <a:r>
                        <a:rPr lang="fr-CA" sz="800" kern="1200" noProof="0">
                          <a:solidFill>
                            <a:schemeClr val="dk1"/>
                          </a:solidFill>
                          <a:latin typeface="+mn-lt"/>
                          <a:ea typeface="+mn-ea"/>
                          <a:cs typeface="+mn-cs"/>
                        </a:rPr>
                        <a:t>R1 – Rédaction des scénarios de test + accompagnement exécution</a:t>
                      </a:r>
                    </a:p>
                  </a:txBody>
                  <a:tcPr anchor="ct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extLst>
                  <a:ext uri="{0D108BD9-81ED-4DB2-BD59-A6C34878D82A}">
                    <a16:rowId xmlns:a16="http://schemas.microsoft.com/office/drawing/2014/main" val="2377477419"/>
                  </a:ext>
                </a:extLst>
              </a:tr>
              <a:tr h="3351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kern="1200" noProof="0">
                          <a:solidFill>
                            <a:schemeClr val="dk1"/>
                          </a:solidFill>
                          <a:latin typeface="+mn-lt"/>
                          <a:ea typeface="+mn-ea"/>
                          <a:cs typeface="+mn-cs"/>
                        </a:rPr>
                        <a:t>R2 – Configuration des modules de paiement automatique DD et DPA </a:t>
                      </a:r>
                      <a:r>
                        <a:rPr lang="fr-CA" sz="800" kern="1200">
                          <a:solidFill>
                            <a:schemeClr val="dk1"/>
                          </a:solidFill>
                          <a:effectLst/>
                          <a:latin typeface="+mn-lt"/>
                          <a:ea typeface="+mn-ea"/>
                          <a:cs typeface="+mn-cs"/>
                        </a:rPr>
                        <a:t>(Huron) + Comptabilité et conciliation</a:t>
                      </a:r>
                      <a:endParaRPr lang="fr-CA" sz="800" kern="1200" noProof="0">
                        <a:solidFill>
                          <a:schemeClr val="dk1"/>
                        </a:solidFill>
                        <a:latin typeface="+mn-lt"/>
                        <a:ea typeface="+mn-ea"/>
                        <a:cs typeface="+mn-cs"/>
                      </a:endParaRPr>
                    </a:p>
                  </a:txBody>
                  <a:tcPr anchor="ct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extLst>
                  <a:ext uri="{0D108BD9-81ED-4DB2-BD59-A6C34878D82A}">
                    <a16:rowId xmlns:a16="http://schemas.microsoft.com/office/drawing/2014/main" val="839428498"/>
                  </a:ext>
                </a:extLst>
              </a:tr>
              <a:tr h="335100">
                <a:tc>
                  <a:txBody>
                    <a:bodyPr/>
                    <a:lstStyle/>
                    <a:p>
                      <a:r>
                        <a:rPr lang="fr-CA" sz="800" kern="1200" noProof="0">
                          <a:solidFill>
                            <a:schemeClr val="dk1"/>
                          </a:solidFill>
                          <a:latin typeface="+mn-lt"/>
                          <a:ea typeface="+mn-ea"/>
                          <a:cs typeface="+mn-cs"/>
                        </a:rPr>
                        <a:t>R2 – Finaliser la </a:t>
                      </a:r>
                      <a:r>
                        <a:rPr lang="fr-CA" sz="800"/>
                        <a:t>Cartographier les processus d’affaires </a:t>
                      </a:r>
                      <a:endParaRPr lang="fr-CA" sz="800" kern="1200" noProof="0">
                        <a:solidFill>
                          <a:schemeClr val="dk1"/>
                        </a:solidFill>
                        <a:latin typeface="+mn-lt"/>
                        <a:ea typeface="+mn-ea"/>
                        <a:cs typeface="+mn-cs"/>
                      </a:endParaRPr>
                    </a:p>
                  </a:txBody>
                  <a:tcPr anchor="ct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extLst>
                  <a:ext uri="{0D108BD9-81ED-4DB2-BD59-A6C34878D82A}">
                    <a16:rowId xmlns:a16="http://schemas.microsoft.com/office/drawing/2014/main" val="3678543211"/>
                  </a:ext>
                </a:extLst>
              </a:tr>
              <a:tr h="3351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kern="1200" noProof="0">
                          <a:solidFill>
                            <a:schemeClr val="dk1"/>
                          </a:solidFill>
                          <a:latin typeface="+mn-lt"/>
                          <a:ea typeface="+mn-ea"/>
                          <a:cs typeface="+mn-cs"/>
                        </a:rPr>
                        <a:t>R2 – Rédaction des scénarios de test + accompagnement exécution</a:t>
                      </a:r>
                    </a:p>
                  </a:txBody>
                  <a:tcPr anchor="ct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extLst>
                  <a:ext uri="{0D108BD9-81ED-4DB2-BD59-A6C34878D82A}">
                    <a16:rowId xmlns:a16="http://schemas.microsoft.com/office/drawing/2014/main" val="2888254694"/>
                  </a:ext>
                </a:extLst>
              </a:tr>
              <a:tr h="3351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kern="1200" noProof="0">
                          <a:solidFill>
                            <a:schemeClr val="dk1"/>
                          </a:solidFill>
                          <a:latin typeface="+mn-lt"/>
                          <a:ea typeface="+mn-ea"/>
                          <a:cs typeface="+mn-cs"/>
                        </a:rPr>
                        <a:t>R2 –  </a:t>
                      </a:r>
                      <a:r>
                        <a:rPr lang="fr-CA" sz="800"/>
                        <a:t>Monitoring, </a:t>
                      </a:r>
                      <a:r>
                        <a:rPr lang="fr-CA" sz="800" err="1"/>
                        <a:t>Reporting</a:t>
                      </a:r>
                      <a:r>
                        <a:rPr lang="fr-CA" sz="800"/>
                        <a:t> &amp; KPIs</a:t>
                      </a:r>
                      <a:endParaRPr lang="fr-CA" sz="800" kern="1200" noProof="0">
                        <a:solidFill>
                          <a:schemeClr val="dk1"/>
                        </a:solidFill>
                        <a:latin typeface="+mn-lt"/>
                        <a:ea typeface="+mn-ea"/>
                        <a:cs typeface="+mn-cs"/>
                      </a:endParaRPr>
                    </a:p>
                  </a:txBody>
                  <a:tcPr anchor="ct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extLst>
                  <a:ext uri="{0D108BD9-81ED-4DB2-BD59-A6C34878D82A}">
                    <a16:rowId xmlns:a16="http://schemas.microsoft.com/office/drawing/2014/main" val="2151984068"/>
                  </a:ext>
                </a:extLst>
              </a:tr>
              <a:tr h="3351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900" kern="1200" noProof="0">
                          <a:solidFill>
                            <a:schemeClr val="dk1"/>
                          </a:solidFill>
                          <a:latin typeface="+mn-lt"/>
                          <a:ea typeface="+mn-ea"/>
                          <a:cs typeface="+mn-cs"/>
                        </a:rPr>
                        <a:t>R3 – Configuration des modules de paiement Manuels DD, DPA, Chèques (man et auto) et virement </a:t>
                      </a:r>
                      <a:r>
                        <a:rPr lang="fr-CA" sz="900" kern="1200">
                          <a:solidFill>
                            <a:schemeClr val="dk1"/>
                          </a:solidFill>
                          <a:effectLst/>
                          <a:latin typeface="+mn-lt"/>
                          <a:ea typeface="+mn-ea"/>
                          <a:cs typeface="+mn-cs"/>
                        </a:rPr>
                        <a:t>(Huron) + WF</a:t>
                      </a:r>
                      <a:endParaRPr lang="fr-CA" sz="900" kern="1200" noProof="0">
                        <a:solidFill>
                          <a:schemeClr val="dk1"/>
                        </a:solidFill>
                        <a:latin typeface="+mn-lt"/>
                        <a:ea typeface="+mn-ea"/>
                        <a:cs typeface="+mn-cs"/>
                      </a:endParaRPr>
                    </a:p>
                  </a:txBody>
                  <a:tcPr anchor="ct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extLst>
                  <a:ext uri="{0D108BD9-81ED-4DB2-BD59-A6C34878D82A}">
                    <a16:rowId xmlns:a16="http://schemas.microsoft.com/office/drawing/2014/main" val="3106276801"/>
                  </a:ext>
                </a:extLst>
              </a:tr>
              <a:tr h="3351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900" kern="1200" noProof="0">
                          <a:solidFill>
                            <a:schemeClr val="dk1"/>
                          </a:solidFill>
                          <a:latin typeface="+mn-lt"/>
                          <a:ea typeface="+mn-ea"/>
                          <a:cs typeface="+mn-cs"/>
                        </a:rPr>
                        <a:t>R3 – Finaliser la </a:t>
                      </a:r>
                      <a:r>
                        <a:rPr lang="fr-CA" sz="900"/>
                        <a:t>Cartographier les processus d’affaires </a:t>
                      </a:r>
                      <a:endParaRPr lang="fr-CA" sz="900" kern="1200" noProof="0">
                        <a:solidFill>
                          <a:schemeClr val="dk1"/>
                        </a:solidFill>
                        <a:latin typeface="+mn-lt"/>
                        <a:ea typeface="+mn-ea"/>
                        <a:cs typeface="+mn-cs"/>
                      </a:endParaRPr>
                    </a:p>
                  </a:txBody>
                  <a:tcPr anchor="ct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extLst>
                  <a:ext uri="{0D108BD9-81ED-4DB2-BD59-A6C34878D82A}">
                    <a16:rowId xmlns:a16="http://schemas.microsoft.com/office/drawing/2014/main" val="3339733436"/>
                  </a:ext>
                </a:extLst>
              </a:tr>
              <a:tr h="3351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CA" sz="800" b="0" i="0" u="none" strike="noStrike" kern="1200" cap="none" spc="0" normalizeH="0" baseline="0" noProof="0">
                          <a:ln>
                            <a:noFill/>
                          </a:ln>
                          <a:solidFill>
                            <a:srgbClr val="003DA5"/>
                          </a:solidFill>
                          <a:effectLst/>
                          <a:uLnTx/>
                          <a:uFillTx/>
                          <a:latin typeface="+mn-lt"/>
                          <a:ea typeface="+mn-ea"/>
                          <a:cs typeface="+mn-cs"/>
                        </a:rPr>
                        <a:t>R3 – Rédaction des scénarios de test + accompagnement exécution</a:t>
                      </a:r>
                    </a:p>
                  </a:txBody>
                  <a:tcPr anchor="ct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extLst>
                  <a:ext uri="{0D108BD9-81ED-4DB2-BD59-A6C34878D82A}">
                    <a16:rowId xmlns:a16="http://schemas.microsoft.com/office/drawing/2014/main" val="1009899428"/>
                  </a:ext>
                </a:extLst>
              </a:tr>
              <a:tr h="3351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kern="1200" noProof="0">
                          <a:solidFill>
                            <a:schemeClr val="dk1"/>
                          </a:solidFill>
                          <a:latin typeface="+mn-lt"/>
                          <a:ea typeface="+mn-ea"/>
                          <a:cs typeface="+mn-cs"/>
                        </a:rPr>
                        <a:t>R3 –  </a:t>
                      </a:r>
                      <a:r>
                        <a:rPr lang="fr-CA" sz="800"/>
                        <a:t>Monitoring, </a:t>
                      </a:r>
                      <a:r>
                        <a:rPr lang="fr-CA" sz="800" err="1"/>
                        <a:t>Reporting</a:t>
                      </a:r>
                      <a:r>
                        <a:rPr lang="fr-CA" sz="800"/>
                        <a:t> &amp; KPIs</a:t>
                      </a:r>
                      <a:endParaRPr lang="fr-CA" sz="800" kern="1200" noProof="0">
                        <a:solidFill>
                          <a:schemeClr val="dk1"/>
                        </a:solidFill>
                        <a:latin typeface="+mn-lt"/>
                        <a:ea typeface="+mn-ea"/>
                        <a:cs typeface="+mn-cs"/>
                      </a:endParaRPr>
                    </a:p>
                  </a:txBody>
                  <a:tcPr anchor="ct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extLst>
                  <a:ext uri="{0D108BD9-81ED-4DB2-BD59-A6C34878D82A}">
                    <a16:rowId xmlns:a16="http://schemas.microsoft.com/office/drawing/2014/main" val="123982509"/>
                  </a:ext>
                </a:extLst>
              </a:tr>
              <a:tr h="3351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CA" sz="800" b="0" i="0" u="none" strike="noStrike" kern="1200" cap="none" spc="0" normalizeH="0" baseline="0" noProof="0">
                          <a:ln>
                            <a:noFill/>
                          </a:ln>
                          <a:solidFill>
                            <a:srgbClr val="003DA5"/>
                          </a:solidFill>
                          <a:effectLst/>
                          <a:uLnTx/>
                          <a:uFillTx/>
                          <a:latin typeface="+mn-lt"/>
                          <a:ea typeface="+mn-ea"/>
                          <a:cs typeface="+mn-cs"/>
                        </a:rPr>
                        <a:t>R4 – Définition de l’offre de service du CSP, rôle et responsabilité et gouvernance</a:t>
                      </a:r>
                    </a:p>
                  </a:txBody>
                  <a:tcPr anchor="ct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extLst>
                  <a:ext uri="{0D108BD9-81ED-4DB2-BD59-A6C34878D82A}">
                    <a16:rowId xmlns:a16="http://schemas.microsoft.com/office/drawing/2014/main" val="2787598688"/>
                  </a:ext>
                </a:extLst>
              </a:tr>
              <a:tr h="3351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CA" sz="800" b="0" i="0" u="none" strike="noStrike" kern="1200" cap="none" spc="0" normalizeH="0" baseline="0" noProof="0">
                          <a:ln>
                            <a:noFill/>
                          </a:ln>
                          <a:solidFill>
                            <a:srgbClr val="003DA5"/>
                          </a:solidFill>
                          <a:effectLst/>
                          <a:uLnTx/>
                          <a:uFillTx/>
                          <a:latin typeface="+mn-lt"/>
                          <a:ea typeface="+mn-ea"/>
                          <a:cs typeface="+mn-cs"/>
                        </a:rPr>
                        <a:t>R4 – </a:t>
                      </a:r>
                      <a:r>
                        <a:rPr lang="fr-CA" sz="800"/>
                        <a:t>Cartographier les processus d’affaires  R4 + dette R1, R2 et R3</a:t>
                      </a:r>
                      <a:endParaRPr kumimoji="0" lang="fr-CA" sz="800" b="0" i="0" u="none" strike="noStrike" kern="1200" cap="none" spc="0" normalizeH="0" baseline="0" noProof="0">
                        <a:ln>
                          <a:noFill/>
                        </a:ln>
                        <a:solidFill>
                          <a:srgbClr val="003DA5"/>
                        </a:solidFill>
                        <a:effectLst/>
                        <a:uLnTx/>
                        <a:uFillTx/>
                        <a:latin typeface="+mn-lt"/>
                        <a:ea typeface="+mn-ea"/>
                        <a:cs typeface="+mn-cs"/>
                      </a:endParaRPr>
                    </a:p>
                  </a:txBody>
                  <a:tcPr anchor="ct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extLst>
                  <a:ext uri="{0D108BD9-81ED-4DB2-BD59-A6C34878D82A}">
                    <a16:rowId xmlns:a16="http://schemas.microsoft.com/office/drawing/2014/main" val="1296197955"/>
                  </a:ext>
                </a:extLst>
              </a:tr>
            </a:tbl>
          </a:graphicData>
        </a:graphic>
      </p:graphicFrame>
      <p:sp>
        <p:nvSpPr>
          <p:cNvPr id="14" name="Rectangle 13">
            <a:extLst>
              <a:ext uri="{FF2B5EF4-FFF2-40B4-BE49-F238E27FC236}">
                <a16:creationId xmlns:a16="http://schemas.microsoft.com/office/drawing/2014/main" id="{92D21C3C-D3E7-2612-31F5-6B9AE5F051C9}"/>
              </a:ext>
            </a:extLst>
          </p:cNvPr>
          <p:cNvSpPr/>
          <p:nvPr/>
        </p:nvSpPr>
        <p:spPr>
          <a:xfrm>
            <a:off x="3313059" y="681126"/>
            <a:ext cx="1143792" cy="2070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16" name="Rectangle 15">
            <a:extLst>
              <a:ext uri="{FF2B5EF4-FFF2-40B4-BE49-F238E27FC236}">
                <a16:creationId xmlns:a16="http://schemas.microsoft.com/office/drawing/2014/main" id="{76C03450-8538-9023-4B08-BF474EE6FCA2}"/>
              </a:ext>
            </a:extLst>
          </p:cNvPr>
          <p:cNvSpPr/>
          <p:nvPr/>
        </p:nvSpPr>
        <p:spPr>
          <a:xfrm>
            <a:off x="3611244" y="1057356"/>
            <a:ext cx="404719" cy="2070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3" name="Rectangle 2">
            <a:extLst>
              <a:ext uri="{FF2B5EF4-FFF2-40B4-BE49-F238E27FC236}">
                <a16:creationId xmlns:a16="http://schemas.microsoft.com/office/drawing/2014/main" id="{CF163012-55D1-37DA-FE7F-982E62982592}"/>
              </a:ext>
            </a:extLst>
          </p:cNvPr>
          <p:cNvSpPr/>
          <p:nvPr/>
        </p:nvSpPr>
        <p:spPr>
          <a:xfrm>
            <a:off x="4192373" y="1768059"/>
            <a:ext cx="484241" cy="2070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4" name="Rectangle 3">
            <a:extLst>
              <a:ext uri="{FF2B5EF4-FFF2-40B4-BE49-F238E27FC236}">
                <a16:creationId xmlns:a16="http://schemas.microsoft.com/office/drawing/2014/main" id="{FF4CE514-1BFE-092B-1F4C-68286859FC0F}"/>
              </a:ext>
            </a:extLst>
          </p:cNvPr>
          <p:cNvSpPr/>
          <p:nvPr/>
        </p:nvSpPr>
        <p:spPr>
          <a:xfrm>
            <a:off x="3775365" y="2152956"/>
            <a:ext cx="1326988" cy="2070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5" name="Rectangle 4">
            <a:extLst>
              <a:ext uri="{FF2B5EF4-FFF2-40B4-BE49-F238E27FC236}">
                <a16:creationId xmlns:a16="http://schemas.microsoft.com/office/drawing/2014/main" id="{40B40E99-EEA8-FAF8-7C5D-8F14017CF6EB}"/>
              </a:ext>
            </a:extLst>
          </p:cNvPr>
          <p:cNvSpPr/>
          <p:nvPr/>
        </p:nvSpPr>
        <p:spPr>
          <a:xfrm>
            <a:off x="3775365" y="2528124"/>
            <a:ext cx="481195" cy="2070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6" name="Rectangle 5">
            <a:extLst>
              <a:ext uri="{FF2B5EF4-FFF2-40B4-BE49-F238E27FC236}">
                <a16:creationId xmlns:a16="http://schemas.microsoft.com/office/drawing/2014/main" id="{927E5385-F99D-FC1F-8EC6-4BCC0896282C}"/>
              </a:ext>
            </a:extLst>
          </p:cNvPr>
          <p:cNvSpPr/>
          <p:nvPr/>
        </p:nvSpPr>
        <p:spPr>
          <a:xfrm>
            <a:off x="4192373" y="2875793"/>
            <a:ext cx="824635" cy="2070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7" name="Rectangle 6">
            <a:extLst>
              <a:ext uri="{FF2B5EF4-FFF2-40B4-BE49-F238E27FC236}">
                <a16:creationId xmlns:a16="http://schemas.microsoft.com/office/drawing/2014/main" id="{29AE9F43-971B-26C8-93DB-5F10A05F3F00}"/>
              </a:ext>
            </a:extLst>
          </p:cNvPr>
          <p:cNvSpPr/>
          <p:nvPr/>
        </p:nvSpPr>
        <p:spPr>
          <a:xfrm>
            <a:off x="4510008" y="3603690"/>
            <a:ext cx="923324" cy="2070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8" name="Rectangle 7">
            <a:extLst>
              <a:ext uri="{FF2B5EF4-FFF2-40B4-BE49-F238E27FC236}">
                <a16:creationId xmlns:a16="http://schemas.microsoft.com/office/drawing/2014/main" id="{F6F05CE6-22BC-A092-98D4-430788297D67}"/>
              </a:ext>
            </a:extLst>
          </p:cNvPr>
          <p:cNvSpPr/>
          <p:nvPr/>
        </p:nvSpPr>
        <p:spPr>
          <a:xfrm>
            <a:off x="4456851" y="3978858"/>
            <a:ext cx="481195" cy="2070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9" name="Rectangle 8">
            <a:extLst>
              <a:ext uri="{FF2B5EF4-FFF2-40B4-BE49-F238E27FC236}">
                <a16:creationId xmlns:a16="http://schemas.microsoft.com/office/drawing/2014/main" id="{92C94E8B-0C80-3BD9-30DF-6EA1B64BFCB8}"/>
              </a:ext>
            </a:extLst>
          </p:cNvPr>
          <p:cNvSpPr/>
          <p:nvPr/>
        </p:nvSpPr>
        <p:spPr>
          <a:xfrm>
            <a:off x="4725809" y="4354026"/>
            <a:ext cx="923324" cy="2070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10" name="Rectangle 9">
            <a:extLst>
              <a:ext uri="{FF2B5EF4-FFF2-40B4-BE49-F238E27FC236}">
                <a16:creationId xmlns:a16="http://schemas.microsoft.com/office/drawing/2014/main" id="{D09355D2-FFBA-4646-AD69-7A98E5ADBEBD}"/>
              </a:ext>
            </a:extLst>
          </p:cNvPr>
          <p:cNvSpPr/>
          <p:nvPr/>
        </p:nvSpPr>
        <p:spPr>
          <a:xfrm>
            <a:off x="3598367" y="5071842"/>
            <a:ext cx="4868560" cy="2070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11" name="Rectangle 10">
            <a:extLst>
              <a:ext uri="{FF2B5EF4-FFF2-40B4-BE49-F238E27FC236}">
                <a16:creationId xmlns:a16="http://schemas.microsoft.com/office/drawing/2014/main" id="{E23976C9-4874-05E7-71B5-816C9556A2A2}"/>
              </a:ext>
            </a:extLst>
          </p:cNvPr>
          <p:cNvSpPr/>
          <p:nvPr/>
        </p:nvSpPr>
        <p:spPr>
          <a:xfrm>
            <a:off x="4015963" y="1399430"/>
            <a:ext cx="440888" cy="2377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12" name="Rectangle 11">
            <a:extLst>
              <a:ext uri="{FF2B5EF4-FFF2-40B4-BE49-F238E27FC236}">
                <a16:creationId xmlns:a16="http://schemas.microsoft.com/office/drawing/2014/main" id="{49D98EA9-61C4-3D57-B33D-C83A680BCFBB}"/>
              </a:ext>
            </a:extLst>
          </p:cNvPr>
          <p:cNvSpPr/>
          <p:nvPr/>
        </p:nvSpPr>
        <p:spPr>
          <a:xfrm>
            <a:off x="4192658" y="3256002"/>
            <a:ext cx="663821" cy="2070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15" name="Rectangle 14">
            <a:extLst>
              <a:ext uri="{FF2B5EF4-FFF2-40B4-BE49-F238E27FC236}">
                <a16:creationId xmlns:a16="http://schemas.microsoft.com/office/drawing/2014/main" id="{289DA8F8-9418-AE4D-0939-923C2CDFF2B8}"/>
              </a:ext>
            </a:extLst>
          </p:cNvPr>
          <p:cNvSpPr/>
          <p:nvPr/>
        </p:nvSpPr>
        <p:spPr>
          <a:xfrm>
            <a:off x="4727216" y="4701714"/>
            <a:ext cx="820144" cy="2070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17" name="Rectangle 16">
            <a:extLst>
              <a:ext uri="{FF2B5EF4-FFF2-40B4-BE49-F238E27FC236}">
                <a16:creationId xmlns:a16="http://schemas.microsoft.com/office/drawing/2014/main" id="{AE1327C9-9F5D-5794-9077-641FAC5A2DD3}"/>
              </a:ext>
            </a:extLst>
          </p:cNvPr>
          <p:cNvSpPr/>
          <p:nvPr/>
        </p:nvSpPr>
        <p:spPr>
          <a:xfrm>
            <a:off x="3949976" y="5452051"/>
            <a:ext cx="4868560" cy="2070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Tree>
    <p:extLst>
      <p:ext uri="{BB962C8B-B14F-4D97-AF65-F5344CB8AC3E}">
        <p14:creationId xmlns:p14="http://schemas.microsoft.com/office/powerpoint/2010/main" val="62353305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02B05-DA15-BEB8-7191-0E975C456DD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83B9E01-D229-439B-4A2B-7307E07D581F}"/>
              </a:ext>
            </a:extLst>
          </p:cNvPr>
          <p:cNvSpPr>
            <a:spLocks noGrp="1"/>
          </p:cNvSpPr>
          <p:nvPr>
            <p:ph type="title"/>
          </p:nvPr>
        </p:nvSpPr>
        <p:spPr>
          <a:xfrm>
            <a:off x="214745" y="-407"/>
            <a:ext cx="8929255" cy="315602"/>
          </a:xfrm>
          <a:solidFill>
            <a:schemeClr val="tx1"/>
          </a:solidFill>
        </p:spPr>
        <p:txBody>
          <a:bodyPr vert="horz" lIns="91440" tIns="45720" rIns="91440" bIns="45720" rtlCol="0" anchor="ctr">
            <a:normAutofit fontScale="90000"/>
          </a:bodyPr>
          <a:lstStyle/>
          <a:p>
            <a:r>
              <a:rPr lang="fr-CA" sz="2400" b="1">
                <a:solidFill>
                  <a:schemeClr val="bg1"/>
                </a:solidFill>
              </a:rPr>
              <a:t>Plan de déploiement - Roadmap des activités </a:t>
            </a:r>
          </a:p>
        </p:txBody>
      </p:sp>
      <p:sp>
        <p:nvSpPr>
          <p:cNvPr id="17" name="Rectangle 16">
            <a:extLst>
              <a:ext uri="{FF2B5EF4-FFF2-40B4-BE49-F238E27FC236}">
                <a16:creationId xmlns:a16="http://schemas.microsoft.com/office/drawing/2014/main" id="{A77E2DBD-843A-A1E4-8A09-2FE2D498276C}"/>
              </a:ext>
            </a:extLst>
          </p:cNvPr>
          <p:cNvSpPr/>
          <p:nvPr/>
        </p:nvSpPr>
        <p:spPr>
          <a:xfrm>
            <a:off x="3949976" y="5452051"/>
            <a:ext cx="4868560" cy="2070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pic>
        <p:nvPicPr>
          <p:cNvPr id="21" name="Image 20">
            <a:extLst>
              <a:ext uri="{FF2B5EF4-FFF2-40B4-BE49-F238E27FC236}">
                <a16:creationId xmlns:a16="http://schemas.microsoft.com/office/drawing/2014/main" id="{6F7477D5-289D-A68C-088B-462EA3143019}"/>
              </a:ext>
            </a:extLst>
          </p:cNvPr>
          <p:cNvPicPr>
            <a:picLocks noChangeAspect="1"/>
          </p:cNvPicPr>
          <p:nvPr/>
        </p:nvPicPr>
        <p:blipFill>
          <a:blip r:embed="rId3"/>
          <a:stretch>
            <a:fillRect/>
          </a:stretch>
        </p:blipFill>
        <p:spPr>
          <a:xfrm>
            <a:off x="293579" y="315195"/>
            <a:ext cx="8850421" cy="4760500"/>
          </a:xfrm>
          <a:prstGeom prst="rect">
            <a:avLst/>
          </a:prstGeom>
        </p:spPr>
      </p:pic>
    </p:spTree>
    <p:extLst>
      <p:ext uri="{BB962C8B-B14F-4D97-AF65-F5344CB8AC3E}">
        <p14:creationId xmlns:p14="http://schemas.microsoft.com/office/powerpoint/2010/main" val="88649694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4F02B36-16E2-5053-1257-0BB45D2E884B}"/>
              </a:ext>
            </a:extLst>
          </p:cNvPr>
          <p:cNvSpPr>
            <a:spLocks noGrp="1"/>
          </p:cNvSpPr>
          <p:nvPr>
            <p:ph type="title"/>
          </p:nvPr>
        </p:nvSpPr>
        <p:spPr/>
        <p:txBody>
          <a:bodyPr/>
          <a:lstStyle/>
          <a:p>
            <a:r>
              <a:rPr lang="fr-CA" noProof="0"/>
              <a:t>Design de l’architecture cible</a:t>
            </a:r>
          </a:p>
        </p:txBody>
      </p:sp>
      <p:sp>
        <p:nvSpPr>
          <p:cNvPr id="3" name="Espace réservé du contenu 2">
            <a:extLst>
              <a:ext uri="{FF2B5EF4-FFF2-40B4-BE49-F238E27FC236}">
                <a16:creationId xmlns:a16="http://schemas.microsoft.com/office/drawing/2014/main" id="{5C4CF4BE-7C3F-26F3-F34B-4A45607EACFD}"/>
              </a:ext>
            </a:extLst>
          </p:cNvPr>
          <p:cNvSpPr>
            <a:spLocks noGrp="1"/>
          </p:cNvSpPr>
          <p:nvPr>
            <p:ph idx="1"/>
          </p:nvPr>
        </p:nvSpPr>
        <p:spPr/>
        <p:txBody>
          <a:bodyPr/>
          <a:lstStyle/>
          <a:p>
            <a:r>
              <a:rPr lang="fr-CA" noProof="0"/>
              <a:t>À discuter, format ?</a:t>
            </a:r>
          </a:p>
          <a:p>
            <a:r>
              <a:rPr lang="fr-CA" noProof="0"/>
              <a:t>Options: schémas, modèle opérationnel…</a:t>
            </a:r>
          </a:p>
          <a:p>
            <a:endParaRPr lang="fr-CA" noProof="0"/>
          </a:p>
          <a:p>
            <a:r>
              <a:rPr lang="fr-CA" noProof="0"/>
              <a:t>Capacités d’affaires (aide à identifier ce qui manque, R&amp;R)</a:t>
            </a:r>
          </a:p>
          <a:p>
            <a:r>
              <a:rPr lang="fr-CA" noProof="0"/>
              <a:t>Fonctions d’affaires (cas d’utilisation)</a:t>
            </a:r>
          </a:p>
          <a:p>
            <a:r>
              <a:rPr lang="fr-CA" noProof="0"/>
              <a:t>Processus</a:t>
            </a:r>
          </a:p>
        </p:txBody>
      </p:sp>
    </p:spTree>
    <p:extLst>
      <p:ext uri="{BB962C8B-B14F-4D97-AF65-F5344CB8AC3E}">
        <p14:creationId xmlns:p14="http://schemas.microsoft.com/office/powerpoint/2010/main" val="98893192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E3A88DE-8049-1B4D-91A0-1746E45D7D80}"/>
              </a:ext>
            </a:extLst>
          </p:cNvPr>
          <p:cNvSpPr>
            <a:spLocks noGrp="1"/>
          </p:cNvSpPr>
          <p:nvPr>
            <p:ph type="title"/>
          </p:nvPr>
        </p:nvSpPr>
        <p:spPr/>
        <p:txBody>
          <a:bodyPr/>
          <a:lstStyle/>
          <a:p>
            <a:endParaRPr lang="fr-CA" noProof="0"/>
          </a:p>
        </p:txBody>
      </p:sp>
      <p:sp>
        <p:nvSpPr>
          <p:cNvPr id="3" name="Espace réservé du contenu 2">
            <a:extLst>
              <a:ext uri="{FF2B5EF4-FFF2-40B4-BE49-F238E27FC236}">
                <a16:creationId xmlns:a16="http://schemas.microsoft.com/office/drawing/2014/main" id="{23F9B597-E0C3-9A25-4751-BBE6F1018348}"/>
              </a:ext>
            </a:extLst>
          </p:cNvPr>
          <p:cNvSpPr>
            <a:spLocks noGrp="1"/>
          </p:cNvSpPr>
          <p:nvPr>
            <p:ph idx="1"/>
          </p:nvPr>
        </p:nvSpPr>
        <p:spPr/>
        <p:txBody>
          <a:bodyPr>
            <a:normAutofit fontScale="85000" lnSpcReduction="10000"/>
          </a:bodyPr>
          <a:lstStyle/>
          <a:p>
            <a:r>
              <a:rPr lang="fr-CA" noProof="0"/>
              <a:t>Objectif: Représentation visuelle de la cible des affaires pour être en mesure de communiquer avec les différents intervenants</a:t>
            </a:r>
          </a:p>
          <a:p>
            <a:r>
              <a:rPr lang="fr-CA" noProof="0"/>
              <a:t>Définir selon le projet de la meilleure façon de communiquer aux équipes</a:t>
            </a:r>
          </a:p>
          <a:p>
            <a:r>
              <a:rPr lang="fr-CA" noProof="0">
                <a:highlight>
                  <a:srgbClr val="FFFF00"/>
                </a:highlight>
              </a:rPr>
              <a:t>Capacités, value </a:t>
            </a:r>
            <a:r>
              <a:rPr lang="fr-CA" noProof="0" err="1">
                <a:highlight>
                  <a:srgbClr val="FFFF00"/>
                </a:highlight>
              </a:rPr>
              <a:t>stream</a:t>
            </a:r>
            <a:r>
              <a:rPr lang="fr-CA" noProof="0">
                <a:highlight>
                  <a:srgbClr val="FFFF00"/>
                </a:highlight>
              </a:rPr>
              <a:t>, information, organisation </a:t>
            </a:r>
            <a:r>
              <a:rPr lang="fr-CA" noProof="0"/>
              <a:t>= concept </a:t>
            </a:r>
            <a:r>
              <a:rPr lang="fr-CA" noProof="0" err="1"/>
              <a:t>core</a:t>
            </a:r>
            <a:r>
              <a:rPr lang="fr-CA" noProof="0"/>
              <a:t> (jaune à représenter) + peut mettre les concept orange (voir schéma orange: stakeholder, </a:t>
            </a:r>
            <a:r>
              <a:rPr lang="fr-CA" noProof="0" err="1"/>
              <a:t>strategies</a:t>
            </a:r>
            <a:r>
              <a:rPr lang="fr-CA" noProof="0"/>
              <a:t>, initiatives, </a:t>
            </a:r>
            <a:r>
              <a:rPr lang="fr-CA" noProof="0" err="1"/>
              <a:t>metrics</a:t>
            </a:r>
            <a:r>
              <a:rPr lang="fr-CA" noProof="0"/>
              <a:t>, </a:t>
            </a:r>
            <a:r>
              <a:rPr lang="fr-CA" noProof="0" err="1"/>
              <a:t>products</a:t>
            </a:r>
            <a:r>
              <a:rPr lang="fr-CA" noProof="0"/>
              <a:t>, </a:t>
            </a:r>
            <a:r>
              <a:rPr lang="fr-CA" noProof="0" err="1"/>
              <a:t>policies</a:t>
            </a:r>
            <a:endParaRPr lang="fr-CA" noProof="0"/>
          </a:p>
          <a:p>
            <a:r>
              <a:rPr lang="fr-CA" noProof="0"/>
              <a:t>Ce qui est présent, ce qui est nouveau</a:t>
            </a:r>
          </a:p>
          <a:p>
            <a:r>
              <a:rPr lang="fr-CA" noProof="0"/>
              <a:t>Rester au niveau processus – volet affaires</a:t>
            </a:r>
          </a:p>
          <a:p>
            <a:r>
              <a:rPr lang="fr-CA" noProof="0"/>
              <a:t>Design d’architecture: 1</a:t>
            </a:r>
            <a:r>
              <a:rPr lang="fr-CA" baseline="30000" noProof="0"/>
              <a:t>ère</a:t>
            </a:r>
            <a:r>
              <a:rPr lang="fr-CA" noProof="0"/>
              <a:t> étape de l’architecture détaillé</a:t>
            </a:r>
          </a:p>
          <a:p>
            <a:r>
              <a:rPr lang="fr-CA" noProof="0"/>
              <a:t>Métamodèle de la terminologie et concept utilisé en AA (grands concepts)</a:t>
            </a:r>
          </a:p>
          <a:p>
            <a:endParaRPr lang="fr-CA" noProof="0"/>
          </a:p>
          <a:p>
            <a:endParaRPr lang="fr-CA" noProof="0"/>
          </a:p>
          <a:p>
            <a:endParaRPr lang="fr-CA" noProof="0"/>
          </a:p>
          <a:p>
            <a:endParaRPr lang="fr-CA" noProof="0"/>
          </a:p>
          <a:p>
            <a:endParaRPr lang="fr-CA" noProof="0"/>
          </a:p>
        </p:txBody>
      </p:sp>
    </p:spTree>
    <p:extLst>
      <p:ext uri="{BB962C8B-B14F-4D97-AF65-F5344CB8AC3E}">
        <p14:creationId xmlns:p14="http://schemas.microsoft.com/office/powerpoint/2010/main" val="153506259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Espace réservé du contenu 3" descr="Une image contenant texte, capture d’écran, diagramme, Police&#10;&#10;Le contenu généré par l’IA peut être incorrect.">
            <a:extLst>
              <a:ext uri="{FF2B5EF4-FFF2-40B4-BE49-F238E27FC236}">
                <a16:creationId xmlns:a16="http://schemas.microsoft.com/office/drawing/2014/main" id="{0A629D4E-0065-D75B-3F36-7B49DE8E9C14}"/>
              </a:ext>
            </a:extLst>
          </p:cNvPr>
          <p:cNvPicPr>
            <a:picLocks noGrp="1" noChangeAspect="1"/>
          </p:cNvPicPr>
          <p:nvPr>
            <p:ph idx="1"/>
          </p:nvPr>
        </p:nvPicPr>
        <p:blipFill>
          <a:blip r:embed="rId2"/>
          <a:stretch>
            <a:fillRect/>
          </a:stretch>
        </p:blipFill>
        <p:spPr>
          <a:xfrm>
            <a:off x="1032750" y="50800"/>
            <a:ext cx="7307101" cy="5041900"/>
          </a:xfrm>
          <a:prstGeom prst="rect">
            <a:avLst/>
          </a:prstGeom>
          <a:noFill/>
        </p:spPr>
      </p:pic>
    </p:spTree>
    <p:extLst>
      <p:ext uri="{BB962C8B-B14F-4D97-AF65-F5344CB8AC3E}">
        <p14:creationId xmlns:p14="http://schemas.microsoft.com/office/powerpoint/2010/main" val="307336955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Espace réservé du contenu 3" descr="Une image contenant texte, diagramme, capture d’écran, Police&#10;&#10;Le contenu généré par l’IA peut être incorrect.">
            <a:extLst>
              <a:ext uri="{FF2B5EF4-FFF2-40B4-BE49-F238E27FC236}">
                <a16:creationId xmlns:a16="http://schemas.microsoft.com/office/drawing/2014/main" id="{F2A7B590-980F-94C6-54E3-8B5BC08C0548}"/>
              </a:ext>
            </a:extLst>
          </p:cNvPr>
          <p:cNvPicPr>
            <a:picLocks noGrp="1" noChangeAspect="1"/>
          </p:cNvPicPr>
          <p:nvPr>
            <p:ph idx="1"/>
          </p:nvPr>
        </p:nvPicPr>
        <p:blipFill>
          <a:blip r:embed="rId2"/>
          <a:stretch>
            <a:fillRect/>
          </a:stretch>
        </p:blipFill>
        <p:spPr>
          <a:xfrm>
            <a:off x="792941" y="50800"/>
            <a:ext cx="7786719" cy="5041900"/>
          </a:xfrm>
          <a:prstGeom prst="rect">
            <a:avLst/>
          </a:prstGeom>
          <a:noFill/>
        </p:spPr>
      </p:pic>
    </p:spTree>
    <p:extLst>
      <p:ext uri="{BB962C8B-B14F-4D97-AF65-F5344CB8AC3E}">
        <p14:creationId xmlns:p14="http://schemas.microsoft.com/office/powerpoint/2010/main" val="238640563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D9D1B797-0C6B-8B29-52D4-E49527653C68}"/>
              </a:ext>
            </a:extLst>
          </p:cNvPr>
          <p:cNvPicPr>
            <a:picLocks noGrp="1" noChangeAspect="1"/>
          </p:cNvPicPr>
          <p:nvPr>
            <p:ph idx="1"/>
          </p:nvPr>
        </p:nvPicPr>
        <p:blipFill>
          <a:blip r:embed="rId2"/>
          <a:stretch>
            <a:fillRect/>
          </a:stretch>
        </p:blipFill>
        <p:spPr>
          <a:xfrm>
            <a:off x="891540" y="8679"/>
            <a:ext cx="7387907" cy="4925271"/>
          </a:xfrm>
        </p:spPr>
      </p:pic>
    </p:spTree>
    <p:extLst>
      <p:ext uri="{BB962C8B-B14F-4D97-AF65-F5344CB8AC3E}">
        <p14:creationId xmlns:p14="http://schemas.microsoft.com/office/powerpoint/2010/main" val="336267791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D764672A-E6E6-74F6-A206-7EC11735FBAF}"/>
              </a:ext>
            </a:extLst>
          </p:cNvPr>
          <p:cNvPicPr>
            <a:picLocks noGrp="1" noChangeAspect="1"/>
          </p:cNvPicPr>
          <p:nvPr>
            <p:ph idx="1"/>
          </p:nvPr>
        </p:nvPicPr>
        <p:blipFill>
          <a:blip r:embed="rId2"/>
          <a:stretch>
            <a:fillRect/>
          </a:stretch>
        </p:blipFill>
        <p:spPr>
          <a:xfrm>
            <a:off x="1432878" y="160020"/>
            <a:ext cx="7160895" cy="4773930"/>
          </a:xfrm>
        </p:spPr>
      </p:pic>
    </p:spTree>
    <p:extLst>
      <p:ext uri="{BB962C8B-B14F-4D97-AF65-F5344CB8AC3E}">
        <p14:creationId xmlns:p14="http://schemas.microsoft.com/office/powerpoint/2010/main" val="46730698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6DF5D0D-93BA-2249-A332-320D193CF59F}"/>
              </a:ext>
            </a:extLst>
          </p:cNvPr>
          <p:cNvSpPr>
            <a:spLocks noGrp="1"/>
          </p:cNvSpPr>
          <p:nvPr>
            <p:ph type="title"/>
          </p:nvPr>
        </p:nvSpPr>
        <p:spPr/>
        <p:txBody>
          <a:bodyPr/>
          <a:lstStyle/>
          <a:p>
            <a:r>
              <a:rPr lang="fr-CA" noProof="0"/>
              <a:t>Annexes</a:t>
            </a:r>
          </a:p>
        </p:txBody>
      </p:sp>
      <p:sp>
        <p:nvSpPr>
          <p:cNvPr id="3" name="Sous-titre 2">
            <a:extLst>
              <a:ext uri="{FF2B5EF4-FFF2-40B4-BE49-F238E27FC236}">
                <a16:creationId xmlns:a16="http://schemas.microsoft.com/office/drawing/2014/main" id="{06916665-FAB5-764B-9F59-D2453CB87F22}"/>
              </a:ext>
            </a:extLst>
          </p:cNvPr>
          <p:cNvSpPr>
            <a:spLocks noGrp="1"/>
          </p:cNvSpPr>
          <p:nvPr>
            <p:ph type="subTitle" idx="1"/>
          </p:nvPr>
        </p:nvSpPr>
        <p:spPr/>
        <p:txBody>
          <a:bodyPr/>
          <a:lstStyle/>
          <a:p>
            <a:r>
              <a:rPr lang="fr-CA" noProof="0"/>
              <a:t>Documents de référence ayant servis à l’architecture détaillée</a:t>
            </a:r>
          </a:p>
        </p:txBody>
      </p:sp>
    </p:spTree>
    <p:extLst>
      <p:ext uri="{BB962C8B-B14F-4D97-AF65-F5344CB8AC3E}">
        <p14:creationId xmlns:p14="http://schemas.microsoft.com/office/powerpoint/2010/main" val="181697381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E5CC0-41DD-0D8A-4F39-A296251B9F6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0212979-6EC1-6E42-C6BF-F7D9232A2D22}"/>
              </a:ext>
            </a:extLst>
          </p:cNvPr>
          <p:cNvSpPr>
            <a:spLocks noGrp="1"/>
          </p:cNvSpPr>
          <p:nvPr>
            <p:ph type="title"/>
          </p:nvPr>
        </p:nvSpPr>
        <p:spPr>
          <a:xfrm>
            <a:off x="214744" y="1"/>
            <a:ext cx="8929255" cy="491836"/>
          </a:xfrm>
          <a:solidFill>
            <a:schemeClr val="tx1"/>
          </a:solidFill>
        </p:spPr>
        <p:txBody>
          <a:bodyPr vert="horz" lIns="91440" tIns="45720" rIns="91440" bIns="45720" rtlCol="0" anchor="ctr">
            <a:normAutofit/>
          </a:bodyPr>
          <a:lstStyle/>
          <a:p>
            <a:r>
              <a:rPr lang="fr-CA" sz="2400" b="1" noProof="0">
                <a:solidFill>
                  <a:schemeClr val="bg1"/>
                </a:solidFill>
              </a:rPr>
              <a:t>Positionnements antérieurs en lien avec le contexte de l’initiative</a:t>
            </a:r>
          </a:p>
        </p:txBody>
      </p:sp>
      <p:graphicFrame>
        <p:nvGraphicFramePr>
          <p:cNvPr id="4" name="Espace réservé du contenu 3">
            <a:extLst>
              <a:ext uri="{FF2B5EF4-FFF2-40B4-BE49-F238E27FC236}">
                <a16:creationId xmlns:a16="http://schemas.microsoft.com/office/drawing/2014/main" id="{F66E4A0F-F4B1-5888-99D9-F11A9AEAF016}"/>
              </a:ext>
            </a:extLst>
          </p:cNvPr>
          <p:cNvGraphicFramePr>
            <a:graphicFrameLocks noGrp="1"/>
          </p:cNvGraphicFramePr>
          <p:nvPr>
            <p:ph idx="1"/>
            <p:extLst>
              <p:ext uri="{D42A27DB-BD31-4B8C-83A1-F6EECF244321}">
                <p14:modId xmlns:p14="http://schemas.microsoft.com/office/powerpoint/2010/main" val="2447691169"/>
              </p:ext>
            </p:extLst>
          </p:nvPr>
        </p:nvGraphicFramePr>
        <p:xfrm>
          <a:off x="421212" y="569328"/>
          <a:ext cx="8583302" cy="3947160"/>
        </p:xfrm>
        <a:graphic>
          <a:graphicData uri="http://schemas.openxmlformats.org/drawingml/2006/table">
            <a:tbl>
              <a:tblPr firstRow="1" bandRow="1">
                <a:tableStyleId>{5C22544A-7EE6-4342-B048-85BDC9FD1C3A}</a:tableStyleId>
              </a:tblPr>
              <a:tblGrid>
                <a:gridCol w="2174754">
                  <a:extLst>
                    <a:ext uri="{9D8B030D-6E8A-4147-A177-3AD203B41FA5}">
                      <a16:colId xmlns:a16="http://schemas.microsoft.com/office/drawing/2014/main" val="876695907"/>
                    </a:ext>
                  </a:extLst>
                </a:gridCol>
                <a:gridCol w="3196160">
                  <a:extLst>
                    <a:ext uri="{9D8B030D-6E8A-4147-A177-3AD203B41FA5}">
                      <a16:colId xmlns:a16="http://schemas.microsoft.com/office/drawing/2014/main" val="3284901904"/>
                    </a:ext>
                  </a:extLst>
                </a:gridCol>
                <a:gridCol w="1606194">
                  <a:extLst>
                    <a:ext uri="{9D8B030D-6E8A-4147-A177-3AD203B41FA5}">
                      <a16:colId xmlns:a16="http://schemas.microsoft.com/office/drawing/2014/main" val="907257946"/>
                    </a:ext>
                  </a:extLst>
                </a:gridCol>
                <a:gridCol w="1606194">
                  <a:extLst>
                    <a:ext uri="{9D8B030D-6E8A-4147-A177-3AD203B41FA5}">
                      <a16:colId xmlns:a16="http://schemas.microsoft.com/office/drawing/2014/main" val="1756163074"/>
                    </a:ext>
                  </a:extLst>
                </a:gridCol>
              </a:tblGrid>
              <a:tr h="230815">
                <a:tc>
                  <a:txBody>
                    <a:bodyPr/>
                    <a:lstStyle/>
                    <a:p>
                      <a:pPr algn="ctr"/>
                      <a:r>
                        <a:rPr lang="fr-CA" noProof="0"/>
                        <a:t>Positionnements - description</a:t>
                      </a:r>
                    </a:p>
                  </a:txBody>
                  <a:tcPr anchor="ctr"/>
                </a:tc>
                <a:tc>
                  <a:txBody>
                    <a:bodyPr/>
                    <a:lstStyle/>
                    <a:p>
                      <a:pPr algn="ctr"/>
                      <a:r>
                        <a:rPr lang="fr-CA" noProof="0"/>
                        <a:t>Décision</a:t>
                      </a:r>
                    </a:p>
                  </a:txBody>
                  <a:tcPr anchor="ctr"/>
                </a:tc>
                <a:tc>
                  <a:txBody>
                    <a:bodyPr/>
                    <a:lstStyle/>
                    <a:p>
                      <a:pPr algn="ctr"/>
                      <a:r>
                        <a:rPr lang="fr-CA" sz="1400" noProof="0"/>
                        <a:t>Lien</a:t>
                      </a:r>
                    </a:p>
                  </a:txBody>
                  <a:tcPr anchor="ctr"/>
                </a:tc>
                <a:tc>
                  <a:txBody>
                    <a:bodyPr/>
                    <a:lstStyle/>
                    <a:p>
                      <a:pPr algn="ctr"/>
                      <a:r>
                        <a:rPr lang="fr-CA" sz="1400" noProof="0"/>
                        <a:t>Actuel</a:t>
                      </a:r>
                    </a:p>
                  </a:txBody>
                  <a:tcPr anchor="ctr"/>
                </a:tc>
                <a:extLst>
                  <a:ext uri="{0D108BD9-81ED-4DB2-BD59-A6C34878D82A}">
                    <a16:rowId xmlns:a16="http://schemas.microsoft.com/office/drawing/2014/main" val="338486059"/>
                  </a:ext>
                </a:extLst>
              </a:tr>
              <a:tr h="370840">
                <a:tc>
                  <a:txBody>
                    <a:bodyPr/>
                    <a:lstStyle/>
                    <a:p>
                      <a:r>
                        <a:rPr lang="fr-CA" sz="1100" noProof="0"/>
                        <a:t>Solution cible – comptabilisation événementielle bancaire​</a:t>
                      </a:r>
                    </a:p>
                  </a:txBody>
                  <a:tcPr/>
                </a:tc>
                <a:tc>
                  <a:txBody>
                    <a:bodyPr/>
                    <a:lstStyle/>
                    <a:p>
                      <a:r>
                        <a:rPr lang="fr-CA" sz="1100" noProof="0"/>
                        <a:t>La création de nouvelles Natures comptables pour chacun des secteurs visés (une seule nature pour l’ensemble des modes de perception et de déboursés) est recommandée </a:t>
                      </a:r>
                    </a:p>
                  </a:txBody>
                  <a:tcPr/>
                </a:tc>
                <a:tc>
                  <a:txBody>
                    <a:bodyPr/>
                    <a:lstStyle/>
                    <a:p>
                      <a:r>
                        <a:rPr lang="fr-CA" sz="1100" noProof="0">
                          <a:hlinkClick r:id="rId4"/>
                        </a:rPr>
                        <a:t>Solution - comptabilisation cible bancaire.pptx</a:t>
                      </a:r>
                      <a:endParaRPr lang="fr-CA" sz="1100" noProof="0"/>
                    </a:p>
                  </a:txBody>
                  <a:tcPr/>
                </a:tc>
                <a:tc>
                  <a:txBody>
                    <a:bodyPr/>
                    <a:lstStyle/>
                    <a:p>
                      <a:endParaRPr lang="fr-CA" sz="1100" noProof="0"/>
                    </a:p>
                  </a:txBody>
                  <a:tcPr/>
                </a:tc>
                <a:extLst>
                  <a:ext uri="{0D108BD9-81ED-4DB2-BD59-A6C34878D82A}">
                    <a16:rowId xmlns:a16="http://schemas.microsoft.com/office/drawing/2014/main" val="3618412485"/>
                  </a:ext>
                </a:extLst>
              </a:tr>
              <a:tr h="370840">
                <a:tc>
                  <a:txBody>
                    <a:bodyPr/>
                    <a:lstStyle/>
                    <a:p>
                      <a:r>
                        <a:rPr lang="fr-CA" sz="1100" noProof="0"/>
                        <a:t>Gestion des rejets bancaires du Hub de paiement non comptabilisés et non réconciliés dans ARCS​</a:t>
                      </a:r>
                    </a:p>
                  </a:txBody>
                  <a:tcPr/>
                </a:tc>
                <a:tc>
                  <a:txBody>
                    <a:bodyPr/>
                    <a:lstStyle/>
                    <a:p>
                      <a:r>
                        <a:rPr lang="fr-CA" sz="1100" noProof="0"/>
                        <a:t>Générer une double comptabilité dans les situations problématiques seulement​</a:t>
                      </a:r>
                    </a:p>
                  </a:txBody>
                  <a:tcPr/>
                </a:tc>
                <a:tc>
                  <a:txBody>
                    <a:bodyPr/>
                    <a:lstStyle/>
                    <a:p>
                      <a:r>
                        <a:rPr lang="fr-CA" sz="1100" noProof="0">
                          <a:hlinkClick r:id="rId5"/>
                        </a:rPr>
                        <a:t>POSI-0008 Gestion des rejets bancaires et reconciliation ARCS.pptx</a:t>
                      </a:r>
                      <a:endParaRPr lang="fr-CA" sz="1100" noProof="0"/>
                    </a:p>
                  </a:txBody>
                  <a:tcPr/>
                </a:tc>
                <a:tc>
                  <a:txBody>
                    <a:bodyPr/>
                    <a:lstStyle/>
                    <a:p>
                      <a:endParaRPr lang="fr-CA" sz="1100" noProof="0"/>
                    </a:p>
                  </a:txBody>
                  <a:tcPr/>
                </a:tc>
                <a:extLst>
                  <a:ext uri="{0D108BD9-81ED-4DB2-BD59-A6C34878D82A}">
                    <a16:rowId xmlns:a16="http://schemas.microsoft.com/office/drawing/2014/main" val="4054300764"/>
                  </a:ext>
                </a:extLst>
              </a:tr>
              <a:tr h="370840">
                <a:tc>
                  <a:txBody>
                    <a:bodyPr/>
                    <a:lstStyle/>
                    <a:p>
                      <a:r>
                        <a:rPr lang="fr-CA" sz="1100" noProof="0"/>
                        <a:t>Comptabiliser les transactions bancaires selon la réalité opérationnelle​</a:t>
                      </a:r>
                    </a:p>
                  </a:txBody>
                  <a:tcPr/>
                </a:tc>
                <a:tc>
                  <a:txBody>
                    <a:bodyPr/>
                    <a:lstStyle/>
                    <a:p>
                      <a:r>
                        <a:rPr lang="fr-CA" sz="1100" noProof="0"/>
                        <a:t>Nombre de ligne transaction opérationnelle avec la banque</a:t>
                      </a:r>
                    </a:p>
                  </a:txBody>
                  <a:tcPr/>
                </a:tc>
                <a:tc>
                  <a:txBody>
                    <a:bodyPr/>
                    <a:lstStyle/>
                    <a:p>
                      <a:r>
                        <a:rPr lang="fr-CA" sz="1100" noProof="0">
                          <a:hlinkClick r:id="rId6"/>
                        </a:rPr>
                        <a:t>Positionnement - écriture bancaire.pptx</a:t>
                      </a:r>
                      <a:endParaRPr lang="fr-CA" sz="1100" noProof="0"/>
                    </a:p>
                  </a:txBody>
                  <a:tcPr/>
                </a:tc>
                <a:tc>
                  <a:txBody>
                    <a:bodyPr/>
                    <a:lstStyle/>
                    <a:p>
                      <a:endParaRPr lang="fr-CA" sz="1100" noProof="0"/>
                    </a:p>
                  </a:txBody>
                  <a:tcPr/>
                </a:tc>
                <a:extLst>
                  <a:ext uri="{0D108BD9-81ED-4DB2-BD59-A6C34878D82A}">
                    <a16:rowId xmlns:a16="http://schemas.microsoft.com/office/drawing/2014/main" val="2691065141"/>
                  </a:ext>
                </a:extLst>
              </a:tr>
              <a:tr h="0">
                <a:tc>
                  <a:txBody>
                    <a:bodyPr/>
                    <a:lstStyle/>
                    <a:p>
                      <a:r>
                        <a:rPr lang="fr-CA" sz="1100" noProof="0"/>
                        <a:t>Annuler automatiquement dans le compte d’émission les chèques périmés annulés</a:t>
                      </a:r>
                    </a:p>
                  </a:txBody>
                  <a:tcPr/>
                </a:tc>
                <a:tc>
                  <a:txBody>
                    <a:bodyPr/>
                    <a:lstStyle/>
                    <a:p>
                      <a:r>
                        <a:rPr lang="fr-CA" sz="1100" noProof="0"/>
                        <a:t>Hybride: Annulation automatique pour les volumes élevés et Opération bancaire pour les autres.​</a:t>
                      </a:r>
                    </a:p>
                  </a:txBody>
                  <a:tcPr/>
                </a:tc>
                <a:tc>
                  <a:txBody>
                    <a:bodyPr/>
                    <a:lstStyle/>
                    <a:p>
                      <a:r>
                        <a:rPr lang="fr-CA" sz="1100" noProof="0">
                          <a:hlinkClick r:id="rId7"/>
                        </a:rPr>
                        <a:t>Chèques périmés annulés.pptx</a:t>
                      </a:r>
                      <a:endParaRPr lang="fr-CA" sz="1100" noProof="0"/>
                    </a:p>
                  </a:txBody>
                  <a:tcPr/>
                </a:tc>
                <a:tc>
                  <a:txBody>
                    <a:bodyPr/>
                    <a:lstStyle/>
                    <a:p>
                      <a:r>
                        <a:rPr lang="fr-CA" sz="1100" noProof="0"/>
                        <a:t>Nouvelle décision prise dans le cadre du présent projet.</a:t>
                      </a:r>
                    </a:p>
                  </a:txBody>
                  <a:tcPr/>
                </a:tc>
                <a:extLst>
                  <a:ext uri="{0D108BD9-81ED-4DB2-BD59-A6C34878D82A}">
                    <a16:rowId xmlns:a16="http://schemas.microsoft.com/office/drawing/2014/main" val="1554931003"/>
                  </a:ext>
                </a:extLst>
              </a:tr>
              <a:tr h="0">
                <a:tc>
                  <a:txBody>
                    <a:bodyPr/>
                    <a:lstStyle/>
                    <a:p>
                      <a:r>
                        <a:rPr lang="fr-CA" sz="1100" noProof="0"/>
                        <a:t>Valider les besoins liés aux approbations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100" noProof="0"/>
                        <a:t>Exiger les informations d’approbation dans les transactions, qu'elles soient manuelles ou automatiques​</a:t>
                      </a:r>
                    </a:p>
                  </a:txBody>
                  <a:tcPr/>
                </a:tc>
                <a:tc>
                  <a:txBody>
                    <a:bodyPr/>
                    <a:lstStyle/>
                    <a:p>
                      <a:r>
                        <a:rPr lang="fr-CA" sz="1100" noProof="0">
                          <a:hlinkClick r:id="rId8"/>
                        </a:rPr>
                        <a:t>Gestion des approbations.pptx</a:t>
                      </a:r>
                      <a:endParaRPr lang="fr-CA" sz="1100" noProof="0"/>
                    </a:p>
                  </a:txBody>
                  <a:tcPr/>
                </a:tc>
                <a:tc>
                  <a:txBody>
                    <a:bodyPr/>
                    <a:lstStyle/>
                    <a:p>
                      <a:r>
                        <a:rPr lang="fr-CA" sz="1100" noProof="0"/>
                        <a:t>Uniquement manuel</a:t>
                      </a:r>
                    </a:p>
                  </a:txBody>
                  <a:tcPr/>
                </a:tc>
                <a:extLst>
                  <a:ext uri="{0D108BD9-81ED-4DB2-BD59-A6C34878D82A}">
                    <a16:rowId xmlns:a16="http://schemas.microsoft.com/office/drawing/2014/main" val="4240942775"/>
                  </a:ext>
                </a:extLst>
              </a:tr>
            </a:tbl>
          </a:graphicData>
        </a:graphic>
      </p:graphicFrame>
    </p:spTree>
    <p:extLst>
      <p:ext uri="{BB962C8B-B14F-4D97-AF65-F5344CB8AC3E}">
        <p14:creationId xmlns:p14="http://schemas.microsoft.com/office/powerpoint/2010/main" val="2973977940"/>
      </p:ext>
    </p:extLst>
  </p:cSld>
  <p:clrMapOvr>
    <a:masterClrMapping/>
  </p:clrMapOvr>
  <p:extLst>
    <p:ext uri="{6950BFC3-D8DA-4A85-94F7-54DA5524770B}">
      <p188:commentRel xmlns:p188="http://schemas.microsoft.com/office/powerpoint/2018/8/main" r:id="rId3"/>
    </p:ext>
  </p:extLs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AE0F77F-A6A6-4127-98F0-06D42D56FCDC}"/>
              </a:ext>
            </a:extLst>
          </p:cNvPr>
          <p:cNvSpPr>
            <a:spLocks noGrp="1"/>
          </p:cNvSpPr>
          <p:nvPr>
            <p:ph type="title"/>
          </p:nvPr>
        </p:nvSpPr>
        <p:spPr/>
        <p:txBody>
          <a:bodyPr/>
          <a:lstStyle/>
          <a:p>
            <a:r>
              <a:rPr lang="fr-CA" noProof="0"/>
              <a:t>Lexique</a:t>
            </a:r>
          </a:p>
        </p:txBody>
      </p:sp>
    </p:spTree>
    <p:extLst>
      <p:ext uri="{BB962C8B-B14F-4D97-AF65-F5344CB8AC3E}">
        <p14:creationId xmlns:p14="http://schemas.microsoft.com/office/powerpoint/2010/main" val="427395564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8E291D1-7205-1D42-ABE9-3D8208A1E26D}"/>
              </a:ext>
            </a:extLst>
          </p:cNvPr>
          <p:cNvSpPr>
            <a:spLocks noGrp="1"/>
          </p:cNvSpPr>
          <p:nvPr>
            <p:ph type="title"/>
          </p:nvPr>
        </p:nvSpPr>
        <p:spPr/>
        <p:txBody>
          <a:bodyPr/>
          <a:lstStyle/>
          <a:p>
            <a:r>
              <a:rPr lang="fr-CA" noProof="0"/>
              <a:t>Lexique</a:t>
            </a:r>
          </a:p>
        </p:txBody>
      </p:sp>
      <p:graphicFrame>
        <p:nvGraphicFramePr>
          <p:cNvPr id="4" name="Espace réservé du contenu 3">
            <a:extLst>
              <a:ext uri="{FF2B5EF4-FFF2-40B4-BE49-F238E27FC236}">
                <a16:creationId xmlns:a16="http://schemas.microsoft.com/office/drawing/2014/main" id="{2FE1500F-7A85-A85D-62DF-A571A1EE4F93}"/>
              </a:ext>
            </a:extLst>
          </p:cNvPr>
          <p:cNvGraphicFramePr>
            <a:graphicFrameLocks noGrp="1"/>
          </p:cNvGraphicFramePr>
          <p:nvPr>
            <p:ph idx="1"/>
            <p:extLst>
              <p:ext uri="{D42A27DB-BD31-4B8C-83A1-F6EECF244321}">
                <p14:modId xmlns:p14="http://schemas.microsoft.com/office/powerpoint/2010/main" val="2076625096"/>
              </p:ext>
            </p:extLst>
          </p:nvPr>
        </p:nvGraphicFramePr>
        <p:xfrm>
          <a:off x="455613" y="1024020"/>
          <a:ext cx="8458200" cy="3876040"/>
        </p:xfrm>
        <a:graphic>
          <a:graphicData uri="http://schemas.openxmlformats.org/drawingml/2006/table">
            <a:tbl>
              <a:tblPr firstRow="1" bandRow="1">
                <a:tableStyleId>{5C22544A-7EE6-4342-B048-85BDC9FD1C3A}</a:tableStyleId>
              </a:tblPr>
              <a:tblGrid>
                <a:gridCol w="2363787">
                  <a:extLst>
                    <a:ext uri="{9D8B030D-6E8A-4147-A177-3AD203B41FA5}">
                      <a16:colId xmlns:a16="http://schemas.microsoft.com/office/drawing/2014/main" val="3650898582"/>
                    </a:ext>
                  </a:extLst>
                </a:gridCol>
                <a:gridCol w="1219200">
                  <a:extLst>
                    <a:ext uri="{9D8B030D-6E8A-4147-A177-3AD203B41FA5}">
                      <a16:colId xmlns:a16="http://schemas.microsoft.com/office/drawing/2014/main" val="2482093896"/>
                    </a:ext>
                  </a:extLst>
                </a:gridCol>
                <a:gridCol w="4875213">
                  <a:extLst>
                    <a:ext uri="{9D8B030D-6E8A-4147-A177-3AD203B41FA5}">
                      <a16:colId xmlns:a16="http://schemas.microsoft.com/office/drawing/2014/main" val="3428863596"/>
                    </a:ext>
                  </a:extLst>
                </a:gridCol>
              </a:tblGrid>
              <a:tr h="370840">
                <a:tc>
                  <a:txBody>
                    <a:bodyPr/>
                    <a:lstStyle/>
                    <a:p>
                      <a:r>
                        <a:rPr lang="fr-CA" noProof="0"/>
                        <a:t>Terme / concept</a:t>
                      </a:r>
                    </a:p>
                  </a:txBody>
                  <a:tcPr/>
                </a:tc>
                <a:tc>
                  <a:txBody>
                    <a:bodyPr/>
                    <a:lstStyle/>
                    <a:p>
                      <a:r>
                        <a:rPr lang="fr-CA" noProof="0"/>
                        <a:t>Acronyme</a:t>
                      </a:r>
                    </a:p>
                  </a:txBody>
                  <a:tcPr/>
                </a:tc>
                <a:tc>
                  <a:txBody>
                    <a:bodyPr/>
                    <a:lstStyle/>
                    <a:p>
                      <a:r>
                        <a:rPr lang="fr-CA" noProof="0"/>
                        <a:t>Définition</a:t>
                      </a:r>
                    </a:p>
                  </a:txBody>
                  <a:tcPr/>
                </a:tc>
                <a:extLst>
                  <a:ext uri="{0D108BD9-81ED-4DB2-BD59-A6C34878D82A}">
                    <a16:rowId xmlns:a16="http://schemas.microsoft.com/office/drawing/2014/main" val="670988574"/>
                  </a:ext>
                </a:extLst>
              </a:tr>
              <a:tr h="370840">
                <a:tc>
                  <a:txBody>
                    <a:bodyPr/>
                    <a:lstStyle/>
                    <a:p>
                      <a:r>
                        <a:rPr lang="fr-CA"/>
                        <a:t>Trax</a:t>
                      </a:r>
                    </a:p>
                  </a:txBody>
                  <a:tcPr/>
                </a:tc>
                <a:tc>
                  <a:txBody>
                    <a:bodyPr/>
                    <a:lstStyle/>
                    <a:p>
                      <a:endParaRPr lang="fr-CA"/>
                    </a:p>
                  </a:txBody>
                  <a:tcPr/>
                </a:tc>
                <a:tc>
                  <a:txBody>
                    <a:bodyPr/>
                    <a:lstStyle/>
                    <a:p>
                      <a:r>
                        <a:rPr lang="fr-CA"/>
                        <a:t>Solution cloud de paiements, qui sera remplacée par la solution Kyriba</a:t>
                      </a:r>
                    </a:p>
                  </a:txBody>
                  <a:tcPr/>
                </a:tc>
                <a:extLst>
                  <a:ext uri="{0D108BD9-81ED-4DB2-BD59-A6C34878D82A}">
                    <a16:rowId xmlns:a16="http://schemas.microsoft.com/office/drawing/2014/main" val="3551132753"/>
                  </a:ext>
                </a:extLst>
              </a:tr>
              <a:tr h="370840">
                <a:tc>
                  <a:txBody>
                    <a:bodyPr/>
                    <a:lstStyle/>
                    <a:p>
                      <a:r>
                        <a:rPr lang="fr-CA"/>
                        <a:t>Kyriba</a:t>
                      </a:r>
                    </a:p>
                  </a:txBody>
                  <a:tcPr/>
                </a:tc>
                <a:tc>
                  <a:txBody>
                    <a:bodyPr/>
                    <a:lstStyle/>
                    <a:p>
                      <a:endParaRPr lang="fr-CA"/>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a:t>Solution cloud de trésorerie et de paiement, déjà utilisée par la trésorerie</a:t>
                      </a:r>
                    </a:p>
                  </a:txBody>
                  <a:tcPr/>
                </a:tc>
                <a:extLst>
                  <a:ext uri="{0D108BD9-81ED-4DB2-BD59-A6C34878D82A}">
                    <a16:rowId xmlns:a16="http://schemas.microsoft.com/office/drawing/2014/main" val="3348854196"/>
                  </a:ext>
                </a:extLst>
              </a:tr>
              <a:tr h="370840">
                <a:tc>
                  <a:txBody>
                    <a:bodyPr/>
                    <a:lstStyle/>
                    <a:p>
                      <a:r>
                        <a:rPr lang="fr-CA"/>
                        <a:t>EB</a:t>
                      </a:r>
                    </a:p>
                  </a:txBody>
                  <a:tcPr/>
                </a:tc>
                <a:tc>
                  <a:txBody>
                    <a:bodyPr/>
                    <a:lstStyle/>
                    <a:p>
                      <a:endParaRPr lang="fr-CA"/>
                    </a:p>
                  </a:txBody>
                  <a:tcPr/>
                </a:tc>
                <a:tc>
                  <a:txBody>
                    <a:bodyPr/>
                    <a:lstStyle/>
                    <a:p>
                      <a:endParaRPr lang="fr-CA"/>
                    </a:p>
                  </a:txBody>
                  <a:tcPr/>
                </a:tc>
                <a:extLst>
                  <a:ext uri="{0D108BD9-81ED-4DB2-BD59-A6C34878D82A}">
                    <a16:rowId xmlns:a16="http://schemas.microsoft.com/office/drawing/2014/main" val="2267057065"/>
                  </a:ext>
                </a:extLst>
              </a:tr>
              <a:tr h="370840">
                <a:tc>
                  <a:txBody>
                    <a:bodyPr/>
                    <a:lstStyle/>
                    <a:p>
                      <a:r>
                        <a:rPr lang="fr-CA"/>
                        <a:t>DD</a:t>
                      </a:r>
                    </a:p>
                  </a:txBody>
                  <a:tcPr/>
                </a:tc>
                <a:tc>
                  <a:txBody>
                    <a:bodyPr/>
                    <a:lstStyle/>
                    <a:p>
                      <a:endParaRPr lang="fr-CA"/>
                    </a:p>
                  </a:txBody>
                  <a:tcPr/>
                </a:tc>
                <a:tc>
                  <a:txBody>
                    <a:bodyPr/>
                    <a:lstStyle/>
                    <a:p>
                      <a:endParaRPr lang="fr-CA"/>
                    </a:p>
                  </a:txBody>
                  <a:tcPr/>
                </a:tc>
                <a:extLst>
                  <a:ext uri="{0D108BD9-81ED-4DB2-BD59-A6C34878D82A}">
                    <a16:rowId xmlns:a16="http://schemas.microsoft.com/office/drawing/2014/main" val="1854303974"/>
                  </a:ext>
                </a:extLst>
              </a:tr>
              <a:tr h="370840">
                <a:tc>
                  <a:txBody>
                    <a:bodyPr/>
                    <a:lstStyle/>
                    <a:p>
                      <a:r>
                        <a:rPr lang="fr-CA" noProof="0"/>
                        <a:t>DPA/PDA</a:t>
                      </a:r>
                    </a:p>
                  </a:txBody>
                  <a:tcPr/>
                </a:tc>
                <a:tc>
                  <a:txBody>
                    <a:bodyPr/>
                    <a:lstStyle/>
                    <a:p>
                      <a:endParaRPr lang="fr-CA" noProof="0"/>
                    </a:p>
                  </a:txBody>
                  <a:tcPr/>
                </a:tc>
                <a:tc>
                  <a:txBody>
                    <a:bodyPr/>
                    <a:lstStyle/>
                    <a:p>
                      <a:endParaRPr lang="fr-CA" noProof="0"/>
                    </a:p>
                  </a:txBody>
                  <a:tcPr/>
                </a:tc>
                <a:extLst>
                  <a:ext uri="{0D108BD9-81ED-4DB2-BD59-A6C34878D82A}">
                    <a16:rowId xmlns:a16="http://schemas.microsoft.com/office/drawing/2014/main" val="399399060"/>
                  </a:ext>
                </a:extLst>
              </a:tr>
              <a:tr h="370840">
                <a:tc>
                  <a:txBody>
                    <a:bodyPr/>
                    <a:lstStyle/>
                    <a:p>
                      <a:r>
                        <a:rPr lang="fr-CA" noProof="0"/>
                        <a:t>AHCS</a:t>
                      </a:r>
                    </a:p>
                  </a:txBody>
                  <a:tcPr/>
                </a:tc>
                <a:tc>
                  <a:txBody>
                    <a:bodyPr/>
                    <a:lstStyle/>
                    <a:p>
                      <a:endParaRPr lang="fr-CA" noProof="0"/>
                    </a:p>
                  </a:txBody>
                  <a:tcPr/>
                </a:tc>
                <a:tc>
                  <a:txBody>
                    <a:bodyPr/>
                    <a:lstStyle/>
                    <a:p>
                      <a:endParaRPr lang="fr-CA" noProof="0"/>
                    </a:p>
                  </a:txBody>
                  <a:tcPr/>
                </a:tc>
                <a:extLst>
                  <a:ext uri="{0D108BD9-81ED-4DB2-BD59-A6C34878D82A}">
                    <a16:rowId xmlns:a16="http://schemas.microsoft.com/office/drawing/2014/main" val="3684137697"/>
                  </a:ext>
                </a:extLst>
              </a:tr>
              <a:tr h="370840">
                <a:tc>
                  <a:txBody>
                    <a:bodyPr/>
                    <a:lstStyle/>
                    <a:p>
                      <a:r>
                        <a:rPr lang="fr-CA" noProof="0"/>
                        <a:t>ARCS</a:t>
                      </a:r>
                    </a:p>
                  </a:txBody>
                  <a:tcPr/>
                </a:tc>
                <a:tc>
                  <a:txBody>
                    <a:bodyPr/>
                    <a:lstStyle/>
                    <a:p>
                      <a:endParaRPr lang="fr-CA" noProof="0"/>
                    </a:p>
                  </a:txBody>
                  <a:tcPr/>
                </a:tc>
                <a:tc>
                  <a:txBody>
                    <a:bodyPr/>
                    <a:lstStyle/>
                    <a:p>
                      <a:endParaRPr lang="fr-CA" noProof="0"/>
                    </a:p>
                  </a:txBody>
                  <a:tcPr/>
                </a:tc>
                <a:extLst>
                  <a:ext uri="{0D108BD9-81ED-4DB2-BD59-A6C34878D82A}">
                    <a16:rowId xmlns:a16="http://schemas.microsoft.com/office/drawing/2014/main" val="1084893390"/>
                  </a:ext>
                </a:extLst>
              </a:tr>
              <a:tr h="370840">
                <a:tc>
                  <a:txBody>
                    <a:bodyPr/>
                    <a:lstStyle/>
                    <a:p>
                      <a:endParaRPr lang="fr-CA" noProof="0"/>
                    </a:p>
                  </a:txBody>
                  <a:tcPr/>
                </a:tc>
                <a:tc>
                  <a:txBody>
                    <a:bodyPr/>
                    <a:lstStyle/>
                    <a:p>
                      <a:endParaRPr lang="fr-CA" noProof="0"/>
                    </a:p>
                  </a:txBody>
                  <a:tcPr/>
                </a:tc>
                <a:tc>
                  <a:txBody>
                    <a:bodyPr/>
                    <a:lstStyle/>
                    <a:p>
                      <a:endParaRPr lang="fr-CA" noProof="0"/>
                    </a:p>
                  </a:txBody>
                  <a:tcPr/>
                </a:tc>
                <a:extLst>
                  <a:ext uri="{0D108BD9-81ED-4DB2-BD59-A6C34878D82A}">
                    <a16:rowId xmlns:a16="http://schemas.microsoft.com/office/drawing/2014/main" val="1304308606"/>
                  </a:ext>
                </a:extLst>
              </a:tr>
            </a:tbl>
          </a:graphicData>
        </a:graphic>
      </p:graphicFrame>
      <p:sp>
        <p:nvSpPr>
          <p:cNvPr id="5" name="ZoneTexte 4">
            <a:extLst>
              <a:ext uri="{FF2B5EF4-FFF2-40B4-BE49-F238E27FC236}">
                <a16:creationId xmlns:a16="http://schemas.microsoft.com/office/drawing/2014/main" id="{95EA1DDC-C457-4006-82A5-CD46521A5E60}"/>
              </a:ext>
            </a:extLst>
          </p:cNvPr>
          <p:cNvSpPr txBox="1"/>
          <p:nvPr/>
        </p:nvSpPr>
        <p:spPr>
          <a:xfrm>
            <a:off x="455613" y="4407108"/>
            <a:ext cx="5975167" cy="811542"/>
          </a:xfrm>
          <a:prstGeom prst="rect">
            <a:avLst/>
          </a:prstGeom>
          <a:noFill/>
        </p:spPr>
        <p:txBody>
          <a:bodyPr wrap="square" rtlCol="0">
            <a:spAutoFit/>
          </a:bodyPr>
          <a:lstStyle/>
          <a:p>
            <a:endParaRPr lang="fr-CA" noProof="0"/>
          </a:p>
        </p:txBody>
      </p:sp>
    </p:spTree>
    <p:extLst>
      <p:ext uri="{BB962C8B-B14F-4D97-AF65-F5344CB8AC3E}">
        <p14:creationId xmlns:p14="http://schemas.microsoft.com/office/powerpoint/2010/main" val="417001954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B3D1D9-4392-4BF4-8332-D995F495E288}"/>
              </a:ext>
            </a:extLst>
          </p:cNvPr>
          <p:cNvSpPr>
            <a:spLocks noGrp="1"/>
          </p:cNvSpPr>
          <p:nvPr>
            <p:ph type="title"/>
          </p:nvPr>
        </p:nvSpPr>
        <p:spPr/>
        <p:txBody>
          <a:bodyPr/>
          <a:lstStyle/>
          <a:p>
            <a:r>
              <a:rPr lang="fr-CA" noProof="0"/>
              <a:t>Cueillette d’information</a:t>
            </a:r>
          </a:p>
        </p:txBody>
      </p:sp>
    </p:spTree>
    <p:extLst>
      <p:ext uri="{BB962C8B-B14F-4D97-AF65-F5344CB8AC3E}">
        <p14:creationId xmlns:p14="http://schemas.microsoft.com/office/powerpoint/2010/main" val="276225077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FF0500-4FB1-C2C3-B6E6-86C86C6918C1}"/>
              </a:ext>
            </a:extLst>
          </p:cNvPr>
          <p:cNvSpPr>
            <a:spLocks noGrp="1"/>
          </p:cNvSpPr>
          <p:nvPr>
            <p:ph type="title"/>
          </p:nvPr>
        </p:nvSpPr>
        <p:spPr/>
        <p:txBody>
          <a:bodyPr/>
          <a:lstStyle/>
          <a:p>
            <a:r>
              <a:rPr lang="fr-CA" noProof="0"/>
              <a:t>Cueillette d’information </a:t>
            </a:r>
            <a:r>
              <a:rPr lang="fr-CA"/>
              <a:t>(hors ressources projet)</a:t>
            </a:r>
            <a:endParaRPr lang="fr-CA" noProof="0"/>
          </a:p>
        </p:txBody>
      </p:sp>
      <p:graphicFrame>
        <p:nvGraphicFramePr>
          <p:cNvPr id="5" name="Tableau 4">
            <a:extLst>
              <a:ext uri="{FF2B5EF4-FFF2-40B4-BE49-F238E27FC236}">
                <a16:creationId xmlns:a16="http://schemas.microsoft.com/office/drawing/2014/main" id="{535C6FCD-6AF3-9A1E-CFDD-B6942A043537}"/>
              </a:ext>
            </a:extLst>
          </p:cNvPr>
          <p:cNvGraphicFramePr>
            <a:graphicFrameLocks noGrp="1"/>
          </p:cNvGraphicFramePr>
          <p:nvPr>
            <p:extLst>
              <p:ext uri="{D42A27DB-BD31-4B8C-83A1-F6EECF244321}">
                <p14:modId xmlns:p14="http://schemas.microsoft.com/office/powerpoint/2010/main" val="35361755"/>
              </p:ext>
            </p:extLst>
          </p:nvPr>
        </p:nvGraphicFramePr>
        <p:xfrm>
          <a:off x="457199" y="1129685"/>
          <a:ext cx="8458200" cy="3241040"/>
        </p:xfrm>
        <a:graphic>
          <a:graphicData uri="http://schemas.openxmlformats.org/drawingml/2006/table">
            <a:tbl>
              <a:tblPr firstRow="1" bandRow="1">
                <a:tableStyleId>{5C22544A-7EE6-4342-B048-85BDC9FD1C3A}</a:tableStyleId>
              </a:tblPr>
              <a:tblGrid>
                <a:gridCol w="2819400">
                  <a:extLst>
                    <a:ext uri="{9D8B030D-6E8A-4147-A177-3AD203B41FA5}">
                      <a16:colId xmlns:a16="http://schemas.microsoft.com/office/drawing/2014/main" val="4231498594"/>
                    </a:ext>
                  </a:extLst>
                </a:gridCol>
                <a:gridCol w="2819400">
                  <a:extLst>
                    <a:ext uri="{9D8B030D-6E8A-4147-A177-3AD203B41FA5}">
                      <a16:colId xmlns:a16="http://schemas.microsoft.com/office/drawing/2014/main" val="3004636705"/>
                    </a:ext>
                  </a:extLst>
                </a:gridCol>
                <a:gridCol w="2819400">
                  <a:extLst>
                    <a:ext uri="{9D8B030D-6E8A-4147-A177-3AD203B41FA5}">
                      <a16:colId xmlns:a16="http://schemas.microsoft.com/office/drawing/2014/main" val="1038619054"/>
                    </a:ext>
                  </a:extLst>
                </a:gridCol>
              </a:tblGrid>
              <a:tr h="370840">
                <a:tc>
                  <a:txBody>
                    <a:bodyPr/>
                    <a:lstStyle/>
                    <a:p>
                      <a:r>
                        <a:rPr lang="fr-FR"/>
                        <a:t>Quoi ?</a:t>
                      </a:r>
                    </a:p>
                  </a:txBody>
                  <a:tcPr/>
                </a:tc>
                <a:tc>
                  <a:txBody>
                    <a:bodyPr/>
                    <a:lstStyle/>
                    <a:p>
                      <a:r>
                        <a:rPr lang="fr-FR"/>
                        <a:t>Quand ?</a:t>
                      </a:r>
                    </a:p>
                  </a:txBody>
                  <a:tcPr/>
                </a:tc>
                <a:tc>
                  <a:txBody>
                    <a:bodyPr/>
                    <a:lstStyle/>
                    <a:p>
                      <a:r>
                        <a:rPr lang="fr-FR"/>
                        <a:t>Qui ?</a:t>
                      </a:r>
                    </a:p>
                  </a:txBody>
                  <a:tcPr/>
                </a:tc>
                <a:extLst>
                  <a:ext uri="{0D108BD9-81ED-4DB2-BD59-A6C34878D82A}">
                    <a16:rowId xmlns:a16="http://schemas.microsoft.com/office/drawing/2014/main" val="1456770641"/>
                  </a:ext>
                </a:extLst>
              </a:tr>
              <a:tr h="370840">
                <a:tc>
                  <a:txBody>
                    <a:bodyPr/>
                    <a:lstStyle/>
                    <a:p>
                      <a:r>
                        <a:rPr lang="fr-FR" sz="1400"/>
                        <a:t>Assurance individuelle </a:t>
                      </a:r>
                    </a:p>
                  </a:txBody>
                  <a:tcPr/>
                </a:tc>
                <a:tc>
                  <a:txBody>
                    <a:bodyPr/>
                    <a:lstStyle/>
                    <a:p>
                      <a:r>
                        <a:rPr lang="en-US" sz="1400">
                          <a:ea typeface="Calibri" panose="020F0502020204030204" pitchFamily="34" charset="0"/>
                          <a:cs typeface="Calibri" panose="020F0502020204030204" pitchFamily="34" charset="0"/>
                        </a:rPr>
                        <a:t>September 2025 </a:t>
                      </a:r>
                      <a:endParaRPr lang="fr-FR" sz="1400"/>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a:ea typeface="Calibri" panose="020F0502020204030204" pitchFamily="34" charset="0"/>
                          <a:cs typeface="Calibri" panose="020F0502020204030204" pitchFamily="34" charset="0"/>
                        </a:rPr>
                        <a:t>Luc Laperriere-Fortier (Affaires)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a:ea typeface="Calibri" panose="020F0502020204030204" pitchFamily="34" charset="0"/>
                          <a:cs typeface="Calibri" panose="020F0502020204030204" pitchFamily="34" charset="0"/>
                        </a:rPr>
                        <a:t>David Bouchard (TI)</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a:ea typeface="Calibri" panose="020F0502020204030204" pitchFamily="34" charset="0"/>
                          <a:cs typeface="Calibri" panose="020F0502020204030204" pitchFamily="34" charset="0"/>
                        </a:rPr>
                        <a:t>Roger St-Amand (TI)</a:t>
                      </a:r>
                      <a:endParaRPr lang="fr-CA" sz="140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429193047"/>
                  </a:ext>
                </a:extLst>
              </a:tr>
              <a:tr h="370840">
                <a:tc>
                  <a:txBody>
                    <a:bodyPr/>
                    <a:lstStyle/>
                    <a:p>
                      <a:r>
                        <a:rPr lang="fr-CA" sz="1400">
                          <a:ea typeface="Calibri" panose="020F0502020204030204" pitchFamily="34" charset="0"/>
                          <a:cs typeface="Calibri" panose="020F0502020204030204" pitchFamily="34" charset="0"/>
                        </a:rPr>
                        <a:t>Entreprise</a:t>
                      </a:r>
                      <a:r>
                        <a:rPr lang="en-US" sz="1400">
                          <a:ea typeface="Calibri" panose="020F0502020204030204" pitchFamily="34" charset="0"/>
                          <a:cs typeface="Calibri" panose="020F0502020204030204" pitchFamily="34" charset="0"/>
                        </a:rPr>
                        <a:t> </a:t>
                      </a:r>
                      <a:endParaRPr lang="fr-FR" sz="1400"/>
                    </a:p>
                  </a:txBody>
                  <a:tcPr/>
                </a:tc>
                <a:tc>
                  <a:txBody>
                    <a:bodyPr/>
                    <a:lstStyle/>
                    <a:p>
                      <a:r>
                        <a:rPr lang="en-US" sz="1400">
                          <a:ea typeface="Calibri" panose="020F0502020204030204" pitchFamily="34" charset="0"/>
                          <a:cs typeface="Calibri" panose="020F0502020204030204" pitchFamily="34" charset="0"/>
                        </a:rPr>
                        <a:t>September 2025</a:t>
                      </a:r>
                      <a:endParaRPr lang="fr-FR" sz="1400"/>
                    </a:p>
                  </a:txBody>
                  <a:tcPr/>
                </a:tc>
                <a:tc>
                  <a:txBody>
                    <a:bodyPr/>
                    <a:lstStyle/>
                    <a:p>
                      <a:pPr marL="285750" indent="-285750">
                        <a:buFont typeface="Arial" panose="020B0604020202020204" pitchFamily="34" charset="0"/>
                        <a:buChar char="•"/>
                      </a:pPr>
                      <a:r>
                        <a:rPr lang="fr-CA" sz="1400">
                          <a:ea typeface="Calibri" panose="020F0502020204030204" pitchFamily="34" charset="0"/>
                          <a:cs typeface="Calibri" panose="020F0502020204030204" pitchFamily="34" charset="0"/>
                        </a:rPr>
                        <a:t>Jean-Francois Nadeau, </a:t>
                      </a:r>
                    </a:p>
                    <a:p>
                      <a:pPr marL="285750" indent="-285750">
                        <a:buFont typeface="Arial" panose="020B0604020202020204" pitchFamily="34" charset="0"/>
                        <a:buChar char="•"/>
                      </a:pPr>
                      <a:r>
                        <a:rPr lang="fr-CA" sz="1400">
                          <a:ea typeface="Calibri" panose="020F0502020204030204" pitchFamily="34" charset="0"/>
                          <a:cs typeface="Calibri" panose="020F0502020204030204" pitchFamily="34" charset="0"/>
                        </a:rPr>
                        <a:t>Martin Simard, </a:t>
                      </a:r>
                    </a:p>
                    <a:p>
                      <a:pPr marL="285750" indent="-285750">
                        <a:buFont typeface="Arial" panose="020B0604020202020204" pitchFamily="34" charset="0"/>
                        <a:buChar char="•"/>
                      </a:pPr>
                      <a:r>
                        <a:rPr lang="fr-CA" sz="1400">
                          <a:ea typeface="Calibri" panose="020F0502020204030204" pitchFamily="34" charset="0"/>
                          <a:cs typeface="Calibri" panose="020F0502020204030204" pitchFamily="34" charset="0"/>
                        </a:rPr>
                        <a:t>Sébastien Bédard</a:t>
                      </a:r>
                      <a:endParaRPr lang="fr-FR" sz="1400"/>
                    </a:p>
                  </a:txBody>
                  <a:tcPr/>
                </a:tc>
                <a:extLst>
                  <a:ext uri="{0D108BD9-81ED-4DB2-BD59-A6C34878D82A}">
                    <a16:rowId xmlns:a16="http://schemas.microsoft.com/office/drawing/2014/main" val="3518406632"/>
                  </a:ext>
                </a:extLst>
              </a:tr>
              <a:tr h="370840">
                <a:tc>
                  <a:txBody>
                    <a:bodyPr/>
                    <a:lstStyle/>
                    <a:p>
                      <a:r>
                        <a:rPr lang="fr-CA" sz="1400"/>
                        <a:t>Assurance Collective </a:t>
                      </a:r>
                      <a:endParaRPr lang="fr-FR" sz="14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ea typeface="Calibri" panose="020F0502020204030204" pitchFamily="34" charset="0"/>
                          <a:cs typeface="Calibri" panose="020F0502020204030204" pitchFamily="34" charset="0"/>
                        </a:rPr>
                        <a:t>September 2025</a:t>
                      </a:r>
                      <a:endParaRPr lang="fr-FR" sz="1400"/>
                    </a:p>
                  </a:txBody>
                  <a:tcPr/>
                </a:tc>
                <a:tc>
                  <a:txBody>
                    <a:bodyPr/>
                    <a:lstStyle/>
                    <a:p>
                      <a:pPr marL="285750" indent="-285750">
                        <a:buFont typeface="Arial" panose="020B0604020202020204" pitchFamily="34" charset="0"/>
                        <a:buChar char="•"/>
                      </a:pPr>
                      <a:r>
                        <a:rPr lang="fr-CA" sz="1400">
                          <a:ea typeface="Calibri" panose="020F0502020204030204" pitchFamily="34" charset="0"/>
                          <a:cs typeface="Calibri" panose="020F0502020204030204" pitchFamily="34" charset="0"/>
                        </a:rPr>
                        <a:t>Michèle Gilbert, </a:t>
                      </a:r>
                    </a:p>
                    <a:p>
                      <a:pPr marL="285750" indent="-285750">
                        <a:buFont typeface="Arial" panose="020B0604020202020204" pitchFamily="34" charset="0"/>
                        <a:buChar char="•"/>
                      </a:pPr>
                      <a:r>
                        <a:rPr lang="fr-CA" sz="1400">
                          <a:ea typeface="Calibri" panose="020F0502020204030204" pitchFamily="34" charset="0"/>
                          <a:cs typeface="Calibri" panose="020F0502020204030204" pitchFamily="34" charset="0"/>
                        </a:rPr>
                        <a:t>Mathieu Normandeau</a:t>
                      </a:r>
                      <a:endParaRPr lang="fr-FR" sz="1400"/>
                    </a:p>
                  </a:txBody>
                  <a:tcPr/>
                </a:tc>
                <a:extLst>
                  <a:ext uri="{0D108BD9-81ED-4DB2-BD59-A6C34878D82A}">
                    <a16:rowId xmlns:a16="http://schemas.microsoft.com/office/drawing/2014/main" val="2759124814"/>
                  </a:ext>
                </a:extLst>
              </a:tr>
              <a:tr h="370840">
                <a:tc>
                  <a:txBody>
                    <a:bodyPr/>
                    <a:lstStyle/>
                    <a:p>
                      <a:r>
                        <a:rPr lang="fr-CA" sz="1400">
                          <a:sym typeface="Wingdings" panose="05000000000000000000" pitchFamily="2" charset="2"/>
                        </a:rPr>
                        <a:t>Lute blanchiment d’argent (LBA) </a:t>
                      </a:r>
                      <a:endParaRPr lang="fr-FR" sz="14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ea typeface="Calibri" panose="020F0502020204030204" pitchFamily="34" charset="0"/>
                          <a:cs typeface="Calibri" panose="020F0502020204030204" pitchFamily="34" charset="0"/>
                        </a:rPr>
                        <a:t>September 2025</a:t>
                      </a:r>
                      <a:endParaRPr lang="fr-FR" sz="1400"/>
                    </a:p>
                  </a:txBody>
                  <a:tcPr/>
                </a:tc>
                <a:tc>
                  <a:txBody>
                    <a:bodyPr/>
                    <a:lstStyle/>
                    <a:p>
                      <a:pPr marL="285750" indent="-285750">
                        <a:buFont typeface="Arial" panose="020B0604020202020204" pitchFamily="34" charset="0"/>
                        <a:buChar char="•"/>
                      </a:pPr>
                      <a:r>
                        <a:rPr lang="fr-CA" sz="1400">
                          <a:sym typeface="Wingdings" panose="05000000000000000000" pitchFamily="2" charset="2"/>
                        </a:rPr>
                        <a:t>Ann-Sophie Plante, </a:t>
                      </a:r>
                    </a:p>
                    <a:p>
                      <a:pPr marL="285750" indent="-285750">
                        <a:buFont typeface="Arial" panose="020B0604020202020204" pitchFamily="34" charset="0"/>
                        <a:buChar char="•"/>
                      </a:pPr>
                      <a:r>
                        <a:rPr lang="fr-CA" sz="1400">
                          <a:sym typeface="Wingdings" panose="05000000000000000000" pitchFamily="2" charset="2"/>
                        </a:rPr>
                        <a:t>Caroline Lagacé</a:t>
                      </a:r>
                      <a:endParaRPr lang="fr-FR" sz="1400"/>
                    </a:p>
                  </a:txBody>
                  <a:tcPr/>
                </a:tc>
                <a:extLst>
                  <a:ext uri="{0D108BD9-81ED-4DB2-BD59-A6C34878D82A}">
                    <a16:rowId xmlns:a16="http://schemas.microsoft.com/office/drawing/2014/main" val="1051680515"/>
                  </a:ext>
                </a:extLst>
              </a:tr>
              <a:tr h="370840">
                <a:tc>
                  <a:txBody>
                    <a:bodyPr/>
                    <a:lstStyle/>
                    <a:p>
                      <a:r>
                        <a:rPr lang="fr-CA" sz="1400">
                          <a:sym typeface="Wingdings" panose="05000000000000000000" pitchFamily="2" charset="2"/>
                        </a:rPr>
                        <a:t>Fraude</a:t>
                      </a:r>
                      <a:endParaRPr lang="fr-FR" sz="14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a:t>Aout 2025</a:t>
                      </a:r>
                    </a:p>
                  </a:txBody>
                  <a:tcPr/>
                </a:tc>
                <a:tc>
                  <a:txBody>
                    <a:bodyPr/>
                    <a:lstStyle/>
                    <a:p>
                      <a:pPr marL="285750" indent="-285750">
                        <a:buFont typeface="Arial" panose="020B0604020202020204" pitchFamily="34" charset="0"/>
                        <a:buChar char="•"/>
                      </a:pPr>
                      <a:r>
                        <a:rPr lang="fr-CA" sz="1400" err="1">
                          <a:sym typeface="Wingdings" panose="05000000000000000000" pitchFamily="2" charset="2"/>
                        </a:rPr>
                        <a:t>Windlaime</a:t>
                      </a:r>
                      <a:r>
                        <a:rPr lang="fr-CA" sz="1400">
                          <a:sym typeface="Wingdings" panose="05000000000000000000" pitchFamily="2" charset="2"/>
                        </a:rPr>
                        <a:t> </a:t>
                      </a:r>
                      <a:r>
                        <a:rPr lang="fr-CA" sz="1400" err="1">
                          <a:sym typeface="Wingdings" panose="05000000000000000000" pitchFamily="2" charset="2"/>
                        </a:rPr>
                        <a:t>Mintus</a:t>
                      </a:r>
                      <a:endParaRPr lang="fr-FR" sz="1400"/>
                    </a:p>
                  </a:txBody>
                  <a:tcPr/>
                </a:tc>
                <a:extLst>
                  <a:ext uri="{0D108BD9-81ED-4DB2-BD59-A6C34878D82A}">
                    <a16:rowId xmlns:a16="http://schemas.microsoft.com/office/drawing/2014/main" val="1214067512"/>
                  </a:ext>
                </a:extLst>
              </a:tr>
            </a:tbl>
          </a:graphicData>
        </a:graphic>
      </p:graphicFrame>
    </p:spTree>
    <p:extLst>
      <p:ext uri="{BB962C8B-B14F-4D97-AF65-F5344CB8AC3E}">
        <p14:creationId xmlns:p14="http://schemas.microsoft.com/office/powerpoint/2010/main" val="340342663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49453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219EF48-BE4F-5DAC-4808-83B449835336}"/>
              </a:ext>
            </a:extLst>
          </p:cNvPr>
          <p:cNvSpPr>
            <a:spLocks noGrp="1"/>
          </p:cNvSpPr>
          <p:nvPr>
            <p:ph type="title"/>
          </p:nvPr>
        </p:nvSpPr>
        <p:spPr/>
        <p:txBody>
          <a:bodyPr/>
          <a:lstStyle/>
          <a:p>
            <a:r>
              <a:rPr lang="fr-CA" noProof="0" err="1"/>
              <a:t>Brainstorm</a:t>
            </a:r>
            <a:endParaRPr lang="fr-CA" noProof="0"/>
          </a:p>
        </p:txBody>
      </p:sp>
      <p:sp>
        <p:nvSpPr>
          <p:cNvPr id="3" name="Espace réservé du contenu 2">
            <a:extLst>
              <a:ext uri="{FF2B5EF4-FFF2-40B4-BE49-F238E27FC236}">
                <a16:creationId xmlns:a16="http://schemas.microsoft.com/office/drawing/2014/main" id="{7B8EE6AA-1F8E-E499-873A-B7F969A9B144}"/>
              </a:ext>
            </a:extLst>
          </p:cNvPr>
          <p:cNvSpPr>
            <a:spLocks noGrp="1"/>
          </p:cNvSpPr>
          <p:nvPr>
            <p:ph idx="1"/>
          </p:nvPr>
        </p:nvSpPr>
        <p:spPr/>
        <p:txBody>
          <a:bodyPr>
            <a:normAutofit fontScale="77500" lnSpcReduction="20000"/>
          </a:bodyPr>
          <a:lstStyle/>
          <a:p>
            <a:pPr marL="457200" indent="-457200">
              <a:buFont typeface="+mj-lt"/>
              <a:buAutoNum type="arabicParenR"/>
            </a:pPr>
            <a:r>
              <a:rPr lang="fr-CA" sz="1400" noProof="0"/>
              <a:t>Objectifs et enjeux d’affaires: Quels sont les buts stratégiques du projet, et quels problèmes d’affaires cherche-t-il à résoudre? </a:t>
            </a:r>
            <a:r>
              <a:rPr lang="fr-CA" sz="1400" noProof="0">
                <a:solidFill>
                  <a:srgbClr val="0070C0"/>
                </a:solidFill>
              </a:rPr>
              <a:t>Section objectif de création de valeurs</a:t>
            </a:r>
            <a:endParaRPr lang="fr-CA" sz="1400" noProof="0"/>
          </a:p>
          <a:p>
            <a:pPr marL="457200" indent="-457200">
              <a:buFont typeface="+mj-lt"/>
              <a:buAutoNum type="arabicParenR"/>
            </a:pPr>
            <a:r>
              <a:rPr lang="fr-CA" sz="1400" noProof="0"/>
              <a:t>Contexte organisationnel: Description du périmètre du projet, des parties prenantes, de la mission et de la vision de l’organisation et écosystème. </a:t>
            </a:r>
            <a:r>
              <a:rPr lang="fr-CA" sz="1400" noProof="0">
                <a:solidFill>
                  <a:srgbClr val="0070C0"/>
                </a:solidFill>
              </a:rPr>
              <a:t>Section contexte</a:t>
            </a:r>
            <a:endParaRPr lang="fr-CA" sz="1400" noProof="0"/>
          </a:p>
          <a:p>
            <a:pPr marL="457200" indent="-457200">
              <a:buFont typeface="+mj-lt"/>
              <a:buAutoNum type="arabicParenR"/>
            </a:pPr>
            <a:r>
              <a:rPr lang="fr-CA" sz="1400" noProof="0"/>
              <a:t>Capacités d’affaires: une carte des capacités actuelles et futures (modèle cible), avec des écarts identifiés. (fait dans l’explo: ajouter dans le gabarit de l’exploration) </a:t>
            </a:r>
            <a:r>
              <a:rPr lang="fr-CA" sz="1400" noProof="0">
                <a:solidFill>
                  <a:srgbClr val="0070C0"/>
                </a:solidFill>
              </a:rPr>
              <a:t>ajout section capacités d’affaires</a:t>
            </a:r>
            <a:endParaRPr lang="fr-CA" sz="1400" noProof="0"/>
          </a:p>
          <a:p>
            <a:pPr marL="457200" indent="-457200">
              <a:buFont typeface="+mj-lt"/>
              <a:buAutoNum type="arabicParenR"/>
            </a:pPr>
            <a:r>
              <a:rPr lang="fr-CA" sz="1400" noProof="0"/>
              <a:t>Value </a:t>
            </a:r>
            <a:r>
              <a:rPr lang="fr-CA" sz="1400" noProof="0" err="1"/>
              <a:t>streams</a:t>
            </a:r>
            <a:r>
              <a:rPr lang="fr-CA" sz="1400" noProof="0"/>
              <a:t>: Identifier les flux de valeur touchés par l’initiative </a:t>
            </a:r>
            <a:r>
              <a:rPr lang="fr-CA" sz="1400" noProof="0">
                <a:solidFill>
                  <a:srgbClr val="0070C0"/>
                </a:solidFill>
              </a:rPr>
              <a:t>ajout section value </a:t>
            </a:r>
            <a:r>
              <a:rPr lang="fr-CA" sz="1400" noProof="0" err="1">
                <a:solidFill>
                  <a:srgbClr val="0070C0"/>
                </a:solidFill>
              </a:rPr>
              <a:t>streams</a:t>
            </a:r>
            <a:endParaRPr lang="fr-CA" sz="1400" noProof="0"/>
          </a:p>
          <a:p>
            <a:pPr marL="457200" indent="-457200">
              <a:buFont typeface="+mj-lt"/>
              <a:buAutoNum type="arabicParenR"/>
            </a:pPr>
            <a:r>
              <a:rPr lang="fr-CA" sz="1400" noProof="0"/>
              <a:t>Modélisation des processus: représentation des processus d’affaires clés, y compris leurs interactions et leurs flux.(</a:t>
            </a:r>
            <a:r>
              <a:rPr lang="fr-CA" sz="1400" noProof="0">
                <a:solidFill>
                  <a:srgbClr val="0070C0"/>
                </a:solidFill>
              </a:rPr>
              <a:t>architecture N1-N2, N3-N4 analyse d’affaires)</a:t>
            </a:r>
          </a:p>
          <a:p>
            <a:pPr marL="457200" indent="-457200">
              <a:buFont typeface="+mj-lt"/>
              <a:buAutoNum type="arabicParenR"/>
            </a:pPr>
            <a:r>
              <a:rPr lang="fr-CA" sz="1400" noProof="0"/>
              <a:t>Architecture de données: quels types d’information sont manipulés, stockés ou échangés? Comment ces flux soutiennent les processus? </a:t>
            </a:r>
            <a:r>
              <a:rPr lang="fr-CA" sz="1400" noProof="0">
                <a:solidFill>
                  <a:srgbClr val="0070C0"/>
                </a:solidFill>
              </a:rPr>
              <a:t>Voir section données et voir si du côté </a:t>
            </a:r>
            <a:r>
              <a:rPr lang="fr-CA" sz="1400" noProof="0" err="1">
                <a:solidFill>
                  <a:srgbClr val="0070C0"/>
                </a:solidFill>
              </a:rPr>
              <a:t>fonctionel</a:t>
            </a:r>
            <a:r>
              <a:rPr lang="fr-CA" sz="1400" noProof="0">
                <a:solidFill>
                  <a:srgbClr val="0070C0"/>
                </a:solidFill>
              </a:rPr>
              <a:t>??, modifier pour identification du type de données pour alignement travaux</a:t>
            </a:r>
            <a:endParaRPr lang="fr-CA" sz="1400" noProof="0"/>
          </a:p>
          <a:p>
            <a:pPr marL="457200" indent="-457200">
              <a:buFont typeface="+mj-lt"/>
              <a:buAutoNum type="arabicParenR"/>
            </a:pPr>
            <a:r>
              <a:rPr lang="fr-CA" sz="1400" noProof="0"/>
              <a:t>Contraintes et principes directeurs: Règlementations, politiques, normes internes ou externes qui doivent être respectées. </a:t>
            </a:r>
            <a:r>
              <a:rPr lang="fr-CA" sz="1400" noProof="0">
                <a:solidFill>
                  <a:srgbClr val="0070C0"/>
                </a:solidFill>
              </a:rPr>
              <a:t>Inclus dans les orientations d’affaires + ajout des normes, politiques, règles et autres qui s’appliquent</a:t>
            </a:r>
            <a:endParaRPr lang="fr-CA" sz="1400" noProof="0"/>
          </a:p>
          <a:p>
            <a:pPr marL="457200" indent="-457200">
              <a:buFont typeface="+mj-lt"/>
              <a:buAutoNum type="arabicParenR"/>
            </a:pPr>
            <a:r>
              <a:rPr lang="fr-CA" sz="1400" noProof="0"/>
              <a:t>Feuille de route de transformation: Étapes de mise en œuvre, initiatives clés, dépendances, priorisation. </a:t>
            </a:r>
            <a:r>
              <a:rPr lang="fr-CA" sz="1400" noProof="0">
                <a:solidFill>
                  <a:srgbClr val="0070C0"/>
                </a:solidFill>
              </a:rPr>
              <a:t>Voir section Roadmap et découpage de projet pour le volet du projet en cours pour inter-projet devrait être fait via la planification par les chargés de projet</a:t>
            </a:r>
          </a:p>
          <a:p>
            <a:pPr marL="457200" indent="-457200">
              <a:buFont typeface="+mj-lt"/>
              <a:buAutoNum type="arabicParenR"/>
            </a:pPr>
            <a:r>
              <a:rPr lang="fr-CA" sz="1400" noProof="0"/>
              <a:t>Indicateurs de performance: KPIs pour mesurer l’efficacité et l’impact du projet sur les objectifs d’affaires. </a:t>
            </a:r>
            <a:r>
              <a:rPr lang="fr-CA" sz="1400" noProof="0">
                <a:solidFill>
                  <a:srgbClr val="0070C0"/>
                </a:solidFill>
              </a:rPr>
              <a:t>Section indicateurs de performance à ramener avec la section des objectifs</a:t>
            </a:r>
          </a:p>
          <a:p>
            <a:pPr marL="457200" indent="-457200">
              <a:buFont typeface="+mj-lt"/>
              <a:buAutoNum type="arabicParenR"/>
            </a:pPr>
            <a:r>
              <a:rPr lang="fr-CA" sz="1400" noProof="0"/>
              <a:t>Impacts des initiatives en cours: initiatives qui peuvent impactées l’architecture du projet ou les projets que l’architecture peut impacté </a:t>
            </a:r>
            <a:r>
              <a:rPr lang="fr-CA" sz="1400" noProof="0">
                <a:solidFill>
                  <a:srgbClr val="0070C0"/>
                </a:solidFill>
              </a:rPr>
              <a:t>section projets impactés et impacts inter-projets</a:t>
            </a:r>
          </a:p>
        </p:txBody>
      </p:sp>
    </p:spTree>
    <p:extLst>
      <p:ext uri="{BB962C8B-B14F-4D97-AF65-F5344CB8AC3E}">
        <p14:creationId xmlns:p14="http://schemas.microsoft.com/office/powerpoint/2010/main" val="65421575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0B68E3A-76F8-2BEF-434D-DCA8A3C9656C}"/>
              </a:ext>
            </a:extLst>
          </p:cNvPr>
          <p:cNvSpPr>
            <a:spLocks noGrp="1"/>
          </p:cNvSpPr>
          <p:nvPr>
            <p:ph type="title"/>
          </p:nvPr>
        </p:nvSpPr>
        <p:spPr>
          <a:xfrm>
            <a:off x="457200" y="52917"/>
            <a:ext cx="8458200" cy="993775"/>
          </a:xfrm>
        </p:spPr>
        <p:txBody>
          <a:bodyPr/>
          <a:lstStyle/>
          <a:p>
            <a:r>
              <a:rPr lang="fr-CA" noProof="0"/>
              <a:t>Instructions</a:t>
            </a:r>
          </a:p>
        </p:txBody>
      </p:sp>
      <p:sp>
        <p:nvSpPr>
          <p:cNvPr id="3" name="Espace réservé du contenu 2">
            <a:extLst>
              <a:ext uri="{FF2B5EF4-FFF2-40B4-BE49-F238E27FC236}">
                <a16:creationId xmlns:a16="http://schemas.microsoft.com/office/drawing/2014/main" id="{00C379A2-C329-18E4-1D38-2EF2DED9A2FC}"/>
              </a:ext>
            </a:extLst>
          </p:cNvPr>
          <p:cNvSpPr>
            <a:spLocks noGrp="1"/>
          </p:cNvSpPr>
          <p:nvPr>
            <p:ph idx="1"/>
          </p:nvPr>
        </p:nvSpPr>
        <p:spPr/>
        <p:txBody>
          <a:bodyPr/>
          <a:lstStyle/>
          <a:p>
            <a:r>
              <a:rPr lang="fr-CA" noProof="0"/>
              <a:t>À partir de l’exploration:</a:t>
            </a:r>
          </a:p>
          <a:p>
            <a:pPr lvl="1"/>
            <a:r>
              <a:rPr lang="fr-CA" noProof="0"/>
              <a:t>Confirmer les hypothèses</a:t>
            </a:r>
          </a:p>
          <a:p>
            <a:pPr lvl="1"/>
            <a:r>
              <a:rPr lang="fr-CA" noProof="0"/>
              <a:t>Valider les besoins et détailler si requis</a:t>
            </a:r>
          </a:p>
          <a:p>
            <a:pPr lvl="1"/>
            <a:r>
              <a:rPr lang="fr-CA" noProof="0"/>
              <a:t>Valider/préciser les uses cases</a:t>
            </a:r>
          </a:p>
          <a:p>
            <a:pPr lvl="1"/>
            <a:r>
              <a:rPr lang="fr-CA" noProof="0"/>
              <a:t>Détailler le schéma d’architecture</a:t>
            </a:r>
          </a:p>
          <a:p>
            <a:pPr lvl="1"/>
            <a:r>
              <a:rPr lang="fr-CA" noProof="0"/>
              <a:t>Détailler les changements de processus si requis</a:t>
            </a:r>
          </a:p>
          <a:p>
            <a:pPr lvl="1"/>
            <a:r>
              <a:rPr lang="fr-CA" noProof="0"/>
              <a:t>Mettre à jour les risques</a:t>
            </a:r>
          </a:p>
          <a:p>
            <a:pPr lvl="1"/>
            <a:r>
              <a:rPr lang="fr-CA" noProof="0"/>
              <a:t>Détailler les impacts sur les données si requis</a:t>
            </a:r>
          </a:p>
          <a:p>
            <a:pPr lvl="1"/>
            <a:r>
              <a:rPr lang="fr-CA" noProof="0"/>
              <a:t>Faire approuver et expliquer l’architecture à l’analyste d’affaires</a:t>
            </a:r>
          </a:p>
          <a:p>
            <a:pPr lvl="1"/>
            <a:r>
              <a:rPr lang="fr-CA" noProof="0"/>
              <a:t>Revoir les efforts estimés lors de l’exploration</a:t>
            </a:r>
          </a:p>
        </p:txBody>
      </p:sp>
    </p:spTree>
    <p:extLst>
      <p:ext uri="{BB962C8B-B14F-4D97-AF65-F5344CB8AC3E}">
        <p14:creationId xmlns:p14="http://schemas.microsoft.com/office/powerpoint/2010/main" val="3011422862"/>
      </p:ext>
    </p:extLst>
  </p:cSld>
  <p:clrMapOvr>
    <a:masterClrMapping/>
  </p:clrMapOvr>
</p:sld>
</file>

<file path=ppt/theme/theme1.xml><?xml version="1.0" encoding="utf-8"?>
<a:theme xmlns:a="http://schemas.openxmlformats.org/drawingml/2006/main" name="Conception personnalisée">
  <a:themeElements>
    <a:clrScheme name="iA">
      <a:dk1>
        <a:srgbClr val="003DA5"/>
      </a:dk1>
      <a:lt1>
        <a:srgbClr val="FFFFFF"/>
      </a:lt1>
      <a:dk2>
        <a:srgbClr val="7C878E"/>
      </a:dk2>
      <a:lt2>
        <a:srgbClr val="FFFFFF"/>
      </a:lt2>
      <a:accent1>
        <a:srgbClr val="B6B8DC"/>
      </a:accent1>
      <a:accent2>
        <a:srgbClr val="99D6EA"/>
      </a:accent2>
      <a:accent3>
        <a:srgbClr val="EBE49A"/>
      </a:accent3>
      <a:accent4>
        <a:srgbClr val="B9DCD2"/>
      </a:accent4>
      <a:accent5>
        <a:srgbClr val="FF585D"/>
      </a:accent5>
      <a:accent6>
        <a:srgbClr val="DBDE70"/>
      </a:accent6>
      <a:hlink>
        <a:srgbClr val="003DA5"/>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AB6BA656C419D4EBA49D1474C2D5157" ma:contentTypeVersion="11" ma:contentTypeDescription="Crée un document." ma:contentTypeScope="" ma:versionID="b22b3951fd8f36d08077f045f88c7257">
  <xsd:schema xmlns:xsd="http://www.w3.org/2001/XMLSchema" xmlns:xs="http://www.w3.org/2001/XMLSchema" xmlns:p="http://schemas.microsoft.com/office/2006/metadata/properties" xmlns:ns2="d839c6eb-e223-487d-9639-f85919473635" xmlns:ns3="accdaeb6-5c34-4b07-a10a-0f75b6699d81" targetNamespace="http://schemas.microsoft.com/office/2006/metadata/properties" ma:root="true" ma:fieldsID="8c22017ce363574e2194755fe764436d" ns2:_="" ns3:_="">
    <xsd:import namespace="d839c6eb-e223-487d-9639-f85919473635"/>
    <xsd:import namespace="accdaeb6-5c34-4b07-a10a-0f75b6699d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839c6eb-e223-487d-9639-f8591947363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Balises d’images" ma:readOnly="false" ma:fieldId="{5cf76f15-5ced-4ddc-b409-7134ff3c332f}" ma:taxonomyMulti="true" ma:sspId="49c3984d-6c88-459e-875d-1e42fc537581"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accdaeb6-5c34-4b07-a10a-0f75b6699d81"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7717f542-0037-42e1-8fe3-7314c1a4aacc}" ma:internalName="TaxCatchAll" ma:showField="CatchAllData" ma:web="accdaeb6-5c34-4b07-a10a-0f75b6699d8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d839c6eb-e223-487d-9639-f85919473635">
      <Terms xmlns="http://schemas.microsoft.com/office/infopath/2007/PartnerControls"/>
    </lcf76f155ced4ddcb4097134ff3c332f>
    <TaxCatchAll xmlns="accdaeb6-5c34-4b07-a10a-0f75b6699d81"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0647DD0-0248-463E-90B6-56541F418C08}">
  <ds:schemaRefs>
    <ds:schemaRef ds:uri="accdaeb6-5c34-4b07-a10a-0f75b6699d81"/>
    <ds:schemaRef ds:uri="d839c6eb-e223-487d-9639-f8591947363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A75B17E-630E-4C63-8D6A-D1ED8F382BAF}">
  <ds:schemaRefs>
    <ds:schemaRef ds:uri="accdaeb6-5c34-4b07-a10a-0f75b6699d81"/>
    <ds:schemaRef ds:uri="d839c6eb-e223-487d-9639-f8591947363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4694EA8C-CE9B-4D8E-947A-9E0ED19D0AE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79</Slides>
  <Notes>58</Notes>
  <HiddenSlides>8</HiddenSlides>
  <ScaleCrop>false</ScaleCrop>
  <HeadingPairs>
    <vt:vector size="4" baseType="variant">
      <vt:variant>
        <vt:lpstr>Theme</vt:lpstr>
      </vt:variant>
      <vt:variant>
        <vt:i4>1</vt:i4>
      </vt:variant>
      <vt:variant>
        <vt:lpstr>Slide Titles</vt:lpstr>
      </vt:variant>
      <vt:variant>
        <vt:i4>79</vt:i4>
      </vt:variant>
    </vt:vector>
  </HeadingPairs>
  <TitlesOfParts>
    <vt:vector size="80" baseType="lpstr">
      <vt:lpstr>Conception personnalisée</vt:lpstr>
      <vt:lpstr>Corporate Treasury Program </vt:lpstr>
      <vt:lpstr>PowerPoint Presentation</vt:lpstr>
      <vt:lpstr>Table des matières</vt:lpstr>
      <vt:lpstr>Contexte l’initiative</vt:lpstr>
      <vt:lpstr>PowerPoint Presentation</vt:lpstr>
      <vt:lpstr>PowerPoint Presentation</vt:lpstr>
      <vt:lpstr>PowerPoint Presentation</vt:lpstr>
      <vt:lpstr>Bénéfices attendus</vt:lpstr>
      <vt:lpstr>PowerPoint Presentation</vt:lpstr>
      <vt:lpstr>PowerPoint Presentation</vt:lpstr>
      <vt:lpstr>Définition de la portée – WS 4 CSP Bancaire</vt:lpstr>
      <vt:lpstr>Définition de la portée – Objectif 1</vt:lpstr>
      <vt:lpstr>Définition de la portée – Objectif 1</vt:lpstr>
      <vt:lpstr>Définition de la portée – Objectif 1</vt:lpstr>
      <vt:lpstr>Définition de la portée – Objectif 2</vt:lpstr>
      <vt:lpstr>Définition de la portée – Objectif 2</vt:lpstr>
      <vt:lpstr>Définition de la portée – Objectif 2</vt:lpstr>
      <vt:lpstr>Définition de la portée – Objectif 2</vt:lpstr>
      <vt:lpstr>Définition de la portée – Objectif 2</vt:lpstr>
      <vt:lpstr>Définition de la portée – Objectif 3</vt:lpstr>
      <vt:lpstr>Clarifier les contraintes et les dépendances</vt:lpstr>
      <vt:lpstr>Conditions de succès</vt:lpstr>
      <vt:lpstr>Orientations d’affaires CFO reliées au contexte d’initiative</vt:lpstr>
      <vt:lpstr>Orientations d’affaires CFO reliées au contexte d’initiative</vt:lpstr>
      <vt:lpstr>Orientations d’affaires CFO reliées au contexte d’initiative</vt:lpstr>
      <vt:lpstr>Positionnements pris</vt:lpstr>
      <vt:lpstr>Décisions projets prises</vt:lpstr>
      <vt:lpstr>Décisions projets prises</vt:lpstr>
      <vt:lpstr>Positionnements à venir</vt:lpstr>
      <vt:lpstr>Découpage de projet</vt:lpstr>
      <vt:lpstr>Découpage de projet</vt:lpstr>
      <vt:lpstr>Besoins d’affaires</vt:lpstr>
      <vt:lpstr>Besoins d’affaires</vt:lpstr>
      <vt:lpstr>Besoins d’affaires</vt:lpstr>
      <vt:lpstr>Besoins d’affaires</vt:lpstr>
      <vt:lpstr>Besoins d’affaires</vt:lpstr>
      <vt:lpstr>Besoins d’affaires</vt:lpstr>
      <vt:lpstr>Besoins d’affaires</vt:lpstr>
      <vt:lpstr>Cas d’utilisation affaires R1</vt:lpstr>
      <vt:lpstr>Cas d’utilisation affaires R1</vt:lpstr>
      <vt:lpstr>Cas d’utilisation affaires R2</vt:lpstr>
      <vt:lpstr>Cas d’utilisation affaires R3</vt:lpstr>
      <vt:lpstr>Cas d’utilisation affaires R3</vt:lpstr>
      <vt:lpstr>Cas d’utilisation affaires R2 &amp; R3</vt:lpstr>
      <vt:lpstr>Cas d’utilisation affaires R2 &amp; R3</vt:lpstr>
      <vt:lpstr>Cas d’utilisation affaires R2 &amp; R3</vt:lpstr>
      <vt:lpstr>Cas d’utilisation affaires R2 &amp; R3</vt:lpstr>
      <vt:lpstr>Cas d’utilisation affaires R2 &amp; R3</vt:lpstr>
      <vt:lpstr>Cas d’utilisation affaires R2 &amp; R3</vt:lpstr>
      <vt:lpstr>PowerPoint Presentation</vt:lpstr>
      <vt:lpstr>PowerPoint Presentation</vt:lpstr>
      <vt:lpstr>PowerPoint Presentation</vt:lpstr>
      <vt:lpstr>Impacts sur les données </vt:lpstr>
      <vt:lpstr>Projets impactés et impacts inter-projets</vt:lpstr>
      <vt:lpstr>Architecture d’affaires cible</vt:lpstr>
      <vt:lpstr>PowerPoint Presentation</vt:lpstr>
      <vt:lpstr>Cycle de vie de la gestion des comptes bancaire</vt:lpstr>
      <vt:lpstr>Cycle de vie de la gestion des frais bancaires</vt:lpstr>
      <vt:lpstr>Cycle de vie de la gestion des paiements*</vt:lpstr>
      <vt:lpstr>Cycle de vie de la gestion de la conciliation bancaire</vt:lpstr>
      <vt:lpstr>Cycle de vie de la gestion de la Fraude et des anomalies</vt:lpstr>
      <vt:lpstr>Plan de déploiement - haut niveau du projet</vt:lpstr>
      <vt:lpstr>Plan de déploiement - Roadmap des activités </vt:lpstr>
      <vt:lpstr>Plan de déploiement - Roadmap des activités </vt:lpstr>
      <vt:lpstr>Design de l’architecture cible</vt:lpstr>
      <vt:lpstr>PowerPoint Presentation</vt:lpstr>
      <vt:lpstr>PowerPoint Presentation</vt:lpstr>
      <vt:lpstr>PowerPoint Presentation</vt:lpstr>
      <vt:lpstr>PowerPoint Presentation</vt:lpstr>
      <vt:lpstr>PowerPoint Presentation</vt:lpstr>
      <vt:lpstr>Annexes</vt:lpstr>
      <vt:lpstr>Positionnements antérieurs en lien avec le contexte de l’initiative</vt:lpstr>
      <vt:lpstr>Lexique</vt:lpstr>
      <vt:lpstr>Lexique</vt:lpstr>
      <vt:lpstr>Cueillette d’information</vt:lpstr>
      <vt:lpstr>Cueillette d’information (hors ressources projet)</vt:lpstr>
      <vt:lpstr>PowerPoint Presentation</vt:lpstr>
      <vt:lpstr>Brainstorm</vt:lpstr>
      <vt:lpstr>Instructions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Harrison, Steve</dc:creator>
  <cp:revision>1</cp:revision>
  <cp:lastPrinted>2018-10-04T16:54:43Z</cp:lastPrinted>
  <dcterms:created xsi:type="dcterms:W3CDTF">2006-08-16T00:00:00Z</dcterms:created>
  <dcterms:modified xsi:type="dcterms:W3CDTF">2026-01-16T20:14:55Z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0x0101009AB6BA656C419D4EBA49D1474C2D5157</vt:lpwstr>
  </property>
</Properties>
</file>